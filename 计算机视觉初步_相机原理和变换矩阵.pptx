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8.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7"/>
  </p:notesMasterIdLst>
  <p:sldIdLst>
    <p:sldId id="257" r:id="rId3"/>
    <p:sldId id="258" r:id="rId4"/>
    <p:sldId id="279" r:id="rId5"/>
    <p:sldId id="298" r:id="rId6"/>
    <p:sldId id="294" r:id="rId7"/>
    <p:sldId id="296" r:id="rId8"/>
    <p:sldId id="301" r:id="rId9"/>
    <p:sldId id="302" r:id="rId10"/>
    <p:sldId id="303" r:id="rId11"/>
    <p:sldId id="304" r:id="rId12"/>
    <p:sldId id="305" r:id="rId13"/>
    <p:sldId id="306" r:id="rId14"/>
    <p:sldId id="307" r:id="rId15"/>
    <p:sldId id="308" r:id="rId16"/>
    <p:sldId id="259" r:id="rId17"/>
    <p:sldId id="264" r:id="rId18"/>
    <p:sldId id="267" r:id="rId19"/>
    <p:sldId id="268" r:id="rId20"/>
    <p:sldId id="265" r:id="rId21"/>
    <p:sldId id="271" r:id="rId22"/>
    <p:sldId id="269" r:id="rId23"/>
    <p:sldId id="321" r:id="rId24"/>
    <p:sldId id="270" r:id="rId25"/>
    <p:sldId id="266" r:id="rId26"/>
    <p:sldId id="274" r:id="rId27"/>
    <p:sldId id="276" r:id="rId28"/>
    <p:sldId id="283" r:id="rId29"/>
    <p:sldId id="273" r:id="rId30"/>
    <p:sldId id="309" r:id="rId31"/>
    <p:sldId id="275" r:id="rId32"/>
    <p:sldId id="310" r:id="rId33"/>
    <p:sldId id="311" r:id="rId34"/>
    <p:sldId id="278" r:id="rId35"/>
    <p:sldId id="312" r:id="rId36"/>
    <p:sldId id="287" r:id="rId37"/>
    <p:sldId id="288" r:id="rId38"/>
    <p:sldId id="313" r:id="rId39"/>
    <p:sldId id="314" r:id="rId40"/>
    <p:sldId id="315" r:id="rId41"/>
    <p:sldId id="318" r:id="rId42"/>
    <p:sldId id="316" r:id="rId43"/>
    <p:sldId id="317" r:id="rId44"/>
    <p:sldId id="319" r:id="rId45"/>
    <p:sldId id="322" r:id="rId46"/>
    <p:sldId id="323" r:id="rId47"/>
    <p:sldId id="324" r:id="rId48"/>
    <p:sldId id="325" r:id="rId49"/>
    <p:sldId id="326" r:id="rId50"/>
    <p:sldId id="327" r:id="rId51"/>
    <p:sldId id="329" r:id="rId52"/>
    <p:sldId id="330" r:id="rId53"/>
    <p:sldId id="382" r:id="rId54"/>
    <p:sldId id="333" r:id="rId55"/>
    <p:sldId id="334" r:id="rId56"/>
    <p:sldId id="336" r:id="rId57"/>
    <p:sldId id="335" r:id="rId58"/>
    <p:sldId id="328" r:id="rId59"/>
    <p:sldId id="337" r:id="rId60"/>
    <p:sldId id="338" r:id="rId61"/>
    <p:sldId id="339" r:id="rId62"/>
    <p:sldId id="360" r:id="rId63"/>
    <p:sldId id="340" r:id="rId64"/>
    <p:sldId id="362" r:id="rId65"/>
    <p:sldId id="331" r:id="rId66"/>
    <p:sldId id="361" r:id="rId67"/>
    <p:sldId id="363" r:id="rId68"/>
    <p:sldId id="364" r:id="rId69"/>
    <p:sldId id="365" r:id="rId70"/>
    <p:sldId id="366" r:id="rId71"/>
    <p:sldId id="341" r:id="rId72"/>
    <p:sldId id="332"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 id="357" r:id="rId86"/>
    <p:sldId id="355" r:id="rId87"/>
    <p:sldId id="356" r:id="rId88"/>
    <p:sldId id="354" r:id="rId89"/>
    <p:sldId id="358" r:id="rId90"/>
    <p:sldId id="359" r:id="rId91"/>
    <p:sldId id="367" r:id="rId92"/>
    <p:sldId id="368" r:id="rId93"/>
    <p:sldId id="369" r:id="rId94"/>
    <p:sldId id="371" r:id="rId95"/>
    <p:sldId id="370" r:id="rId96"/>
    <p:sldId id="372" r:id="rId97"/>
    <p:sldId id="374" r:id="rId98"/>
    <p:sldId id="373" r:id="rId99"/>
    <p:sldId id="380" r:id="rId100"/>
    <p:sldId id="388" r:id="rId101"/>
    <p:sldId id="378" r:id="rId102"/>
    <p:sldId id="379" r:id="rId103"/>
    <p:sldId id="381" r:id="rId104"/>
    <p:sldId id="383" r:id="rId105"/>
    <p:sldId id="384" r:id="rId106"/>
    <p:sldId id="386" r:id="rId107"/>
    <p:sldId id="385" r:id="rId108"/>
    <p:sldId id="387" r:id="rId109"/>
    <p:sldId id="377" r:id="rId110"/>
    <p:sldId id="389" r:id="rId111"/>
    <p:sldId id="391" r:id="rId112"/>
    <p:sldId id="392" r:id="rId113"/>
    <p:sldId id="393" r:id="rId114"/>
    <p:sldId id="394" r:id="rId115"/>
    <p:sldId id="262" r:id="rId1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431"/>
    <a:srgbClr val="065980"/>
    <a:srgbClr val="244B61"/>
    <a:srgbClr val="23978B"/>
    <a:srgbClr val="E9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83"/>
  </p:normalViewPr>
  <p:slideViewPr>
    <p:cSldViewPr snapToGrid="0" snapToObjects="1">
      <p:cViewPr>
        <p:scale>
          <a:sx n="75" d="100"/>
          <a:sy n="75" d="100"/>
        </p:scale>
        <p:origin x="1048"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0" Type="http://schemas.openxmlformats.org/officeDocument/2006/relationships/tableStyles" Target="tableStyles.xml"/><Relationship Id="rId12" Type="http://schemas.openxmlformats.org/officeDocument/2006/relationships/slide" Target="slides/slide10.xml"/><Relationship Id="rId119" Type="http://schemas.openxmlformats.org/officeDocument/2006/relationships/viewProps" Target="viewProps.xml"/><Relationship Id="rId118" Type="http://schemas.openxmlformats.org/officeDocument/2006/relationships/presProps" Target="presProps.xml"/><Relationship Id="rId117" Type="http://schemas.openxmlformats.org/officeDocument/2006/relationships/notesMaster" Target="notesMasters/notesMaster1.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6.vml.rels><?xml version="1.0" encoding="UTF-8" standalone="yes"?>
<Relationships xmlns="http://schemas.openxmlformats.org/package/2006/relationships"><Relationship Id="rId7" Type="http://schemas.openxmlformats.org/officeDocument/2006/relationships/image" Target="../media/image84.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0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289352-7C6D-AE46-B3D1-3043903F0858}"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45CFF-F689-594A-ABD3-6ED0736D5C7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smtClean="0"/>
              <a:t>单击此处编辑母版文本样式</a:t>
            </a:r>
            <a:endParaRPr kumimoji="1" lang="zh-CN" altLang="en-US" smtClean="0"/>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3E7B76-6D4A-D043-9FCE-C1FDFE2F9D3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webp"/><Relationship Id="rId2" Type="http://schemas.openxmlformats.org/officeDocument/2006/relationships/image" Target="../media/image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10.png"/><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10.png"/><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3.png"/><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2.png"/><Relationship Id="rId2" Type="http://schemas.openxmlformats.org/officeDocument/2006/relationships/image" Target="../media/image2.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5.png"/><Relationship Id="rId3" Type="http://schemas.openxmlformats.org/officeDocument/2006/relationships/image" Target="../media/image54.jpeg"/><Relationship Id="rId2" Type="http://schemas.openxmlformats.org/officeDocument/2006/relationships/image" Target="../media/image2.png"/><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7.png"/><Relationship Id="rId2" Type="http://schemas.openxmlformats.org/officeDocument/2006/relationships/image" Target="../media/image2.png"/><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58.emf"/><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9.png"/><Relationship Id="rId2" Type="http://schemas.openxmlformats.org/officeDocument/2006/relationships/image" Target="../media/image2.png"/><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60.jpeg"/><Relationship Id="rId2" Type="http://schemas.openxmlformats.org/officeDocument/2006/relationships/image" Target="../media/image2.png"/><Relationship Id="rId12" Type="http://schemas.openxmlformats.org/officeDocument/2006/relationships/slideLayout" Target="../slideLayouts/slideLayout1.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3.png"/></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61.wmf"/><Relationship Id="rId3" Type="http://schemas.openxmlformats.org/officeDocument/2006/relationships/oleObject" Target="../embeddings/oleObject2.bin"/><Relationship Id="rId2" Type="http://schemas.openxmlformats.org/officeDocument/2006/relationships/image" Target="../media/image2.png"/><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62.wmf"/><Relationship Id="rId3" Type="http://schemas.openxmlformats.org/officeDocument/2006/relationships/oleObject" Target="../embeddings/oleObject3.bin"/><Relationship Id="rId2" Type="http://schemas.openxmlformats.org/officeDocument/2006/relationships/image" Target="../media/image2.png"/><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8.wmf"/><Relationship Id="rId7" Type="http://schemas.openxmlformats.org/officeDocument/2006/relationships/oleObject" Target="../embeddings/oleObject6.bin"/><Relationship Id="rId6" Type="http://schemas.openxmlformats.org/officeDocument/2006/relationships/image" Target="../media/image67.wmf"/><Relationship Id="rId5" Type="http://schemas.openxmlformats.org/officeDocument/2006/relationships/oleObject" Target="../embeddings/oleObject5.bin"/><Relationship Id="rId4" Type="http://schemas.openxmlformats.org/officeDocument/2006/relationships/image" Target="../media/image66.wmf"/><Relationship Id="rId3" Type="http://schemas.openxmlformats.org/officeDocument/2006/relationships/oleObject" Target="../embeddings/oleObject4.bin"/><Relationship Id="rId2" Type="http://schemas.openxmlformats.org/officeDocument/2006/relationships/image" Target="../media/image2.png"/><Relationship Id="rId10" Type="http://schemas.openxmlformats.org/officeDocument/2006/relationships/vmlDrawing" Target="../drawings/vmlDrawing4.v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png"/><Relationship Id="rId2" Type="http://schemas.openxmlformats.org/officeDocument/2006/relationships/image" Target="../media/image2.png"/><Relationship Id="rId1" Type="http://schemas.openxmlformats.org/officeDocument/2006/relationships/image" Target="../media/image3.png"/></Relationships>
</file>

<file path=ppt/slides/_rels/slide62.xml.rels><?xml version="1.0" encoding="UTF-8" standalone="yes"?>
<Relationships xmlns="http://schemas.openxmlformats.org/package/2006/relationships"><Relationship Id="rId9" Type="http://schemas.openxmlformats.org/officeDocument/2006/relationships/image" Target="../media/image71.wmf"/><Relationship Id="rId8" Type="http://schemas.openxmlformats.org/officeDocument/2006/relationships/image" Target="../media/image70.wmf"/><Relationship Id="rId7" Type="http://schemas.openxmlformats.org/officeDocument/2006/relationships/image" Target="../media/image75.png"/><Relationship Id="rId6" Type="http://schemas.openxmlformats.org/officeDocument/2006/relationships/image" Target="../media/image74.png"/><Relationship Id="rId5" Type="http://schemas.openxmlformats.org/officeDocument/2006/relationships/image" Target="../media/image73.wmf"/><Relationship Id="rId4" Type="http://schemas.openxmlformats.org/officeDocument/2006/relationships/oleObject" Target="../embeddings/oleObject7.bin"/><Relationship Id="rId3" Type="http://schemas.openxmlformats.org/officeDocument/2006/relationships/image" Target="../media/image69.png"/><Relationship Id="rId2" Type="http://schemas.openxmlformats.org/officeDocument/2006/relationships/image" Target="../media/image2.png"/><Relationship Id="rId11" Type="http://schemas.openxmlformats.org/officeDocument/2006/relationships/vmlDrawing" Target="../drawings/vmlDrawing5.vml"/><Relationship Id="rId10" Type="http://schemas.openxmlformats.org/officeDocument/2006/relationships/slideLayout" Target="../slideLayouts/slideLayout1.xml"/><Relationship Id="rId1" Type="http://schemas.openxmlformats.org/officeDocument/2006/relationships/image" Target="../media/image3.png"/></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2.png"/><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80.wmf"/><Relationship Id="rId7" Type="http://schemas.openxmlformats.org/officeDocument/2006/relationships/oleObject" Target="../embeddings/oleObject10.bin"/><Relationship Id="rId6" Type="http://schemas.openxmlformats.org/officeDocument/2006/relationships/image" Target="../media/image79.wmf"/><Relationship Id="rId5" Type="http://schemas.openxmlformats.org/officeDocument/2006/relationships/oleObject" Target="../embeddings/oleObject9.bin"/><Relationship Id="rId4" Type="http://schemas.openxmlformats.org/officeDocument/2006/relationships/image" Target="../media/image78.wmf"/><Relationship Id="rId3" Type="http://schemas.openxmlformats.org/officeDocument/2006/relationships/oleObject" Target="../embeddings/oleObject8.bin"/><Relationship Id="rId20" Type="http://schemas.openxmlformats.org/officeDocument/2006/relationships/vmlDrawing" Target="../drawings/vmlDrawing6.vml"/><Relationship Id="rId2" Type="http://schemas.openxmlformats.org/officeDocument/2006/relationships/image" Target="../media/image2.png"/><Relationship Id="rId19" Type="http://schemas.openxmlformats.org/officeDocument/2006/relationships/slideLayout" Target="../slideLayouts/slideLayout1.xml"/><Relationship Id="rId18" Type="http://schemas.openxmlformats.org/officeDocument/2006/relationships/image" Target="../media/image86.png"/><Relationship Id="rId17" Type="http://schemas.openxmlformats.org/officeDocument/2006/relationships/image" Target="../media/image85.png"/><Relationship Id="rId16" Type="http://schemas.openxmlformats.org/officeDocument/2006/relationships/image" Target="../media/image84.wmf"/><Relationship Id="rId15" Type="http://schemas.openxmlformats.org/officeDocument/2006/relationships/oleObject" Target="../embeddings/oleObject14.bin"/><Relationship Id="rId14" Type="http://schemas.openxmlformats.org/officeDocument/2006/relationships/image" Target="../media/image83.wmf"/><Relationship Id="rId13" Type="http://schemas.openxmlformats.org/officeDocument/2006/relationships/oleObject" Target="../embeddings/oleObject13.bin"/><Relationship Id="rId12" Type="http://schemas.openxmlformats.org/officeDocument/2006/relationships/image" Target="../media/image82.wmf"/><Relationship Id="rId11" Type="http://schemas.openxmlformats.org/officeDocument/2006/relationships/oleObject" Target="../embeddings/oleObject12.bin"/><Relationship Id="rId10" Type="http://schemas.openxmlformats.org/officeDocument/2006/relationships/image" Target="../media/image81.wmf"/><Relationship Id="rId1" Type="http://schemas.openxmlformats.org/officeDocument/2006/relationships/image" Target="../media/image3.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image" Target="../media/image3.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8.png"/><Relationship Id="rId2" Type="http://schemas.openxmlformats.org/officeDocument/2006/relationships/image" Target="../media/image2.png"/><Relationship Id="rId1" Type="http://schemas.openxmlformats.org/officeDocument/2006/relationships/image" Target="../media/image3.png"/></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2.png"/><Relationship Id="rId1" Type="http://schemas.openxmlformats.org/officeDocument/2006/relationships/image" Target="../media/image3.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2.png"/><Relationship Id="rId3" Type="http://schemas.openxmlformats.org/officeDocument/2006/relationships/image" Target="../media/image89.png"/><Relationship Id="rId2" Type="http://schemas.openxmlformats.org/officeDocument/2006/relationships/image" Target="../media/image2.png"/><Relationship Id="rId1" Type="http://schemas.openxmlformats.org/officeDocument/2006/relationships/image" Target="../media/image3.pn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3.png"/><Relationship Id="rId3" Type="http://schemas.openxmlformats.org/officeDocument/2006/relationships/image" Target="../media/image89.png"/><Relationship Id="rId2" Type="http://schemas.openxmlformats.org/officeDocument/2006/relationships/image" Target="../media/image2.png"/><Relationship Id="rId1" Type="http://schemas.openxmlformats.org/officeDocument/2006/relationships/image" Target="../media/image3.png"/></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5.png"/><Relationship Id="rId3"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6.png"/><Relationship Id="rId4" Type="http://schemas.openxmlformats.org/officeDocument/2006/relationships/image" Target="../media/image95.png"/><Relationship Id="rId3"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image" Target="../media/image3.png"/></Relationships>
</file>

<file path=ppt/slides/_rels/slide7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9.wmf"/><Relationship Id="rId7" Type="http://schemas.openxmlformats.org/officeDocument/2006/relationships/oleObject" Target="../embeddings/oleObject17.bin"/><Relationship Id="rId6" Type="http://schemas.openxmlformats.org/officeDocument/2006/relationships/image" Target="../media/image98.wmf"/><Relationship Id="rId5" Type="http://schemas.openxmlformats.org/officeDocument/2006/relationships/oleObject" Target="../embeddings/oleObject16.bin"/><Relationship Id="rId4" Type="http://schemas.openxmlformats.org/officeDocument/2006/relationships/image" Target="../media/image97.wmf"/><Relationship Id="rId3" Type="http://schemas.openxmlformats.org/officeDocument/2006/relationships/oleObject" Target="../embeddings/oleObject15.bin"/><Relationship Id="rId2" Type="http://schemas.openxmlformats.org/officeDocument/2006/relationships/image" Target="../media/image2.png"/><Relationship Id="rId10" Type="http://schemas.openxmlformats.org/officeDocument/2006/relationships/vmlDrawing" Target="../drawings/vmlDrawing7.vml"/><Relationship Id="rId1"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0.jpeg"/><Relationship Id="rId3"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1.png"/><Relationship Id="rId3" Type="http://schemas.openxmlformats.org/officeDocument/2006/relationships/image" Target="../media/image100.jpeg"/><Relationship Id="rId2" Type="http://schemas.openxmlformats.org/officeDocument/2006/relationships/image" Target="../media/image2.png"/><Relationship Id="rId1" Type="http://schemas.openxmlformats.org/officeDocument/2006/relationships/image" Target="../media/image3.png"/></Relationships>
</file>

<file path=ppt/slides/_rels/slide78.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1.xml"/><Relationship Id="rId7" Type="http://schemas.openxmlformats.org/officeDocument/2006/relationships/image" Target="../media/image104.wmf"/><Relationship Id="rId6" Type="http://schemas.openxmlformats.org/officeDocument/2006/relationships/oleObject" Target="../embeddings/oleObject19.bin"/><Relationship Id="rId5" Type="http://schemas.openxmlformats.org/officeDocument/2006/relationships/image" Target="../media/image103.png"/><Relationship Id="rId4" Type="http://schemas.openxmlformats.org/officeDocument/2006/relationships/image" Target="../media/image102.wmf"/><Relationship Id="rId3" Type="http://schemas.openxmlformats.org/officeDocument/2006/relationships/oleObject" Target="../embeddings/oleObject18.bin"/><Relationship Id="rId2" Type="http://schemas.openxmlformats.org/officeDocument/2006/relationships/image" Target="../media/image2.png"/><Relationship Id="rId1" Type="http://schemas.openxmlformats.org/officeDocument/2006/relationships/image" Target="../media/image3.png"/></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1.xml"/><Relationship Id="rId4" Type="http://schemas.openxmlformats.org/officeDocument/2006/relationships/image" Target="../media/image105.wmf"/><Relationship Id="rId3" Type="http://schemas.openxmlformats.org/officeDocument/2006/relationships/oleObject" Target="../embeddings/oleObject20.bin"/><Relationship Id="rId2" Type="http://schemas.openxmlformats.org/officeDocument/2006/relationships/image" Target="../media/image2.png"/><Relationship Id="rId1" Type="http://schemas.openxmlformats.org/officeDocument/2006/relationships/image" Target="../media/image3.png"/></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1.xml"/><Relationship Id="rId4" Type="http://schemas.openxmlformats.org/officeDocument/2006/relationships/image" Target="../media/image105.wmf"/><Relationship Id="rId3" Type="http://schemas.openxmlformats.org/officeDocument/2006/relationships/oleObject" Target="../embeddings/oleObject21.bin"/><Relationship Id="rId2" Type="http://schemas.openxmlformats.org/officeDocument/2006/relationships/image" Target="../media/image2.png"/><Relationship Id="rId1"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2.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1.xml"/><Relationship Id="rId5" Type="http://schemas.openxmlformats.org/officeDocument/2006/relationships/image" Target="../media/image107.wmf"/><Relationship Id="rId4" Type="http://schemas.openxmlformats.org/officeDocument/2006/relationships/oleObject" Target="../embeddings/oleObject22.bin"/><Relationship Id="rId3" Type="http://schemas.openxmlformats.org/officeDocument/2006/relationships/image" Target="../media/image106.png"/><Relationship Id="rId2" Type="http://schemas.openxmlformats.org/officeDocument/2006/relationships/image" Target="../media/image2.png"/><Relationship Id="rId1"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90.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wmf"/><Relationship Id="rId3" Type="http://schemas.openxmlformats.org/officeDocument/2006/relationships/oleObject" Target="../embeddings/oleObject23.bin"/><Relationship Id="rId2" Type="http://schemas.openxmlformats.org/officeDocument/2006/relationships/image" Target="../media/image2.png"/><Relationship Id="rId1" Type="http://schemas.openxmlformats.org/officeDocument/2006/relationships/image" Target="../media/image3.png"/></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11.png"/><Relationship Id="rId3" Type="http://schemas.openxmlformats.org/officeDocument/2006/relationships/image" Target="../media/image110.png"/><Relationship Id="rId2" Type="http://schemas.openxmlformats.org/officeDocument/2006/relationships/image" Target="../media/image2.png"/><Relationship Id="rId1"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9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2.png"/><Relationship Id="rId2" Type="http://schemas.openxmlformats.org/officeDocument/2006/relationships/image" Target="../media/image2.png"/><Relationship Id="rId1" Type="http://schemas.openxmlformats.org/officeDocument/2006/relationships/image" Target="../media/image3.png"/></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3.png"/><Relationship Id="rId2" Type="http://schemas.openxmlformats.org/officeDocument/2006/relationships/image" Target="../media/image2.png"/><Relationship Id="rId1"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9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17.png"/><Relationship Id="rId5" Type="http://schemas.openxmlformats.org/officeDocument/2006/relationships/image" Target="../media/image116.jpeg"/><Relationship Id="rId4" Type="http://schemas.openxmlformats.org/officeDocument/2006/relationships/image" Target="../media/image115.jpeg"/><Relationship Id="rId3" Type="http://schemas.openxmlformats.org/officeDocument/2006/relationships/image" Target="../media/image114.jpeg"/><Relationship Id="rId2" Type="http://schemas.openxmlformats.org/officeDocument/2006/relationships/image" Target="../media/image2.png"/><Relationship Id="rId1" Type="http://schemas.openxmlformats.org/officeDocument/2006/relationships/image" Target="../media/image3.png"/></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0.png"/><Relationship Id="rId4" Type="http://schemas.openxmlformats.org/officeDocument/2006/relationships/image" Target="../media/image119.jpeg"/><Relationship Id="rId3" Type="http://schemas.openxmlformats.org/officeDocument/2006/relationships/image" Target="../media/image118.png"/><Relationship Id="rId2" Type="http://schemas.openxmlformats.org/officeDocument/2006/relationships/image" Target="../media/image2.png"/><Relationship Id="rId1" Type="http://schemas.openxmlformats.org/officeDocument/2006/relationships/image" Target="../media/image3.png"/></Relationships>
</file>

<file path=ppt/slides/_rels/slide10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image" Target="../media/image2.png"/><Relationship Id="rId1"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0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3.png"/><Relationship Id="rId2" Type="http://schemas.openxmlformats.org/officeDocument/2006/relationships/image" Target="../media/image2.png"/><Relationship Id="rId1" Type="http://schemas.openxmlformats.org/officeDocument/2006/relationships/image" Target="../media/image3.png"/></Relationships>
</file>

<file path=ppt/slides/_rels/slide10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29.png"/><Relationship Id="rId7" Type="http://schemas.openxmlformats.org/officeDocument/2006/relationships/image" Target="../media/image128.png"/><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2.png"/><Relationship Id="rId1" Type="http://schemas.openxmlformats.org/officeDocument/2006/relationships/image" Target="../media/image3.png"/></Relationships>
</file>

<file path=ppt/slides/_rels/slide10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31.jpeg"/><Relationship Id="rId3" Type="http://schemas.openxmlformats.org/officeDocument/2006/relationships/image" Target="../media/image130.png"/><Relationship Id="rId2" Type="http://schemas.openxmlformats.org/officeDocument/2006/relationships/image" Target="../media/image2.png"/><Relationship Id="rId1" Type="http://schemas.openxmlformats.org/officeDocument/2006/relationships/image" Target="../media/image3.png"/></Relationships>
</file>

<file path=ppt/slides/_rels/slide10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 Id="rId3" Type="http://schemas.openxmlformats.org/officeDocument/2006/relationships/image" Target="../media/image132.png"/><Relationship Id="rId2" Type="http://schemas.openxmlformats.org/officeDocument/2006/relationships/image" Target="../media/image2.png"/><Relationship Id="rId1" Type="http://schemas.openxmlformats.org/officeDocument/2006/relationships/image" Target="../media/image3.png"/></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hyperlink" Target="https://docs.opencv.org/3.4/d5/d1f/calib3d_solvePnP.html" TargetMode="External"/><Relationship Id="rId3" Type="http://schemas.openxmlformats.org/officeDocument/2006/relationships/image" Target="../media/image136.jpeg"/><Relationship Id="rId2" Type="http://schemas.openxmlformats.org/officeDocument/2006/relationships/image" Target="../media/image2.png"/><Relationship Id="rId1" Type="http://schemas.openxmlformats.org/officeDocument/2006/relationships/image" Target="../media/image3.png"/></Relationships>
</file>

<file path=ppt/slides/_rels/slide10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38.png"/><Relationship Id="rId3" Type="http://schemas.openxmlformats.org/officeDocument/2006/relationships/image" Target="../media/image137.png"/><Relationship Id="rId2" Type="http://schemas.openxmlformats.org/officeDocument/2006/relationships/image" Target="../media/image2.png"/><Relationship Id="rId1"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0.png"/><Relationship Id="rId3" Type="http://schemas.openxmlformats.org/officeDocument/2006/relationships/image" Target="../media/image139.png"/><Relationship Id="rId2" Type="http://schemas.openxmlformats.org/officeDocument/2006/relationships/image" Target="../media/image2.png"/><Relationship Id="rId1"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5999" y="2988871"/>
            <a:ext cx="7840133" cy="1014730"/>
          </a:xfrm>
          <a:prstGeom prst="rect">
            <a:avLst/>
          </a:prstGeom>
          <a:noFill/>
        </p:spPr>
        <p:txBody>
          <a:bodyPr wrap="square" rtlCol="0">
            <a:spAutoFit/>
          </a:bodyPr>
          <a:lstStyle/>
          <a:p>
            <a:pPr algn="just"/>
            <a:r>
              <a:rPr kumimoji="1" lang="zh-CN" altLang="en-US"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涉及而不限于以下课程的知识点</a:t>
            </a:r>
            <a:r>
              <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endPar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r>
              <a:rPr kumimoji="1" lang="zh-CN" altLang="en-US"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线性代数</a:t>
            </a:r>
            <a:r>
              <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 </a:t>
            </a:r>
            <a:r>
              <a:rPr kumimoji="1" lang="zh-CN" altLang="en-US"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数字图像处理，模式识别，机器学习，计算机视觉，深度学习</a:t>
            </a:r>
            <a:r>
              <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endPar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2203450" y="1875155"/>
            <a:ext cx="3048000" cy="583565"/>
          </a:xfrm>
          <a:prstGeom prst="rect">
            <a:avLst/>
          </a:prstGeom>
          <a:noFill/>
        </p:spPr>
        <p:txBody>
          <a:bodyPr wrap="square" rtlCol="0">
            <a:spAutoFit/>
          </a:bodyPr>
          <a:lstStyle/>
          <a:p>
            <a:r>
              <a:rPr kumimoji="1" lang="zh-CN" altLang="en-US" sz="3200" b="1" dirty="0" smtClean="0">
                <a:latin typeface="微软雅黑" panose="020B0503020204020204" charset="-122"/>
                <a:ea typeface="微软雅黑" panose="020B0503020204020204" charset="-122"/>
                <a:cs typeface="微软雅黑" panose="020B0503020204020204" charset="-122"/>
              </a:rPr>
              <a:t>计算机视觉初步</a:t>
            </a:r>
            <a:endParaRPr kumimoji="1" lang="zh-CN" altLang="en-US" sz="3200" b="1" dirty="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4244975" y="2772623"/>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
        <p:nvSpPr>
          <p:cNvPr id="2" name="矩形 1"/>
          <p:cNvSpPr/>
          <p:nvPr/>
        </p:nvSpPr>
        <p:spPr>
          <a:xfrm>
            <a:off x="8876665" y="2296160"/>
            <a:ext cx="1249680" cy="521970"/>
          </a:xfrm>
          <a:prstGeom prst="rect">
            <a:avLst/>
          </a:prstGeom>
          <a:noFill/>
          <a:ln>
            <a:noFill/>
          </a:ln>
        </p:spPr>
        <p:txBody>
          <a:bodyPr wrap="none" rtlCol="0" anchor="t">
            <a:spAutoFit/>
            <a:scene3d>
              <a:camera prst="orthographicFront"/>
              <a:lightRig rig="threePt" dir="t"/>
            </a:scene3d>
          </a:bodyPr>
          <a:p>
            <a:pPr algn="ctr"/>
            <a:r>
              <a:rPr lang="zh-CN" altLang="en-US" sz="2800" b="1">
                <a:ln w="9525">
                  <a:solidFill>
                    <a:schemeClr val="bg1"/>
                  </a:solidFill>
                  <a:prstDash val="solid"/>
                </a:ln>
                <a:solidFill>
                  <a:schemeClr val="tx1"/>
                </a:solidFill>
                <a:effectLst>
                  <a:outerShdw blurRad="12700" dist="38100" dir="2700000" algn="tl" rotWithShape="0">
                    <a:schemeClr val="bg1">
                      <a:lumMod val="50000"/>
                    </a:schemeClr>
                  </a:outerShdw>
                </a:effectLst>
              </a:rPr>
              <a:t>周宇童</a:t>
            </a:r>
            <a:endParaRPr lang="zh-CN" altLang="en-US" sz="28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06489" y="1720372"/>
            <a:ext cx="3117231" cy="52322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3701415" y="2689225"/>
            <a:ext cx="4706620" cy="2306955"/>
          </a:xfrm>
          <a:prstGeom prst="rect">
            <a:avLst/>
          </a:prstGeom>
          <a:noFill/>
        </p:spPr>
        <p:txBody>
          <a:bodyPr wrap="square" rtlCol="0">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marL="457200" lvl="1">
              <a:lnSpc>
                <a:spcPct val="150000"/>
              </a:lnSpc>
            </a:pPr>
            <a:r>
              <a:rPr lang="en-US" altLang="zh-CN" sz="2400" i="1" dirty="0" smtClean="0">
                <a:solidFill>
                  <a:srgbClr val="FF0000"/>
                </a:solidFill>
                <a:latin typeface="微软雅黑" panose="020B0503020204020204" charset="-122"/>
                <a:ea typeface="微软雅黑" panose="020B0503020204020204" charset="-122"/>
              </a:rPr>
              <a:t>01</a:t>
            </a:r>
            <a:r>
              <a:rPr lang="zh-CN" altLang="en-US" sz="2400" i="1" dirty="0" smtClean="0">
                <a:solidFill>
                  <a:srgbClr val="FF0000"/>
                </a:solidFill>
                <a:latin typeface="微软雅黑" panose="020B0503020204020204" charset="-122"/>
                <a:ea typeface="微软雅黑" panose="020B0503020204020204" charset="-122"/>
              </a:rPr>
              <a:t>、</a:t>
            </a:r>
            <a:r>
              <a:rPr lang="zh-CN" altLang="en-US" sz="2400" dirty="0" smtClean="0">
                <a:solidFill>
                  <a:srgbClr val="FF0000"/>
                </a:solidFill>
                <a:latin typeface="微软雅黑" panose="020B0503020204020204" charset="-122"/>
                <a:ea typeface="微软雅黑" panose="020B0503020204020204" charset="-122"/>
              </a:rPr>
              <a:t>相机原理和变换矩阵</a:t>
            </a:r>
            <a:endParaRPr lang="en-US" altLang="zh-CN" sz="2400" i="1" dirty="0" smtClean="0">
              <a:solidFill>
                <a:srgbClr val="FF000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02</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dirty="0" smtClean="0">
                <a:solidFill>
                  <a:srgbClr val="065980"/>
                </a:solidFill>
                <a:latin typeface="微软雅黑" panose="020B0503020204020204" charset="-122"/>
                <a:ea typeface="微软雅黑" panose="020B0503020204020204" charset="-122"/>
              </a:rPr>
              <a:t>图像原理和</a:t>
            </a:r>
            <a:r>
              <a:rPr lang="en-US" altLang="zh-CN" sz="2400" dirty="0" smtClean="0">
                <a:solidFill>
                  <a:srgbClr val="065980"/>
                </a:solidFill>
                <a:latin typeface="微软雅黑" panose="020B0503020204020204" charset="-122"/>
                <a:ea typeface="微软雅黑" panose="020B0503020204020204" charset="-122"/>
              </a:rPr>
              <a:t>OpenCV</a:t>
            </a:r>
            <a:r>
              <a:rPr lang="zh-CN" altLang="en-US" sz="2400" dirty="0" smtClean="0">
                <a:solidFill>
                  <a:srgbClr val="065980"/>
                </a:solidFill>
                <a:latin typeface="微软雅黑" panose="020B0503020204020204" charset="-122"/>
                <a:ea typeface="微软雅黑" panose="020B0503020204020204" charset="-122"/>
              </a:rPr>
              <a:t>基础</a:t>
            </a:r>
            <a:endParaRPr lang="en-US" altLang="zh-CN" sz="2400"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03</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深度学习和目标检测</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04</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视觉</a:t>
            </a:r>
            <a:r>
              <a:rPr lang="en-US" altLang="zh-CN" sz="2400" i="1" dirty="0" smtClean="0">
                <a:solidFill>
                  <a:srgbClr val="065980"/>
                </a:solidFill>
                <a:latin typeface="微软雅黑" panose="020B0503020204020204" charset="-122"/>
                <a:ea typeface="微软雅黑" panose="020B0503020204020204" charset="-122"/>
                <a:sym typeface="+mn-ea"/>
              </a:rPr>
              <a:t> + ROS</a:t>
            </a:r>
            <a:endParaRPr lang="en-US" altLang="zh-CN" sz="2400" i="1" dirty="0" smtClean="0">
              <a:solidFill>
                <a:srgbClr val="065980"/>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058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坐标系变换</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1933575"/>
            <a:ext cx="3935730" cy="3209925"/>
          </a:xfrm>
          <a:prstGeom prst="rect">
            <a:avLst/>
          </a:prstGeom>
        </p:spPr>
        <p:txBody>
          <a:bodyPr>
            <a:noAutofit/>
          </a:bodyPr>
          <a:p>
            <a:pPr marL="0" indent="0"/>
            <a:r>
              <a:rPr lang="zh-CN" altLang="en-US" sz="1600" i="0">
                <a:solidFill>
                  <a:srgbClr val="0F1115"/>
                </a:solidFill>
                <a:latin typeface="微软雅黑" panose="020B0503020204020204" charset="-122"/>
                <a:ea typeface="微软雅黑" panose="020B0503020204020204" charset="-122"/>
                <a:cs typeface="微软雅黑" panose="020B0503020204020204" charset="-122"/>
              </a:rPr>
              <a:t>为了能够用数学语言来描述针孔相机模型，需要建立四个坐标系：</a:t>
            </a:r>
            <a:endParaRPr lang="zh-CN" altLang="en-US" sz="1600" i="0">
              <a:solidFill>
                <a:srgbClr val="0F1115"/>
              </a:solidFill>
              <a:latin typeface="微软雅黑" panose="020B0503020204020204" charset="-122"/>
              <a:ea typeface="微软雅黑" panose="020B0503020204020204" charset="-122"/>
              <a:cs typeface="微软雅黑" panose="020B0503020204020204" charset="-122"/>
            </a:endParaRPr>
          </a:p>
          <a:p>
            <a:pPr marL="0" indent="0"/>
            <a:endParaRPr lang="zh-CN" altLang="en-US" sz="1600" b="1" i="0">
              <a:solidFill>
                <a:srgbClr val="0F1115"/>
              </a:solidFill>
              <a:latin typeface="微软雅黑" panose="020B0503020204020204" charset="-122"/>
              <a:ea typeface="微软雅黑" panose="020B0503020204020204" charset="-122"/>
              <a:cs typeface="微软雅黑" panose="020B0503020204020204" charset="-122"/>
            </a:endParaRPr>
          </a:p>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世界坐标系</a:t>
            </a:r>
            <a:r>
              <a:rPr lang="zh-CN" altLang="en-US" sz="1600" i="0">
                <a:solidFill>
                  <a:srgbClr val="0F1115"/>
                </a:solidFill>
                <a:latin typeface="微软雅黑" panose="020B0503020204020204" charset="-122"/>
                <a:ea typeface="微软雅黑" panose="020B0503020204020204" charset="-122"/>
                <a:cs typeface="微软雅黑" panose="020B0503020204020204" charset="-122"/>
              </a:rPr>
              <a:t>、</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相机坐标系</a:t>
            </a:r>
            <a:r>
              <a:rPr lang="zh-CN" altLang="en-US" sz="1600" i="0">
                <a:solidFill>
                  <a:srgbClr val="0F1115"/>
                </a:solidFill>
                <a:latin typeface="微软雅黑" panose="020B0503020204020204" charset="-122"/>
                <a:ea typeface="微软雅黑" panose="020B0503020204020204" charset="-122"/>
                <a:cs typeface="微软雅黑" panose="020B0503020204020204" charset="-122"/>
              </a:rPr>
              <a:t>、</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成像平面坐标系</a:t>
            </a:r>
            <a:r>
              <a:rPr lang="zh-CN" altLang="en-US" sz="1600" i="0">
                <a:solidFill>
                  <a:srgbClr val="0F1115"/>
                </a:solidFill>
                <a:latin typeface="微软雅黑" panose="020B0503020204020204" charset="-122"/>
                <a:ea typeface="微软雅黑" panose="020B0503020204020204" charset="-122"/>
                <a:cs typeface="微软雅黑" panose="020B0503020204020204" charset="-122"/>
              </a:rPr>
              <a:t>、</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像素坐标系</a:t>
            </a:r>
            <a:r>
              <a:rPr lang="zh-CN" altLang="en-US" sz="1600" i="0">
                <a:solidFill>
                  <a:srgbClr val="0F1115"/>
                </a:solidFill>
                <a:latin typeface="微软雅黑" panose="020B0503020204020204" charset="-122"/>
                <a:ea typeface="微软雅黑" panose="020B0503020204020204" charset="-122"/>
                <a:cs typeface="微软雅黑" panose="020B0503020204020204" charset="-122"/>
              </a:rPr>
              <a:t>，三维物体在二维图像上的成像过程通过坐标系变换来表达。</a:t>
            </a:r>
            <a:endParaRPr lang="zh-CN" altLang="en-US" sz="1600" i="0">
              <a:solidFill>
                <a:srgbClr val="0F1115"/>
              </a:solidFill>
              <a:latin typeface="微软雅黑" panose="020B0503020204020204" charset="-122"/>
              <a:ea typeface="微软雅黑" panose="020B0503020204020204" charset="-122"/>
              <a:cs typeface="微软雅黑" panose="020B0503020204020204" charset="-122"/>
            </a:endParaRPr>
          </a:p>
          <a:p>
            <a:pPr marL="0" indent="0"/>
            <a:endParaRPr lang="zh-CN" altLang="en-US" sz="1600" i="0">
              <a:solidFill>
                <a:srgbClr val="0F1115"/>
              </a:solidFill>
              <a:latin typeface="微软雅黑" panose="020B0503020204020204" charset="-122"/>
              <a:ea typeface="微软雅黑" panose="020B0503020204020204" charset="-122"/>
              <a:cs typeface="微软雅黑" panose="020B0503020204020204" charset="-122"/>
            </a:endParaRPr>
          </a:p>
          <a:p>
            <a:pPr marL="0" indent="0"/>
            <a:endParaRPr lang="zh-CN" altLang="en-US" sz="1600"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11" name="图片 10"/>
          <p:cNvPicPr/>
          <p:nvPr/>
        </p:nvPicPr>
        <p:blipFill>
          <a:blip r:embed="rId3"/>
          <a:stretch>
            <a:fillRect/>
          </a:stretch>
        </p:blipFill>
        <p:spPr>
          <a:xfrm>
            <a:off x="3870998" y="-169545"/>
            <a:ext cx="8741334" cy="6858000"/>
          </a:xfrm>
          <a:prstGeom prst="rect">
            <a:avLst/>
          </a:prstGeom>
        </p:spPr>
      </p:pic>
      <p:pic>
        <p:nvPicPr>
          <p:cNvPr id="12" name="图片 11"/>
          <p:cNvPicPr/>
          <p:nvPr/>
        </p:nvPicPr>
        <p:blipFill>
          <a:blip r:embed="rId4"/>
          <a:stretch>
            <a:fillRect/>
          </a:stretch>
        </p:blipFill>
        <p:spPr>
          <a:xfrm>
            <a:off x="344170" y="5654675"/>
            <a:ext cx="5541010" cy="69786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477012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a:t>
            </a:r>
            <a:r>
              <a:rPr lang="zh-CN" altLang="en-US" sz="3200" b="1" dirty="0">
                <a:solidFill>
                  <a:schemeClr val="bg1"/>
                </a:solidFill>
                <a:latin typeface="微软雅黑" panose="020B0503020204020204" charset="-122"/>
                <a:ea typeface="微软雅黑" panose="020B0503020204020204" charset="-122"/>
                <a:sym typeface="+mn-ea"/>
              </a:rPr>
              <a:t>系列</a:t>
            </a:r>
            <a:r>
              <a:rPr lang="zh-CN" altLang="en-US" sz="3200" b="1" dirty="0">
                <a:solidFill>
                  <a:schemeClr val="bg1"/>
                </a:solidFill>
                <a:latin typeface="微软雅黑" panose="020B0503020204020204" charset="-122"/>
                <a:ea typeface="微软雅黑" panose="020B0503020204020204" charset="-122"/>
                <a:sym typeface="+mn-ea"/>
              </a:rPr>
              <a:t>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相机坐标系 </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(Camera Coordinate System)</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872490" y="2406968"/>
            <a:ext cx="5080000" cy="337185"/>
          </a:xfrm>
          <a:prstGeom prst="rect">
            <a:avLst/>
          </a:prstGeom>
        </p:spPr>
        <p:txBody>
          <a:bodyPr>
            <a:spAutoFit/>
          </a:bodyPr>
          <a:p>
            <a:pPr marL="0" indent="0">
              <a:spcBef>
                <a:spcPct val="0"/>
              </a:spcBef>
              <a:spcAft>
                <a:spcPct val="0"/>
              </a:spcAft>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原点 O_c：相机光心</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872490" y="2744470"/>
            <a:ext cx="6178550" cy="2061210"/>
          </a:xfrm>
          <a:prstGeom prst="rect">
            <a:avLst/>
          </a:prstGeom>
        </p:spPr>
        <p:txBody>
          <a:bodyPr wrap="square">
            <a:sp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Z_c 轴：沿光轴指向场景方向</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（正方向）</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X_c 轴：向右</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（与成像平面平行）</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Y_c 轴：向下</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（与成像平面平行，确保与像素坐标系方向一致）</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单位：物理单位，例如米</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p:nvPr/>
        </p:nvPicPr>
        <p:blipFill>
          <a:blip r:embed="rId3"/>
          <a:stretch>
            <a:fillRect/>
          </a:stretch>
        </p:blipFill>
        <p:spPr>
          <a:xfrm>
            <a:off x="5619115" y="2231390"/>
            <a:ext cx="6012815" cy="38785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18490" y="1059815"/>
            <a:ext cx="385508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a:t>
            </a:r>
            <a:r>
              <a:rPr lang="zh-CN" altLang="en-US" sz="3200" b="1" dirty="0">
                <a:solidFill>
                  <a:schemeClr val="bg1"/>
                </a:solidFill>
                <a:latin typeface="微软雅黑" panose="020B0503020204020204" charset="-122"/>
                <a:ea typeface="微软雅黑" panose="020B0503020204020204" charset="-122"/>
                <a:sym typeface="+mn-ea"/>
              </a:rPr>
              <a:t>系列</a:t>
            </a:r>
            <a:r>
              <a:rPr lang="zh-CN" altLang="en-US" sz="3200" b="1" dirty="0">
                <a:solidFill>
                  <a:schemeClr val="bg1"/>
                </a:solidFill>
                <a:latin typeface="微软雅黑" panose="020B0503020204020204" charset="-122"/>
                <a:ea typeface="微软雅黑" panose="020B0503020204020204" charset="-122"/>
                <a:sym typeface="+mn-ea"/>
              </a:rPr>
              <a:t>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1826578"/>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物理成像平面</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 (Physical Image Plane)</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872490" y="2163763"/>
            <a:ext cx="5080000" cy="337185"/>
          </a:xfrm>
          <a:prstGeom prst="rect">
            <a:avLst/>
          </a:prstGeom>
        </p:spPr>
        <p:txBody>
          <a:bodyPr>
            <a:spAutoFit/>
          </a:bodyPr>
          <a:p>
            <a:pPr marL="0" indent="0">
              <a:spcBef>
                <a:spcPct val="0"/>
              </a:spcBef>
              <a:spcAft>
                <a:spcPct val="0"/>
              </a:spcAft>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位于相机坐标系中</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Z_c = -f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处（</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f &gt; 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872490" y="2567305"/>
            <a:ext cx="6178550" cy="2003425"/>
          </a:xfrm>
          <a:prstGeom prst="rect">
            <a:avLst/>
          </a:prstGeom>
        </p:spPr>
        <p:txBody>
          <a:bodyPr wrap="square">
            <a:no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原点</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O_i</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：光轴与成像平面的交点（主点）</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x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轴：与</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X_c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轴平行同向</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y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轴：与</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Y_c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轴平行同向</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单位：和相机系相同</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p:nvPr/>
        </p:nvPicPr>
        <p:blipFill>
          <a:blip r:embed="rId3"/>
          <a:stretch>
            <a:fillRect/>
          </a:stretch>
        </p:blipFill>
        <p:spPr>
          <a:xfrm>
            <a:off x="5619115" y="160020"/>
            <a:ext cx="6012815" cy="3878580"/>
          </a:xfrm>
          <a:prstGeom prst="rect">
            <a:avLst/>
          </a:prstGeom>
        </p:spPr>
      </p:pic>
      <p:pic>
        <p:nvPicPr>
          <p:cNvPr id="12" name="图片 11"/>
          <p:cNvPicPr>
            <a:picLocks noChangeAspect="1"/>
          </p:cNvPicPr>
          <p:nvPr/>
        </p:nvPicPr>
        <p:blipFill>
          <a:blip r:embed="rId4"/>
          <a:stretch>
            <a:fillRect/>
          </a:stretch>
        </p:blipFill>
        <p:spPr>
          <a:xfrm>
            <a:off x="1075055" y="4319905"/>
            <a:ext cx="9770745" cy="229997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8538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a:t>
            </a:r>
            <a:r>
              <a:rPr lang="zh-CN" altLang="en-US" sz="3200" b="1" dirty="0">
                <a:solidFill>
                  <a:schemeClr val="bg1"/>
                </a:solidFill>
                <a:latin typeface="微软雅黑" panose="020B0503020204020204" charset="-122"/>
                <a:ea typeface="微软雅黑" panose="020B0503020204020204" charset="-122"/>
                <a:sym typeface="+mn-ea"/>
              </a:rPr>
              <a:t>系列</a:t>
            </a:r>
            <a:r>
              <a:rPr lang="zh-CN" altLang="en-US" sz="3200" b="1" dirty="0">
                <a:solidFill>
                  <a:schemeClr val="bg1"/>
                </a:solidFill>
                <a:latin typeface="微软雅黑" panose="020B0503020204020204" charset="-122"/>
                <a:ea typeface="微软雅黑" panose="020B0503020204020204" charset="-122"/>
                <a:sym typeface="+mn-ea"/>
              </a:rPr>
              <a:t>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虚拟成像平面</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 (Virtual Image Plane)</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160135" y="1634808"/>
            <a:ext cx="5080000" cy="337185"/>
          </a:xfrm>
          <a:prstGeom prst="rect">
            <a:avLst/>
          </a:prstGeom>
        </p:spPr>
        <p:txBody>
          <a:bodyPr>
            <a:spAutoFit/>
          </a:bodyPr>
          <a:p>
            <a:pPr marL="0" indent="0">
              <a:spcBef>
                <a:spcPct val="0"/>
              </a:spcBef>
              <a:spcAft>
                <a:spcPct val="0"/>
              </a:spcAft>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位于相机坐标系中</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Z_c = f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处（</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f &gt; 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6160135" y="2070100"/>
            <a:ext cx="6178550" cy="2061210"/>
          </a:xfrm>
          <a:prstGeom prst="rect">
            <a:avLst/>
          </a:prstGeom>
        </p:spPr>
        <p:txBody>
          <a:bodyPr wrap="square">
            <a:sp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原点</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O_i</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：光轴与成像平面的交点（主点）</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x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轴：与</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X_c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轴平行同向</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y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轴：与</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Y_c </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轴平行同向</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单位：和相机系相同</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765810" y="2599372"/>
            <a:ext cx="5080000" cy="829945"/>
          </a:xfrm>
          <a:prstGeom prst="rect">
            <a:avLst/>
          </a:prstGeom>
        </p:spPr>
        <p:txBody>
          <a:bodyPr>
            <a:spAutoFit/>
          </a:bodyPr>
          <a:p>
            <a:pPr marL="0" indent="0"/>
            <a:r>
              <a:rPr lang="zh-CN" altLang="en-US" sz="1600">
                <a:solidFill>
                  <a:srgbClr val="0F1115"/>
                </a:solidFill>
                <a:latin typeface="微软雅黑" panose="020B0503020204020204" charset="-122"/>
                <a:ea typeface="微软雅黑" panose="020B0503020204020204" charset="-122"/>
                <a:cs typeface="微软雅黑" panose="020B0503020204020204" charset="-122"/>
                <a:sym typeface="+mn-ea"/>
              </a:rPr>
              <a:t>物理成像平面中，像是倒立的</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，因此为了简化公式和避免负号，通常引入一个虚拟成像平面，将其放置在相机前方的 Z_c = f 处。</a:t>
            </a:r>
            <a:endParaRPr lang="zh-CN" altLang="en-US" sz="1600" b="0" i="0">
              <a:solidFill>
                <a:srgbClr val="0F1115"/>
              </a:solidFill>
              <a:latin typeface="quote-cjk-patch"/>
              <a:ea typeface="quote-cjk-patch"/>
            </a:endParaRPr>
          </a:p>
        </p:txBody>
      </p:sp>
      <p:pic>
        <p:nvPicPr>
          <p:cNvPr id="12" name="图片 11"/>
          <p:cNvPicPr>
            <a:picLocks noChangeAspect="1"/>
          </p:cNvPicPr>
          <p:nvPr/>
        </p:nvPicPr>
        <p:blipFill>
          <a:blip r:embed="rId3"/>
          <a:stretch>
            <a:fillRect/>
          </a:stretch>
        </p:blipFill>
        <p:spPr>
          <a:xfrm>
            <a:off x="1340485" y="4072890"/>
            <a:ext cx="9770745" cy="229997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8722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a:t>
            </a:r>
            <a:r>
              <a:rPr lang="zh-CN" altLang="en-US" sz="3200" b="1" dirty="0">
                <a:solidFill>
                  <a:schemeClr val="bg1"/>
                </a:solidFill>
                <a:latin typeface="微软雅黑" panose="020B0503020204020204" charset="-122"/>
                <a:ea typeface="微软雅黑" panose="020B0503020204020204" charset="-122"/>
                <a:sym typeface="+mn-ea"/>
              </a:rPr>
              <a:t>系列</a:t>
            </a:r>
            <a:r>
              <a:rPr lang="zh-CN" altLang="en-US" sz="3200" b="1" dirty="0">
                <a:solidFill>
                  <a:schemeClr val="bg1"/>
                </a:solidFill>
                <a:latin typeface="微软雅黑" panose="020B0503020204020204" charset="-122"/>
                <a:ea typeface="微软雅黑" panose="020B0503020204020204" charset="-122"/>
                <a:sym typeface="+mn-ea"/>
              </a:rPr>
              <a:t>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像素平面</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 (Pixel Plane)</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847725" y="2482215"/>
            <a:ext cx="4834255" cy="3037840"/>
          </a:xfrm>
          <a:prstGeom prst="rect">
            <a:avLst/>
          </a:prstGeom>
        </p:spPr>
        <p:txBody>
          <a:bodyPr wrap="square">
            <a:no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像素平面与虚拟成像平面完全重合，虚拟成像平面的原点在像素平面中记为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(u0,v0)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，即主点。</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像素平面的</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x</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轴和</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y</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轴均与虚拟成像平面完全一致，原点则在最左上角。</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p:nvPr/>
        </p:nvPicPr>
        <p:blipFill>
          <a:blip r:embed="rId3"/>
          <a:stretch>
            <a:fillRect/>
          </a:stretch>
        </p:blipFill>
        <p:spPr>
          <a:xfrm>
            <a:off x="6760210" y="2482215"/>
            <a:ext cx="4101465" cy="304228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相机系列坐标系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从像素坐标系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(u,v)</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到虚拟平面成像坐标系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(x,y)</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847725" y="2482215"/>
            <a:ext cx="9321165" cy="3037840"/>
          </a:xfrm>
          <a:prstGeom prst="rect">
            <a:avLst/>
          </a:prstGeom>
        </p:spPr>
        <p:txBody>
          <a:bodyPr wrap="square">
            <a:no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此问题可表述为：已知一个点在像素坐标系（单位：像素）中的坐标，求取此点在虚拟平面成像坐标系（单位：毫米）中的坐标。</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从相机获得的图像，画幅通常为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640x480(4:3)</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，适用像素坐标系，原点</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O0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位于图像左上角。水平方向从左到右为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u</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轴，共</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640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像素；垂直方向从上到下为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v</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轴，共</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480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像素。</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虚拟平面成像坐标系则是以相机虚焦平面所在位置为基准，原点位于图像正中。水平方向从左到右为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x</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轴，垂直方向从上到下为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y</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轴。焦平面成像坐标系的原点在像素坐标系上的投影</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O1</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叫主点（</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principal point</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），以</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uv</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坐标系表示为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u0=320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v0=240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在</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px4_command</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中，</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内参</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cx</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即为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u0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a:t>
            </a:r>
            <a:r>
              <a:rPr lang="zh-CN" altLang="en-US" sz="1600" b="1">
                <a:solidFill>
                  <a:srgbClr val="0F1115"/>
                </a:solidFill>
                <a:latin typeface="微软雅黑" panose="020B0503020204020204" charset="-122"/>
                <a:ea typeface="微软雅黑" panose="020B0503020204020204" charset="-122"/>
                <a:cs typeface="微软雅黑" panose="020B0503020204020204" charset="-122"/>
                <a:sym typeface="+mn-ea"/>
              </a:rPr>
              <a:t>内参</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cy</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即为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v0</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相机系列坐标系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从像素坐标系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(u,v)</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到虚拟平面成像坐标系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(x,y)</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847725" y="2482215"/>
            <a:ext cx="4017010" cy="2177415"/>
          </a:xfrm>
          <a:prstGeom prst="rect">
            <a:avLst/>
          </a:prstGeom>
        </p:spPr>
        <p:txBody>
          <a:bodyPr wrap="square">
            <a:no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已知单个像素在</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x</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轴上的尺寸为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dx</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，在</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y</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轴上的尺寸为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dy</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，单位均为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mm/pix</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，有</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x = (u - u0) * dx</a:t>
            </a: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y = (v - v0) * dy</a:t>
            </a: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4" name="图片 3"/>
          <p:cNvPicPr/>
          <p:nvPr/>
        </p:nvPicPr>
        <p:blipFill>
          <a:blip r:embed="rId3"/>
          <a:stretch>
            <a:fillRect/>
          </a:stretch>
        </p:blipFill>
        <p:spPr>
          <a:xfrm>
            <a:off x="5494338" y="765493"/>
            <a:ext cx="6753225" cy="580072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相机系列坐标系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从虚拟平面成像坐标系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(x,y)</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到相机坐标系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(Xc,Yc,Zc)</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847725" y="2482215"/>
            <a:ext cx="4017010" cy="2697480"/>
          </a:xfrm>
          <a:prstGeom prst="rect">
            <a:avLst/>
          </a:prstGeom>
        </p:spPr>
        <p:txBody>
          <a:bodyPr wrap="square">
            <a:noAutofit/>
          </a:bodyPr>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相机坐标系的原点位于相机镜头的光心。水平方向从左到右为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Xc</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轴，垂直方向从上到下为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Yc</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轴，相机光轴从内到外为</a:t>
            </a: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Zc</a:t>
            </a: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轴。</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a:t>
            </a: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虚像所在的虚焦平面，即为相机获得的图像，适用虚拟平面成像坐标系。根据相似三角形，有</a:t>
            </a: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x = Xc / Zc * f = (u - u0) * dx</a:t>
            </a: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r>
              <a:rPr lang="en-US" altLang="zh-CN" sz="1600" b="0" i="0">
                <a:solidFill>
                  <a:srgbClr val="0F1115"/>
                </a:solidFill>
                <a:latin typeface="微软雅黑" panose="020B0503020204020204" charset="-122"/>
                <a:ea typeface="微软雅黑" panose="020B0503020204020204" charset="-122"/>
                <a:cs typeface="微软雅黑" panose="020B0503020204020204" charset="-122"/>
              </a:rPr>
              <a:t>	y = Yc / Zc * f = (v - v0) * dy</a:t>
            </a:r>
            <a:endParaRPr lang="en-US" altLang="zh-CN" sz="1600" b="0" i="0">
              <a:solidFill>
                <a:srgbClr val="0F1115"/>
              </a:solidFill>
              <a:latin typeface="微软雅黑" panose="020B0503020204020204" charset="-122"/>
              <a:ea typeface="微软雅黑" panose="020B0503020204020204" charset="-122"/>
              <a:cs typeface="微软雅黑" panose="020B0503020204020204" charset="-122"/>
            </a:endParaRPr>
          </a:p>
          <a:p>
            <a:pPr marL="0" indent="0" algn="l">
              <a:buClrTx/>
              <a:buSzTx/>
              <a:buFont typeface="Arial" panose="020B0604020202020204"/>
              <a:buNone/>
            </a:pPr>
            <a:endParaRPr lang="zh-CN" altLang="en-US" sz="1600" b="0"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6" name="图片 5"/>
          <p:cNvPicPr/>
          <p:nvPr/>
        </p:nvPicPr>
        <p:blipFill>
          <a:blip r:embed="rId3"/>
          <a:stretch>
            <a:fillRect/>
          </a:stretch>
        </p:blipFill>
        <p:spPr>
          <a:xfrm>
            <a:off x="7596505" y="855980"/>
            <a:ext cx="9337040" cy="3537585"/>
          </a:xfrm>
          <a:prstGeom prst="rect">
            <a:avLst/>
          </a:prstGeom>
        </p:spPr>
      </p:pic>
      <p:sp>
        <p:nvSpPr>
          <p:cNvPr id="10" name="文本框 9"/>
          <p:cNvSpPr txBox="1"/>
          <p:nvPr/>
        </p:nvSpPr>
        <p:spPr>
          <a:xfrm>
            <a:off x="1012190" y="4989195"/>
            <a:ext cx="5888990" cy="829945"/>
          </a:xfrm>
          <a:prstGeom prst="rect">
            <a:avLst/>
          </a:prstGeom>
          <a:noFill/>
        </p:spPr>
        <p:txBody>
          <a:bodyPr wrap="square" rtlCol="0">
            <a:spAutoFit/>
          </a:bodyPr>
          <a:p>
            <a:pPr algn="l">
              <a:buClrTx/>
              <a:buSzTx/>
              <a:buNone/>
            </a:pPr>
            <a:r>
              <a:rPr lang="zh-CN" altLang="en-US" sz="1600">
                <a:solidFill>
                  <a:srgbClr val="0F1115"/>
                </a:solidFill>
                <a:latin typeface="微软雅黑" panose="020B0503020204020204" charset="-122"/>
                <a:ea typeface="微软雅黑" panose="020B0503020204020204" charset="-122"/>
                <a:cs typeface="微软雅黑" panose="020B0503020204020204" charset="-122"/>
              </a:rPr>
              <a:t>所以</a:t>
            </a:r>
            <a:endParaRPr lang="zh-CN" altLang="en-US" sz="1600">
              <a:solidFill>
                <a:srgbClr val="0F1115"/>
              </a:solidFill>
              <a:latin typeface="微软雅黑" panose="020B0503020204020204" charset="-122"/>
              <a:ea typeface="微软雅黑" panose="020B0503020204020204" charset="-122"/>
              <a:cs typeface="微软雅黑" panose="020B0503020204020204" charset="-122"/>
            </a:endParaRPr>
          </a:p>
          <a:p>
            <a:pPr algn="l">
              <a:buClrTx/>
              <a:buSzTx/>
              <a:buNone/>
            </a:pPr>
            <a:r>
              <a:rPr lang="zh-CN" altLang="en-US" sz="1600">
                <a:solidFill>
                  <a:srgbClr val="0F1115"/>
                </a:solidFill>
                <a:latin typeface="微软雅黑" panose="020B0503020204020204" charset="-122"/>
                <a:ea typeface="微软雅黑" panose="020B0503020204020204" charset="-122"/>
                <a:cs typeface="微软雅黑" panose="020B0503020204020204" charset="-122"/>
              </a:rPr>
              <a:t>	Xc = (u - u0) * Zc / (f/dx)</a:t>
            </a:r>
            <a:endParaRPr lang="zh-CN" altLang="en-US" sz="1600">
              <a:solidFill>
                <a:srgbClr val="0F1115"/>
              </a:solidFill>
              <a:latin typeface="微软雅黑" panose="020B0503020204020204" charset="-122"/>
              <a:ea typeface="微软雅黑" panose="020B0503020204020204" charset="-122"/>
              <a:cs typeface="微软雅黑" panose="020B0503020204020204" charset="-122"/>
            </a:endParaRPr>
          </a:p>
          <a:p>
            <a:pPr algn="l">
              <a:buClrTx/>
              <a:buSzTx/>
              <a:buNone/>
            </a:pPr>
            <a:r>
              <a:rPr lang="zh-CN" altLang="en-US" sz="1600">
                <a:solidFill>
                  <a:srgbClr val="0F1115"/>
                </a:solidFill>
                <a:latin typeface="微软雅黑" panose="020B0503020204020204" charset="-122"/>
                <a:ea typeface="微软雅黑" panose="020B0503020204020204" charset="-122"/>
                <a:cs typeface="微软雅黑" panose="020B0503020204020204" charset="-122"/>
              </a:rPr>
              <a:t>	Yc = (v - </a:t>
            </a:r>
            <a:r>
              <a:rPr lang="en-US" altLang="zh-CN" sz="1600">
                <a:solidFill>
                  <a:srgbClr val="0F1115"/>
                </a:solidFill>
                <a:latin typeface="微软雅黑" panose="020B0503020204020204" charset="-122"/>
                <a:ea typeface="微软雅黑" panose="020B0503020204020204" charset="-122"/>
                <a:cs typeface="微软雅黑" panose="020B0503020204020204" charset="-122"/>
              </a:rPr>
              <a:t>v</a:t>
            </a:r>
            <a:r>
              <a:rPr lang="zh-CN" altLang="en-US" sz="1600">
                <a:solidFill>
                  <a:srgbClr val="0F1115"/>
                </a:solidFill>
                <a:latin typeface="微软雅黑" panose="020B0503020204020204" charset="-122"/>
                <a:ea typeface="微软雅黑" panose="020B0503020204020204" charset="-122"/>
                <a:cs typeface="微软雅黑" panose="020B0503020204020204" charset="-122"/>
              </a:rPr>
              <a:t>0) * Zc / (f/dy)</a:t>
            </a:r>
            <a:endParaRPr lang="zh-CN" altLang="en-US" sz="160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1012190" y="5925503"/>
            <a:ext cx="5080000" cy="337185"/>
          </a:xfrm>
          <a:prstGeom prst="rect">
            <a:avLst/>
          </a:prstGeom>
        </p:spPr>
        <p:txBody>
          <a:bodyPr>
            <a:spAutoFit/>
          </a:bodyPr>
          <a:p>
            <a:pPr marL="0" indent="0"/>
            <a:r>
              <a:rPr lang="zh-CN" altLang="en-US" sz="1600" b="0" i="0">
                <a:solidFill>
                  <a:srgbClr val="0F1115"/>
                </a:solidFill>
                <a:latin typeface="微软雅黑" panose="020B0503020204020204" charset="-122"/>
                <a:ea typeface="微软雅黑" panose="020B0503020204020204" charset="-122"/>
                <a:cs typeface="微软雅黑" panose="020B0503020204020204" charset="-122"/>
              </a:rPr>
              <a:t>至于</a:t>
            </a:r>
            <a:r>
              <a:rPr lang="en-US" altLang="zh-CN" sz="1600" b="0" i="0">
                <a:solidFill>
                  <a:srgbClr val="000000"/>
                </a:solidFill>
                <a:latin typeface="微软雅黑" panose="020B0503020204020204" charset="-122"/>
                <a:ea typeface="微软雅黑" panose="020B0503020204020204" charset="-122"/>
                <a:cs typeface="微软雅黑" panose="020B0503020204020204" charset="-122"/>
              </a:rPr>
              <a:t>Zc</a:t>
            </a:r>
            <a:r>
              <a:rPr lang="zh-CN" altLang="en-US" sz="1600" b="0" i="0">
                <a:solidFill>
                  <a:srgbClr val="000000"/>
                </a:solidFill>
                <a:latin typeface="微软雅黑" panose="020B0503020204020204" charset="-122"/>
                <a:ea typeface="微软雅黑" panose="020B0503020204020204" charset="-122"/>
                <a:cs typeface="微软雅黑" panose="020B0503020204020204" charset="-122"/>
              </a:rPr>
              <a:t>，无论是哪种相机，都可以通过额外手段测出。</a:t>
            </a:r>
            <a:endParaRPr lang="zh-CN" altLang="en-US" sz="16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相机系列坐标系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从虚拟平面成像坐标系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(x,y)</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到相机坐标系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(Xc,Yc,Zc)</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6" name="图片 5"/>
          <p:cNvPicPr/>
          <p:nvPr/>
        </p:nvPicPr>
        <p:blipFill>
          <a:blip r:embed="rId3"/>
          <a:stretch>
            <a:fillRect/>
          </a:stretch>
        </p:blipFill>
        <p:spPr>
          <a:xfrm>
            <a:off x="7596505" y="855980"/>
            <a:ext cx="9337040" cy="3537585"/>
          </a:xfrm>
          <a:prstGeom prst="rect">
            <a:avLst/>
          </a:prstGeom>
        </p:spPr>
      </p:pic>
      <p:sp>
        <p:nvSpPr>
          <p:cNvPr id="10" name="文本框 9"/>
          <p:cNvSpPr txBox="1"/>
          <p:nvPr/>
        </p:nvSpPr>
        <p:spPr>
          <a:xfrm>
            <a:off x="920750" y="2498090"/>
            <a:ext cx="5888990" cy="583565"/>
          </a:xfrm>
          <a:prstGeom prst="rect">
            <a:avLst/>
          </a:prstGeom>
          <a:noFill/>
        </p:spPr>
        <p:txBody>
          <a:bodyPr wrap="square" rtlCol="0">
            <a:spAutoFit/>
          </a:bodyPr>
          <a:p>
            <a:pPr algn="l">
              <a:buClrTx/>
              <a:buSzTx/>
              <a:buNone/>
            </a:pPr>
            <a:r>
              <a:rPr lang="zh-CN" altLang="en-US" sz="1600">
                <a:solidFill>
                  <a:srgbClr val="0F1115"/>
                </a:solidFill>
                <a:latin typeface="微软雅黑" panose="020B0503020204020204" charset="-122"/>
                <a:ea typeface="微软雅黑" panose="020B0503020204020204" charset="-122"/>
                <a:cs typeface="微软雅黑" panose="020B0503020204020204" charset="-122"/>
              </a:rPr>
              <a:t>	Xc = (u - u0) * Zc / (f/dx)</a:t>
            </a:r>
            <a:endParaRPr lang="zh-CN" altLang="en-US" sz="1600">
              <a:solidFill>
                <a:srgbClr val="0F1115"/>
              </a:solidFill>
              <a:latin typeface="微软雅黑" panose="020B0503020204020204" charset="-122"/>
              <a:ea typeface="微软雅黑" panose="020B0503020204020204" charset="-122"/>
              <a:cs typeface="微软雅黑" panose="020B0503020204020204" charset="-122"/>
            </a:endParaRPr>
          </a:p>
          <a:p>
            <a:pPr algn="l">
              <a:buClrTx/>
              <a:buSzTx/>
              <a:buNone/>
            </a:pPr>
            <a:r>
              <a:rPr lang="zh-CN" altLang="en-US" sz="1600">
                <a:solidFill>
                  <a:srgbClr val="0F1115"/>
                </a:solidFill>
                <a:latin typeface="微软雅黑" panose="020B0503020204020204" charset="-122"/>
                <a:ea typeface="微软雅黑" panose="020B0503020204020204" charset="-122"/>
                <a:cs typeface="微软雅黑" panose="020B0503020204020204" charset="-122"/>
              </a:rPr>
              <a:t>	Yc = (v - u0) * Zc / (f/dy)</a:t>
            </a:r>
            <a:endParaRPr lang="zh-CN" altLang="en-US" sz="160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1076325" y="3322320"/>
            <a:ext cx="6172200" cy="1476375"/>
          </a:xfrm>
          <a:prstGeom prst="rect">
            <a:avLst/>
          </a:prstGeom>
          <a:noFill/>
        </p:spPr>
        <p:txBody>
          <a:bodyPr wrap="square" rtlCol="0">
            <a:spAutoFit/>
          </a:bodyPr>
          <a:p>
            <a:r>
              <a:rPr lang="zh-CN" altLang="en-US"/>
              <a:t>记</a:t>
            </a:r>
            <a:r>
              <a:rPr lang="zh-CN" altLang="en-US" b="1"/>
              <a:t>相机内参</a:t>
            </a:r>
            <a:r>
              <a:rPr lang="zh-CN" altLang="en-US"/>
              <a:t>中</a:t>
            </a:r>
            <a:r>
              <a:rPr lang="en-US" altLang="zh-CN" b="1"/>
              <a:t>fx = f/dx, fy = f/dy</a:t>
            </a:r>
            <a:endParaRPr lang="en-US" altLang="zh-CN" b="1"/>
          </a:p>
          <a:p>
            <a:endParaRPr lang="en-US" altLang="zh-CN" b="1"/>
          </a:p>
          <a:p>
            <a:r>
              <a:rPr lang="en-US" altLang="zh-CN" u="sng"/>
              <a:t>f</a:t>
            </a:r>
            <a:r>
              <a:rPr lang="zh-CN" altLang="en-US" u="sng"/>
              <a:t>为焦距</a:t>
            </a:r>
            <a:r>
              <a:rPr lang="en-US" altLang="zh-CN" u="sng"/>
              <a:t>(mm)</a:t>
            </a:r>
            <a:r>
              <a:rPr lang="zh-CN" altLang="en-US" u="sng"/>
              <a:t>，</a:t>
            </a:r>
            <a:r>
              <a:rPr lang="en-US" altLang="zh-CN" u="sng"/>
              <a:t>dx,dy</a:t>
            </a:r>
            <a:r>
              <a:rPr lang="zh-CN" altLang="en-US" u="sng"/>
              <a:t>为</a:t>
            </a:r>
            <a:r>
              <a:rPr lang="en-US" altLang="zh-CN" u="sng"/>
              <a:t>x,y</a:t>
            </a:r>
            <a:r>
              <a:rPr lang="zh-CN" altLang="en-US" u="sng"/>
              <a:t>像素长度</a:t>
            </a:r>
            <a:r>
              <a:rPr lang="en-US" altLang="zh-CN" u="sng"/>
              <a:t>(mm/pix)</a:t>
            </a:r>
            <a:endParaRPr lang="en-US" altLang="zh-CN" u="sng"/>
          </a:p>
          <a:p>
            <a:endParaRPr lang="en-US" altLang="zh-CN" u="sng"/>
          </a:p>
          <a:p>
            <a:r>
              <a:rPr lang="zh-CN" altLang="en-US"/>
              <a:t>则</a:t>
            </a:r>
            <a:r>
              <a:rPr lang="en-US" altLang="zh-CN"/>
              <a:t>fx,fy</a:t>
            </a:r>
            <a:r>
              <a:rPr lang="zh-CN" altLang="en-US"/>
              <a:t>单位为</a:t>
            </a:r>
            <a:r>
              <a:rPr lang="en-US" altLang="zh-CN"/>
              <a:t>pix</a:t>
            </a:r>
            <a:r>
              <a:rPr lang="zh-CN" altLang="en-US"/>
              <a:t>，表示从物理单位到像素的缩放因子</a:t>
            </a: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相机系列坐标系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从相机坐标系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(Xc,Yc,Zc)</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到机体坐标系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(Xb,Yb,Zb)</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a:t>
            </a:r>
            <a:endParaRPr lang="zh-CN" altLang="en-US" sz="1600" b="1"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9" name="图片 8"/>
          <p:cNvPicPr/>
          <p:nvPr/>
        </p:nvPicPr>
        <p:blipFill>
          <a:blip r:embed="rId3"/>
          <a:stretch>
            <a:fillRect/>
          </a:stretch>
        </p:blipFill>
        <p:spPr>
          <a:xfrm>
            <a:off x="7676833" y="1352550"/>
            <a:ext cx="7762875" cy="2076450"/>
          </a:xfrm>
          <a:prstGeom prst="rect">
            <a:avLst/>
          </a:prstGeom>
        </p:spPr>
      </p:pic>
      <p:sp>
        <p:nvSpPr>
          <p:cNvPr id="11" name="文本框 10"/>
          <p:cNvSpPr txBox="1"/>
          <p:nvPr/>
        </p:nvSpPr>
        <p:spPr>
          <a:xfrm>
            <a:off x="636270" y="2688590"/>
            <a:ext cx="7738110" cy="3138170"/>
          </a:xfrm>
          <a:prstGeom prst="rect">
            <a:avLst/>
          </a:prstGeom>
          <a:noFill/>
        </p:spPr>
        <p:txBody>
          <a:bodyPr wrap="square" rtlCol="0">
            <a:spAutoFit/>
          </a:bodyPr>
          <a:p>
            <a:r>
              <a:rPr lang="zh-CN" altLang="en-US"/>
              <a:t>如果假定相机光心和机体坐标系原点完全重合</a:t>
            </a:r>
            <a:r>
              <a:rPr lang="en-US" altLang="zh-CN"/>
              <a:t>:</a:t>
            </a:r>
            <a:endParaRPr lang="en-US" altLang="zh-CN"/>
          </a:p>
          <a:p>
            <a:endParaRPr lang="en-US" altLang="zh-CN"/>
          </a:p>
          <a:p>
            <a:r>
              <a:rPr lang="en-US" altLang="zh-CN"/>
              <a:t>	</a:t>
            </a:r>
            <a:r>
              <a:rPr lang="zh-CN" altLang="en-US"/>
              <a:t>机体坐标系</a:t>
            </a:r>
            <a:r>
              <a:rPr lang="en-US" altLang="zh-CN"/>
              <a:t>FLU</a:t>
            </a:r>
            <a:r>
              <a:rPr lang="zh-CN" altLang="en-US"/>
              <a:t>的</a:t>
            </a:r>
            <a:r>
              <a:rPr lang="en-US" altLang="zh-CN"/>
              <a:t>XbYbZb</a:t>
            </a:r>
            <a:r>
              <a:rPr lang="zh-CN" altLang="en-US"/>
              <a:t>分别为前左上。</a:t>
            </a:r>
            <a:endParaRPr lang="zh-CN" altLang="en-US"/>
          </a:p>
          <a:p>
            <a:r>
              <a:rPr lang="en-US" altLang="zh-CN"/>
              <a:t>	</a:t>
            </a:r>
            <a:r>
              <a:rPr lang="zh-CN" altLang="en-US"/>
              <a:t>对于下视相机</a:t>
            </a:r>
            <a:r>
              <a:rPr lang="en-US" altLang="zh-CN"/>
              <a:t>USB CAM</a:t>
            </a:r>
            <a:r>
              <a:rPr lang="zh-CN" altLang="en-US"/>
              <a:t>来说，</a:t>
            </a:r>
            <a:r>
              <a:rPr lang="en-US" altLang="zh-CN"/>
              <a:t>XcYcZc</a:t>
            </a:r>
            <a:r>
              <a:rPr lang="zh-CN" altLang="en-US"/>
              <a:t>分别为右后下，所以</a:t>
            </a:r>
            <a:endParaRPr lang="zh-CN" altLang="en-US"/>
          </a:p>
          <a:p>
            <a:r>
              <a:rPr lang="en-US" altLang="zh-CN"/>
              <a:t>	</a:t>
            </a:r>
            <a:r>
              <a:rPr lang="en-US" altLang="zh-CN" b="1"/>
              <a:t>Xb = -Yc</a:t>
            </a:r>
            <a:endParaRPr lang="en-US" altLang="zh-CN" b="1"/>
          </a:p>
          <a:p>
            <a:r>
              <a:rPr lang="en-US" altLang="zh-CN" b="1"/>
              <a:t>	Yb = -Xc</a:t>
            </a:r>
            <a:endParaRPr lang="en-US" altLang="zh-CN" b="1"/>
          </a:p>
          <a:p>
            <a:r>
              <a:rPr lang="en-US" altLang="zh-CN" b="1"/>
              <a:t>	Zb = -Zc</a:t>
            </a:r>
            <a:endParaRPr lang="en-US" altLang="zh-CN" b="1"/>
          </a:p>
          <a:p>
            <a:r>
              <a:rPr lang="en-US" altLang="zh-CN"/>
              <a:t>	</a:t>
            </a:r>
            <a:r>
              <a:rPr lang="zh-CN" altLang="en-US"/>
              <a:t>对于前视相机</a:t>
            </a:r>
            <a:r>
              <a:rPr lang="en-US" altLang="zh-CN"/>
              <a:t>T265</a:t>
            </a:r>
            <a:r>
              <a:rPr lang="zh-CN" altLang="en-US"/>
              <a:t>来说，</a:t>
            </a:r>
            <a:r>
              <a:rPr lang="en-US" altLang="zh-CN"/>
              <a:t>XcYcZc</a:t>
            </a:r>
            <a:r>
              <a:rPr lang="zh-CN" altLang="en-US"/>
              <a:t>分别为右下前，所以</a:t>
            </a:r>
            <a:endParaRPr lang="zh-CN" altLang="en-US"/>
          </a:p>
          <a:p>
            <a:r>
              <a:rPr lang="en-US" altLang="zh-CN"/>
              <a:t>	</a:t>
            </a:r>
            <a:r>
              <a:rPr lang="en-US" altLang="zh-CN" b="1"/>
              <a:t>Xb = Zc</a:t>
            </a:r>
            <a:endParaRPr lang="en-US" altLang="zh-CN" b="1"/>
          </a:p>
          <a:p>
            <a:r>
              <a:rPr lang="en-US" altLang="zh-CN" b="1"/>
              <a:t>	Yb = -Xc</a:t>
            </a:r>
            <a:endParaRPr lang="en-US" altLang="zh-CN" b="1"/>
          </a:p>
          <a:p>
            <a:r>
              <a:rPr lang="en-US" altLang="zh-CN" b="1"/>
              <a:t>	Zb = -Yc</a:t>
            </a:r>
            <a:endParaRPr lang="en-US" altLang="zh-CN" b="1"/>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相机系列坐标系</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83590" y="206978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从相机坐标系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(Xc,Yc,Zc)</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到机体坐标系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(Xb,Yb,Zb)</a:t>
            </a:r>
            <a:endParaRPr lang="zh-CN" altLang="en-US" sz="1600" b="1" i="0">
              <a:solidFill>
                <a:srgbClr val="0F1115"/>
              </a:solidFill>
              <a:latin typeface="微软雅黑" panose="020B0503020204020204" charset="-122"/>
              <a:ea typeface="微软雅黑" panose="020B0503020204020204" charset="-122"/>
              <a:cs typeface="微软雅黑" panose="020B0503020204020204" charset="-122"/>
            </a:endParaRPr>
          </a:p>
        </p:txBody>
      </p:sp>
      <p:pic>
        <p:nvPicPr>
          <p:cNvPr id="9" name="图片 8"/>
          <p:cNvPicPr/>
          <p:nvPr/>
        </p:nvPicPr>
        <p:blipFill>
          <a:blip r:embed="rId3"/>
          <a:stretch>
            <a:fillRect/>
          </a:stretch>
        </p:blipFill>
        <p:spPr>
          <a:xfrm>
            <a:off x="7676833" y="1352550"/>
            <a:ext cx="7762875" cy="2076450"/>
          </a:xfrm>
          <a:prstGeom prst="rect">
            <a:avLst/>
          </a:prstGeom>
        </p:spPr>
      </p:pic>
      <p:sp>
        <p:nvSpPr>
          <p:cNvPr id="11" name="文本框 10"/>
          <p:cNvSpPr txBox="1"/>
          <p:nvPr/>
        </p:nvSpPr>
        <p:spPr>
          <a:xfrm>
            <a:off x="636270" y="2688590"/>
            <a:ext cx="7738110" cy="776605"/>
          </a:xfrm>
          <a:prstGeom prst="rect">
            <a:avLst/>
          </a:prstGeom>
          <a:noFill/>
        </p:spPr>
        <p:txBody>
          <a:bodyPr wrap="square" rtlCol="0">
            <a:noAutofit/>
          </a:bodyPr>
          <a:p>
            <a:r>
              <a:rPr lang="zh-CN" altLang="en-US"/>
              <a:t>如果</a:t>
            </a:r>
            <a:r>
              <a:rPr lang="zh-CN"/>
              <a:t>相机光心与机体坐标系不重合呢？</a:t>
            </a:r>
            <a:endParaRPr lang="zh-CN"/>
          </a:p>
          <a:p>
            <a:r>
              <a:rPr lang="zh-CN"/>
              <a:t>如果相机带一个朝向角，坐标轴并不和机体系平行呢？</a:t>
            </a:r>
            <a:endParaRPr lang="zh-CN"/>
          </a:p>
          <a:p>
            <a:endParaRPr lang="en-US" altLang="zh-CN"/>
          </a:p>
          <a:p>
            <a:endParaRPr lang="en-US" altLang="zh-CN" b="1"/>
          </a:p>
        </p:txBody>
      </p:sp>
      <p:sp>
        <p:nvSpPr>
          <p:cNvPr id="4" name="文本框 3"/>
          <p:cNvSpPr txBox="1"/>
          <p:nvPr/>
        </p:nvSpPr>
        <p:spPr>
          <a:xfrm>
            <a:off x="783590" y="3616643"/>
            <a:ext cx="5080000" cy="337185"/>
          </a:xfrm>
          <a:prstGeom prst="rect">
            <a:avLst/>
          </a:prstGeom>
        </p:spPr>
        <p:txBody>
          <a:bodyPr>
            <a:spAutoFit/>
          </a:bodyPr>
          <a:p>
            <a:pPr marL="0" indent="0"/>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从机体坐标系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(Xb,Yb,Zb)</a:t>
            </a:r>
            <a:r>
              <a:rPr lang="zh-CN" altLang="en-US" sz="1600" b="1" i="0">
                <a:solidFill>
                  <a:srgbClr val="0F1115"/>
                </a:solidFill>
                <a:latin typeface="微软雅黑" panose="020B0503020204020204" charset="-122"/>
                <a:ea typeface="微软雅黑" panose="020B0503020204020204" charset="-122"/>
                <a:cs typeface="微软雅黑" panose="020B0503020204020204" charset="-122"/>
              </a:rPr>
              <a:t>到世界坐标系</a:t>
            </a:r>
            <a:r>
              <a:rPr lang="en-US" altLang="zh-CN" sz="1600" b="1" i="0">
                <a:solidFill>
                  <a:srgbClr val="0F1115"/>
                </a:solidFill>
                <a:latin typeface="微软雅黑" panose="020B0503020204020204" charset="-122"/>
                <a:ea typeface="微软雅黑" panose="020B0503020204020204" charset="-122"/>
                <a:cs typeface="微软雅黑" panose="020B0503020204020204" charset="-122"/>
              </a:rPr>
              <a:t>(Xw,Yw,Zw)</a:t>
            </a:r>
            <a:endParaRPr lang="en-US" altLang="zh-CN" sz="1600" b="1"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691515" y="4326890"/>
            <a:ext cx="6054090" cy="368300"/>
          </a:xfrm>
          <a:prstGeom prst="rect">
            <a:avLst/>
          </a:prstGeom>
          <a:noFill/>
        </p:spPr>
        <p:txBody>
          <a:bodyPr wrap="square" rtlCol="0">
            <a:spAutoFit/>
          </a:bodyPr>
          <a:p>
            <a:r>
              <a:rPr lang="zh-CN" altLang="en-US"/>
              <a:t>如果飞机也带一个朝向角，坐标轴也不和世界系重合呢？</a:t>
            </a:r>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83590" y="1243330"/>
            <a:ext cx="35794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a:solidFill>
                  <a:schemeClr val="bg1"/>
                </a:solidFill>
                <a:latin typeface="微软雅黑" panose="020B0503020204020204" charset="-122"/>
                <a:ea typeface="微软雅黑" panose="020B0503020204020204" charset="-122"/>
                <a:sym typeface="+mn-ea"/>
              </a:rPr>
              <a:t>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10" name="文本框 9"/>
              <p:cNvSpPr txBox="1"/>
              <p:nvPr/>
            </p:nvSpPr>
            <p:spPr>
              <a:xfrm>
                <a:off x="3018155" y="2212975"/>
                <a:ext cx="5210175" cy="85725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𝑓𝑥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𝑓𝑦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3018155" y="2212975"/>
                <a:ext cx="5210175" cy="857250"/>
              </a:xfrm>
              <a:prstGeom prst="rect">
                <a:avLst/>
              </a:prstGeom>
              <a:blipFill rotWithShape="1">
                <a:blip r:embed="rId3"/>
                <a:stretch>
                  <a:fillRect/>
                </a:stretch>
              </a:blipFill>
            </p:spPr>
            <p:txBody>
              <a:bodyPr/>
              <a:lstStyle/>
              <a:p>
                <a:r>
                  <a:rPr lang="zh-CN" altLang="en-US">
                    <a:noFill/>
                  </a:rPr>
                  <a:t> </a:t>
                </a:r>
              </a:p>
            </p:txBody>
          </p:sp>
        </mc:Fallback>
      </mc:AlternateContent>
      <p:sp>
        <p:nvSpPr>
          <p:cNvPr id="12" name="文本框 11"/>
          <p:cNvSpPr txBox="1"/>
          <p:nvPr/>
        </p:nvSpPr>
        <p:spPr>
          <a:xfrm>
            <a:off x="1653540" y="3456305"/>
            <a:ext cx="7775575" cy="1753235"/>
          </a:xfrm>
          <a:prstGeom prst="rect">
            <a:avLst/>
          </a:prstGeom>
          <a:noFill/>
        </p:spPr>
        <p:txBody>
          <a:bodyPr wrap="square" rtlCol="0">
            <a:spAutoFit/>
          </a:bodyPr>
          <a:p>
            <a:r>
              <a:rPr lang="zh-CN" altLang="en-US"/>
              <a:t>其中，</a:t>
            </a:r>
            <a:r>
              <a:rPr lang="en-US" altLang="zh-CN"/>
              <a:t>fx = f / dx, fy = f / dy </a:t>
            </a:r>
            <a:r>
              <a:rPr lang="zh-CN" altLang="en-US"/>
              <a:t>，分别是焦距</a:t>
            </a:r>
            <a:r>
              <a:rPr lang="en-US" altLang="zh-CN"/>
              <a:t>(mm)</a:t>
            </a:r>
            <a:r>
              <a:rPr lang="zh-CN" altLang="en-US"/>
              <a:t>除以像素长度</a:t>
            </a:r>
            <a:r>
              <a:rPr lang="en-US" altLang="zh-CN"/>
              <a:t>(mm/pix)</a:t>
            </a:r>
            <a:r>
              <a:rPr lang="zh-CN" altLang="en-US"/>
              <a:t>得到的相机系</a:t>
            </a:r>
            <a:r>
              <a:rPr lang="en-US" altLang="zh-CN"/>
              <a:t> -&gt; </a:t>
            </a:r>
            <a:r>
              <a:rPr lang="zh-CN" altLang="en-US"/>
              <a:t>像素系的缩放因子，</a:t>
            </a:r>
            <a:endParaRPr lang="zh-CN" altLang="en-US"/>
          </a:p>
          <a:p>
            <a:endParaRPr lang="zh-CN" altLang="en-US"/>
          </a:p>
          <a:p>
            <a:r>
              <a:rPr lang="zh-CN" altLang="en-US"/>
              <a:t>而</a:t>
            </a:r>
            <a:r>
              <a:rPr lang="en-US" altLang="zh-CN"/>
              <a:t>cx, cy</a:t>
            </a:r>
            <a:r>
              <a:rPr lang="zh-CN" altLang="en-US"/>
              <a:t>为虚焦平面原点在像素坐标系中的像素坐标。</a:t>
            </a:r>
            <a:endParaRPr lang="zh-CN" altLang="en-US"/>
          </a:p>
          <a:p>
            <a:endParaRPr lang="zh-CN" altLang="en-US"/>
          </a:p>
          <a:p>
            <a:r>
              <a:rPr lang="zh-CN" altLang="en-US" b="1"/>
              <a:t>为什么要写成这样的矩阵形式？</a:t>
            </a:r>
            <a:endParaRPr lang="zh-CN" altLang="en-US" b="1"/>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01345" y="1226185"/>
            <a:ext cx="2549525" cy="516890"/>
          </a:xfrm>
          <a:prstGeom prst="rect">
            <a:avLst/>
          </a:prstGeom>
          <a:solidFill>
            <a:srgbClr val="065980"/>
          </a:solidFill>
        </p:spPr>
        <p:txBody>
          <a:bodyPr wrap="squar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矩阵定义</a:t>
            </a:r>
            <a:endParaRPr lang="zh-CN" altLang="en-US"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10" name="文本框 9"/>
              <p:cNvSpPr txBox="1"/>
              <p:nvPr/>
            </p:nvSpPr>
            <p:spPr>
              <a:xfrm>
                <a:off x="1077595" y="2268855"/>
                <a:ext cx="8594090" cy="3936365"/>
              </a:xfrm>
              <a:prstGeom prst="rect">
                <a:avLst/>
              </a:prstGeom>
              <a:noFill/>
            </p:spPr>
            <p:txBody>
              <a:bodyPr wrap="square" rtlCol="0">
                <a:noAutofit/>
              </a:bodyPr>
              <a:p>
                <a:r>
                  <a:rPr lang="zh-CN" altLang="en-US" sz="2000" b="1"/>
                  <a:t>矩阵是一个数字的矩形数组，由行和列组成。</a:t>
                </a:r>
                <a:endParaRPr lang="zh-CN" altLang="en-US" sz="2000" b="1"/>
              </a:p>
              <a:p>
                <a:r>
                  <a:rPr lang="zh-CN" altLang="en-US" sz="2000"/>
                  <a:t>例如，一个</a:t>
                </a:r>
                <a:r>
                  <a:rPr lang="en-US" altLang="zh-CN" sz="2000"/>
                  <a:t> m</a:t>
                </a:r>
                <a:r>
                  <a:rPr lang="en-US" altLang="en-US" sz="2000"/>
                  <a:t>×</a:t>
                </a:r>
                <a:r>
                  <a:rPr lang="en-US" altLang="zh-CN" sz="2000"/>
                  <a:t>n </a:t>
                </a:r>
                <a:r>
                  <a:rPr lang="zh-CN" altLang="en-US" sz="2000"/>
                  <a:t>矩阵有</a:t>
                </a:r>
                <a:r>
                  <a:rPr lang="en-US" altLang="zh-CN" sz="2000"/>
                  <a:t> m </a:t>
                </a:r>
                <a:r>
                  <a:rPr lang="zh-CN" altLang="en-US" sz="2000"/>
                  <a:t>行和</a:t>
                </a:r>
                <a:r>
                  <a:rPr lang="en-US" altLang="zh-CN" sz="2000"/>
                  <a:t> n </a:t>
                </a:r>
                <a:r>
                  <a:rPr lang="zh-CN" altLang="en-US" sz="2000"/>
                  <a:t>列。</a:t>
                </a:r>
                <a:endParaRPr lang="zh-CN" altLang="en-US" sz="2000"/>
              </a:p>
              <a:p>
                <a:r>
                  <a:rPr lang="zh-CN" altLang="en-US" sz="2000" b="1"/>
                  <a:t>一般用大写字母表示，如</a:t>
                </a:r>
                <a14:m>
                  <m:oMath xmlns:m="http://schemas.openxmlformats.org/officeDocument/2006/math">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𝑨</m:t>
                        </m:r>
                      </m:e>
                      <m:sub>
                        <m:r>
                          <a:rPr lang="en-US" altLang="zh-CN" sz="2000" b="1" i="1">
                            <a:latin typeface="Cambria Math" panose="02040503050406030204" charset="0"/>
                            <a:cs typeface="Cambria Math" panose="02040503050406030204" charset="0"/>
                          </a:rPr>
                          <m:t>𝒎</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𝒏</m:t>
                        </m:r>
                      </m:sub>
                    </m:sSub>
                  </m:oMath>
                </a14:m>
                <a:endParaRPr lang="en-US" altLang="zh-CN" sz="2000" b="1"/>
              </a:p>
              <a:p>
                <a:endParaRPr lang="en-US" altLang="zh-CN" sz="2000" b="1"/>
              </a:p>
              <a:p>
                <a:r>
                  <a:rPr lang="zh-CN" altLang="en-US" sz="2000" b="1"/>
                  <a:t>例如，</a:t>
                </a:r>
                <a14:m>
                  <m:oMath xmlns:m="http://schemas.openxmlformats.org/officeDocument/2006/math">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𝑨</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𝟔</m:t>
                        </m:r>
                        <m:r>
                          <a:rPr lang="en-US" altLang="zh-CN" sz="2000" b="1" i="1">
                            <a:latin typeface="Cambria Math" panose="02040503050406030204" charset="0"/>
                            <a:cs typeface="Cambria Math" panose="02040503050406030204" charset="0"/>
                          </a:rPr>
                          <m:t> </m:t>
                        </m:r>
                      </m:sub>
                    </m:sSub>
                    <m:r>
                      <a:rPr lang="en-US" altLang="zh-CN" sz="2000" b="1" i="1">
                        <a:latin typeface="Cambria Math" panose="02040503050406030204" charset="0"/>
                        <a:cs typeface="Cambria Math" panose="02040503050406030204" charset="0"/>
                      </a:rPr>
                      <m:t>=</m:t>
                    </m:r>
                  </m:oMath>
                </a14:m>
                <a:r>
                  <a:rPr lang="en-US" altLang="zh-CN" sz="2000" b="1"/>
                  <a:t> </a:t>
                </a:r>
                <a14:m>
                  <m:oMath xmlns:m="http://schemas.openxmlformats.org/officeDocument/2006/math">
                    <m:d>
                      <m:dPr>
                        <m:begChr m:val="["/>
                        <m:endChr m:val="]"/>
                        <m:ctrlPr>
                          <a:rPr lang="en-US" altLang="zh-CN" sz="2000" b="1" i="1">
                            <a:latin typeface="Cambria Math" panose="02040503050406030204" charset="0"/>
                            <a:cs typeface="Cambria Math" panose="02040503050406030204" charset="0"/>
                          </a:rPr>
                        </m:ctrlPr>
                      </m:dPr>
                      <m:e>
                        <m:m>
                          <m:mPr>
                            <m:mcs>
                              <m:mc>
                                <m:mcPr>
                                  <m:count m:val="2"/>
                                  <m:mcJc m:val="center"/>
                                </m:mcPr>
                              </m:mc>
                            </m:mcs>
                            <m:ctrlPr>
                              <a:rPr lang="en-US" altLang="zh-CN" sz="2000" b="1" i="1">
                                <a:latin typeface="Cambria Math" panose="02040503050406030204" charset="0"/>
                                <a:cs typeface="Cambria Math" panose="02040503050406030204" charset="0"/>
                              </a:rPr>
                            </m:ctrlPr>
                          </m:mPr>
                          <m:mr>
                            <m:e>
                              <m:m>
                                <m:mPr>
                                  <m:mcs>
                                    <m:mc>
                                      <m:mcPr>
                                        <m:count m:val="3"/>
                                        <m:mcJc m:val="center"/>
                                      </m:mcPr>
                                    </m:mc>
                                  </m:mcs>
                                  <m:ctrlPr>
                                    <a:rPr lang="en-US" altLang="zh-CN" sz="2000" b="1" i="1">
                                      <a:latin typeface="Cambria Math" panose="02040503050406030204" charset="0"/>
                                      <a:cs typeface="Cambria Math" panose="02040503050406030204" charset="0"/>
                                    </a:rPr>
                                  </m:ctrlPr>
                                </m:mP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𝟏</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𝟏</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𝟏</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𝟐</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𝟏</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𝟑</m:t>
                                        </m:r>
                                      </m:sub>
                                    </m:sSub>
                                    <m:r>
                                      <a:rPr lang="en-US" altLang="zh-CN" sz="2000" b="1" i="1">
                                        <a:latin typeface="Cambria Math" panose="02040503050406030204" charset="0"/>
                                        <a:cs typeface="Cambria Math" panose="02040503050406030204" charset="0"/>
                                      </a:rPr>
                                      <m:t> </m:t>
                                    </m:r>
                                  </m:e>
                                </m:m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𝟐</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𝟏</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𝟐</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𝟐</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𝟐</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𝟑</m:t>
                                        </m:r>
                                      </m:sub>
                                    </m:sSub>
                                    <m:r>
                                      <a:rPr lang="en-US" altLang="zh-CN" sz="2000" b="1" i="1">
                                        <a:latin typeface="Cambria Math" panose="02040503050406030204" charset="0"/>
                                        <a:cs typeface="Cambria Math" panose="02040503050406030204" charset="0"/>
                                      </a:rPr>
                                      <m:t> </m:t>
                                    </m:r>
                                  </m:e>
                                </m:mr>
                              </m:m>
                            </m:e>
                            <m:e>
                              <m:m>
                                <m:mPr>
                                  <m:mcs>
                                    <m:mc>
                                      <m:mcPr>
                                        <m:count m:val="3"/>
                                        <m:mcJc m:val="center"/>
                                      </m:mcPr>
                                    </m:mc>
                                  </m:mcs>
                                  <m:ctrlPr>
                                    <a:rPr lang="en-US" altLang="zh-CN" sz="2000" b="1" i="1">
                                      <a:latin typeface="Cambria Math" panose="02040503050406030204" charset="0"/>
                                      <a:cs typeface="Cambria Math" panose="02040503050406030204" charset="0"/>
                                    </a:rPr>
                                  </m:ctrlPr>
                                </m:mP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𝟏</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𝟒</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𝟏</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𝟓</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𝟏</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𝟔</m:t>
                                        </m:r>
                                      </m:sub>
                                    </m:sSub>
                                    <m:r>
                                      <a:rPr lang="en-US" altLang="zh-CN" sz="2000" b="1" i="1">
                                        <a:latin typeface="Cambria Math" panose="02040503050406030204" charset="0"/>
                                        <a:cs typeface="Cambria Math" panose="02040503050406030204" charset="0"/>
                                      </a:rPr>
                                      <m:t> </m:t>
                                    </m:r>
                                  </m:e>
                                </m:m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𝟐</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𝟒</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𝟐</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𝟓</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𝟐</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𝟔</m:t>
                                        </m:r>
                                      </m:sub>
                                    </m:sSub>
                                    <m:r>
                                      <a:rPr lang="en-US" altLang="zh-CN" sz="2000" b="1" i="1">
                                        <a:latin typeface="Cambria Math" panose="02040503050406030204" charset="0"/>
                                        <a:cs typeface="Cambria Math" panose="02040503050406030204" charset="0"/>
                                      </a:rPr>
                                      <m:t> </m:t>
                                    </m:r>
                                  </m:e>
                                </m:mr>
                              </m:m>
                            </m:e>
                          </m:mr>
                          <m:mr>
                            <m:e>
                              <m:m>
                                <m:mPr>
                                  <m:mcs>
                                    <m:mc>
                                      <m:mcPr>
                                        <m:count m:val="3"/>
                                        <m:mcJc m:val="center"/>
                                      </m:mcPr>
                                    </m:mc>
                                  </m:mcs>
                                  <m:ctrlPr>
                                    <a:rPr lang="en-US" altLang="zh-CN" sz="2000" b="1" i="1">
                                      <a:latin typeface="Cambria Math" panose="02040503050406030204" charset="0"/>
                                      <a:cs typeface="Cambria Math" panose="02040503050406030204" charset="0"/>
                                    </a:rPr>
                                  </m:ctrlPr>
                                </m:mP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𝟑</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𝟏</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𝟑</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𝟐</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𝟑</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𝟑</m:t>
                                        </m:r>
                                      </m:sub>
                                    </m:sSub>
                                    <m:r>
                                      <a:rPr lang="en-US" altLang="zh-CN" sz="2000" b="1" i="1">
                                        <a:latin typeface="Cambria Math" panose="02040503050406030204" charset="0"/>
                                        <a:cs typeface="Cambria Math" panose="02040503050406030204" charset="0"/>
                                      </a:rPr>
                                      <m:t> </m:t>
                                    </m:r>
                                  </m:e>
                                </m:m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𝟏</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𝟐</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𝟑</m:t>
                                        </m:r>
                                      </m:sub>
                                    </m:sSub>
                                    <m:r>
                                      <a:rPr lang="en-US" altLang="zh-CN" sz="2000" b="1" i="1">
                                        <a:latin typeface="Cambria Math" panose="02040503050406030204" charset="0"/>
                                        <a:cs typeface="Cambria Math" panose="02040503050406030204" charset="0"/>
                                      </a:rPr>
                                      <m:t> </m:t>
                                    </m:r>
                                  </m:e>
                                </m:mr>
                              </m:m>
                            </m:e>
                            <m:e>
                              <m:m>
                                <m:mPr>
                                  <m:mcs>
                                    <m:mc>
                                      <m:mcPr>
                                        <m:count m:val="3"/>
                                        <m:mcJc m:val="center"/>
                                      </m:mcPr>
                                    </m:mc>
                                  </m:mcs>
                                  <m:ctrlPr>
                                    <a:rPr lang="en-US" altLang="zh-CN" sz="2000" b="1" i="1">
                                      <a:latin typeface="Cambria Math" panose="02040503050406030204" charset="0"/>
                                      <a:cs typeface="Cambria Math" panose="02040503050406030204" charset="0"/>
                                    </a:rPr>
                                  </m:ctrlPr>
                                </m:mP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𝟑</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𝟒</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𝟑</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𝟓</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𝟑</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𝟔</m:t>
                                        </m:r>
                                      </m:sub>
                                    </m:sSub>
                                    <m:r>
                                      <a:rPr lang="en-US" altLang="zh-CN" sz="2000" b="1" i="1">
                                        <a:latin typeface="Cambria Math" panose="02040503050406030204" charset="0"/>
                                        <a:cs typeface="Cambria Math" panose="02040503050406030204" charset="0"/>
                                      </a:rPr>
                                      <m:t> </m:t>
                                    </m:r>
                                  </m:e>
                                </m:mr>
                                <m:mr>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𝟒</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𝟓</m:t>
                                        </m:r>
                                      </m:sub>
                                    </m:sSub>
                                    <m:r>
                                      <a:rPr lang="en-US" altLang="zh-CN" sz="2000" b="1" i="1">
                                        <a:latin typeface="Cambria Math" panose="02040503050406030204" charset="0"/>
                                        <a:cs typeface="Cambria Math" panose="02040503050406030204" charset="0"/>
                                      </a:rPr>
                                      <m:t> </m:t>
                                    </m:r>
                                  </m:e>
                                  <m:e>
                                    <m:sSub>
                                      <m:sSubPr>
                                        <m:ctrlPr>
                                          <a:rPr lang="en-US" altLang="zh-CN" sz="2000" b="1" i="1">
                                            <a:latin typeface="Cambria Math" panose="02040503050406030204" charset="0"/>
                                            <a:cs typeface="Cambria Math" panose="02040503050406030204" charset="0"/>
                                          </a:rPr>
                                        </m:ctrlPr>
                                      </m:sSubPr>
                                      <m:e>
                                        <m:r>
                                          <a:rPr lang="en-US" altLang="zh-CN" sz="2000" b="1" i="1">
                                            <a:latin typeface="Cambria Math" panose="02040503050406030204" charset="0"/>
                                            <a:cs typeface="Cambria Math" panose="02040503050406030204" charset="0"/>
                                          </a:rPr>
                                          <m:t>𝒂</m:t>
                                        </m:r>
                                      </m:e>
                                      <m:sub>
                                        <m:r>
                                          <a:rPr lang="en-US" altLang="zh-CN" sz="2000" b="1" i="1">
                                            <a:latin typeface="Cambria Math" panose="02040503050406030204" charset="0"/>
                                            <a:cs typeface="Cambria Math" panose="02040503050406030204" charset="0"/>
                                          </a:rPr>
                                          <m:t>𝟒</m:t>
                                        </m:r>
                                        <m:r>
                                          <a:rPr lang="en-US" altLang="zh-CN" sz="2000" b="1" i="1">
                                            <a:latin typeface="Cambria Math" panose="02040503050406030204" charset="0"/>
                                            <a:cs typeface="Cambria Math" panose="02040503050406030204" charset="0"/>
                                          </a:rPr>
                                          <m:t>,</m:t>
                                        </m:r>
                                        <m:r>
                                          <a:rPr lang="en-US" altLang="zh-CN" sz="2000" b="1" i="1">
                                            <a:latin typeface="Cambria Math" panose="02040503050406030204" charset="0"/>
                                            <a:cs typeface="Cambria Math" panose="02040503050406030204" charset="0"/>
                                          </a:rPr>
                                          <m:t>𝟔</m:t>
                                        </m:r>
                                      </m:sub>
                                    </m:sSub>
                                    <m:r>
                                      <a:rPr lang="en-US" altLang="zh-CN" sz="2000" b="1" i="1">
                                        <a:latin typeface="Cambria Math" panose="02040503050406030204" charset="0"/>
                                        <a:cs typeface="Cambria Math" panose="02040503050406030204" charset="0"/>
                                      </a:rPr>
                                      <m:t> </m:t>
                                    </m:r>
                                  </m:e>
                                </m:mr>
                              </m:m>
                            </m:e>
                          </m:mr>
                        </m:m>
                      </m:e>
                    </m:d>
                  </m:oMath>
                </a14:m>
                <a:endParaRPr lang="en-US" altLang="zh-CN" sz="2000" b="1"/>
              </a:p>
              <a:p>
                <a:endParaRPr lang="en-US" altLang="zh-CN" sz="2000" b="1"/>
              </a:p>
              <a:p>
                <a:endParaRPr lang="zh-CN" altLang="en-US" sz="2000" b="1"/>
              </a:p>
              <a:p>
                <a:endParaRPr lang="zh-CN" altLang="en-US" sz="9600" b="1"/>
              </a:p>
              <a:p>
                <a:endParaRPr lang="zh-CN" altLang="en-US" sz="9600" b="1"/>
              </a:p>
            </p:txBody>
          </p:sp>
        </mc:Choice>
        <mc:Fallback>
          <p:sp>
            <p:nvSpPr>
              <p:cNvPr id="10" name="文本框 9"/>
              <p:cNvSpPr txBox="1">
                <a:spLocks noRot="1" noChangeAspect="1" noMove="1" noResize="1" noEditPoints="1" noAdjustHandles="1" noChangeArrowheads="1" noChangeShapeType="1" noTextEdit="1"/>
              </p:cNvSpPr>
              <p:nvPr/>
            </p:nvSpPr>
            <p:spPr>
              <a:xfrm>
                <a:off x="1077595" y="2268855"/>
                <a:ext cx="8594090" cy="3936365"/>
              </a:xfrm>
              <a:prstGeom prst="rect">
                <a:avLst/>
              </a:prstGeom>
              <a:blipFill rotWithShape="1">
                <a:blip r:embed="rId3"/>
                <a:stretch>
                  <a:fillRect b="-5408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44233" y="1000276"/>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矩阵的四则运算</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9" name="文本框 8"/>
              <p:cNvSpPr txBox="1"/>
              <p:nvPr/>
            </p:nvSpPr>
            <p:spPr>
              <a:xfrm>
                <a:off x="663575" y="1686560"/>
                <a:ext cx="10607040" cy="4898390"/>
              </a:xfrm>
              <a:prstGeom prst="rect">
                <a:avLst/>
              </a:prstGeom>
              <a:noFill/>
            </p:spPr>
            <p:txBody>
              <a:bodyPr wrap="square" rtlCol="0">
                <a:noAutofit/>
              </a:bodyPr>
              <a:p>
                <a:r>
                  <a:rPr lang="zh-CN" altLang="en-US" b="1"/>
                  <a:t>矩阵的加减运算</a:t>
                </a:r>
                <a:r>
                  <a:rPr lang="zh-CN" altLang="en-US"/>
                  <a:t>仅限于同型矩阵，因此不太重要</a:t>
                </a:r>
                <a:endParaRPr lang="zh-CN" altLang="en-US"/>
              </a:p>
              <a:p>
                <a:endParaRPr lang="zh-CN" altLang="en-US"/>
              </a:p>
              <a:p>
                <a:r>
                  <a:rPr lang="zh-CN" altLang="en-US" b="1"/>
                  <a:t>矩阵乘法</a:t>
                </a:r>
                <a:r>
                  <a:rPr lang="en-US" altLang="zh-CN"/>
                  <a:t>:</a:t>
                </a:r>
                <a:r>
                  <a:rPr lang="zh-CN" altLang="en-US"/>
                  <a:t>如果</a:t>
                </a:r>
                <a:r>
                  <a:rPr lang="en-US" altLang="zh-CN"/>
                  <a:t> </a:t>
                </a:r>
                <a:r>
                  <a:rPr lang="zh-CN" altLang="en-US"/>
                  <a:t>A 是 m×n矩阵，B 是 n×</a:t>
                </a:r>
                <a:r>
                  <a:rPr lang="zh-CN" altLang="en-US"/>
                  <a:t>p 矩阵，那么它们的乘积 C=AB是一个 m×</a:t>
                </a:r>
                <a:r>
                  <a:rPr lang="zh-CN" altLang="en-US"/>
                  <a:t>p 矩阵。</a:t>
                </a:r>
                <a:endParaRPr lang="zh-CN" altLang="en-US"/>
              </a:p>
              <a:p>
                <a:r>
                  <a:rPr lang="zh-CN" altLang="en-US" b="1"/>
                  <a:t>C 中第 i 行第 j 列的元素是 A 的第 i 行与 B 的第 j 列对应元素的乘积之和。</a:t>
                </a:r>
                <a:endParaRPr lang="zh-CN" altLang="en-US"/>
              </a:p>
              <a:p>
                <a14:m>
                  <m:oMath xmlns:m="http://schemas.openxmlformats.org/officeDocument/2006/math">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𝑨</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r>
                          <a:rPr lang="en-US" altLang="zh-CN" b="1" i="1">
                            <a:latin typeface="Cambria Math" panose="02040503050406030204" charset="0"/>
                            <a:cs typeface="Cambria Math" panose="02040503050406030204" charset="0"/>
                          </a:rPr>
                          <m:t> </m:t>
                        </m:r>
                      </m:sub>
                    </m:sSub>
                    <m:r>
                      <a:rPr lang="en-US" altLang="zh-CN" b="1" i="1">
                        <a:latin typeface="Cambria Math" panose="02040503050406030204" charset="0"/>
                        <a:cs typeface="Cambria Math" panose="02040503050406030204" charset="0"/>
                      </a:rPr>
                      <m:t>=</m:t>
                    </m:r>
                  </m:oMath>
                </a14:m>
                <a:r>
                  <a:rPr lang="en-US" altLang="zh-CN" b="1">
                    <a:sym typeface="+mn-ea"/>
                  </a:rPr>
                  <a:t> </a:t>
                </a:r>
                <a14:m>
                  <m:oMath xmlns:m="http://schemas.openxmlformats.org/officeDocument/2006/math">
                    <m:d>
                      <m:dPr>
                        <m:begChr m:val="["/>
                        <m:endChr m:val="]"/>
                        <m:ctrlPr>
                          <a:rPr lang="en-US" altLang="zh-CN" b="1" i="1">
                            <a:latin typeface="Cambria Math" panose="02040503050406030204" charset="0"/>
                            <a:cs typeface="Cambria Math" panose="02040503050406030204" charset="0"/>
                          </a:rPr>
                        </m:ctrlPr>
                      </m:dPr>
                      <m:e>
                        <m:m>
                          <m:mPr>
                            <m:mcs>
                              <m:mc>
                                <m:mcPr>
                                  <m:count m:val="2"/>
                                  <m:mcJc m:val="center"/>
                                </m:mcPr>
                              </m:mc>
                            </m:mcs>
                            <m:ctrlPr>
                              <a:rPr lang="en-US" altLang="zh-CN" b="1" i="1">
                                <a:latin typeface="Cambria Math" panose="02040503050406030204" charset="0"/>
                                <a:cs typeface="Cambria Math" panose="02040503050406030204" charset="0"/>
                              </a:rPr>
                            </m:ctrlPr>
                          </m:mPr>
                          <m:mr>
                            <m:e>
                              <m:m>
                                <m:mPr>
                                  <m:mcs>
                                    <m:mc>
                                      <m:mcPr>
                                        <m:count m:val="3"/>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𝟑</m:t>
                                        </m:r>
                                      </m:sub>
                                    </m:sSub>
                                    <m:r>
                                      <a:rPr lang="en-US" altLang="zh-CN" b="1" i="1">
                                        <a:latin typeface="Cambria Math" panose="02040503050406030204" charset="0"/>
                                        <a:cs typeface="Cambria Math" panose="02040503050406030204" charset="0"/>
                                      </a:rPr>
                                      <m:t> </m:t>
                                    </m:r>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𝟑</m:t>
                                        </m:r>
                                      </m:sub>
                                    </m:sSub>
                                    <m:r>
                                      <a:rPr lang="en-US" altLang="zh-CN" b="1" i="1">
                                        <a:latin typeface="Cambria Math" panose="02040503050406030204" charset="0"/>
                                        <a:cs typeface="Cambria Math" panose="02040503050406030204" charset="0"/>
                                      </a:rPr>
                                      <m:t> </m:t>
                                    </m:r>
                                  </m:e>
                                </m:mr>
                              </m:m>
                            </m:e>
                            <m:e>
                              <m:m>
                                <m:mPr>
                                  <m:mcs>
                                    <m:mc>
                                      <m:mcPr>
                                        <m:count m:val="3"/>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𝟒</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𝟓</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sub>
                                    </m:sSub>
                                    <m:r>
                                      <a:rPr lang="en-US" altLang="zh-CN" b="1" i="1">
                                        <a:latin typeface="Cambria Math" panose="02040503050406030204" charset="0"/>
                                        <a:cs typeface="Cambria Math" panose="02040503050406030204" charset="0"/>
                                      </a:rPr>
                                      <m:t> </m:t>
                                    </m:r>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𝟒</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𝟓</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sub>
                                    </m:sSub>
                                    <m:r>
                                      <a:rPr lang="en-US" altLang="zh-CN" b="1" i="1">
                                        <a:latin typeface="Cambria Math" panose="02040503050406030204" charset="0"/>
                                        <a:cs typeface="Cambria Math" panose="02040503050406030204" charset="0"/>
                                      </a:rPr>
                                      <m:t> </m:t>
                                    </m:r>
                                  </m:e>
                                </m:mr>
                              </m:m>
                            </m:e>
                          </m:mr>
                          <m:mr>
                            <m:e>
                              <m:m>
                                <m:mPr>
                                  <m:mcs>
                                    <m:mc>
                                      <m:mcPr>
                                        <m:count m:val="3"/>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𝟑</m:t>
                                        </m:r>
                                      </m:sub>
                                    </m:sSub>
                                    <m:r>
                                      <a:rPr lang="en-US" altLang="zh-CN" b="1" i="1">
                                        <a:latin typeface="Cambria Math" panose="02040503050406030204" charset="0"/>
                                        <a:cs typeface="Cambria Math" panose="02040503050406030204" charset="0"/>
                                      </a:rPr>
                                      <m:t> </m:t>
                                    </m:r>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𝟑</m:t>
                                        </m:r>
                                      </m:sub>
                                    </m:sSub>
                                    <m:r>
                                      <a:rPr lang="en-US" altLang="zh-CN" b="1" i="1">
                                        <a:latin typeface="Cambria Math" panose="02040503050406030204" charset="0"/>
                                        <a:cs typeface="Cambria Math" panose="02040503050406030204" charset="0"/>
                                      </a:rPr>
                                      <m:t> </m:t>
                                    </m:r>
                                  </m:e>
                                </m:mr>
                              </m:m>
                            </m:e>
                            <m:e>
                              <m:m>
                                <m:mPr>
                                  <m:mcs>
                                    <m:mc>
                                      <m:mcPr>
                                        <m:count m:val="3"/>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𝟒</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𝟓</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sub>
                                    </m:sSub>
                                    <m:r>
                                      <a:rPr lang="en-US" altLang="zh-CN" b="1" i="1">
                                        <a:latin typeface="Cambria Math" panose="02040503050406030204" charset="0"/>
                                        <a:cs typeface="Cambria Math" panose="02040503050406030204" charset="0"/>
                                      </a:rPr>
                                      <m:t> </m:t>
                                    </m:r>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𝟒</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𝟓</m:t>
                                        </m:r>
                                      </m:sub>
                                    </m:sSub>
                                    <m:r>
                                      <a:rPr lang="en-US" altLang="zh-CN" b="1" i="1">
                                        <a:latin typeface="Cambria Math" panose="02040503050406030204" charset="0"/>
                                        <a:cs typeface="Cambria Math" panose="02040503050406030204" charset="0"/>
                                      </a:rPr>
                                      <m:t> </m:t>
                                    </m:r>
                                  </m:e>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sub>
                                    </m:sSub>
                                    <m:r>
                                      <a:rPr lang="en-US" altLang="zh-CN" b="1" i="1">
                                        <a:latin typeface="Cambria Math" panose="02040503050406030204" charset="0"/>
                                        <a:cs typeface="Cambria Math" panose="02040503050406030204" charset="0"/>
                                      </a:rPr>
                                      <m:t> </m:t>
                                    </m:r>
                                  </m:e>
                                </m:mr>
                              </m:m>
                            </m:e>
                          </m:mr>
                        </m:m>
                      </m:e>
                    </m:d>
                  </m:oMath>
                </a14:m>
                <a:r>
                  <a:rPr lang="en-US" altLang="zh-CN" b="1" i="1">
                    <a:latin typeface="Cambria Math" panose="02040503050406030204" charset="0"/>
                    <a:cs typeface="Cambria Math" panose="02040503050406030204" charset="0"/>
                  </a:rPr>
                  <a:t>   </a:t>
                </a:r>
                <a14:m>
                  <m:oMath xmlns:m="http://schemas.openxmlformats.org/officeDocument/2006/math">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𝑩</m:t>
                        </m:r>
                      </m:e>
                      <m:sub>
                        <m:r>
                          <a:rPr lang="en-US" altLang="zh-CN" b="1" i="1">
                            <a:latin typeface="Cambria Math" panose="02040503050406030204" charset="0"/>
                            <a:cs typeface="Cambria Math" panose="02040503050406030204" charset="0"/>
                          </a:rPr>
                          <m:t>𝟔</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r>
                      <a:rPr lang="en-US" altLang="zh-CN" b="1" i="1">
                        <a:latin typeface="Cambria Math" panose="02040503050406030204" charset="0"/>
                        <a:cs typeface="Cambria Math" panose="02040503050406030204" charset="0"/>
                      </a:rPr>
                      <m:t>= </m:t>
                    </m:r>
                    <m:d>
                      <m:dPr>
                        <m:begChr m:val="["/>
                        <m:endChr m:val="]"/>
                        <m:ctrlPr>
                          <a:rPr lang="en-US" altLang="zh-CN" b="1" i="1">
                            <a:latin typeface="Cambria Math" panose="02040503050406030204" charset="0"/>
                            <a:cs typeface="Cambria Math" panose="02040503050406030204" charset="0"/>
                          </a:rPr>
                        </m:ctrlPr>
                      </m:dPr>
                      <m:e>
                        <m:m>
                          <m:mPr>
                            <m:mcs>
                              <m:mc>
                                <m:mcPr>
                                  <m:count m:val="2"/>
                                  <m:mcJc m:val="center"/>
                                </m:mcPr>
                              </m:mc>
                            </m:mcs>
                            <m:ctrlPr>
                              <a:rPr lang="en-US" altLang="zh-CN" b="1" i="1">
                                <a:latin typeface="Cambria Math" panose="02040503050406030204" charset="0"/>
                                <a:cs typeface="Cambria Math" panose="02040503050406030204" charset="0"/>
                              </a:rPr>
                            </m:ctrlPr>
                          </m:mPr>
                          <m:mr>
                            <m:e>
                              <m:m>
                                <m:mPr>
                                  <m:mcs>
                                    <m:mc>
                                      <m:mcPr>
                                        <m:count m:val="1"/>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
                            </m:e>
                            <m:e>
                              <m:m>
                                <m:mPr>
                                  <m:mcs>
                                    <m:mc>
                                      <m:mcPr>
                                        <m:count m:val="1"/>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e>
                                </m:mr>
                              </m:m>
                            </m:e>
                          </m:mr>
                          <m:mr>
                            <m:e>
                              <m:m>
                                <m:mPr>
                                  <m:mcs>
                                    <m:mc>
                                      <m:mcPr>
                                        <m:count m:val="1"/>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𝟓</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𝟔</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
                            </m:e>
                            <m:e>
                              <m:m>
                                <m:mPr>
                                  <m:mcs>
                                    <m:mc>
                                      <m:mcPr>
                                        <m:count m:val="1"/>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𝟓</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𝟔</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e>
                                </m:mr>
                              </m:m>
                            </m:e>
                          </m:mr>
                        </m:m>
                      </m:e>
                    </m:d>
                  </m:oMath>
                </a14:m>
                <a:endParaRPr lang="en-US" altLang="zh-CN" b="1" i="1">
                  <a:latin typeface="Cambria Math" panose="02040503050406030204" charset="0"/>
                  <a:cs typeface="Cambria Math" panose="02040503050406030204" charset="0"/>
                </a:endParaRPr>
              </a:p>
              <a:p>
                <a:endParaRPr lang="en-US" altLang="zh-CN" b="1" i="1">
                  <a:latin typeface="Cambria Math" panose="02040503050406030204" charset="0"/>
                  <a:cs typeface="Cambria Math" panose="02040503050406030204" charset="0"/>
                </a:endParaRPr>
              </a:p>
              <a:p>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𝑪</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 </m:t>
                          </m:r>
                        </m:sub>
                      </m:sSub>
                      <m:r>
                        <a:rPr lang="en-US" altLang="zh-CN" b="1" i="1">
                          <a:latin typeface="Cambria Math" panose="02040503050406030204" charset="0"/>
                          <a:cs typeface="Cambria Math" panose="02040503050406030204" charset="0"/>
                        </a:rPr>
                        <m:t>= </m:t>
                      </m:r>
                      <m:d>
                        <m:dPr>
                          <m:begChr m:val="["/>
                          <m:endChr m:val="]"/>
                          <m:ctrlPr>
                            <a:rPr lang="en-US" altLang="zh-CN" b="1" i="1">
                              <a:latin typeface="Cambria Math" panose="02040503050406030204" charset="0"/>
                              <a:cs typeface="Cambria Math" panose="02040503050406030204" charset="0"/>
                            </a:rPr>
                          </m:ctrlPr>
                        </m:dPr>
                        <m:e>
                          <m:m>
                            <m:mPr>
                              <m:mcs>
                                <m:mc>
                                  <m:mcPr>
                                    <m:count m:val="2"/>
                                    <m:mcJc m:val="center"/>
                                  </m:mcPr>
                                </m:mc>
                              </m:mcs>
                              <m:ctrlPr>
                                <a:rPr lang="en-US" altLang="zh-CN" b="1" i="1">
                                  <a:latin typeface="Cambria Math" panose="02040503050406030204" charset="0"/>
                                  <a:cs typeface="Cambria Math" panose="02040503050406030204" charset="0"/>
                                </a:rPr>
                              </m:ctrlPr>
                            </m:mPr>
                            <m:mr>
                              <m:e>
                                <m:m>
                                  <m:mPr>
                                    <m:mcs>
                                      <m:mc>
                                        <m:mcPr>
                                          <m:count m:val="1"/>
                                          <m:mcJc m:val="center"/>
                                        </m:mcPr>
                                      </m:mc>
                                    </m:mcs>
                                    <m:ctrlPr>
                                      <a:rPr lang="en-US" altLang="zh-CN" b="1" i="1">
                                        <a:latin typeface="Cambria Math" panose="02040503050406030204" charset="0"/>
                                        <a:cs typeface="Cambria Math" panose="02040503050406030204" charset="0"/>
                                      </a:rPr>
                                    </m:ctrlPr>
                                  </m:mP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 + </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𝟑</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𝟒</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𝟓</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𝟓</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𝟔</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r>
                                    <m:e>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𝟐</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 + </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𝟑</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𝟒</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𝟒</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𝟓</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𝟓</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r>
                                        <a:rPr lang="en-US" altLang="zh-CN" b="1" i="1">
                                          <a:latin typeface="Cambria Math" panose="02040503050406030204" charset="0"/>
                                          <a:cs typeface="Cambria Math" panose="02040503050406030204" charset="0"/>
                                        </a:rPr>
                                        <m:t>+</m:t>
                                      </m:r>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𝒂</m:t>
                                          </m:r>
                                        </m:e>
                                        <m:sub>
                                          <m:r>
                                            <a:rPr lang="en-US" altLang="zh-CN" b="1" i="1">
                                              <a:latin typeface="Cambria Math" panose="02040503050406030204" charset="0"/>
                                              <a:cs typeface="Cambria Math" panose="02040503050406030204" charset="0"/>
                                            </a:rPr>
                                            <m:t>𝟐</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𝟔</m:t>
                                          </m:r>
                                        </m:sub>
                                      </m:sSub>
                                      <m:sSub>
                                        <m:sSubPr>
                                          <m:ctrlPr>
                                            <a:rPr lang="en-US" altLang="zh-CN" b="1" i="1">
                                              <a:latin typeface="Cambria Math" panose="02040503050406030204" charset="0"/>
                                              <a:cs typeface="Cambria Math" panose="02040503050406030204" charset="0"/>
                                            </a:rPr>
                                          </m:ctrlPr>
                                        </m:sSubPr>
                                        <m:e>
                                          <m:r>
                                            <a:rPr lang="en-US" altLang="zh-CN" b="1" i="1">
                                              <a:latin typeface="Cambria Math" panose="02040503050406030204" charset="0"/>
                                              <a:cs typeface="Cambria Math" panose="02040503050406030204" charset="0"/>
                                            </a:rPr>
                                            <m:t>𝒃</m:t>
                                          </m:r>
                                        </m:e>
                                        <m:sub>
                                          <m:r>
                                            <a:rPr lang="en-US" altLang="zh-CN" b="1" i="1">
                                              <a:latin typeface="Cambria Math" panose="02040503050406030204" charset="0"/>
                                              <a:cs typeface="Cambria Math" panose="02040503050406030204" charset="0"/>
                                            </a:rPr>
                                            <m:t>𝟔</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b>
                                      </m:sSub>
                                    </m:e>
                                  </m:mr>
                                  <m:mr>
                                    <m:e>
                                      <m:r>
                                        <a:rPr lang="en-US" altLang="zh-CN" b="1" i="1">
                                          <a:latin typeface="Cambria Math" panose="02040503050406030204" charset="0"/>
                                          <a:cs typeface="Cambria Math" panose="02040503050406030204" charset="0"/>
                                        </a:rPr>
                                        <m:t>...</m:t>
                                      </m:r>
                                    </m:e>
                                  </m:mr>
                                </m:m>
                              </m:e>
                              <m:e>
                                <m:m>
                                  <m:mPr>
                                    <m:mcs>
                                      <m:mc>
                                        <m:mcPr>
                                          <m:count m:val="1"/>
                                          <m:mcJc m:val="center"/>
                                        </m:mcPr>
                                      </m:mc>
                                    </m:mcs>
                                    <m:ctrlPr>
                                      <a:rPr lang="en-US" altLang="zh-CN" b="1" i="1">
                                        <a:latin typeface="Cambria Math" panose="02040503050406030204" charset="0"/>
                                        <a:cs typeface="Cambria Math" panose="02040503050406030204" charset="0"/>
                                      </a:rPr>
                                    </m:ctrlPr>
                                  </m:mPr>
                                  <m:mr>
                                    <m:e>
                                      <m:r>
                                        <a:rPr lang="en-US" altLang="zh-CN" b="1" i="1">
                                          <a:latin typeface="Cambria Math" panose="02040503050406030204" charset="0"/>
                                          <a:cs typeface="Cambria Math" panose="02040503050406030204" charset="0"/>
                                        </a:rPr>
                                        <m:t>...</m:t>
                                      </m:r>
                                    </m:e>
                                  </m:mr>
                                  <m:mr>
                                    <m:e>
                                      <m:r>
                                        <a:rPr lang="en-US" altLang="zh-CN" b="1" i="1">
                                          <a:latin typeface="Cambria Math" panose="02040503050406030204" charset="0"/>
                                          <a:cs typeface="Cambria Math" panose="02040503050406030204" charset="0"/>
                                        </a:rPr>
                                        <m:t>...</m:t>
                                      </m:r>
                                    </m:e>
                                  </m:mr>
                                  <m:mr>
                                    <m:e>
                                      <m:r>
                                        <a:rPr lang="en-US" altLang="zh-CN" b="1" i="1">
                                          <a:latin typeface="Cambria Math" panose="02040503050406030204" charset="0"/>
                                          <a:cs typeface="Cambria Math" panose="02040503050406030204" charset="0"/>
                                        </a:rPr>
                                        <m:t>...</m:t>
                                      </m:r>
                                    </m:e>
                                  </m:mr>
                                </m:m>
                              </m:e>
                            </m:mr>
                            <m:mr>
                              <m:e>
                                <m:r>
                                  <a:rPr lang="en-US" altLang="zh-CN" b="1" i="1">
                                    <a:latin typeface="Cambria Math" panose="02040503050406030204" charset="0"/>
                                    <a:cs typeface="Cambria Math" panose="02040503050406030204" charset="0"/>
                                  </a:rPr>
                                  <m:t>...</m:t>
                                </m:r>
                              </m:e>
                              <m:e>
                                <m:r>
                                  <a:rPr lang="en-US" altLang="zh-CN" b="1" i="1">
                                    <a:latin typeface="Cambria Math" panose="02040503050406030204" charset="0"/>
                                    <a:cs typeface="Cambria Math" panose="02040503050406030204" charset="0"/>
                                  </a:rPr>
                                  <m:t>...</m:t>
                                </m:r>
                              </m:e>
                            </m:mr>
                          </m:m>
                        </m:e>
                      </m:d>
                    </m:oMath>
                  </m:oMathPara>
                </a14:m>
                <a:endParaRPr lang="en-US" altLang="zh-CN" b="1" i="1">
                  <a:latin typeface="Cambria Math" panose="02040503050406030204" charset="0"/>
                  <a:cs typeface="Cambria Math" panose="02040503050406030204" charset="0"/>
                </a:endParaRPr>
              </a:p>
              <a:p>
                <a:endParaRPr lang="en-US" altLang="zh-CN" b="1"/>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 </m:t>
                      </m:r>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b>
                          </m:sSub>
                        </m:e>
                      </m:nary>
                    </m:oMath>
                  </m:oMathPara>
                </a14:m>
                <a:endParaRPr lang="zh-CN" altLang="en-US"/>
              </a:p>
            </p:txBody>
          </p:sp>
        </mc:Choice>
        <mc:Fallback>
          <p:sp>
            <p:nvSpPr>
              <p:cNvPr id="9" name="文本框 8"/>
              <p:cNvSpPr txBox="1">
                <a:spLocks noRot="1" noChangeAspect="1" noMove="1" noResize="1" noEditPoints="1" noAdjustHandles="1" noChangeArrowheads="1" noChangeShapeType="1" noTextEdit="1"/>
              </p:cNvSpPr>
              <p:nvPr/>
            </p:nvSpPr>
            <p:spPr>
              <a:xfrm>
                <a:off x="663575" y="1686560"/>
                <a:ext cx="10607040" cy="489839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753" y="1262531"/>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矩阵的四则运算</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48690" y="1936115"/>
                <a:ext cx="9855835" cy="4665980"/>
              </a:xfrm>
              <a:prstGeom prst="rect">
                <a:avLst/>
              </a:prstGeom>
              <a:noFill/>
            </p:spPr>
            <p:txBody>
              <a:bodyPr wrap="square" rtlCol="0">
                <a:noAutofit/>
              </a:bodyPr>
              <a:p>
                <a:r>
                  <a:rPr lang="zh-CN" altLang="en-US" b="1"/>
                  <a:t>矩阵乘法满足交换性吗？不一定满足</a:t>
                </a:r>
                <a:endParaRPr lang="zh-CN" altLang="en-US" b="1"/>
              </a:p>
              <a:p>
                <a:endParaRPr lang="en-US" altLang="zh-CN"/>
              </a:p>
              <a:p>
                <a:r>
                  <a:rPr lang="zh-CN" altLang="en-US">
                    <a:latin typeface="Cambria Math" panose="02040503050406030204" charset="0"/>
                    <a:cs typeface="Cambria Math" panose="02040503050406030204" charset="0"/>
                  </a:rPr>
                  <a:t>设</a:t>
                </a:r>
                <a:r>
                  <a:rPr lang="en-US" altLang="zh-CN">
                    <a:latin typeface="Cambria Math" panose="02040503050406030204" charset="0"/>
                    <a:cs typeface="Cambria Math" panose="02040503050406030204" charset="0"/>
                  </a:rPr>
                  <a:t> A </a:t>
                </a:r>
                <a:r>
                  <a:rPr lang="zh-CN" altLang="en-US">
                    <a:latin typeface="Cambria Math" panose="02040503050406030204" charset="0"/>
                    <a:cs typeface="Cambria Math" panose="02040503050406030204" charset="0"/>
                  </a:rPr>
                  <a:t>是</a:t>
                </a:r>
                <a:r>
                  <a:rPr lang="en-US" altLang="zh-CN">
                    <a:latin typeface="Cambria Math" panose="02040503050406030204" charset="0"/>
                    <a:cs typeface="Cambria Math" panose="02040503050406030204" charset="0"/>
                  </a:rPr>
                  <a:t> m</a:t>
                </a:r>
                <a:r>
                  <a:rPr lang="en-US" altLang="en-US">
                    <a:latin typeface="Cambria Math" panose="02040503050406030204" charset="0"/>
                    <a:cs typeface="Cambria Math" panose="02040503050406030204" charset="0"/>
                  </a:rPr>
                  <a:t>×</a:t>
                </a:r>
                <a:r>
                  <a:rPr lang="en-US" altLang="zh-CN">
                    <a:latin typeface="Cambria Math" panose="02040503050406030204" charset="0"/>
                    <a:cs typeface="Cambria Math" panose="02040503050406030204" charset="0"/>
                  </a:rPr>
                  <a:t>n </a:t>
                </a:r>
                <a:r>
                  <a:rPr lang="zh-CN" altLang="en-US">
                    <a:latin typeface="Cambria Math" panose="02040503050406030204" charset="0"/>
                    <a:cs typeface="Cambria Math" panose="02040503050406030204" charset="0"/>
                  </a:rPr>
                  <a:t>矩阵，</a:t>
                </a:r>
                <a:r>
                  <a:rPr lang="en-US" altLang="zh-CN">
                    <a:latin typeface="Cambria Math" panose="02040503050406030204" charset="0"/>
                    <a:cs typeface="Cambria Math" panose="02040503050406030204" charset="0"/>
                  </a:rPr>
                  <a:t>B </a:t>
                </a:r>
                <a:r>
                  <a:rPr lang="zh-CN" altLang="en-US">
                    <a:latin typeface="Cambria Math" panose="02040503050406030204" charset="0"/>
                    <a:cs typeface="Cambria Math" panose="02040503050406030204" charset="0"/>
                  </a:rPr>
                  <a:t>是</a:t>
                </a:r>
                <a:r>
                  <a:rPr lang="en-US" altLang="zh-CN">
                    <a:latin typeface="Cambria Math" panose="02040503050406030204" charset="0"/>
                    <a:cs typeface="Cambria Math" panose="02040503050406030204" charset="0"/>
                  </a:rPr>
                  <a:t> n</a:t>
                </a:r>
                <a:r>
                  <a:rPr lang="en-US" altLang="en-US">
                    <a:latin typeface="Cambria Math" panose="02040503050406030204" charset="0"/>
                    <a:cs typeface="Cambria Math" panose="02040503050406030204" charset="0"/>
                  </a:rPr>
                  <a:t>×</a:t>
                </a:r>
                <a:r>
                  <a:rPr lang="en-US" altLang="zh-CN">
                    <a:latin typeface="Cambria Math" panose="02040503050406030204" charset="0"/>
                    <a:cs typeface="Cambria Math" panose="02040503050406030204" charset="0"/>
                  </a:rPr>
                  <a:t>p </a:t>
                </a:r>
                <a:r>
                  <a:rPr lang="zh-CN" altLang="en-US">
                    <a:latin typeface="Cambria Math" panose="02040503050406030204" charset="0"/>
                    <a:cs typeface="Cambria Math" panose="02040503050406030204" charset="0"/>
                  </a:rPr>
                  <a:t>矩阵，则</a:t>
                </a:r>
                <a:r>
                  <a:rPr lang="en-US" altLang="zh-CN">
                    <a:latin typeface="Cambria Math" panose="02040503050406030204" charset="0"/>
                    <a:cs typeface="Cambria Math" panose="02040503050406030204" charset="0"/>
                  </a:rPr>
                  <a:t> A </a:t>
                </a:r>
                <a:r>
                  <a:rPr lang="zh-CN" altLang="en-US">
                    <a:latin typeface="Cambria Math" panose="02040503050406030204" charset="0"/>
                    <a:cs typeface="Cambria Math" panose="02040503050406030204" charset="0"/>
                  </a:rPr>
                  <a:t>左乘</a:t>
                </a:r>
                <a:r>
                  <a:rPr lang="en-US" altLang="zh-CN">
                    <a:latin typeface="Cambria Math" panose="02040503050406030204" charset="0"/>
                    <a:cs typeface="Cambria Math" panose="02040503050406030204" charset="0"/>
                  </a:rPr>
                  <a:t> B </a:t>
                </a:r>
                <a:r>
                  <a:rPr lang="zh-CN" altLang="en-US">
                    <a:latin typeface="Cambria Math" panose="02040503050406030204" charset="0"/>
                    <a:cs typeface="Cambria Math" panose="02040503050406030204" charset="0"/>
                  </a:rPr>
                  <a:t>得到</a:t>
                </a:r>
                <a:r>
                  <a:rPr lang="en-US" altLang="zh-CN">
                    <a:latin typeface="Cambria Math" panose="02040503050406030204" charset="0"/>
                    <a:cs typeface="Cambria Math" panose="02040503050406030204" charset="0"/>
                  </a:rPr>
                  <a:t> AB</a:t>
                </a:r>
                <a:r>
                  <a:rPr lang="zh-CN" altLang="en-US">
                    <a:latin typeface="Cambria Math" panose="02040503050406030204" charset="0"/>
                    <a:cs typeface="Cambria Math" panose="02040503050406030204" charset="0"/>
                  </a:rPr>
                  <a:t>，其第</a:t>
                </a:r>
                <a:r>
                  <a:rPr lang="en-US" altLang="zh-CN">
                    <a:latin typeface="Cambria Math" panose="02040503050406030204" charset="0"/>
                    <a:cs typeface="Cambria Math" panose="02040503050406030204" charset="0"/>
                  </a:rPr>
                  <a:t> i </a:t>
                </a:r>
                <a:r>
                  <a:rPr lang="zh-CN" altLang="en-US">
                    <a:latin typeface="Cambria Math" panose="02040503050406030204" charset="0"/>
                    <a:cs typeface="Cambria Math" panose="02040503050406030204" charset="0"/>
                  </a:rPr>
                  <a:t>行第</a:t>
                </a:r>
                <a:r>
                  <a:rPr lang="en-US" altLang="zh-CN">
                    <a:latin typeface="Cambria Math" panose="02040503050406030204" charset="0"/>
                    <a:cs typeface="Cambria Math" panose="02040503050406030204" charset="0"/>
                  </a:rPr>
                  <a:t> j </a:t>
                </a:r>
                <a:r>
                  <a:rPr lang="zh-CN" altLang="en-US">
                    <a:latin typeface="Cambria Math" panose="02040503050406030204" charset="0"/>
                    <a:cs typeface="Cambria Math" panose="02040503050406030204" charset="0"/>
                  </a:rPr>
                  <a:t>列元素为</a:t>
                </a:r>
                <a14:m>
                  <m:oMath xmlns:m="http://schemas.openxmlformats.org/officeDocument/2006/math">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e>
                    </m:nary>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b>
                    </m:sSub>
                  </m:oMath>
                </a14:m>
                <a:r>
                  <a:rPr lang="en-US" altLang="zh-CN">
                    <a:latin typeface="Cambria Math" panose="02040503050406030204" charset="0"/>
                    <a:cs typeface="Cambria Math" panose="02040503050406030204" charset="0"/>
                  </a:rPr>
                  <a:t> </a:t>
                </a:r>
                <a:endParaRPr lang="en-US" altLang="zh-CN">
                  <a:latin typeface="Cambria Math" panose="02040503050406030204" charset="0"/>
                  <a:cs typeface="Cambria Math" panose="02040503050406030204" charset="0"/>
                </a:endParaRPr>
              </a:p>
              <a:p>
                <a:endParaRPr lang="en-US" altLang="zh-CN">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若</a:t>
                </a:r>
                <a:r>
                  <a:rPr lang="en-US" altLang="zh-CN">
                    <a:latin typeface="Cambria Math" panose="02040503050406030204" charset="0"/>
                    <a:cs typeface="Cambria Math" panose="02040503050406030204" charset="0"/>
                  </a:rPr>
                  <a:t> B </a:t>
                </a:r>
                <a:r>
                  <a:rPr lang="zh-CN" altLang="en-US">
                    <a:latin typeface="Cambria Math" panose="02040503050406030204" charset="0"/>
                    <a:cs typeface="Cambria Math" panose="02040503050406030204" charset="0"/>
                  </a:rPr>
                  <a:t>左乘</a:t>
                </a:r>
                <a:r>
                  <a:rPr lang="en-US" altLang="zh-CN">
                    <a:latin typeface="Cambria Math" panose="02040503050406030204" charset="0"/>
                    <a:cs typeface="Cambria Math" panose="02040503050406030204" charset="0"/>
                  </a:rPr>
                  <a:t> A</a:t>
                </a:r>
                <a:r>
                  <a:rPr lang="zh-CN" altLang="en-US">
                    <a:latin typeface="Cambria Math" panose="02040503050406030204" charset="0"/>
                    <a:cs typeface="Cambria Math" panose="02040503050406030204" charset="0"/>
                  </a:rPr>
                  <a:t>（要求</a:t>
                </a:r>
                <a:r>
                  <a:rPr lang="en-US" altLang="zh-CN">
                    <a:latin typeface="Cambria Math" panose="02040503050406030204" charset="0"/>
                    <a:cs typeface="Cambria Math" panose="02040503050406030204" charset="0"/>
                  </a:rPr>
                  <a:t>p=m</a:t>
                </a:r>
                <a:r>
                  <a:rPr lang="zh-CN" altLang="en-US">
                    <a:latin typeface="Cambria Math" panose="02040503050406030204" charset="0"/>
                    <a:cs typeface="Cambria Math" panose="02040503050406030204" charset="0"/>
                  </a:rPr>
                  <a:t>），则得到</a:t>
                </a:r>
                <a:r>
                  <a:rPr lang="en-US" altLang="zh-CN">
                    <a:latin typeface="Cambria Math" panose="02040503050406030204" charset="0"/>
                    <a:cs typeface="Cambria Math" panose="02040503050406030204" charset="0"/>
                  </a:rPr>
                  <a:t> BA</a:t>
                </a:r>
                <a:r>
                  <a:rPr lang="zh-CN" altLang="en-US">
                    <a:latin typeface="Cambria Math" panose="02040503050406030204" charset="0"/>
                    <a:cs typeface="Cambria Math" panose="02040503050406030204" charset="0"/>
                  </a:rPr>
                  <a:t>，其元素为</a:t>
                </a:r>
                <a:r>
                  <a:rPr lang="en-US" altLang="zh-CN">
                    <a:latin typeface="Cambria Math" panose="02040503050406030204" charset="0"/>
                    <a:cs typeface="Cambria Math" panose="02040503050406030204" charset="0"/>
                  </a:rPr>
                  <a:t> </a:t>
                </a:r>
                <a14:m>
                  <m:oMath xmlns:m="http://schemas.openxmlformats.org/officeDocument/2006/math">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b>
                        </m:sSub>
                      </m:e>
                    </m:nary>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即使</a:t>
                </a:r>
                <a:r>
                  <a:rPr lang="en-US" altLang="zh-CN">
                    <a:latin typeface="Cambria Math" panose="02040503050406030204" charset="0"/>
                    <a:cs typeface="Cambria Math" panose="02040503050406030204" charset="0"/>
                  </a:rPr>
                  <a:t> A </a:t>
                </a:r>
                <a:r>
                  <a:rPr lang="zh-CN" altLang="en-US">
                    <a:latin typeface="Cambria Math" panose="02040503050406030204" charset="0"/>
                    <a:cs typeface="Cambria Math" panose="02040503050406030204" charset="0"/>
                  </a:rPr>
                  <a:t>和</a:t>
                </a:r>
                <a:r>
                  <a:rPr lang="en-US" altLang="zh-CN">
                    <a:latin typeface="Cambria Math" panose="02040503050406030204" charset="0"/>
                    <a:cs typeface="Cambria Math" panose="02040503050406030204" charset="0"/>
                  </a:rPr>
                  <a:t> B </a:t>
                </a:r>
                <a:r>
                  <a:rPr lang="zh-CN" altLang="en-US">
                    <a:latin typeface="Cambria Math" panose="02040503050406030204" charset="0"/>
                    <a:cs typeface="Cambria Math" panose="02040503050406030204" charset="0"/>
                  </a:rPr>
                  <a:t>均为方阵，</a:t>
                </a:r>
                <a:r>
                  <a:rPr lang="en-US" altLang="zh-CN">
                    <a:latin typeface="Cambria Math" panose="02040503050406030204" charset="0"/>
                    <a:cs typeface="Cambria Math" panose="02040503050406030204" charset="0"/>
                  </a:rPr>
                  <a:t>AB </a:t>
                </a:r>
                <a:r>
                  <a:rPr lang="zh-CN" altLang="en-US">
                    <a:latin typeface="Cambria Math" panose="02040503050406030204" charset="0"/>
                    <a:cs typeface="Cambria Math" panose="02040503050406030204" charset="0"/>
                  </a:rPr>
                  <a:t>与</a:t>
                </a:r>
                <a:r>
                  <a:rPr lang="en-US" altLang="zh-CN">
                    <a:latin typeface="Cambria Math" panose="02040503050406030204" charset="0"/>
                    <a:cs typeface="Cambria Math" panose="02040503050406030204" charset="0"/>
                  </a:rPr>
                  <a:t> BA </a:t>
                </a:r>
                <a:r>
                  <a:rPr lang="zh-CN" altLang="en-US">
                    <a:latin typeface="Cambria Math" panose="02040503050406030204" charset="0"/>
                    <a:cs typeface="Cambria Math" panose="02040503050406030204" charset="0"/>
                  </a:rPr>
                  <a:t>的维数相同，但对应元素也通常不同。</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pPr algn="l">
                  <a:buClrTx/>
                  <a:buSzTx/>
                  <a:buNone/>
                </a:pPr>
                <a:r>
                  <a:rPr lang="zh-CN" altLang="en-US">
                    <a:latin typeface="Cambria Math" panose="02040503050406030204" charset="0"/>
                    <a:cs typeface="Cambria Math" panose="02040503050406030204" charset="0"/>
                  </a:rPr>
                  <a:t>因此，我们需要区分矩阵左乘和右乘。我们使用矩阵乘法时，可以在两侧的最左侧或最右侧乘上相同矩阵。</a:t>
                </a:r>
                <a:endParaRPr lang="zh-CN" altLang="en-US">
                  <a:latin typeface="Cambria Math" panose="02040503050406030204" charset="0"/>
                  <a:cs typeface="Cambria Math" panose="02040503050406030204" charset="0"/>
                </a:endParaRPr>
              </a:p>
              <a:p>
                <a:pPr algn="l">
                  <a:buClrTx/>
                  <a:buSzTx/>
                  <a:buNone/>
                </a:pPr>
                <a:endParaRPr lang="zh-CN" altLang="en-US">
                  <a:latin typeface="Cambria Math" panose="02040503050406030204" charset="0"/>
                  <a:cs typeface="Cambria Math" panose="02040503050406030204" charset="0"/>
                </a:endParaRPr>
              </a:p>
              <a:p>
                <a:pPr algn="l">
                  <a:buClrTx/>
                  <a:buSzTx/>
                  <a:buNone/>
                </a:pPr>
                <a:endParaRPr lang="zh-CN" altLang="en-US">
                  <a:latin typeface="Cambria Math" panose="02040503050406030204" charset="0"/>
                  <a:cs typeface="Cambria Math" panose="02040503050406030204" charset="0"/>
                </a:endParaRPr>
              </a:p>
              <a:p>
                <a:pPr algn="l">
                  <a:buClrTx/>
                  <a:buSzTx/>
                  <a:buNone/>
                </a:pPr>
                <a:r>
                  <a:rPr lang="zh-CN" altLang="en-US">
                    <a:latin typeface="Cambria Math" panose="02040503050406030204" charset="0"/>
                    <a:cs typeface="Cambria Math" panose="02040503050406030204" charset="0"/>
                  </a:rPr>
                  <a:t>但矩阵乘法满足可加性和齐次性。设</a:t>
                </a:r>
                <a:r>
                  <a:rPr lang="en-US" altLang="zh-CN">
                    <a:latin typeface="Cambria Math" panose="02040503050406030204" charset="0"/>
                    <a:cs typeface="Cambria Math" panose="02040503050406030204" charset="0"/>
                  </a:rPr>
                  <a:t> A </a:t>
                </a:r>
                <a:r>
                  <a:rPr lang="zh-CN" altLang="en-US">
                    <a:latin typeface="Cambria Math" panose="02040503050406030204" charset="0"/>
                    <a:cs typeface="Cambria Math" panose="02040503050406030204" charset="0"/>
                  </a:rPr>
                  <a:t>是一个</a:t>
                </a:r>
                <a:r>
                  <a:rPr lang="en-US" altLang="zh-CN">
                    <a:latin typeface="Cambria Math" panose="02040503050406030204" charset="0"/>
                    <a:cs typeface="Cambria Math" panose="02040503050406030204" charset="0"/>
                  </a:rPr>
                  <a:t> m</a:t>
                </a:r>
                <a:r>
                  <a:rPr lang="en-US" altLang="en-US">
                    <a:latin typeface="Cambria Math" panose="02040503050406030204" charset="0"/>
                    <a:cs typeface="Cambria Math" panose="02040503050406030204" charset="0"/>
                  </a:rPr>
                  <a:t>×</a:t>
                </a:r>
                <a:r>
                  <a:rPr lang="en-US" altLang="zh-CN">
                    <a:latin typeface="Cambria Math" panose="02040503050406030204" charset="0"/>
                    <a:cs typeface="Cambria Math" panose="02040503050406030204" charset="0"/>
                  </a:rPr>
                  <a:t>n </a:t>
                </a:r>
                <a:r>
                  <a:rPr lang="zh-CN" altLang="en-US">
                    <a:latin typeface="Cambria Math" panose="02040503050406030204" charset="0"/>
                    <a:cs typeface="Cambria Math" panose="02040503050406030204" charset="0"/>
                  </a:rPr>
                  <a:t>矩阵，</a:t>
                </a:r>
                <a:r>
                  <a:rPr lang="en-US" altLang="zh-CN">
                    <a:latin typeface="Cambria Math" panose="02040503050406030204" charset="0"/>
                    <a:cs typeface="Cambria Math" panose="02040503050406030204" charset="0"/>
                  </a:rPr>
                  <a:t>u,v </a:t>
                </a:r>
                <a:r>
                  <a:rPr lang="zh-CN" altLang="en-US">
                    <a:latin typeface="Cambria Math" panose="02040503050406030204" charset="0"/>
                    <a:cs typeface="Cambria Math" panose="02040503050406030204" charset="0"/>
                  </a:rPr>
                  <a:t>是</a:t>
                </a:r>
                <a:r>
                  <a:rPr lang="en-US" altLang="zh-CN">
                    <a:latin typeface="Cambria Math" panose="02040503050406030204" charset="0"/>
                    <a:cs typeface="Cambria Math" panose="02040503050406030204" charset="0"/>
                  </a:rPr>
                  <a:t> n </a:t>
                </a:r>
                <a:r>
                  <a:rPr lang="zh-CN" altLang="en-US">
                    <a:latin typeface="Cambria Math" panose="02040503050406030204" charset="0"/>
                    <a:cs typeface="Cambria Math" panose="02040503050406030204" charset="0"/>
                  </a:rPr>
                  <a:t>维列向量，</a:t>
                </a:r>
                <a:r>
                  <a:rPr lang="en-US" altLang="zh-CN">
                    <a:latin typeface="Cambria Math" panose="02040503050406030204" charset="0"/>
                    <a:cs typeface="Cambria Math" panose="02040503050406030204" charset="0"/>
                  </a:rPr>
                  <a:t>c </a:t>
                </a:r>
                <a:r>
                  <a:rPr lang="zh-CN" altLang="en-US">
                    <a:latin typeface="Cambria Math" panose="02040503050406030204" charset="0"/>
                    <a:cs typeface="Cambria Math" panose="02040503050406030204" charset="0"/>
                  </a:rPr>
                  <a:t>是标量。则有</a:t>
                </a:r>
                <a:endParaRPr lang="zh-CN" altLang="en-US">
                  <a:latin typeface="Cambria Math" panose="02040503050406030204" charset="0"/>
                  <a:cs typeface="Cambria Math" panose="02040503050406030204" charset="0"/>
                </a:endParaRPr>
              </a:p>
              <a:p>
                <a:pPr indent="457200" algn="l">
                  <a:buClrTx/>
                  <a:buSzTx/>
                  <a:buNone/>
                </a:pPr>
                <a:r>
                  <a:rPr lang="en-US" altLang="zh-CN">
                    <a:latin typeface="Cambria Math" panose="02040503050406030204" charset="0"/>
                    <a:cs typeface="Cambria Math" panose="02040503050406030204" charset="0"/>
                  </a:rPr>
                  <a:t>A(u+v)=Au+Av </a:t>
                </a:r>
                <a:r>
                  <a:rPr lang="zh-CN" altLang="en-US">
                    <a:latin typeface="Cambria Math" panose="02040503050406030204" charset="0"/>
                    <a:cs typeface="Cambria Math" panose="02040503050406030204" charset="0"/>
                  </a:rPr>
                  <a:t>（根据矩阵乘法分配律）</a:t>
                </a:r>
                <a:endParaRPr lang="zh-CN" altLang="en-US">
                  <a:latin typeface="Cambria Math" panose="02040503050406030204" charset="0"/>
                  <a:cs typeface="Cambria Math" panose="02040503050406030204" charset="0"/>
                </a:endParaRPr>
              </a:p>
              <a:p>
                <a:pPr indent="457200" algn="l">
                  <a:buClrTx/>
                  <a:buSzTx/>
                  <a:buNone/>
                </a:pPr>
                <a:r>
                  <a:rPr lang="en-US" altLang="zh-CN">
                    <a:latin typeface="Cambria Math" panose="02040503050406030204" charset="0"/>
                    <a:cs typeface="Cambria Math" panose="02040503050406030204" charset="0"/>
                  </a:rPr>
                  <a:t>A(c⋅u)=c⋅(Au) </a:t>
                </a:r>
                <a:r>
                  <a:rPr lang="zh-CN" altLang="en-US">
                    <a:latin typeface="Cambria Math" panose="02040503050406030204" charset="0"/>
                    <a:cs typeface="Cambria Math" panose="02040503050406030204" charset="0"/>
                  </a:rPr>
                  <a:t>（标量可以直接提到乘法外）</a:t>
                </a:r>
                <a:endParaRPr lang="zh-CN" altLang="en-US">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48690" y="1936115"/>
                <a:ext cx="9855835" cy="466598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753" y="1262531"/>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矩阵的四则运算</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3048000" y="3136900"/>
            <a:ext cx="6096000" cy="583565"/>
          </a:xfrm>
          <a:prstGeom prst="rect">
            <a:avLst/>
          </a:prstGeom>
          <a:noFill/>
        </p:spPr>
        <p:txBody>
          <a:bodyPr wrap="square" rtlCol="0" anchor="t">
            <a:spAutoFit/>
          </a:bodyPr>
          <a:p>
            <a:r>
              <a:rPr lang="zh-CN" altLang="en-US" sz="3200" b="1" dirty="0" smtClean="0">
                <a:solidFill>
                  <a:schemeClr val="bg1"/>
                </a:solidFill>
                <a:latin typeface="微软雅黑" panose="020B0503020204020204" charset="-122"/>
                <a:ea typeface="微软雅黑" panose="020B0503020204020204" charset="-122"/>
                <a:sym typeface="+mn-ea"/>
              </a:rPr>
              <a:t>矩阵的四则运算</a:t>
            </a:r>
            <a:r>
              <a:rPr lang="en-US" altLang="zh-CN" sz="3200" b="1" dirty="0" smtClean="0">
                <a:solidFill>
                  <a:schemeClr val="bg1"/>
                </a:solidFill>
                <a:latin typeface="微软雅黑" panose="020B0503020204020204" charset="-122"/>
                <a:ea typeface="微软雅黑" panose="020B0503020204020204" charset="-122"/>
                <a:sym typeface="+mn-ea"/>
              </a:rPr>
              <a:t>danwei</a:t>
            </a:r>
            <a:endParaRPr lang="en-US" alt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4" name="文本框 3"/>
              <p:cNvSpPr txBox="1"/>
              <p:nvPr/>
            </p:nvSpPr>
            <p:spPr>
              <a:xfrm>
                <a:off x="1480820" y="1932940"/>
                <a:ext cx="7729855" cy="2765425"/>
              </a:xfrm>
              <a:prstGeom prst="rect">
                <a:avLst/>
              </a:prstGeom>
              <a:noFill/>
            </p:spPr>
            <p:txBody>
              <a:bodyPr wrap="square" rtlCol="0">
                <a:spAutoFit/>
              </a:bodyPr>
              <a:p>
                <a:r>
                  <a:rPr lang="zh-CN" altLang="en-US" b="1"/>
                  <a:t>单位矩阵</a:t>
                </a:r>
                <a:r>
                  <a:rPr lang="en-US" altLang="zh-CN"/>
                  <a:t>:</a:t>
                </a:r>
                <a:r>
                  <a:rPr lang="zh-CN" altLang="en-US" i="1"/>
                  <a:t>大概相当于常规计算中的单位</a:t>
                </a:r>
                <a:r>
                  <a:rPr lang="en-US" altLang="zh-CN" i="1"/>
                  <a:t>1</a:t>
                </a:r>
                <a:endParaRPr lang="en-US" altLang="zh-CN"/>
              </a:p>
              <a:p>
                <a:r>
                  <a:rPr lang="zh-CN" altLang="en-US"/>
                  <a:t>定义</a:t>
                </a:r>
                <a:r>
                  <a:rPr lang="en-US" altLang="zh-CN"/>
                  <a:t>:</a:t>
                </a:r>
                <a:endParaRPr lang="en-US" altLang="zh-CN"/>
              </a:p>
              <a:p>
                <a:r>
                  <a:rPr lang="zh-CN" altLang="en-US"/>
                  <a:t>是一个方阵（行数等于列数），记作</a:t>
                </a:r>
                <a:r>
                  <a:rPr lang="en-US" altLang="zh-CN"/>
                  <a:t> I</a:t>
                </a:r>
                <a:r>
                  <a:rPr lang="zh-CN" altLang="en-US"/>
                  <a:t>。它的对角线上的元素全为</a:t>
                </a:r>
                <a:r>
                  <a:rPr lang="en-US" altLang="zh-CN"/>
                  <a:t> 1</a:t>
                </a:r>
                <a:r>
                  <a:rPr lang="zh-CN" altLang="en-US"/>
                  <a:t>，其他元素全为</a:t>
                </a:r>
                <a:r>
                  <a:rPr lang="en-US" altLang="zh-CN"/>
                  <a:t> 0</a:t>
                </a:r>
                <a:r>
                  <a:rPr lang="zh-CN" altLang="en-US"/>
                  <a:t>。</a:t>
                </a:r>
                <a:endParaRPr lang="zh-CN" altLang="en-US"/>
              </a:p>
              <a:p>
                <a:r>
                  <a:rPr lang="zh-CN" altLang="en-US"/>
                  <a:t>例如，</a:t>
                </a:r>
                <a:r>
                  <a:rPr lang="en-US" altLang="zh-CN"/>
                  <a:t>2</a:t>
                </a:r>
                <a:r>
                  <a:rPr lang="en-US" altLang="en-US"/>
                  <a:t>×</a:t>
                </a:r>
                <a:r>
                  <a:rPr lang="en-US" altLang="zh-CN"/>
                  <a:t>2 </a:t>
                </a:r>
                <a:r>
                  <a:rPr lang="zh-CN" altLang="en-US"/>
                  <a:t>单位矩阵是</a:t>
                </a:r>
                <a:r>
                  <a:rPr lang="en-US" altLang="zh-CN"/>
                  <a:t> </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d>
                  </m:oMath>
                </a14:m>
                <a:r>
                  <a:rPr lang="en-US" altLang="zh-CN"/>
                  <a:t>.</a:t>
                </a:r>
                <a:endParaRPr lang="en-US" altLang="zh-CN"/>
              </a:p>
              <a:p>
                <a:r>
                  <a:rPr lang="en-US" altLang="zh-CN"/>
                  <a:t>​</a:t>
                </a:r>
                <a:endParaRPr lang="en-US" altLang="zh-CN"/>
              </a:p>
              <a:p>
                <a:r>
                  <a:rPr lang="zh-CN" altLang="en-US"/>
                  <a:t>对于任何矩阵</a:t>
                </a:r>
                <a:r>
                  <a:rPr lang="en-US" altLang="zh-CN"/>
                  <a:t> A</a:t>
                </a:r>
                <a:r>
                  <a:rPr lang="zh-CN" altLang="en-US"/>
                  <a:t>，有</a:t>
                </a:r>
                <a:r>
                  <a:rPr lang="en-US" altLang="zh-CN"/>
                  <a:t> AI=IA=A</a:t>
                </a:r>
                <a:r>
                  <a:rPr lang="zh-CN" altLang="en-US"/>
                  <a:t>。</a:t>
                </a:r>
                <a:endParaRPr lang="zh-CN" altLang="en-US"/>
              </a:p>
              <a:p>
                <a:endParaRPr lang="zh-CN" altLang="en-US"/>
              </a:p>
              <a:p>
                <a:r>
                  <a:rPr lang="zh-CN" altLang="en-US" b="1"/>
                  <a:t>单位基向量</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的矩阵，记为</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,表示在第</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维为</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，其余均为</m:t>
                    </m:r>
                    <m:r>
                      <a:rPr lang="en-US" altLang="zh-CN" i="1">
                        <a:latin typeface="Cambria Math" panose="02040503050406030204" charset="0"/>
                        <a:cs typeface="Cambria Math" panose="02040503050406030204" charset="0"/>
                      </a:rPr>
                      <m:t>0</m:t>
                    </m:r>
                  </m:oMath>
                </a14:m>
                <a:endParaRPr lang="en-US" altLang="zh-CN"/>
              </a:p>
            </p:txBody>
          </p:sp>
        </mc:Choice>
        <mc:Fallback>
          <p:sp>
            <p:nvSpPr>
              <p:cNvPr id="4" name="文本框 3"/>
              <p:cNvSpPr txBox="1">
                <a:spLocks noRot="1" noChangeAspect="1" noMove="1" noResize="1" noEditPoints="1" noAdjustHandles="1" noChangeArrowheads="1" noChangeShapeType="1" noTextEdit="1"/>
              </p:cNvSpPr>
              <p:nvPr/>
            </p:nvSpPr>
            <p:spPr>
              <a:xfrm>
                <a:off x="1480820" y="1932940"/>
                <a:ext cx="7729855" cy="276542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480820" y="5011420"/>
                <a:ext cx="8300085" cy="777240"/>
              </a:xfrm>
              <a:prstGeom prst="rect">
                <a:avLst/>
              </a:prstGeom>
              <a:noFill/>
            </p:spPr>
            <p:txBody>
              <a:bodyPr wrap="square" rtlCol="0">
                <a:spAutoFit/>
              </a:bodyPr>
              <a:p>
                <a:r>
                  <a:rPr lang="zh-CN" altLang="en-US" b="1"/>
                  <a:t>矩阵的转置</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3</m:t>
                                    </m:r>
                                  </m:e>
                                </m:mr>
                              </m:m>
                            </m:e>
                          </m:mr>
                          <m:mr>
                            <m:e>
                              <m:r>
                                <a:rPr lang="en-US" altLang="zh-CN" i="1">
                                  <a:latin typeface="Cambria Math" panose="02040503050406030204" charset="0"/>
                                  <a:cs typeface="Cambria Math" panose="02040503050406030204" charset="0"/>
                                </a:rPr>
                                <m:t>4</m:t>
                              </m:r>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5</m:t>
                                    </m:r>
                                  </m:e>
                                  <m:e>
                                    <m:r>
                                      <a:rPr lang="en-US" altLang="zh-CN" i="1">
                                        <a:latin typeface="Cambria Math" panose="02040503050406030204" charset="0"/>
                                        <a:cs typeface="Cambria Math" panose="02040503050406030204" charset="0"/>
                                      </a:rPr>
                                      <m:t>6</m:t>
                                    </m:r>
                                  </m:e>
                                </m:mr>
                              </m:m>
                            </m:e>
                          </m:mr>
                        </m:m>
                      </m:e>
                    </m:d>
                    <m:r>
                      <a:rPr lang="en-US" altLang="zh-CN" i="1">
                        <a:latin typeface="Cambria Math" panose="02040503050406030204" charset="0"/>
                        <a:cs typeface="Cambria Math" panose="02040503050406030204" charset="0"/>
                      </a:rPr>
                      <m:t>, </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m:t>
                        </m:r>
                      </m:e>
                      <m:sup>
                        <m:r>
                          <a:rPr lang="en-US" altLang="zh-CN" i="1">
                            <a:latin typeface="Cambria Math" panose="02040503050406030204" charset="0"/>
                            <a:cs typeface="Cambria Math" panose="02040503050406030204" charset="0"/>
                          </a:rPr>
                          <m:t>𝑇</m:t>
                        </m:r>
                      </m:sup>
                    </m:sSup>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2</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4</m:t>
                                    </m:r>
                                  </m:e>
                                </m:mr>
                                <m:mr>
                                  <m:e>
                                    <m:r>
                                      <a:rPr lang="en-US" altLang="zh-CN" i="1">
                                        <a:latin typeface="Cambria Math" panose="02040503050406030204" charset="0"/>
                                        <a:cs typeface="Cambria Math" panose="02040503050406030204" charset="0"/>
                                      </a:rPr>
                                      <m:t>5</m:t>
                                    </m:r>
                                  </m:e>
                                </m:mr>
                              </m:m>
                            </m:e>
                          </m:mr>
                          <m:mr>
                            <m:e>
                              <m:r>
                                <a:rPr lang="en-US" altLang="zh-CN" i="1">
                                  <a:latin typeface="Cambria Math" panose="02040503050406030204" charset="0"/>
                                  <a:cs typeface="Cambria Math" panose="02040503050406030204" charset="0"/>
                                </a:rPr>
                                <m:t>3</m:t>
                              </m:r>
                            </m:e>
                            <m:e>
                              <m:r>
                                <a:rPr lang="en-US" altLang="zh-CN" i="1">
                                  <a:latin typeface="Cambria Math" panose="02040503050406030204" charset="0"/>
                                  <a:cs typeface="Cambria Math" panose="02040503050406030204" charset="0"/>
                                </a:rPr>
                                <m:t>6</m:t>
                              </m:r>
                            </m:e>
                          </m:mr>
                        </m:m>
                      </m:e>
                    </m:d>
                    <m:r>
                      <a:rPr lang="en-US" altLang="zh-CN" i="1">
                        <a:latin typeface="Cambria Math" panose="02040503050406030204" charset="0"/>
                        <a:cs typeface="Cambria Math" panose="02040503050406030204" charset="0"/>
                      </a:rPr>
                      <m:t>，有</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𝑖𝑗</m:t>
                        </m:r>
                        <m:r>
                          <a:rPr lang="en-US" altLang="zh-CN" i="1">
                            <a:latin typeface="Cambria Math" panose="02040503050406030204" charset="0"/>
                            <a:cs typeface="Cambria Math" panose="02040503050406030204" charset="0"/>
                          </a:rPr>
                          <m:t> </m:t>
                        </m:r>
                      </m:sub>
                    </m:sSub>
                    <m:r>
                      <a:rPr lang="en-US" altLang="zh-CN" i="1">
                        <a:latin typeface="Cambria Math" panose="02040503050406030204" charset="0"/>
                        <a:cs typeface="Cambria Math" panose="02040503050406030204" charset="0"/>
                      </a:rPr>
                      <m:t>=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𝑗𝑖</m:t>
                        </m:r>
                      </m:sub>
                      <m:sup>
                        <m:r>
                          <a:rPr lang="en-US" altLang="zh-CN" i="1">
                            <a:latin typeface="Cambria Math" panose="02040503050406030204" charset="0"/>
                            <a:cs typeface="Cambria Math" panose="02040503050406030204" charset="0"/>
                          </a:rPr>
                          <m:t>𝑡</m:t>
                        </m:r>
                      </m:sup>
                    </m:sSubSup>
                    <m:r>
                      <a:rPr lang="en-US" altLang="zh-CN" i="1">
                        <a:latin typeface="Cambria Math" panose="02040503050406030204" charset="0"/>
                        <a:cs typeface="Cambria Math" panose="02040503050406030204" charset="0"/>
                      </a:rPr>
                      <m:t> </m:t>
                    </m:r>
                  </m:oMath>
                </a14:m>
                <a:endParaRPr lang="en-US" altLang="zh-CN"/>
              </a:p>
            </p:txBody>
          </p:sp>
        </mc:Choice>
        <mc:Fallback>
          <p:sp>
            <p:nvSpPr>
              <p:cNvPr id="9" name="文本框 8"/>
              <p:cNvSpPr txBox="1">
                <a:spLocks noRot="1" noChangeAspect="1" noMove="1" noResize="1" noEditPoints="1" noAdjustHandles="1" noChangeArrowheads="1" noChangeShapeType="1" noTextEdit="1"/>
              </p:cNvSpPr>
              <p:nvPr/>
            </p:nvSpPr>
            <p:spPr>
              <a:xfrm>
                <a:off x="1480820" y="5011420"/>
                <a:ext cx="8300085" cy="77724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586803" y="1119656"/>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矩阵的四则运算</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795655" y="1822450"/>
                <a:ext cx="11024870" cy="4425950"/>
              </a:xfrm>
              <a:prstGeom prst="rect">
                <a:avLst/>
              </a:prstGeom>
              <a:noFill/>
            </p:spPr>
            <p:txBody>
              <a:bodyPr wrap="square" rtlCol="0">
                <a:noAutofit/>
              </a:bodyPr>
              <a:p>
                <a:r>
                  <a:rPr lang="zh-CN" altLang="en-US" b="1"/>
                  <a:t>矩阵的逆</a:t>
                </a:r>
                <a:endParaRPr lang="en-US" altLang="zh-CN" i="1">
                  <a:latin typeface="Cambria Math" panose="02040503050406030204" charset="0"/>
                  <a:cs typeface="Cambria Math" panose="02040503050406030204" charset="0"/>
                </a:endParaRPr>
              </a:p>
              <a:p>
                <a:r>
                  <a:rPr lang="zh-CN" altLang="en-US"/>
                  <a:t>定义</a:t>
                </a:r>
                <a:r>
                  <a:rPr lang="en-US" altLang="zh-CN"/>
                  <a:t>:</a:t>
                </a:r>
                <a:r>
                  <a:rPr lang="zh-CN" altLang="en-US"/>
                  <a:t>对于一个</a:t>
                </a:r>
                <a:r>
                  <a:rPr lang="en-US" altLang="zh-CN"/>
                  <a:t> n</a:t>
                </a:r>
                <a:r>
                  <a:rPr lang="en-US" altLang="en-US"/>
                  <a:t>×</a:t>
                </a:r>
                <a:r>
                  <a:rPr lang="en-US" altLang="zh-CN"/>
                  <a:t>n </a:t>
                </a:r>
                <a:r>
                  <a:rPr lang="zh-CN" altLang="en-US"/>
                  <a:t>的方阵</a:t>
                </a:r>
                <a:r>
                  <a:rPr lang="en-US" altLang="zh-CN"/>
                  <a:t> A</a:t>
                </a:r>
                <a:r>
                  <a:rPr lang="zh-CN" altLang="en-US"/>
                  <a:t>，如果存在一个矩阵</a:t>
                </a:r>
                <a:r>
                  <a:rPr lang="en-US" altLang="zh-CN"/>
                  <a:t> B</a:t>
                </a:r>
                <a:r>
                  <a:rPr lang="zh-CN" altLang="en-US"/>
                  <a:t>，使得</a:t>
                </a:r>
                <a:r>
                  <a:rPr lang="en-US" altLang="zh-CN"/>
                  <a:t> AB=BA=I</a:t>
                </a:r>
                <a:r>
                  <a:rPr lang="zh-CN" altLang="en-US"/>
                  <a:t>，那么</a:t>
                </a:r>
                <a:r>
                  <a:rPr lang="en-US" altLang="zh-CN"/>
                  <a:t> B </a:t>
                </a:r>
                <a:r>
                  <a:rPr lang="zh-CN" altLang="en-US"/>
                  <a:t>称为</a:t>
                </a:r>
                <a:r>
                  <a:rPr lang="en-US" altLang="zh-CN"/>
                  <a:t> A </a:t>
                </a:r>
                <a:r>
                  <a:rPr lang="zh-CN" altLang="en-US"/>
                  <a:t>的逆矩阵，记作</a:t>
                </a:r>
                <a:r>
                  <a:rPr lang="en-US" altLang="zh-CN"/>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oMath>
                </a14:m>
                <a:r>
                  <a:rPr lang="zh-CN" altLang="en-US"/>
                  <a:t>。</a:t>
                </a:r>
                <a:r>
                  <a:rPr lang="zh-CN" altLang="en-US" b="1"/>
                  <a:t>不是所有矩阵都有逆矩阵；没有逆的矩阵称为奇异矩阵</a:t>
                </a:r>
                <a:r>
                  <a:rPr lang="zh-CN" altLang="en-US"/>
                  <a:t>。</a:t>
                </a:r>
                <a:endParaRPr lang="zh-CN" altLang="en-US"/>
              </a:p>
              <a:p>
                <a:endParaRPr lang="zh-CN" altLang="en-US"/>
              </a:p>
              <a:p>
                <a:r>
                  <a:rPr lang="zh-CN" altLang="en-US"/>
                  <a:t>性质</a:t>
                </a:r>
                <a:r>
                  <a:rPr lang="en-US" altLang="zh-CN"/>
                  <a:t>:</a:t>
                </a:r>
                <a:endParaRPr lang="en-US" altLang="zh-CN"/>
              </a:p>
              <a:p>
                <a:r>
                  <a:rPr lang="en-US" altLang="zh-CN"/>
                  <a:t>1. </a:t>
                </a:r>
                <a:r>
                  <a:rPr lang="zh-CN" altLang="en-US"/>
                  <a:t>只有方阵才有逆矩阵</a:t>
                </a:r>
                <a:endParaRPr lang="zh-CN" altLang="en-US"/>
              </a:p>
              <a:p>
                <a:r>
                  <a:rPr lang="en-US" altLang="zh-CN"/>
                  <a:t>2. </a:t>
                </a:r>
                <a:r>
                  <a:rPr lang="zh-CN" altLang="en-US"/>
                  <a:t>如果</a:t>
                </a:r>
                <a:r>
                  <a:rPr lang="en-US" altLang="zh-CN"/>
                  <a:t> A </a:t>
                </a:r>
                <a:r>
                  <a:rPr lang="zh-CN" altLang="en-US"/>
                  <a:t>有逆矩阵，则逆矩阵是唯一的</a:t>
                </a:r>
                <a:endParaRPr lang="zh-CN" altLang="en-US"/>
              </a:p>
              <a:p>
                <a:r>
                  <a:rPr lang="en-US" altLang="zh-CN"/>
                  <a:t>3.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𝐴</m:t>
                    </m:r>
                  </m:oMath>
                </a14:m>
                <a:endParaRPr lang="zh-CN" altLang="en-US"/>
              </a:p>
              <a:p>
                <a:r>
                  <a:rPr lang="en-US" altLang="zh-CN"/>
                  <a:t>4. </a:t>
                </a:r>
                <a:r>
                  <a:rPr lang="zh-CN" altLang="en-US"/>
                  <a:t>如果矩阵</a:t>
                </a:r>
                <a:r>
                  <a:rPr lang="en-US" altLang="zh-CN"/>
                  <a:t>A,B</a:t>
                </a:r>
                <a:r>
                  <a:rPr lang="zh-CN" altLang="en-US"/>
                  <a:t>均可逆，则有</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𝐴𝐵</m:t>
                        </m:r>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r>
                      <a:rPr lang="en-US" altLang="zh-CN" i="1">
                        <a:latin typeface="Cambria Math" panose="02040503050406030204" charset="0"/>
                        <a:cs typeface="Cambria Math" panose="02040503050406030204" charset="0"/>
                      </a:rPr>
                      <m:t>= </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𝐵</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oMath>
                </a14:m>
                <a:endParaRPr lang="en-US" altLang="zh-CN" i="1">
                  <a:latin typeface="Cambria Math" panose="02040503050406030204" charset="0"/>
                  <a:cs typeface="Cambria Math" panose="02040503050406030204" charset="0"/>
                </a:endParaRPr>
              </a:p>
              <a:p>
                <a:endParaRPr lang="en-US" altLang="zh-CN"/>
              </a:p>
              <a:p>
                <a:r>
                  <a:rPr lang="zh-CN" altLang="en-US" b="1"/>
                  <a:t>逆矩阵就像</a:t>
                </a:r>
                <a:r>
                  <a:rPr lang="en-US" altLang="zh-CN" b="1"/>
                  <a:t>“</a:t>
                </a:r>
                <a:r>
                  <a:rPr lang="zh-CN" altLang="en-US" b="1"/>
                  <a:t>撤销</a:t>
                </a:r>
                <a:r>
                  <a:rPr lang="en-US" altLang="zh-CN" b="1"/>
                  <a:t>”</a:t>
                </a:r>
                <a:r>
                  <a:rPr lang="zh-CN" altLang="en-US" b="1"/>
                  <a:t>原矩阵的操作。如果</a:t>
                </a:r>
                <a:r>
                  <a:rPr lang="en-US" altLang="zh-CN" b="1"/>
                  <a:t> </a:t>
                </a:r>
                <a14:m>
                  <m:oMath xmlns:m="http://schemas.openxmlformats.org/officeDocument/2006/math">
                    <m:r>
                      <a:rPr lang="en-US" altLang="zh-CN" b="1" i="1">
                        <a:latin typeface="Cambria Math" panose="02040503050406030204" charset="0"/>
                        <a:cs typeface="Cambria Math" panose="02040503050406030204" charset="0"/>
                      </a:rPr>
                      <m:t>𝑨</m:t>
                    </m:r>
                  </m:oMath>
                </a14:m>
                <a:r>
                  <a:rPr lang="en-US" altLang="zh-CN" b="1"/>
                  <a:t> </a:t>
                </a:r>
                <a:r>
                  <a:rPr lang="zh-CN" altLang="en-US" b="1"/>
                  <a:t>表示一种变换，那么</a:t>
                </a:r>
                <a:r>
                  <a:rPr lang="en-US" altLang="zh-CN" b="1"/>
                  <a:t> </a:t>
                </a:r>
                <a14:m>
                  <m:oMath xmlns:m="http://schemas.openxmlformats.org/officeDocument/2006/math">
                    <m:sSup>
                      <m:sSupPr>
                        <m:ctrlPr>
                          <a:rPr lang="en-US" altLang="zh-CN" b="1" i="1">
                            <a:latin typeface="Cambria Math" panose="02040503050406030204" charset="0"/>
                            <a:cs typeface="Cambria Math" panose="02040503050406030204" charset="0"/>
                          </a:rPr>
                        </m:ctrlPr>
                      </m:sSupPr>
                      <m:e>
                        <m:r>
                          <a:rPr lang="en-US" altLang="zh-CN" b="1" i="1">
                            <a:latin typeface="Cambria Math" panose="02040503050406030204" charset="0"/>
                            <a:cs typeface="Cambria Math" panose="02040503050406030204" charset="0"/>
                          </a:rPr>
                          <m:t>𝑨</m:t>
                        </m:r>
                      </m:e>
                      <m:sup>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𝟏</m:t>
                        </m:r>
                      </m:sup>
                    </m:sSup>
                  </m:oMath>
                </a14:m>
                <a:r>
                  <a:rPr lang="en-US" altLang="zh-CN" b="1"/>
                  <a:t>  </a:t>
                </a:r>
                <a:r>
                  <a:rPr lang="zh-CN" altLang="en-US" b="1"/>
                  <a:t>表示反向变换。</a:t>
                </a:r>
                <a:endParaRPr lang="zh-CN" altLang="en-US" b="1"/>
              </a:p>
            </p:txBody>
          </p:sp>
        </mc:Choice>
        <mc:Fallback>
          <p:sp>
            <p:nvSpPr>
              <p:cNvPr id="4" name="文本框 3"/>
              <p:cNvSpPr txBox="1">
                <a:spLocks noRot="1" noChangeAspect="1" noMove="1" noResize="1" noEditPoints="1" noAdjustHandles="1" noChangeArrowheads="1" noChangeShapeType="1" noTextEdit="1"/>
              </p:cNvSpPr>
              <p:nvPr/>
            </p:nvSpPr>
            <p:spPr>
              <a:xfrm>
                <a:off x="795655" y="1822450"/>
                <a:ext cx="11024870" cy="442595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753" y="1262531"/>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矩阵的意义</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528445" y="2108200"/>
                <a:ext cx="8810625" cy="3426460"/>
              </a:xfrm>
              <a:prstGeom prst="rect">
                <a:avLst/>
              </a:prstGeom>
              <a:noFill/>
            </p:spPr>
            <p:txBody>
              <a:bodyPr wrap="square" rtlCol="0">
                <a:spAutoFit/>
              </a:bodyPr>
              <a:p>
                <a:r>
                  <a:rPr lang="zh-CN" altLang="en-US"/>
                  <a:t>等等，所以矩阵到底是用来做什么的？</a:t>
                </a:r>
                <a:endParaRPr lang="zh-CN" altLang="en-US"/>
              </a:p>
              <a:p>
                <a:endParaRPr lang="zh-CN" altLang="en-US"/>
              </a:p>
              <a:p>
                <a:r>
                  <a:rPr lang="zh-CN" altLang="en-US"/>
                  <a:t>定义：线性变换</a:t>
                </a:r>
                <a:r>
                  <a:rPr lang="en-US" altLang="zh-CN"/>
                  <a:t>T</a:t>
                </a:r>
                <a:r>
                  <a:rPr lang="zh-CN" altLang="en-US"/>
                  <a:t>是满足以下两条性质的映射</a:t>
                </a:r>
                <a:r>
                  <a:rPr lang="en-US" altLang="zh-CN"/>
                  <a:t>:</a:t>
                </a:r>
                <a:endParaRPr lang="en-US" altLang="zh-CN"/>
              </a:p>
              <a:p>
                <a:r>
                  <a:rPr lang="zh-CN" altLang="en-US"/>
                  <a:t>可加性：</a:t>
                </a:r>
                <a:r>
                  <a:rPr lang="en-US" altLang="zh-CN">
                    <a:latin typeface="Cambria Math" panose="02040503050406030204" charset="0"/>
                    <a:cs typeface="Cambria Math" panose="02040503050406030204" charset="0"/>
                  </a:rPr>
                  <a:t>T(u+v)=T(u)+T(v)</a:t>
                </a:r>
                <a:endParaRPr lang="en-US" altLang="zh-CN"/>
              </a:p>
              <a:p>
                <a:r>
                  <a:rPr lang="zh-CN" altLang="en-US"/>
                  <a:t>齐次性</a:t>
                </a:r>
                <a:r>
                  <a:rPr lang="en-US" altLang="zh-CN"/>
                  <a:t>:   </a:t>
                </a:r>
                <a:r>
                  <a:rPr lang="en-US" altLang="zh-CN">
                    <a:latin typeface="Cambria Math" panose="02040503050406030204" charset="0"/>
                    <a:cs typeface="Cambria Math" panose="02040503050406030204" charset="0"/>
                  </a:rPr>
                  <a:t>T(c</a:t>
                </a:r>
                <a:r>
                  <a:rPr lang="en-US" altLang="zh-CN">
                    <a:latin typeface="Cambria Math" panose="02040503050406030204" charset="0"/>
                    <a:cs typeface="Cambria Math" panose="02040503050406030204" charset="0"/>
                    <a:sym typeface="+mn-ea"/>
                  </a:rPr>
                  <a:t>⋅</a:t>
                </a:r>
                <a:r>
                  <a:rPr lang="en-US" altLang="zh-CN">
                    <a:latin typeface="Cambria Math" panose="02040503050406030204" charset="0"/>
                    <a:cs typeface="Cambria Math" panose="02040503050406030204" charset="0"/>
                  </a:rPr>
                  <a:t>u)=c⋅T(u)</a:t>
                </a:r>
                <a:endParaRPr lang="en-US" altLang="zh-CN">
                  <a:latin typeface="Cambria Math" panose="02040503050406030204" charset="0"/>
                  <a:cs typeface="Cambria Math" panose="02040503050406030204" charset="0"/>
                </a:endParaRPr>
              </a:p>
              <a:p>
                <a:endParaRPr lang="en-US" altLang="zh-CN">
                  <a:latin typeface="Cambria Math" panose="02040503050406030204" charset="0"/>
                  <a:cs typeface="Cambria Math" panose="02040503050406030204" charset="0"/>
                </a:endParaRPr>
              </a:p>
              <a:p>
                <a:r>
                  <a:rPr lang="zh-CN" altLang="en-US" b="1">
                    <a:latin typeface="Cambria Math" panose="02040503050406030204" charset="0"/>
                    <a:cs typeface="Cambria Math" panose="02040503050406030204" charset="0"/>
                  </a:rPr>
                  <a:t>任何从</a:t>
                </a:r>
                <a14:m>
                  <m:oMath xmlns:m="http://schemas.openxmlformats.org/officeDocument/2006/math">
                    <m:sSup>
                      <m:sSupPr>
                        <m:ctrlPr>
                          <a:rPr lang="en-US" altLang="zh-CN" b="1" i="1">
                            <a:latin typeface="Cambria Math" panose="02040503050406030204" charset="0"/>
                            <a:cs typeface="Cambria Math" panose="02040503050406030204" charset="0"/>
                          </a:rPr>
                        </m:ctrlPr>
                      </m:sSupPr>
                      <m:e>
                        <m:r>
                          <a:rPr lang="en-US" altLang="zh-CN" b="1" i="1">
                            <a:latin typeface="Cambria Math" panose="02040503050406030204" charset="0"/>
                            <a:cs typeface="Cambria Math" panose="02040503050406030204" charset="0"/>
                          </a:rPr>
                          <m:t>ℝ</m:t>
                        </m:r>
                      </m:e>
                      <m:sup>
                        <m:r>
                          <a:rPr lang="en-US" altLang="zh-CN" b="1" i="1">
                            <a:latin typeface="Cambria Math" panose="02040503050406030204" charset="0"/>
                            <a:cs typeface="Cambria Math" panose="02040503050406030204" charset="0"/>
                          </a:rPr>
                          <m:t>𝒏</m:t>
                        </m:r>
                      </m:sup>
                    </m:sSup>
                    <m:r>
                      <a:rPr lang="en-US" altLang="zh-CN" b="1" i="1">
                        <a:latin typeface="Cambria Math" panose="02040503050406030204" charset="0"/>
                        <a:cs typeface="Cambria Math" panose="02040503050406030204" charset="0"/>
                      </a:rPr>
                      <m:t>到</m:t>
                    </m:r>
                    <m:sSup>
                      <m:sSupPr>
                        <m:ctrlPr>
                          <a:rPr lang="en-US" altLang="zh-CN" b="1" i="1">
                            <a:latin typeface="Cambria Math" panose="02040503050406030204" charset="0"/>
                            <a:cs typeface="Cambria Math" panose="02040503050406030204" charset="0"/>
                          </a:rPr>
                        </m:ctrlPr>
                      </m:sSupPr>
                      <m:e>
                        <m:r>
                          <a:rPr lang="en-US" altLang="zh-CN" b="1" i="1">
                            <a:latin typeface="Cambria Math" panose="02040503050406030204" charset="0"/>
                            <a:cs typeface="Cambria Math" panose="02040503050406030204" charset="0"/>
                          </a:rPr>
                          <m:t>ℝ</m:t>
                        </m:r>
                      </m:e>
                      <m:sup>
                        <m:r>
                          <a:rPr lang="en-US" altLang="zh-CN" b="1" i="1">
                            <a:latin typeface="Cambria Math" panose="02040503050406030204" charset="0"/>
                            <a:cs typeface="Cambria Math" panose="02040503050406030204" charset="0"/>
                          </a:rPr>
                          <m:t>𝒎</m:t>
                        </m:r>
                      </m:sup>
                    </m:sSup>
                    <m:r>
                      <a:rPr lang="en-US" altLang="zh-CN" b="1" i="1">
                        <a:latin typeface="Cambria Math" panose="02040503050406030204" charset="0"/>
                        <a:cs typeface="Cambria Math" panose="02040503050406030204" charset="0"/>
                      </a:rPr>
                      <m:t>的线性变换</m:t>
                    </m:r>
                    <m:r>
                      <a:rPr lang="en-US" altLang="zh-CN" b="1" i="1">
                        <a:latin typeface="Cambria Math" panose="02040503050406030204" charset="0"/>
                        <a:cs typeface="Cambria Math" panose="02040503050406030204" charset="0"/>
                      </a:rPr>
                      <m:t>𝑻</m:t>
                    </m:r>
                  </m:oMath>
                </a14:m>
                <a:r>
                  <a:rPr lang="zh-CN" altLang="en-US" b="1">
                    <a:latin typeface="Cambria Math" panose="02040503050406030204" charset="0"/>
                    <a:cs typeface="Cambria Math" panose="02040503050406030204" charset="0"/>
                  </a:rPr>
                  <a:t>，都唯一地对应一个</a:t>
                </a:r>
                <a:r>
                  <a:rPr lang="en-US" altLang="zh-CN" b="1">
                    <a:latin typeface="Cambria Math" panose="02040503050406030204" charset="0"/>
                    <a:cs typeface="Cambria Math" panose="02040503050406030204" charset="0"/>
                  </a:rPr>
                  <a:t> </a:t>
                </a:r>
                <a14:m>
                  <m:oMath xmlns:m="http://schemas.openxmlformats.org/officeDocument/2006/math">
                    <m:r>
                      <a:rPr lang="en-US" altLang="zh-CN" b="1" i="1">
                        <a:latin typeface="Cambria Math" panose="02040503050406030204" charset="0"/>
                        <a:cs typeface="Cambria Math" panose="02040503050406030204" charset="0"/>
                      </a:rPr>
                      <m:t>𝒎</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𝒏</m:t>
                    </m:r>
                    <m:r>
                      <a:rPr lang="en-US" altLang="zh-CN" b="1" i="1">
                        <a:latin typeface="Cambria Math" panose="02040503050406030204" charset="0"/>
                        <a:cs typeface="Cambria Math" panose="02040503050406030204" charset="0"/>
                      </a:rPr>
                      <m:t>的矩阵</m:t>
                    </m:r>
                    <m:r>
                      <a:rPr lang="en-US" altLang="zh-CN" b="1" i="1">
                        <a:latin typeface="Cambria Math" panose="02040503050406030204" charset="0"/>
                        <a:cs typeface="Cambria Math" panose="02040503050406030204" charset="0"/>
                      </a:rPr>
                      <m:t>𝑨</m:t>
                    </m:r>
                    <m:r>
                      <a:rPr lang="en-US" altLang="zh-CN" b="1"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14:m>
                  <m:oMath xmlns:m="http://schemas.openxmlformats.org/officeDocument/2006/math">
                    <m:r>
                      <a:rPr lang="en-US" altLang="zh-CN" i="1">
                        <a:latin typeface="Cambria Math" panose="02040503050406030204" charset="0"/>
                        <a:cs typeface="Cambria Math" panose="02040503050406030204" charset="0"/>
                      </a:rPr>
                      <m:t>此矩阵的</m:t>
                    </m:r>
                  </m:oMath>
                </a14:m>
                <a:r>
                  <a:rPr lang="zh-CN" altLang="en-US">
                    <a:latin typeface="Cambria Math" panose="02040503050406030204" charset="0"/>
                    <a:cs typeface="Cambria Math" panose="02040503050406030204" charset="0"/>
                  </a:rPr>
                  <a:t>构造方法</a:t>
                </a:r>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使用单位基向量</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1</m:t>
                        </m:r>
                      </m:sub>
                    </m:sSub>
                  </m:oMath>
                </a14:m>
                <a:r>
                  <a:rPr lang="en-US" altLang="zh-CN">
                    <a:latin typeface="Cambria Math" panose="02040503050406030204" charset="0"/>
                    <a:cs typeface="Cambria Math" panose="02040503050406030204" charset="0"/>
                  </a:rPr>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2</m:t>
                        </m:r>
                      </m:sub>
                    </m:sSub>
                  </m:oMath>
                </a14:m>
                <a:r>
                  <a:rPr lang="en-US" altLang="zh-CN">
                    <a:latin typeface="Cambria Math" panose="02040503050406030204" charset="0"/>
                    <a:cs typeface="Cambria Math" panose="02040503050406030204" charset="0"/>
                  </a:rPr>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𝑛</m:t>
                        </m:r>
                      </m:sub>
                    </m:sSub>
                    <m:r>
                      <a:rPr lang="en-US" altLang="zh-CN" i="1">
                        <a:latin typeface="Cambria Math" panose="02040503050406030204" charset="0"/>
                        <a:cs typeface="Cambria Math" panose="02040503050406030204" charset="0"/>
                      </a:rPr>
                      <m:t>经过线性变换得到的向量</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),...作为矩阵的第</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到</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列得到的。</m:t>
                    </m:r>
                    <m:r>
                      <a:rPr lang="en-US" altLang="zh-CN" i="1">
                        <a:latin typeface="Cambria Math" panose="02040503050406030204" charset="0"/>
                        <a:cs typeface="Cambria Math" panose="02040503050406030204" charset="0"/>
                      </a:rPr>
                      <m:t> </m:t>
                    </m:r>
                  </m:oMath>
                </a14:m>
                <a:endParaRPr lang="zh-CN" altLang="en-US">
                  <a:latin typeface="Cambria Math" panose="02040503050406030204" charset="0"/>
                  <a:cs typeface="Cambria Math" panose="02040503050406030204" charset="0"/>
                </a:endParaRPr>
              </a:p>
              <a:p>
                <a:endParaRPr lang="en-US" altLang="zh-CN"/>
              </a:p>
              <a:p>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528445" y="2108200"/>
                <a:ext cx="8810625" cy="342646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43915" y="1148080"/>
            <a:ext cx="38842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线性变换和变换矩阵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299845" y="1731645"/>
                <a:ext cx="9725025" cy="4721225"/>
              </a:xfrm>
              <a:prstGeom prst="rect">
                <a:avLst/>
              </a:prstGeom>
              <a:noFill/>
            </p:spPr>
            <p:txBody>
              <a:bodyPr wrap="square" rtlCol="0">
                <a:noAutofit/>
              </a:bodyPr>
              <a:p>
                <a:r>
                  <a:rPr lang="zh-CN" altLang="en-US"/>
                  <a:t>现在，我们想使用矩阵进行</a:t>
                </a:r>
                <a:r>
                  <a:rPr lang="zh-CN" altLang="en-US" b="1"/>
                  <a:t>线性变换</a:t>
                </a:r>
                <a:r>
                  <a:rPr lang="zh-CN" altLang="en-US"/>
                  <a:t>，比如，从一个向量空间映射到另一个向量空间。</a:t>
                </a:r>
                <a:endParaRPr lang="zh-CN" altLang="en-US"/>
              </a:p>
              <a:p>
                <a:endParaRPr lang="zh-CN" altLang="en-US"/>
              </a:p>
              <a:p>
                <a:r>
                  <a:rPr lang="zh-CN" altLang="en-US"/>
                  <a:t>例如对于一个从</a:t>
                </a:r>
                <a:r>
                  <a:rPr lang="en-US" altLang="zh-CN"/>
                  <a:t> n </a:t>
                </a:r>
                <a:r>
                  <a:rPr lang="zh-CN" altLang="en-US"/>
                  <a:t>维空间到</a:t>
                </a:r>
                <a:r>
                  <a:rPr lang="en-US" altLang="zh-CN"/>
                  <a:t> m </a:t>
                </a:r>
                <a:r>
                  <a:rPr lang="zh-CN" altLang="en-US"/>
                  <a:t>维空间的线性变换</a:t>
                </a:r>
                <a:r>
                  <a:rPr lang="en-US" altLang="zh-CN"/>
                  <a:t> T</a:t>
                </a:r>
                <a:r>
                  <a:rPr lang="zh-CN" altLang="en-US"/>
                  <a:t>，，存在一个</a:t>
                </a:r>
                <a:r>
                  <a:rPr lang="en-US" altLang="zh-CN"/>
                  <a:t> m</a:t>
                </a:r>
                <a:r>
                  <a:rPr lang="en-US" altLang="en-US"/>
                  <a:t>×</a:t>
                </a:r>
                <a:r>
                  <a:rPr lang="en-US" altLang="zh-CN"/>
                  <a:t>n </a:t>
                </a:r>
                <a:r>
                  <a:rPr lang="zh-CN" altLang="en-US"/>
                  <a:t>矩阵</a:t>
                </a:r>
                <a:r>
                  <a:rPr lang="en-US" altLang="zh-CN"/>
                  <a:t> A</a:t>
                </a:r>
                <a:r>
                  <a:rPr lang="zh-CN" altLang="en-US"/>
                  <a:t>，使得对于任何向量</a:t>
                </a:r>
                <a:r>
                  <a:rPr lang="en-US" altLang="zh-CN"/>
                  <a:t> x</a:t>
                </a:r>
                <a:r>
                  <a:rPr lang="zh-CN" altLang="en-US"/>
                  <a:t>（</a:t>
                </a:r>
                <a14:m>
                  <m:oMath xmlns:m="http://schemas.openxmlformats.org/officeDocument/2006/math">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r>
                  <a:rPr lang="zh-CN" altLang="en-US"/>
                  <a:t>）</a:t>
                </a:r>
                <a:r>
                  <a:rPr lang="en-US" altLang="zh-CN"/>
                  <a:t>,</a:t>
                </a:r>
                <a:r>
                  <a:rPr lang="zh-CN" altLang="en-US"/>
                  <a:t>变换后的向量为</a:t>
                </a:r>
                <a:r>
                  <a:rPr lang="en-US" altLang="zh-CN"/>
                  <a:t> T(x)=Ax</a:t>
                </a:r>
                <a:r>
                  <a:rPr lang="zh-CN" altLang="en-US"/>
                  <a:t>。变换后的</a:t>
                </a:r>
                <a:r>
                  <a:rPr lang="en-US" altLang="zh-CN"/>
                  <a:t>T(x)</a:t>
                </a:r>
                <a:r>
                  <a:rPr lang="zh-CN" altLang="en-US"/>
                  <a:t>的形状为</a:t>
                </a:r>
                <a14:m>
                  <m:oMath xmlns:m="http://schemas.openxmlformats.org/officeDocument/2006/math">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endParaRPr lang="en-US" altLang="zh-CN" i="1">
                  <a:latin typeface="Cambria Math" panose="02040503050406030204" charset="0"/>
                  <a:cs typeface="Cambria Math" panose="02040503050406030204" charset="0"/>
                </a:endParaRPr>
              </a:p>
              <a:p>
                <a:endParaRPr lang="zh-CN" altLang="en-US"/>
              </a:p>
              <a:p>
                <a:r>
                  <a:rPr lang="zh-CN" altLang="en-US"/>
                  <a:t>由此，我们可以极大简化不同坐标系间的坐标变换计算。</a:t>
                </a:r>
                <a:endParaRPr lang="zh-CN" altLang="en-US"/>
              </a:p>
              <a:p>
                <a:endParaRPr lang="en-US" altLang="zh-CN"/>
              </a:p>
              <a:p>
                <a:r>
                  <a:rPr lang="zh-CN" altLang="en-US"/>
                  <a:t>比如，考虑二维中绕原点顺时针旋转</a:t>
                </a:r>
                <a:r>
                  <a:rPr lang="en-US" altLang="zh-CN">
                    <a:sym typeface="+mn-ea"/>
                  </a:rPr>
                  <a:t>θ</a:t>
                </a:r>
                <a:r>
                  <a:rPr lang="zh-CN" altLang="en-US">
                    <a:sym typeface="+mn-ea"/>
                  </a:rPr>
                  <a:t>角的变换矩阵</a:t>
                </a:r>
                <a:r>
                  <a:rPr lang="en-US" altLang="zh-CN">
                    <a:sym typeface="+mn-ea"/>
                  </a:rPr>
                  <a:t> </a:t>
                </a:r>
                <a14:m>
                  <m:oMath xmlns:m="http://schemas.openxmlformats.org/officeDocument/2006/math">
                    <m:r>
                      <a:rPr lang="en-US" altLang="zh-CN" i="1">
                        <a:latin typeface="Cambria Math" panose="02040503050406030204" charset="0"/>
                        <a:cs typeface="Cambria Math" panose="02040503050406030204" charset="0"/>
                        <a:sym typeface="+mn-ea"/>
                      </a:rPr>
                      <m:t>𝑅</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mr>
                        </m:m>
                      </m:e>
                    </m:d>
                    <m:r>
                      <a:rPr lang="en-US" altLang="zh-CN" i="1">
                        <a:latin typeface="Cambria Math" panose="02040503050406030204" charset="0"/>
                        <a:cs typeface="Cambria Math" panose="02040503050406030204" charset="0"/>
                        <a:sym typeface="+mn-ea"/>
                      </a:rPr>
                      <m:t>，逆变换</m:t>
                    </m:r>
                    <m:sSup>
                      <m:sSupPr>
                        <m:ctrlPr>
                          <a:rPr lang="en-US" altLang="zh-CN" i="1">
                            <a:latin typeface="Cambria Math" panose="02040503050406030204" charset="0"/>
                            <a:cs typeface="Cambria Math" panose="02040503050406030204" charset="0"/>
                            <a:sym typeface="+mn-ea"/>
                          </a:rPr>
                        </m:ctrlPr>
                      </m:sSupPr>
                      <m:e>
                        <m:r>
                          <a:rPr lang="en-US" altLang="zh-CN" i="1">
                            <a:latin typeface="Cambria Math" panose="02040503050406030204" charset="0"/>
                            <a:cs typeface="Cambria Math" panose="02040503050406030204" charset="0"/>
                            <a:sym typeface="+mn-ea"/>
                          </a:rPr>
                          <m:t>𝑅</m:t>
                        </m:r>
                      </m:e>
                      <m:sup>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1</m:t>
                        </m:r>
                      </m:sup>
                    </m:sSup>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mr>
                        </m:m>
                      </m:e>
                    </m:d>
                  </m:oMath>
                </a14:m>
                <a:endParaRPr lang="zh-CN" altLang="en-US"/>
              </a:p>
              <a:p>
                <a:endParaRPr lang="zh-CN" altLang="en-US"/>
              </a:p>
              <a:p>
                <a:r>
                  <a:rPr lang="zh-CN" altLang="en-US"/>
                  <a:t>对于二维坐标系</a:t>
                </a:r>
                <a:r>
                  <a:rPr lang="en-US" altLang="zh-CN"/>
                  <a:t>H0</a:t>
                </a:r>
                <a:r>
                  <a:rPr lang="zh-CN" altLang="en-US"/>
                  <a:t>，顺时针旋转</a:t>
                </a:r>
                <a:r>
                  <a:rPr lang="en-US" altLang="zh-CN"/>
                  <a:t>θ</a:t>
                </a:r>
                <a:r>
                  <a:rPr lang="zh-CN" altLang="en-US"/>
                  <a:t>得到</a:t>
                </a:r>
                <a:r>
                  <a:rPr lang="en-US" altLang="zh-CN"/>
                  <a:t>H1</a:t>
                </a:r>
                <a:r>
                  <a:rPr lang="zh-CN" altLang="en-US"/>
                  <a:t>，那么对于</a:t>
                </a:r>
                <a:r>
                  <a:rPr lang="en-US" altLang="zh-CN"/>
                  <a:t>H0</a:t>
                </a:r>
                <a:r>
                  <a:rPr lang="zh-CN" altLang="en-US"/>
                  <a:t>中的任意点坐标</a:t>
                </a:r>
                <a14:m>
                  <m:oMath xmlns:m="http://schemas.openxmlformats.org/officeDocument/2006/math">
                    <m:r>
                      <m:rPr>
                        <m:sty m:val="p"/>
                      </m:rPr>
                      <a:rPr lang="en-US" altLang="zh-CN">
                        <a:latin typeface="Cambria Math" panose="02040503050406030204" charset="0"/>
                      </a:rPr>
                      <m:t>C</m:t>
                    </m:r>
                    <m:r>
                      <a:rPr lang="en-US" altLang="zh-CN">
                        <a:latin typeface="Cambria Math" panose="02040503050406030204" charset="0"/>
                      </a:rPr>
                      <m:t>0</m:t>
                    </m:r>
                    <m:r>
                      <a:rPr lang="en-US" altLang="zh-CN">
                        <a:latin typeface="Cambria Math" panose="02040503050406030204" charset="0"/>
                      </a:rPr>
                      <m:t> =[</m:t>
                    </m:r>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0</m:t>
                          </m:r>
                        </m:e>
                      </m:mr>
                    </m:m>
                    <m:r>
                      <a:rPr lang="en-US" altLang="zh-CN" i="1">
                        <a:latin typeface="Cambria Math" panose="02040503050406030204" charset="0"/>
                        <a:cs typeface="Cambria Math" panose="02040503050406030204" charset="0"/>
                      </a:rPr>
                      <m:t>]</m:t>
                    </m:r>
                  </m:oMath>
                </a14:m>
                <a:r>
                  <a:rPr lang="zh-CN" altLang="en-US"/>
                  <a:t>，在</a:t>
                </a:r>
                <a:r>
                  <a:rPr lang="en-US" altLang="zh-CN"/>
                  <a:t>H1</a:t>
                </a:r>
                <a:r>
                  <a:rPr lang="zh-CN" altLang="en-US"/>
                  <a:t>中的坐标</a:t>
                </a:r>
                <a14:m>
                  <m:oMath xmlns:m="http://schemas.openxmlformats.org/officeDocument/2006/math">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 [</m:t>
                    </m:r>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𝑐𝑜𝑠</m:t>
                          </m:r>
                          <m:r>
                            <a:rPr lang="en-US" altLang="zh-CN">
                              <a:latin typeface="Cambria Math" panose="02040503050406030204" charset="0"/>
                              <a:sym typeface="+mn-ea"/>
                            </a:rPr>
                            <m:t>𝜃</m:t>
                          </m:r>
                          <m:r>
                            <a:rPr lang="en-US" altLang="zh-CN">
                              <a:latin typeface="Cambria Math" panose="02040503050406030204" charset="0"/>
                              <a:sym typeface="+mn-ea"/>
                            </a:rPr>
                            <m:t> </m:t>
                          </m:r>
                          <m:r>
                            <a:rPr lang="en-US" altLang="zh-CN">
                              <a:latin typeface="Cambria Math" panose="02040503050406030204" charset="0"/>
                              <a:sym typeface="+mn-ea"/>
                            </a:rPr>
                            <m:t>−</m:t>
                          </m:r>
                          <m:r>
                            <a:rPr lang="en-US" altLang="zh-CN">
                              <a:latin typeface="Cambria Math" panose="02040503050406030204" charset="0"/>
                              <a:sym typeface="+mn-ea"/>
                            </a:rPr>
                            <m:t> </m:t>
                          </m:r>
                          <m:r>
                            <m:rPr>
                              <m:sty m:val="p"/>
                            </m:rPr>
                            <a:rPr lang="en-US" altLang="zh-CN">
                              <a:latin typeface="Cambria Math" panose="02040503050406030204" charset="0"/>
                              <a:sym typeface="+mn-ea"/>
                            </a:rPr>
                            <m:t>y</m:t>
                          </m:r>
                          <m:r>
                            <a:rPr lang="en-US" altLang="zh-CN">
                              <a:latin typeface="Cambria Math" panose="02040503050406030204" charset="0"/>
                              <a:sym typeface="+mn-ea"/>
                            </a:rPr>
                            <m:t>0</m:t>
                          </m:r>
                          <m:r>
                            <a:rPr lang="en-US" altLang="zh-CN">
                              <a:latin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r>
                            <a:rPr lang="en-US" altLang="zh-CN">
                              <a:latin typeface="Cambria Math" panose="02040503050406030204" charset="0"/>
                              <a:sym typeface="+mn-ea"/>
                            </a:rPr>
                            <m:t> </m:t>
                          </m:r>
                        </m:e>
                      </m:m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r>
                            <a:rPr lang="en-US" altLang="zh-CN">
                              <a:latin typeface="Cambria Math" panose="02040503050406030204" charset="0"/>
                              <a:sym typeface="+mn-ea"/>
                            </a:rPr>
                            <m:t> + </m:t>
                          </m:r>
                          <m:r>
                            <m:rPr>
                              <m:sty m:val="p"/>
                            </m:rPr>
                            <a:rPr lang="en-US" altLang="zh-CN">
                              <a:latin typeface="Cambria Math" panose="02040503050406030204" charset="0"/>
                              <a:sym typeface="+mn-ea"/>
                            </a:rPr>
                            <m:t>y</m:t>
                          </m:r>
                          <m:r>
                            <a:rPr lang="en-US" altLang="zh-CN">
                              <a:latin typeface="Cambria Math" panose="02040503050406030204" charset="0"/>
                              <a:sym typeface="+mn-ea"/>
                            </a:rPr>
                            <m:t>0</m:t>
                          </m:r>
                          <m:r>
                            <a:rPr lang="en-US" altLang="zh-CN">
                              <a:latin typeface="Cambria Math" panose="02040503050406030204" charset="0"/>
                              <a:sym typeface="+mn-ea"/>
                            </a:rPr>
                            <m:t> </m:t>
                          </m:r>
                          <m:r>
                            <a:rPr lang="en-US" altLang="zh-CN" i="1">
                              <a:latin typeface="Cambria Math" panose="02040503050406030204" charset="0"/>
                              <a:cs typeface="Cambria Math" panose="02040503050406030204" charset="0"/>
                            </a:rPr>
                            <m:t>𝑐𝑜𝑠</m:t>
                          </m:r>
                          <m:r>
                            <a:rPr lang="en-US" altLang="zh-CN">
                              <a:latin typeface="Cambria Math" panose="02040503050406030204" charset="0"/>
                              <a:sym typeface="+mn-ea"/>
                            </a:rPr>
                            <m:t>𝜃</m:t>
                          </m:r>
                          <m:r>
                            <a:rPr lang="en-US" altLang="zh-CN">
                              <a:latin typeface="Cambria Math" panose="02040503050406030204" charset="0"/>
                              <a:sym typeface="+mn-ea"/>
                            </a:rPr>
                            <m:t> </m:t>
                          </m:r>
                          <m:r>
                            <a:rPr lang="en-US" altLang="zh-CN" i="1">
                              <a:latin typeface="Cambria Math" panose="02040503050406030204" charset="0"/>
                              <a:cs typeface="Cambria Math" panose="02040503050406030204" charset="0"/>
                            </a:rPr>
                            <m:t> </m:t>
                          </m:r>
                        </m:e>
                      </m:mr>
                    </m:m>
                    <m:r>
                      <a:rPr lang="en-US" altLang="zh-CN" i="1">
                        <a:latin typeface="Cambria Math" panose="02040503050406030204" charset="0"/>
                        <a:cs typeface="Cambria Math" panose="02040503050406030204" charset="0"/>
                      </a:rPr>
                      <m:t>] </m:t>
                    </m:r>
                  </m:oMath>
                </a14:m>
                <a:r>
                  <a:rPr lang="zh-CN" altLang="en-US">
                    <a:latin typeface="Cambria Math" panose="02040503050406030204" charset="0"/>
                    <a:cs typeface="Cambria Math" panose="02040503050406030204" charset="0"/>
                  </a:rPr>
                  <a:t>，同样，对于</a:t>
                </a:r>
                <a:r>
                  <a:rPr lang="en-US" altLang="zh-CN">
                    <a:latin typeface="Cambria Math" panose="02040503050406030204" charset="0"/>
                    <a:cs typeface="Cambria Math" panose="02040503050406030204" charset="0"/>
                  </a:rPr>
                  <a:t>H1</a:t>
                </a:r>
                <a:r>
                  <a:rPr lang="zh-CN" altLang="en-US">
                    <a:latin typeface="Cambria Math" panose="02040503050406030204" charset="0"/>
                    <a:cs typeface="Cambria Math" panose="02040503050406030204" charset="0"/>
                  </a:rPr>
                  <a:t>中的坐标，左乘</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𝑅</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r>
                      <a:rPr lang="en-US" altLang="zh-CN" i="1">
                        <a:latin typeface="Cambria Math" panose="02040503050406030204" charset="0"/>
                        <a:cs typeface="Cambria Math" panose="02040503050406030204" charset="0"/>
                      </a:rPr>
                      <m:t>即可变换为</m:t>
                    </m:r>
                    <m:r>
                      <a:rPr lang="en-US" altLang="zh-CN">
                        <a:latin typeface="Cambria Math" panose="02040503050406030204" charset="0"/>
                        <a:cs typeface="Cambria Math" panose="02040503050406030204" charset="0"/>
                      </a:rPr>
                      <m:t>𝐻</m:t>
                    </m:r>
                    <m:r>
                      <a:rPr lang="en-US" altLang="zh-CN">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的坐标</m:t>
                    </m:r>
                  </m:oMath>
                </a14:m>
                <a:endParaRPr lang="en-US" altLang="zh-CN" i="1">
                  <a:latin typeface="Cambria Math" panose="02040503050406030204" charset="0"/>
                  <a:cs typeface="Cambria Math" panose="02040503050406030204" charset="0"/>
                </a:endParaRPr>
              </a:p>
              <a:p>
                <a:r>
                  <a:rPr lang="zh-CN" altLang="en-US" i="1">
                    <a:latin typeface="Cambria Math" panose="02040503050406030204" charset="0"/>
                    <a:cs typeface="Cambria Math" panose="02040503050406030204" charset="0"/>
                  </a:rPr>
                  <a:t>缩放也是同理。</a:t>
                </a:r>
                <a:endParaRPr lang="en-US" altLang="zh-CN" i="1">
                  <a:latin typeface="Cambria Math" panose="02040503050406030204" charset="0"/>
                  <a:cs typeface="Cambria Math" panose="02040503050406030204" charset="0"/>
                </a:endParaRPr>
              </a:p>
              <a:p>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299845" y="1731645"/>
                <a:ext cx="9725025" cy="4721225"/>
              </a:xfrm>
              <a:prstGeom prst="rect">
                <a:avLst/>
              </a:prstGeom>
              <a:blipFill rotWithShape="1">
                <a:blip r:embed="rId3"/>
                <a:stretch>
                  <a:fillRect b="-567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43915" y="1148080"/>
            <a:ext cx="38842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rgbClr val="FF0000"/>
                </a:solidFill>
                <a:latin typeface="微软雅黑" panose="020B0503020204020204" charset="-122"/>
                <a:ea typeface="微软雅黑" panose="020B0503020204020204" charset="-122"/>
                <a:sym typeface="+mn-ea"/>
              </a:rPr>
              <a:t>旋转构造和过渡矩阵</a:t>
            </a:r>
            <a:endParaRPr lang="zh-CN" altLang="en-US" sz="3200" b="1" dirty="0" smtClean="0">
              <a:solidFill>
                <a:srgbClr val="FF0000"/>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299845" y="1731645"/>
                <a:ext cx="9725025" cy="4721225"/>
              </a:xfrm>
              <a:prstGeom prst="rect">
                <a:avLst/>
              </a:prstGeom>
              <a:noFill/>
            </p:spPr>
            <p:txBody>
              <a:bodyPr wrap="square" rtlCol="0">
                <a:noAutofit/>
              </a:bodyPr>
              <a:p>
                <a:r>
                  <a:rPr lang="zh-CN" altLang="en-US"/>
                  <a:t>记系</a:t>
                </a:r>
                <a:r>
                  <a:rPr lang="en-US" altLang="zh-CN"/>
                  <a:t>A</a:t>
                </a:r>
                <a:r>
                  <a:rPr lang="zh-CN" altLang="en-US"/>
                  <a:t>的</a:t>
                </a:r>
                <a:r>
                  <a:rPr lang="en-US" altLang="zh-CN"/>
                  <a:t>X</a:t>
                </a:r>
                <a:r>
                  <a:rPr lang="zh-CN" altLang="en-US"/>
                  <a:t>轴在向量空间中的基为</a:t>
                </a:r>
                <a:r>
                  <a:rPr lang="en-US" altLang="zh-CN"/>
                  <a:t>[1,0]^T</a:t>
                </a:r>
                <a:r>
                  <a:rPr lang="zh-CN" altLang="en-US"/>
                  <a:t>，</a:t>
                </a:r>
                <a:r>
                  <a:rPr lang="en-US" altLang="zh-CN"/>
                  <a:t>Y</a:t>
                </a:r>
                <a:r>
                  <a:rPr lang="zh-CN" altLang="en-US"/>
                  <a:t>轴在向量空间中的基为</a:t>
                </a:r>
                <a:r>
                  <a:rPr lang="en-US" altLang="zh-CN"/>
                  <a:t>[0,1]^T</a:t>
                </a:r>
                <a:r>
                  <a:rPr lang="zh-CN" altLang="en-US"/>
                  <a:t>，系</a:t>
                </a:r>
                <a:r>
                  <a:rPr lang="en-US" altLang="zh-CN"/>
                  <a:t>B</a:t>
                </a:r>
                <a:r>
                  <a:rPr lang="zh-CN" altLang="en-US"/>
                  <a:t>在向量空间中基为</a:t>
                </a:r>
                <a:r>
                  <a:rPr lang="en-US" altLang="zh-CN"/>
                  <a:t>[cos</a:t>
                </a:r>
                <a14:m>
                  <m:oMath xmlns:m="http://schemas.openxmlformats.org/officeDocument/2006/math">
                    <m:r>
                      <a:rPr lang="en-US" altLang="zh-CN">
                        <a:latin typeface="Cambria Math" panose="02040503050406030204" charset="0"/>
                        <a:sym typeface="+mn-ea"/>
                      </a:rPr>
                      <m:t>𝜃</m:t>
                    </m:r>
                  </m:oMath>
                </a14:m>
                <a:r>
                  <a:rPr lang="en-US" altLang="zh-CN"/>
                  <a:t>,sin</a:t>
                </a:r>
                <a14:m>
                  <m:oMath xmlns:m="http://schemas.openxmlformats.org/officeDocument/2006/math">
                    <m:r>
                      <a:rPr lang="en-US" altLang="zh-CN">
                        <a:latin typeface="Cambria Math" panose="02040503050406030204" charset="0"/>
                        <a:sym typeface="+mn-ea"/>
                      </a:rPr>
                      <m:t>𝜃</m:t>
                    </m:r>
                  </m:oMath>
                </a14:m>
                <a:r>
                  <a:rPr lang="en-US" altLang="zh-CN"/>
                  <a:t>]^T</a:t>
                </a:r>
                <a:r>
                  <a:rPr lang="zh-CN" altLang="en-US"/>
                  <a:t>，</a:t>
                </a:r>
                <a:r>
                  <a:rPr lang="en-US" altLang="zh-CN">
                    <a:sym typeface="+mn-ea"/>
                  </a:rPr>
                  <a:t>[-sin</a:t>
                </a:r>
                <a14:m>
                  <m:oMath xmlns:m="http://schemas.openxmlformats.org/officeDocument/2006/math">
                    <m:r>
                      <a:rPr lang="en-US" altLang="zh-CN">
                        <a:latin typeface="Cambria Math" panose="02040503050406030204" charset="0"/>
                        <a:sym typeface="+mn-ea"/>
                      </a:rPr>
                      <m:t>𝜃</m:t>
                    </m:r>
                  </m:oMath>
                </a14:m>
                <a:r>
                  <a:rPr lang="en-US" altLang="zh-CN">
                    <a:sym typeface="+mn-ea"/>
                  </a:rPr>
                  <a:t>,cos</a:t>
                </a:r>
                <a14:m>
                  <m:oMath xmlns:m="http://schemas.openxmlformats.org/officeDocument/2006/math">
                    <m:r>
                      <a:rPr lang="en-US" altLang="zh-CN">
                        <a:latin typeface="Cambria Math" panose="02040503050406030204" charset="0"/>
                        <a:sym typeface="+mn-ea"/>
                      </a:rPr>
                      <m:t>𝜃</m:t>
                    </m:r>
                  </m:oMath>
                </a14:m>
                <a:r>
                  <a:rPr lang="en-US" altLang="zh-CN">
                    <a:sym typeface="+mn-ea"/>
                  </a:rPr>
                  <a:t>]^T</a:t>
                </a:r>
                <a:r>
                  <a:rPr lang="zh-CN" altLang="en-US">
                    <a:sym typeface="+mn-ea"/>
                  </a:rPr>
                  <a:t>，即</a:t>
                </a:r>
                <a:r>
                  <a:rPr lang="en-US" altLang="zh-CN">
                    <a:sym typeface="+mn-ea"/>
                  </a:rPr>
                  <a:t>B</a:t>
                </a:r>
                <a:r>
                  <a:rPr lang="zh-CN" altLang="en-US">
                    <a:sym typeface="+mn-ea"/>
                  </a:rPr>
                  <a:t>的坐标轴均由</a:t>
                </a:r>
                <a:r>
                  <a:rPr lang="en-US" altLang="zh-CN">
                    <a:sym typeface="+mn-ea"/>
                  </a:rPr>
                  <a:t>A</a:t>
                </a:r>
                <a:r>
                  <a:rPr lang="zh-CN" altLang="en-US">
                    <a:sym typeface="+mn-ea"/>
                  </a:rPr>
                  <a:t>的坐标轴逆时针旋转</a:t>
                </a:r>
                <a14:m>
                  <m:oMath xmlns:m="http://schemas.openxmlformats.org/officeDocument/2006/math">
                    <m:r>
                      <a:rPr lang="en-US" altLang="zh-CN">
                        <a:latin typeface="Cambria Math" panose="02040503050406030204" charset="0"/>
                        <a:sym typeface="+mn-ea"/>
                      </a:rPr>
                      <m:t>𝜃</m:t>
                    </m:r>
                  </m:oMath>
                </a14:m>
                <a:r>
                  <a:rPr lang="zh-CN" altLang="en-US">
                    <a:latin typeface="Cambria Math" panose="02040503050406030204" charset="0"/>
                    <a:sym typeface="+mn-ea"/>
                  </a:rPr>
                  <a:t>角得来。</a:t>
                </a:r>
                <a:endParaRPr lang="zh-CN" altLang="en-US">
                  <a:latin typeface="Cambria Math" panose="02040503050406030204" charset="0"/>
                  <a:sym typeface="+mn-ea"/>
                </a:endParaRPr>
              </a:p>
              <a:p>
                <a:endParaRPr lang="zh-CN" altLang="en-US">
                  <a:latin typeface="Cambria Math" panose="02040503050406030204" charset="0"/>
                  <a:sym typeface="+mn-ea"/>
                </a:endParaRPr>
              </a:p>
              <a:p>
                <a:endParaRPr lang="zh-CN" altLang="en-US">
                  <a:latin typeface="Cambria Math" panose="02040503050406030204" charset="0"/>
                  <a:sym typeface="+mn-ea"/>
                </a:endParaRPr>
              </a:p>
              <a:p>
                <a:r>
                  <a:rPr lang="zh-CN" altLang="en-US">
                    <a:latin typeface="Cambria Math" panose="02040503050406030204" charset="0"/>
                    <a:sym typeface="+mn-ea"/>
                  </a:rPr>
                  <a:t>现在对于</a:t>
                </a:r>
                <a:r>
                  <a:rPr lang="en-US" altLang="zh-CN">
                    <a:latin typeface="Cambria Math" panose="02040503050406030204" charset="0"/>
                    <a:sym typeface="+mn-ea"/>
                  </a:rPr>
                  <a:t>B</a:t>
                </a:r>
                <a:r>
                  <a:rPr lang="zh-CN" altLang="en-US">
                    <a:latin typeface="Cambria Math" panose="02040503050406030204" charset="0"/>
                    <a:sym typeface="+mn-ea"/>
                  </a:rPr>
                  <a:t>系中的向量</a:t>
                </a:r>
                <a:r>
                  <a:rPr lang="en-US" altLang="zh-CN">
                    <a:latin typeface="Cambria Math" panose="02040503050406030204" charset="0"/>
                    <a:sym typeface="+mn-ea"/>
                  </a:rPr>
                  <a:t>[1,0]</a:t>
                </a:r>
                <a:r>
                  <a:rPr lang="zh-CN" altLang="en-US">
                    <a:latin typeface="Cambria Math" panose="02040503050406030204" charset="0"/>
                    <a:sym typeface="+mn-ea"/>
                  </a:rPr>
                  <a:t>而言，它在</a:t>
                </a:r>
                <a:r>
                  <a:rPr lang="en-US" altLang="zh-CN">
                    <a:latin typeface="Cambria Math" panose="02040503050406030204" charset="0"/>
                    <a:sym typeface="+mn-ea"/>
                  </a:rPr>
                  <a:t>A</a:t>
                </a:r>
                <a:r>
                  <a:rPr lang="zh-CN" altLang="en-US">
                    <a:latin typeface="Cambria Math" panose="02040503050406030204" charset="0"/>
                    <a:sym typeface="+mn-ea"/>
                  </a:rPr>
                  <a:t>系中的向量表示为</a:t>
                </a:r>
                <a:r>
                  <a:rPr lang="en-US" altLang="zh-CN">
                    <a:latin typeface="Cambria Math" panose="02040503050406030204" charset="0"/>
                    <a:sym typeface="+mn-ea"/>
                  </a:rPr>
                  <a:t>[cos</a:t>
                </a:r>
                <a14:m>
                  <m:oMath xmlns:m="http://schemas.openxmlformats.org/officeDocument/2006/math">
                    <m:r>
                      <a:rPr lang="en-US" altLang="zh-CN">
                        <a:latin typeface="Cambria Math" panose="02040503050406030204" charset="0"/>
                        <a:sym typeface="+mn-ea"/>
                      </a:rPr>
                      <m:t>𝜃</m:t>
                    </m:r>
                  </m:oMath>
                </a14:m>
                <a:r>
                  <a:rPr lang="en-US" altLang="zh-CN">
                    <a:latin typeface="Cambria Math" panose="02040503050406030204" charset="0"/>
                    <a:sym typeface="+mn-ea"/>
                  </a:rPr>
                  <a:t>,sin</a:t>
                </a:r>
                <a14:m>
                  <m:oMath xmlns:m="http://schemas.openxmlformats.org/officeDocument/2006/math">
                    <m:r>
                      <a:rPr lang="en-US" altLang="zh-CN">
                        <a:latin typeface="Cambria Math" panose="02040503050406030204" charset="0"/>
                        <a:sym typeface="+mn-ea"/>
                      </a:rPr>
                      <m:t>𝜃</m:t>
                    </m:r>
                  </m:oMath>
                </a14:m>
                <a:r>
                  <a:rPr lang="en-US" altLang="zh-CN">
                    <a:latin typeface="Cambria Math" panose="02040503050406030204" charset="0"/>
                    <a:sym typeface="+mn-ea"/>
                  </a:rPr>
                  <a:t>]</a:t>
                </a:r>
                <a:r>
                  <a:rPr lang="zh-CN" altLang="en-US">
                    <a:latin typeface="Cambria Math" panose="02040503050406030204" charset="0"/>
                    <a:sym typeface="+mn-ea"/>
                  </a:rPr>
                  <a:t>，即</a:t>
                </a:r>
                <a:r>
                  <a:rPr lang="en-US" altLang="zh-CN">
                    <a:latin typeface="Cambria Math" panose="02040503050406030204" charset="0"/>
                    <a:sym typeface="+mn-ea"/>
                  </a:rPr>
                  <a:t>B-&gt;A</a:t>
                </a:r>
                <a:r>
                  <a:rPr lang="zh-CN" altLang="en-US">
                    <a:latin typeface="Cambria Math" panose="02040503050406030204" charset="0"/>
                    <a:sym typeface="+mn-ea"/>
                  </a:rPr>
                  <a:t>的旋转矩阵为</a:t>
                </a:r>
                <a14:m>
                  <m:oMath xmlns:m="http://schemas.openxmlformats.org/officeDocument/2006/math">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mr>
                        </m:m>
                      </m:e>
                    </m:d>
                  </m:oMath>
                </a14:m>
                <a:r>
                  <a:rPr lang="zh-CN" altLang="en-US">
                    <a:latin typeface="Cambria Math" panose="02040503050406030204" charset="0"/>
                    <a:cs typeface="Cambria Math" panose="02040503050406030204" charset="0"/>
                    <a:sym typeface="+mn-ea"/>
                  </a:rPr>
                  <a:t>，</a:t>
                </a:r>
                <a:r>
                  <a:rPr lang="en-US" altLang="zh-CN">
                    <a:latin typeface="Cambria Math" panose="02040503050406030204" charset="0"/>
                    <a:cs typeface="Cambria Math" panose="02040503050406030204" charset="0"/>
                    <a:sym typeface="+mn-ea"/>
                  </a:rPr>
                  <a:t>A</a:t>
                </a:r>
                <a:r>
                  <a:rPr lang="zh-CN" altLang="en-US">
                    <a:latin typeface="Cambria Math" panose="02040503050406030204" charset="0"/>
                    <a:cs typeface="Cambria Math" panose="02040503050406030204" charset="0"/>
                    <a:sym typeface="+mn-ea"/>
                  </a:rPr>
                  <a:t>系</a:t>
                </a:r>
                <a:r>
                  <a:rPr lang="en-US" altLang="zh-CN">
                    <a:latin typeface="Cambria Math" panose="02040503050406030204" charset="0"/>
                    <a:cs typeface="Cambria Math" panose="02040503050406030204" charset="0"/>
                    <a:sym typeface="+mn-ea"/>
                  </a:rPr>
                  <a:t>-&gt;B</a:t>
                </a:r>
                <a:r>
                  <a:rPr lang="zh-CN" altLang="en-US">
                    <a:latin typeface="Cambria Math" panose="02040503050406030204" charset="0"/>
                    <a:cs typeface="Cambria Math" panose="02040503050406030204" charset="0"/>
                    <a:sym typeface="+mn-ea"/>
                  </a:rPr>
                  <a:t>系的旋转矩阵为</a:t>
                </a:r>
                <a14:m>
                  <m:oMath xmlns:m="http://schemas.openxmlformats.org/officeDocument/2006/math">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mr>
                        </m:m>
                      </m:e>
                    </m:d>
                  </m:oMath>
                </a14:m>
                <a:r>
                  <a:rPr lang="zh-CN" altLang="en-US">
                    <a:latin typeface="Cambria Math" panose="02040503050406030204" charset="0"/>
                    <a:sym typeface="+mn-ea"/>
                  </a:rPr>
                  <a:t>，即恰好是反过来的，所谓</a:t>
                </a:r>
                <a:r>
                  <a:rPr lang="en-US" altLang="zh-CN">
                    <a:latin typeface="Cambria Math" panose="02040503050406030204" charset="0"/>
                    <a:sym typeface="+mn-ea"/>
                  </a:rPr>
                  <a:t>A</a:t>
                </a:r>
                <a:r>
                  <a:rPr lang="zh-CN" altLang="en-US">
                    <a:latin typeface="Cambria Math" panose="02040503050406030204" charset="0"/>
                    <a:sym typeface="+mn-ea"/>
                  </a:rPr>
                  <a:t>系</a:t>
                </a:r>
                <a:r>
                  <a:rPr lang="en-US" altLang="zh-CN">
                    <a:latin typeface="Cambria Math" panose="02040503050406030204" charset="0"/>
                    <a:sym typeface="+mn-ea"/>
                  </a:rPr>
                  <a:t>-&gt;B</a:t>
                </a:r>
                <a:r>
                  <a:rPr lang="zh-CN" altLang="en-US">
                    <a:latin typeface="Cambria Math" panose="02040503050406030204" charset="0"/>
                    <a:sym typeface="+mn-ea"/>
                  </a:rPr>
                  <a:t>系的旋转变换矩阵应当由</a:t>
                </a:r>
                <a:r>
                  <a:rPr lang="en-US" altLang="zh-CN">
                    <a:latin typeface="Cambria Math" panose="02040503050406030204" charset="0"/>
                    <a:sym typeface="+mn-ea"/>
                  </a:rPr>
                  <a:t>A</a:t>
                </a:r>
                <a:r>
                  <a:rPr lang="zh-CN" altLang="en-US">
                    <a:latin typeface="Cambria Math" panose="02040503050406030204" charset="0"/>
                    <a:sym typeface="+mn-ea"/>
                  </a:rPr>
                  <a:t>系基向量在</a:t>
                </a:r>
                <a:r>
                  <a:rPr lang="en-US" altLang="zh-CN">
                    <a:latin typeface="Cambria Math" panose="02040503050406030204" charset="0"/>
                    <a:sym typeface="+mn-ea"/>
                  </a:rPr>
                  <a:t>B</a:t>
                </a:r>
                <a:r>
                  <a:rPr lang="zh-CN" altLang="en-US">
                    <a:latin typeface="Cambria Math" panose="02040503050406030204" charset="0"/>
                    <a:sym typeface="+mn-ea"/>
                  </a:rPr>
                  <a:t>系中的坐标表示拼起来。</a:t>
                </a:r>
                <a:endParaRPr lang="zh-CN" altLang="en-US">
                  <a:latin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a:p>
                <a:r>
                  <a:rPr lang="zh-CN" altLang="en-US">
                    <a:latin typeface="Cambria Math" panose="02040503050406030204" charset="0"/>
                    <a:sym typeface="+mn-ea"/>
                  </a:rPr>
                  <a:t>也可以简单理解为</a:t>
                </a:r>
                <a:r>
                  <a:rPr lang="en-US" altLang="zh-CN">
                    <a:latin typeface="Cambria Math" panose="02040503050406030204" charset="0"/>
                    <a:sym typeface="+mn-ea"/>
                  </a:rPr>
                  <a:t>:B</a:t>
                </a:r>
                <a:r>
                  <a:rPr lang="zh-CN" altLang="en-US">
                    <a:latin typeface="Cambria Math" panose="02040503050406030204" charset="0"/>
                    <a:sym typeface="+mn-ea"/>
                  </a:rPr>
                  <a:t>系基向量在</a:t>
                </a:r>
                <a:r>
                  <a:rPr lang="en-US" altLang="zh-CN">
                    <a:latin typeface="Cambria Math" panose="02040503050406030204" charset="0"/>
                    <a:sym typeface="+mn-ea"/>
                  </a:rPr>
                  <a:t>A</a:t>
                </a:r>
                <a:r>
                  <a:rPr lang="zh-CN" altLang="en-US">
                    <a:latin typeface="Cambria Math" panose="02040503050406030204" charset="0"/>
                    <a:sym typeface="+mn-ea"/>
                  </a:rPr>
                  <a:t>系中的表示</a:t>
                </a:r>
                <a:r>
                  <a:rPr lang="en-US" altLang="zh-CN">
                    <a:latin typeface="Cambria Math" panose="02040503050406030204" charset="0"/>
                    <a:sym typeface="+mn-ea"/>
                  </a:rPr>
                  <a:t>(</a:t>
                </a:r>
                <a:r>
                  <a:rPr lang="zh-CN" altLang="en-US">
                    <a:latin typeface="Cambria Math" panose="02040503050406030204" charset="0"/>
                    <a:sym typeface="+mn-ea"/>
                  </a:rPr>
                  <a:t>这也是过渡矩阵的定义</a:t>
                </a:r>
                <a:r>
                  <a:rPr lang="en-US" altLang="zh-CN">
                    <a:latin typeface="Cambria Math" panose="02040503050406030204" charset="0"/>
                    <a:sym typeface="+mn-ea"/>
                  </a:rPr>
                  <a:t>)</a:t>
                </a:r>
                <a:r>
                  <a:rPr lang="zh-CN" altLang="en-US">
                    <a:latin typeface="Cambria Math" panose="02040503050406030204" charset="0"/>
                    <a:sym typeface="+mn-ea"/>
                  </a:rPr>
                  <a:t>即为</a:t>
                </a:r>
                <a:r>
                  <a:rPr lang="en-US" altLang="zh-CN">
                    <a:latin typeface="Cambria Math" panose="02040503050406030204" charset="0"/>
                    <a:sym typeface="+mn-ea"/>
                  </a:rPr>
                  <a:t>B-&gt;A</a:t>
                </a:r>
                <a:r>
                  <a:rPr lang="zh-CN" altLang="en-US">
                    <a:latin typeface="Cambria Math" panose="02040503050406030204" charset="0"/>
                    <a:sym typeface="+mn-ea"/>
                  </a:rPr>
                  <a:t>的变换</a:t>
                </a:r>
                <a:endParaRPr lang="zh-CN" altLang="en-US">
                  <a:latin typeface="Cambria Math" panose="02040503050406030204" charset="0"/>
                  <a:cs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1299845" y="1731645"/>
                <a:ext cx="9725025" cy="472122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34390" y="1129030"/>
            <a:ext cx="389382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线性变换和变换矩阵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85545" y="2021840"/>
            <a:ext cx="10115550" cy="3973195"/>
          </a:xfrm>
          <a:prstGeom prst="rect">
            <a:avLst/>
          </a:prstGeom>
          <a:noFill/>
        </p:spPr>
        <p:txBody>
          <a:bodyPr wrap="square" rtlCol="0">
            <a:noAutofit/>
          </a:bodyPr>
          <a:p>
            <a:r>
              <a:rPr lang="zh-CN" altLang="en-US"/>
              <a:t>但是问题来了，尽管旋转和缩放都是线性变换，可以表示为一个变换矩阵，但是平移呢</a:t>
            </a:r>
            <a:r>
              <a:rPr lang="en-US" altLang="zh-CN"/>
              <a:t>?</a:t>
            </a:r>
            <a:endParaRPr lang="en-US" altLang="zh-CN"/>
          </a:p>
          <a:p>
            <a:endParaRPr lang="en-US" altLang="zh-CN"/>
          </a:p>
          <a:p>
            <a:r>
              <a:rPr lang="zh-CN" altLang="en-US"/>
              <a:t>设想：将二维平面中的点</a:t>
            </a:r>
            <a:r>
              <a:rPr lang="en-US" altLang="zh-CN"/>
              <a:t>(x, y) </a:t>
            </a:r>
            <a:r>
              <a:rPr lang="zh-CN" altLang="en-US"/>
              <a:t>移动一个向量</a:t>
            </a:r>
            <a:r>
              <a:rPr lang="en-US" altLang="zh-CN"/>
              <a:t> (tx,ty) ,</a:t>
            </a:r>
            <a:r>
              <a:rPr lang="zh-CN" altLang="en-US"/>
              <a:t>得到</a:t>
            </a:r>
            <a:r>
              <a:rPr lang="en-US" altLang="zh-CN"/>
              <a:t>(x+tx, y+ty)</a:t>
            </a:r>
            <a:endParaRPr lang="en-US" altLang="zh-CN"/>
          </a:p>
          <a:p>
            <a:endParaRPr lang="en-US" altLang="zh-CN"/>
          </a:p>
          <a:p>
            <a:r>
              <a:rPr lang="en-US" altLang="zh-CN"/>
              <a:t>T( [x1, y1] + [x2, y2] ) = T( [x1+x2, y1+y2] ) = [x1+x2+tx, y1+y2+ty]</a:t>
            </a:r>
            <a:endParaRPr lang="en-US" altLang="zh-CN"/>
          </a:p>
          <a:p>
            <a:r>
              <a:rPr lang="en-US" altLang="zh-CN"/>
              <a:t>T( [x1, y1] ) + T( [x2, y2] ) = [x1+tx, y1+ty] + [x2+tx, y2+ty] = [x1+x2+2*tx, y1+y2+2*ty]</a:t>
            </a:r>
            <a:endParaRPr lang="en-US" altLang="zh-CN"/>
          </a:p>
          <a:p>
            <a:r>
              <a:rPr lang="zh-CN" altLang="en-US"/>
              <a:t>两者不相等，说明</a:t>
            </a:r>
            <a:r>
              <a:rPr lang="zh-CN" altLang="en-US" b="1"/>
              <a:t>平移并非线性变换！</a:t>
            </a:r>
            <a:endParaRPr lang="zh-CN" altLang="en-US" b="1"/>
          </a:p>
          <a:p>
            <a:endParaRPr lang="zh-CN" altLang="en-US" b="1"/>
          </a:p>
          <a:p>
            <a:r>
              <a:rPr lang="zh-CN" altLang="en-US" b="1"/>
              <a:t>这意味着，我们无法找到一个</a:t>
            </a:r>
            <a:r>
              <a:rPr lang="en-US" altLang="zh-CN" b="1"/>
              <a:t> 2x2 </a:t>
            </a:r>
            <a:r>
              <a:rPr lang="zh-CN" altLang="en-US" b="1"/>
              <a:t>的矩阵</a:t>
            </a:r>
            <a:r>
              <a:rPr lang="en-US" altLang="zh-CN" b="1"/>
              <a:t> A</a:t>
            </a:r>
            <a:r>
              <a:rPr lang="zh-CN" altLang="en-US" b="1"/>
              <a:t>，使得</a:t>
            </a:r>
            <a:r>
              <a:rPr lang="en-US" altLang="zh-CN" b="1"/>
              <a:t> A </a:t>
            </a:r>
            <a:r>
              <a:rPr lang="en-US" altLang="en-US">
                <a:sym typeface="+mn-ea"/>
              </a:rPr>
              <a:t>×</a:t>
            </a:r>
            <a:r>
              <a:rPr lang="en-US" altLang="zh-CN" b="1"/>
              <a:t> [x, y]^T = [x+tx, y+ty]^T </a:t>
            </a:r>
            <a:r>
              <a:rPr lang="zh-CN" altLang="en-US" b="1"/>
              <a:t>对所有的</a:t>
            </a:r>
            <a:r>
              <a:rPr lang="en-US" altLang="zh-CN" b="1"/>
              <a:t> [x, y] </a:t>
            </a:r>
            <a:r>
              <a:rPr lang="zh-CN" altLang="en-US" b="1"/>
              <a:t>都成立。</a:t>
            </a:r>
            <a:endParaRPr lang="zh-CN" altLang="en-US" b="1"/>
          </a:p>
          <a:p>
            <a:endParaRPr lang="zh-CN" altLang="en-US" b="1"/>
          </a:p>
          <a:p>
            <a:r>
              <a:rPr lang="zh-CN" altLang="en-US" b="1"/>
              <a:t>因而，我们之前尝试从矩阵简化变换的操作失败了</a:t>
            </a:r>
            <a:r>
              <a:rPr lang="en-US" altLang="zh-CN" b="1"/>
              <a:t>?</a:t>
            </a:r>
            <a:endParaRPr lang="en-US" altLang="zh-CN" b="1"/>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73735" y="1104265"/>
            <a:ext cx="38665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齐次坐标和变换矩阵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328420" y="2088515"/>
            <a:ext cx="9734550" cy="2584450"/>
          </a:xfrm>
          <a:prstGeom prst="rect">
            <a:avLst/>
          </a:prstGeom>
          <a:noFill/>
        </p:spPr>
        <p:txBody>
          <a:bodyPr wrap="square" rtlCol="0">
            <a:spAutoFit/>
          </a:bodyPr>
          <a:p>
            <a:r>
              <a:rPr lang="zh-CN" altLang="en-US"/>
              <a:t>数学家给出了解决方案</a:t>
            </a:r>
            <a:r>
              <a:rPr lang="en-US" altLang="zh-CN"/>
              <a:t>: </a:t>
            </a:r>
            <a:r>
              <a:rPr lang="zh-CN" altLang="en-US" b="1"/>
              <a:t>齐次坐标</a:t>
            </a:r>
            <a:endParaRPr lang="zh-CN" altLang="en-US" b="1"/>
          </a:p>
          <a:p>
            <a:r>
              <a:rPr lang="zh-CN" altLang="en-US"/>
              <a:t>核心思想在于</a:t>
            </a:r>
            <a:r>
              <a:rPr lang="en-US" altLang="zh-CN"/>
              <a:t>:</a:t>
            </a:r>
            <a:r>
              <a:rPr lang="en-US" altLang="zh-CN" b="1"/>
              <a:t> </a:t>
            </a:r>
            <a:r>
              <a:rPr lang="zh-CN" altLang="en-US" b="1"/>
              <a:t>将</a:t>
            </a:r>
            <a:r>
              <a:rPr lang="en-US" altLang="zh-CN" b="1"/>
              <a:t> n </a:t>
            </a:r>
            <a:r>
              <a:rPr lang="zh-CN" altLang="en-US" b="1"/>
              <a:t>维空间中的点，</a:t>
            </a:r>
            <a:r>
              <a:rPr lang="en-US" altLang="zh-CN" b="1"/>
              <a:t>“</a:t>
            </a:r>
            <a:r>
              <a:rPr lang="zh-CN" altLang="en-US" b="1"/>
              <a:t>提升</a:t>
            </a:r>
            <a:r>
              <a:rPr lang="en-US" altLang="zh-CN" b="1"/>
              <a:t>”</a:t>
            </a:r>
            <a:r>
              <a:rPr lang="zh-CN" altLang="en-US" b="1"/>
              <a:t>到</a:t>
            </a:r>
            <a:r>
              <a:rPr lang="en-US" altLang="zh-CN" b="1"/>
              <a:t> n+1 </a:t>
            </a:r>
            <a:r>
              <a:rPr lang="zh-CN" altLang="en-US" b="1"/>
              <a:t>维空间中来处理。</a:t>
            </a:r>
            <a:endParaRPr lang="zh-CN" altLang="en-US" b="1"/>
          </a:p>
          <a:p>
            <a:endParaRPr lang="zh-CN" altLang="en-US" b="1"/>
          </a:p>
          <a:p>
            <a:r>
              <a:rPr lang="zh-CN" altLang="en-US"/>
              <a:t>例如，对于一个二维点</a:t>
            </a:r>
            <a:r>
              <a:rPr lang="en-US" altLang="zh-CN"/>
              <a:t> (x, y) </a:t>
            </a:r>
            <a:r>
              <a:rPr lang="zh-CN" altLang="en-US"/>
              <a:t>对应齐次坐标</a:t>
            </a:r>
            <a:r>
              <a:rPr lang="en-US" altLang="zh-CN"/>
              <a:t> (x, y, w)</a:t>
            </a:r>
            <a:r>
              <a:rPr lang="zh-CN" altLang="en-US"/>
              <a:t>。</a:t>
            </a:r>
            <a:r>
              <a:rPr lang="en-US" altLang="zh-CN"/>
              <a:t>w</a:t>
            </a:r>
            <a:r>
              <a:rPr lang="zh-CN" altLang="en-US"/>
              <a:t>为非零标量，为方便计算一般取</a:t>
            </a:r>
            <a:r>
              <a:rPr lang="en-US" altLang="zh-CN"/>
              <a:t>1</a:t>
            </a:r>
            <a:r>
              <a:rPr lang="zh-CN" altLang="en-US"/>
              <a:t>。</a:t>
            </a:r>
            <a:endParaRPr lang="zh-CN" altLang="en-US"/>
          </a:p>
          <a:p>
            <a:r>
              <a:rPr lang="zh-CN" altLang="en-US"/>
              <a:t>对于一个向量</a:t>
            </a:r>
            <a:r>
              <a:rPr lang="en-US" altLang="zh-CN"/>
              <a:t> (dx, dy)</a:t>
            </a:r>
            <a:r>
              <a:rPr lang="zh-CN" altLang="en-US"/>
              <a:t>，为了区分它不表示位置，其齐次坐标的</a:t>
            </a:r>
            <a:r>
              <a:rPr lang="en-US" altLang="zh-CN"/>
              <a:t> w </a:t>
            </a:r>
            <a:r>
              <a:rPr lang="zh-CN" altLang="en-US"/>
              <a:t>分量取为</a:t>
            </a:r>
            <a:r>
              <a:rPr lang="en-US" altLang="zh-CN"/>
              <a:t> 0</a:t>
            </a:r>
            <a:r>
              <a:rPr lang="zh-CN" altLang="en-US"/>
              <a:t>，即</a:t>
            </a:r>
            <a:r>
              <a:rPr lang="en-US" altLang="zh-CN"/>
              <a:t> (dx, dy, 0)</a:t>
            </a:r>
            <a:r>
              <a:rPr lang="zh-CN" altLang="en-US"/>
              <a:t>。</a:t>
            </a:r>
            <a:endParaRPr lang="zh-CN" altLang="en-US"/>
          </a:p>
          <a:p>
            <a:endParaRPr lang="zh-CN" altLang="en-US"/>
          </a:p>
          <a:p>
            <a:r>
              <a:rPr lang="zh-CN" altLang="en-US"/>
              <a:t>本质上，这样区分了点和向量，不该叠上平移部分的就别叠。</a:t>
            </a:r>
            <a:endParaRPr lang="zh-CN" altLang="en-US"/>
          </a:p>
          <a:p>
            <a:endParaRPr lang="zh-CN" altLang="en-US"/>
          </a:p>
          <a:p>
            <a:r>
              <a:rPr lang="zh-CN" altLang="en-US"/>
              <a:t>现在，平移、旋转、缩放等所有变换，都可以被构造了！</a:t>
            </a:r>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1242695" y="4698365"/>
                <a:ext cx="9496425" cy="1163320"/>
              </a:xfrm>
              <a:prstGeom prst="rect">
                <a:avLst/>
              </a:prstGeom>
              <a:noFill/>
            </p:spPr>
            <p:txBody>
              <a:bodyPr wrap="square" rtlCol="0">
                <a:spAutoFit/>
              </a:bodyPr>
              <a:p>
                <a:r>
                  <a:rPr lang="zh-CN" altLang="en-US" sz="2000">
                    <a:solidFill>
                      <a:srgbClr val="0070C0"/>
                    </a:solidFill>
                  </a:rPr>
                  <a:t>不妨试一试，在二维齐次坐标系</a:t>
                </a:r>
                <a:r>
                  <a:rPr lang="en-US" altLang="zh-CN" sz="2000">
                    <a:solidFill>
                      <a:srgbClr val="0070C0"/>
                    </a:solidFill>
                  </a:rPr>
                  <a:t>(w=1)</a:t>
                </a:r>
                <a:r>
                  <a:rPr lang="zh-CN" altLang="en-US" sz="2000">
                    <a:solidFill>
                      <a:srgbClr val="0070C0"/>
                    </a:solidFill>
                  </a:rPr>
                  <a:t>下，点的坐标表示为列向量</a:t>
                </a:r>
                <a14:m>
                  <m:oMath xmlns:m="http://schemas.openxmlformats.org/officeDocument/2006/math">
                    <m:r>
                      <a:rPr lang="en-US" altLang="zh-CN" sz="2000">
                        <a:solidFill>
                          <a:srgbClr val="0070C0"/>
                        </a:solidFill>
                        <a:latin typeface="Cambria Math" panose="02040503050406030204" charset="0"/>
                      </a:rPr>
                      <m:t>[</m:t>
                    </m:r>
                    <m:m>
                      <m:mPr>
                        <m:mcs>
                          <m:mc>
                            <m:mcPr>
                              <m:count m:val="1"/>
                              <m:mcJc m:val="center"/>
                            </m:mcPr>
                          </m:mc>
                        </m:mcs>
                        <m:ctrlPr>
                          <a:rPr lang="en-US" altLang="zh-CN" sz="2000" i="1">
                            <a:solidFill>
                              <a:srgbClr val="0070C0"/>
                            </a:solidFill>
                            <a:latin typeface="Cambria Math" panose="02040503050406030204" charset="0"/>
                            <a:cs typeface="Cambria Math" panose="02040503050406030204" charset="0"/>
                          </a:rPr>
                        </m:ctrlPr>
                      </m:mPr>
                      <m:mr>
                        <m:e>
                          <m:r>
                            <a:rPr lang="en-US" altLang="zh-CN" sz="2000" i="1">
                              <a:solidFill>
                                <a:srgbClr val="0070C0"/>
                              </a:solidFill>
                              <a:latin typeface="Cambria Math" panose="02040503050406030204" charset="0"/>
                              <a:cs typeface="Cambria Math" panose="02040503050406030204" charset="0"/>
                            </a:rPr>
                            <m:t>𝑥</m:t>
                          </m:r>
                        </m:e>
                      </m:mr>
                      <m:mr>
                        <m:e>
                          <m:r>
                            <a:rPr lang="en-US" altLang="zh-CN" sz="2000" i="1">
                              <a:solidFill>
                                <a:srgbClr val="0070C0"/>
                              </a:solidFill>
                              <a:latin typeface="Cambria Math" panose="02040503050406030204" charset="0"/>
                              <a:cs typeface="Cambria Math" panose="02040503050406030204" charset="0"/>
                            </a:rPr>
                            <m:t> </m:t>
                          </m:r>
                          <m:r>
                            <a:rPr lang="en-US" altLang="zh-CN" sz="2000" i="1">
                              <a:solidFill>
                                <a:srgbClr val="0070C0"/>
                              </a:solidFill>
                              <a:latin typeface="Cambria Math" panose="02040503050406030204" charset="0"/>
                              <a:cs typeface="Cambria Math" panose="02040503050406030204" charset="0"/>
                            </a:rPr>
                            <m:t>𝑦</m:t>
                          </m:r>
                          <m:r>
                            <a:rPr lang="en-US" altLang="zh-CN" sz="2000" i="1">
                              <a:solidFill>
                                <a:srgbClr val="0070C0"/>
                              </a:solidFill>
                              <a:latin typeface="Cambria Math" panose="02040503050406030204" charset="0"/>
                              <a:cs typeface="Cambria Math" panose="02040503050406030204" charset="0"/>
                            </a:rPr>
                            <m:t> </m:t>
                          </m:r>
                        </m:e>
                      </m:mr>
                      <m:mr>
                        <m:e>
                          <m:r>
                            <a:rPr lang="en-US" altLang="zh-CN" sz="2000" i="1">
                              <a:solidFill>
                                <a:srgbClr val="0070C0"/>
                              </a:solidFill>
                              <a:latin typeface="Cambria Math" panose="02040503050406030204" charset="0"/>
                              <a:cs typeface="Cambria Math" panose="02040503050406030204" charset="0"/>
                            </a:rPr>
                            <m:t>1</m:t>
                          </m:r>
                        </m:e>
                      </m:mr>
                    </m:m>
                    <m:r>
                      <a:rPr lang="en-US" altLang="zh-CN" sz="2000" i="1">
                        <a:solidFill>
                          <a:srgbClr val="0070C0"/>
                        </a:solidFill>
                        <a:latin typeface="Cambria Math" panose="02040503050406030204" charset="0"/>
                        <a:cs typeface="Cambria Math" panose="02040503050406030204" charset="0"/>
                      </a:rPr>
                      <m:t>]</m:t>
                    </m:r>
                  </m:oMath>
                </a14:m>
                <a:r>
                  <a:rPr lang="en-US" altLang="zh-CN" sz="2000">
                    <a:solidFill>
                      <a:srgbClr val="0070C0"/>
                    </a:solidFill>
                  </a:rPr>
                  <a:t>, </a:t>
                </a:r>
                <a:r>
                  <a:rPr lang="zh-CN" altLang="en-US" sz="2000">
                    <a:solidFill>
                      <a:srgbClr val="0070C0"/>
                    </a:solidFill>
                  </a:rPr>
                  <a:t>如何构造平移、旋转和缩放的变换矩阵</a:t>
                </a:r>
                <a:r>
                  <a:rPr lang="en-US" altLang="zh-CN" sz="2000">
                    <a:solidFill>
                      <a:srgbClr val="0070C0"/>
                    </a:solidFill>
                  </a:rPr>
                  <a:t>?</a:t>
                </a:r>
                <a:endParaRPr lang="en-US" altLang="zh-CN" sz="2000">
                  <a:solidFill>
                    <a:srgbClr val="0070C0"/>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1242695" y="4698365"/>
                <a:ext cx="9496425" cy="116332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83348" y="1142516"/>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变换矩阵的构造</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59485" y="1725930"/>
                <a:ext cx="9874885" cy="4495165"/>
              </a:xfrm>
              <a:prstGeom prst="rect">
                <a:avLst/>
              </a:prstGeom>
              <a:noFill/>
            </p:spPr>
            <p:txBody>
              <a:bodyPr wrap="square" rtlCol="0">
                <a:noAutofit/>
              </a:bodyPr>
              <a:p>
                <a:r>
                  <a:rPr lang="zh-CN" altLang="en-US"/>
                  <a:t>我们现在有原始的二维齐次坐标，</a:t>
                </a:r>
                <a:r>
                  <a:rPr lang="en-US" altLang="zh-CN"/>
                  <a:t>[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e>
                      </m:mr>
                      <m:mr>
                        <m:e>
                          <m:r>
                            <a:rPr lang="en-US" altLang="zh-CN" i="1">
                              <a:latin typeface="Cambria Math" panose="02040503050406030204" charset="0"/>
                              <a:cs typeface="Cambria Math" panose="02040503050406030204" charset="0"/>
                            </a:rPr>
                            <m:t>𝑦</m:t>
                          </m:r>
                        </m:e>
                      </m:mr>
                      <m:mr>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 ,它在左乘</m:t>
                    </m:r>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的变换矩阵后，得到了新的齐次坐标为 [ </m:t>
                    </m:r>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e>
                      </m:mr>
                      <m:mr>
                        <m:e>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e>
                      </m:mr>
                      <m:mr>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oMath>
                </a14:m>
                <a:r>
                  <a:rPr lang="en-US" altLang="zh-CN"/>
                  <a:t> </a:t>
                </a:r>
                <a:r>
                  <a:rPr lang="zh-CN" altLang="en-US"/>
                  <a:t>。我们现在将变换矩阵拆成两个部分：一部分是满足线性变换的部分，比如旋转和缩放，放在左上角的</a:t>
                </a:r>
                <a:r>
                  <a:rPr lang="en-US" altLang="zh-CN"/>
                  <a:t> </a:t>
                </a:r>
                <a14:m>
                  <m:oMath xmlns:m="http://schemas.openxmlformats.org/officeDocument/2006/math">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；然后在将平移向量放在第三列，剩下部分为</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endParaRPr lang="en-US" altLang="zh-CN"/>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𝑎</m:t>
                                          </m:r>
                                        </m:e>
                                        <m:e>
                                          <m:r>
                                            <a:rPr lang="en-US" altLang="zh-CN" i="1">
                                              <a:latin typeface="Cambria Math" panose="02040503050406030204" charset="0"/>
                                              <a:cs typeface="Cambria Math" panose="02040503050406030204" charset="0"/>
                                            </a:rPr>
                                            <m:t>𝑏</m:t>
                                          </m:r>
                                        </m:e>
                                      </m:mr>
                                      <m:mr>
                                        <m:e>
                                          <m:r>
                                            <a:rPr lang="en-US" altLang="zh-CN" i="1">
                                              <a:latin typeface="Cambria Math" panose="02040503050406030204" charset="0"/>
                                              <a:cs typeface="Cambria Math" panose="02040503050406030204" charset="0"/>
                                            </a:rPr>
                                            <m:t>𝑐</m:t>
                                          </m:r>
                                        </m:e>
                                        <m:e>
                                          <m:r>
                                            <a:rPr lang="en-US" altLang="zh-CN" i="1">
                                              <a:latin typeface="Cambria Math" panose="02040503050406030204" charset="0"/>
                                              <a:cs typeface="Cambria Math" panose="02040503050406030204" charset="0"/>
                                            </a:rPr>
                                            <m:t>𝑑</m:t>
                                          </m:r>
                                        </m:e>
                                      </m:mr>
                                    </m:m>
                                  </m:e>
                                </m:d>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𝑡𝑥</m:t>
                                      </m:r>
                                    </m:e>
                                  </m:mr>
                                  <m:mr>
                                    <m:e>
                                      <m:r>
                                        <a:rPr lang="en-US" altLang="zh-CN" i="1">
                                          <a:latin typeface="Cambria Math" panose="02040503050406030204" charset="0"/>
                                          <a:cs typeface="Cambria Math" panose="02040503050406030204" charset="0"/>
                                        </a:rPr>
                                        <m:t>𝑡𝑦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en-US" altLang="zh-CN" i="1">
                  <a:latin typeface="Cambria Math" panose="02040503050406030204" charset="0"/>
                  <a:cs typeface="Cambria Math" panose="02040503050406030204" charset="0"/>
                </a:endParaRPr>
              </a:p>
              <a:p>
                <a:endParaRPr lang="en-US" altLang="zh-CN"/>
              </a:p>
              <a:p>
                <a:r>
                  <a:rPr lang="zh-CN" altLang="en-US"/>
                  <a:t>现在，对于向量</a:t>
                </a:r>
                <a:r>
                  <a:rPr lang="en-US" altLang="zh-CN"/>
                  <a:t>V = [dx, dy, 0]^T</a:t>
                </a:r>
                <a:r>
                  <a:rPr lang="zh-CN" altLang="en-US"/>
                  <a:t>，左乘以上矩阵后，由于其第三维为</a:t>
                </a:r>
                <a:r>
                  <a:rPr lang="en-US" altLang="zh-CN"/>
                  <a:t>0</a:t>
                </a:r>
                <a:r>
                  <a:rPr lang="zh-CN" altLang="en-US"/>
                  <a:t>，因此变化矩阵所有行的第三维无法影响，向量</a:t>
                </a:r>
                <a:r>
                  <a:rPr lang="en-US" altLang="zh-CN"/>
                  <a:t>V</a:t>
                </a:r>
                <a:r>
                  <a:rPr lang="zh-CN" altLang="en-US"/>
                  <a:t>只受到旋转和缩放的影响，而不受平移影响。</a:t>
                </a:r>
                <a:endParaRPr lang="zh-CN" altLang="en-US"/>
              </a:p>
              <a:p>
                <a:endParaRPr lang="zh-CN" altLang="en-US"/>
              </a:p>
              <a:p>
                <a:r>
                  <a:rPr lang="zh-CN" altLang="en-US"/>
                  <a:t>对于点而言，由于第三维为</a:t>
                </a:r>
                <a:r>
                  <a:rPr lang="en-US" altLang="zh-CN"/>
                  <a:t>1</a:t>
                </a:r>
                <a:r>
                  <a:rPr lang="zh-CN" altLang="en-US"/>
                  <a:t>，它不仅手动旋转和缩放的影响，又在其上添加了</a:t>
                </a:r>
                <a:r>
                  <a:rPr lang="en-US" altLang="zh-CN"/>
                  <a:t>1</a:t>
                </a:r>
                <a:r>
                  <a:rPr lang="zh-CN" altLang="en-US"/>
                  <a:t>倍的平移向量。</a:t>
                </a:r>
                <a:endParaRPr lang="zh-CN" altLang="en-US"/>
              </a:p>
              <a:p>
                <a:r>
                  <a:rPr lang="zh-CN" altLang="en-US"/>
                  <a:t>因此，我们可以如此构造变换矩阵。</a:t>
                </a:r>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959485" y="1725930"/>
                <a:ext cx="9874885" cy="449516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68985" y="1266190"/>
            <a:ext cx="431355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任意构造变换矩阵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275080" y="1955165"/>
                <a:ext cx="9029700" cy="829945"/>
              </a:xfrm>
              <a:prstGeom prst="rect">
                <a:avLst/>
              </a:prstGeom>
              <a:noFill/>
            </p:spPr>
            <p:txBody>
              <a:bodyPr wrap="square" rtlCol="0">
                <a:spAutoFit/>
              </a:bodyPr>
              <a:p>
                <a:r>
                  <a:rPr lang="zh-CN" altLang="en-US" sz="2400">
                    <a:solidFill>
                      <a:schemeClr val="tx1"/>
                    </a:solidFill>
                    <a:effectLst>
                      <a:outerShdw blurRad="38100" dist="19050" dir="2700000" algn="tl" rotWithShape="0">
                        <a:schemeClr val="dk1">
                          <a:alpha val="40000"/>
                        </a:schemeClr>
                      </a:outerShdw>
                    </a:effectLst>
                  </a:rPr>
                  <a:t>现在，有一个二维坐标系</a:t>
                </a:r>
                <a:r>
                  <a:rPr lang="en-US" altLang="zh-CN" sz="2400">
                    <a:solidFill>
                      <a:schemeClr val="tx1"/>
                    </a:solidFill>
                    <a:effectLst>
                      <a:outerShdw blurRad="38100" dist="19050" dir="2700000" algn="tl" rotWithShape="0">
                        <a:schemeClr val="dk1">
                          <a:alpha val="40000"/>
                        </a:schemeClr>
                      </a:outerShdw>
                    </a:effectLst>
                  </a:rPr>
                  <a:t>H0</a:t>
                </a:r>
                <a:r>
                  <a:rPr lang="zh-CN" altLang="en-US" sz="2400">
                    <a:solidFill>
                      <a:schemeClr val="tx1"/>
                    </a:solidFill>
                    <a:effectLst>
                      <a:outerShdw blurRad="38100" dist="19050" dir="2700000" algn="tl" rotWithShape="0">
                        <a:schemeClr val="dk1">
                          <a:alpha val="40000"/>
                        </a:schemeClr>
                      </a:outerShdw>
                    </a:effectLst>
                  </a:rPr>
                  <a:t>，绕点</a:t>
                </a:r>
                <a:r>
                  <a:rPr lang="en-US" altLang="zh-CN" sz="2400">
                    <a:solidFill>
                      <a:schemeClr val="tx1"/>
                    </a:solidFill>
                    <a:effectLst>
                      <a:outerShdw blurRad="38100" dist="19050" dir="2700000" algn="tl" rotWithShape="0">
                        <a:schemeClr val="dk1">
                          <a:alpha val="40000"/>
                        </a:schemeClr>
                      </a:outerShdw>
                    </a:effectLst>
                  </a:rPr>
                  <a:t>(x0,y0) </a:t>
                </a:r>
                <a:r>
                  <a:rPr lang="zh-CN" altLang="en-US" sz="2400">
                    <a:solidFill>
                      <a:schemeClr val="tx1"/>
                    </a:solidFill>
                    <a:effectLst>
                      <a:outerShdw blurRad="38100" dist="19050" dir="2700000" algn="tl" rotWithShape="0">
                        <a:schemeClr val="dk1">
                          <a:alpha val="40000"/>
                        </a:schemeClr>
                      </a:outerShdw>
                    </a:effectLst>
                  </a:rPr>
                  <a:t>逆时针旋转</a:t>
                </a:r>
                <a14:m>
                  <m:oMath xmlns:m="http://schemas.openxmlformats.org/officeDocument/2006/math">
                    <m:r>
                      <a:rPr lang="en-US" altLang="zh-CN" sz="2400">
                        <a:solidFill>
                          <a:schemeClr val="tx1"/>
                        </a:solidFill>
                        <a:effectLst>
                          <a:outerShdw blurRad="38100" dist="19050" dir="2700000" algn="tl" rotWithShape="0">
                            <a:schemeClr val="dk1">
                              <a:alpha val="40000"/>
                            </a:schemeClr>
                          </a:outerShdw>
                        </a:effectLst>
                        <a:latin typeface="Cambria Math" panose="02040503050406030204" charset="0"/>
                        <a:sym typeface="+mn-ea"/>
                      </a:rPr>
                      <m:t>𝜃</m:t>
                    </m:r>
                  </m:oMath>
                </a14:m>
                <a:r>
                  <a:rPr lang="zh-CN" altLang="en-US" sz="2400">
                    <a:solidFill>
                      <a:schemeClr val="tx1"/>
                    </a:solidFill>
                    <a:effectLst>
                      <a:outerShdw blurRad="38100" dist="19050" dir="2700000" algn="tl" rotWithShape="0">
                        <a:schemeClr val="dk1">
                          <a:alpha val="40000"/>
                        </a:schemeClr>
                      </a:outerShdw>
                    </a:effectLst>
                    <a:latin typeface="Cambria Math" panose="02040503050406030204" charset="0"/>
                    <a:sym typeface="+mn-ea"/>
                  </a:rPr>
                  <a:t>角后得到</a:t>
                </a:r>
                <a:r>
                  <a:rPr lang="en-US" altLang="zh-CN" sz="2400">
                    <a:solidFill>
                      <a:schemeClr val="tx1"/>
                    </a:solidFill>
                    <a:effectLst>
                      <a:outerShdw blurRad="38100" dist="19050" dir="2700000" algn="tl" rotWithShape="0">
                        <a:schemeClr val="dk1">
                          <a:alpha val="40000"/>
                        </a:schemeClr>
                      </a:outerShdw>
                    </a:effectLst>
                    <a:latin typeface="Cambria Math" panose="02040503050406030204" charset="0"/>
                    <a:sym typeface="+mn-ea"/>
                  </a:rPr>
                  <a:t>H1</a:t>
                </a:r>
                <a:r>
                  <a:rPr lang="zh-CN" altLang="en-US" sz="2400">
                    <a:solidFill>
                      <a:schemeClr val="tx1"/>
                    </a:solidFill>
                    <a:effectLst>
                      <a:outerShdw blurRad="38100" dist="19050" dir="2700000" algn="tl" rotWithShape="0">
                        <a:schemeClr val="dk1">
                          <a:alpha val="40000"/>
                        </a:schemeClr>
                      </a:outerShdw>
                    </a:effectLst>
                    <a:latin typeface="Cambria Math" panose="02040503050406030204" charset="0"/>
                    <a:sym typeface="+mn-ea"/>
                  </a:rPr>
                  <a:t>，</a:t>
                </a:r>
                <a:r>
                  <a:rPr lang="zh-CN" sz="2400">
                    <a:solidFill>
                      <a:schemeClr val="tx1"/>
                    </a:solidFill>
                    <a:effectLst>
                      <a:outerShdw blurRad="38100" dist="19050" dir="2700000" algn="tl" rotWithShape="0">
                        <a:schemeClr val="dk1">
                          <a:alpha val="40000"/>
                        </a:schemeClr>
                      </a:outerShdw>
                    </a:effectLst>
                    <a:latin typeface="Cambria Math" panose="02040503050406030204" charset="0"/>
                    <a:sym typeface="+mn-ea"/>
                  </a:rPr>
                  <a:t>如何构造变换矩阵？</a:t>
                </a:r>
                <a:endParaRPr lang="zh-CN" sz="2400">
                  <a:solidFill>
                    <a:schemeClr val="tx1"/>
                  </a:solidFill>
                  <a:effectLst>
                    <a:outerShdw blurRad="38100" dist="19050" dir="2700000" algn="tl" rotWithShape="0">
                      <a:schemeClr val="dk1">
                        <a:alpha val="40000"/>
                      </a:schemeClr>
                    </a:outerShdw>
                  </a:effectLst>
                  <a:latin typeface="Cambria Math" panose="02040503050406030204" charset="0"/>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1275080" y="1955165"/>
                <a:ext cx="9029700" cy="82994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094105" y="3414395"/>
                <a:ext cx="10144125" cy="816610"/>
              </a:xfrm>
              <a:prstGeom prst="rect">
                <a:avLst/>
              </a:prstGeom>
              <a:noFill/>
            </p:spPr>
            <p:txBody>
              <a:bodyPr wrap="square" rtlCol="0">
                <a:spAutoFit/>
              </a:bodyPr>
              <a:p>
                <a:r>
                  <a:rPr lang="en-US" altLang="zh-CN">
                    <a:latin typeface="Cambria Math" panose="02040503050406030204" charset="0"/>
                    <a:cs typeface="Cambria Math" panose="02040503050406030204" charset="0"/>
                  </a:rPr>
                  <a:t> </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𝑎</m:t>
                                        </m:r>
                                      </m:e>
                                      <m:e>
                                        <m:r>
                                          <a:rPr lang="en-US" altLang="zh-CN" i="1">
                                            <a:latin typeface="Cambria Math" panose="02040503050406030204" charset="0"/>
                                            <a:cs typeface="Cambria Math" panose="02040503050406030204" charset="0"/>
                                          </a:rPr>
                                          <m:t>𝑏</m:t>
                                        </m:r>
                                      </m:e>
                                    </m:mr>
                                    <m:mr>
                                      <m:e>
                                        <m:r>
                                          <a:rPr lang="en-US" altLang="zh-CN" i="1">
                                            <a:latin typeface="Cambria Math" panose="02040503050406030204" charset="0"/>
                                            <a:cs typeface="Cambria Math" panose="02040503050406030204" charset="0"/>
                                          </a:rPr>
                                          <m:t>𝑐</m:t>
                                        </m:r>
                                      </m:e>
                                      <m:e>
                                        <m:r>
                                          <a:rPr lang="en-US" altLang="zh-CN" i="1">
                                            <a:latin typeface="Cambria Math" panose="02040503050406030204" charset="0"/>
                                            <a:cs typeface="Cambria Math" panose="02040503050406030204" charset="0"/>
                                          </a:rPr>
                                          <m:t>𝑑</m:t>
                                        </m:r>
                                      </m:e>
                                    </m:mr>
                                  </m:m>
                                </m:e>
                              </m:d>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𝑡𝑥</m:t>
                                    </m:r>
                                  </m:e>
                                </m:mr>
                                <m:mr>
                                  <m:e>
                                    <m:r>
                                      <a:rPr lang="en-US" altLang="zh-CN" i="1">
                                        <a:latin typeface="Cambria Math" panose="02040503050406030204" charset="0"/>
                                        <a:cs typeface="Cambria Math" panose="02040503050406030204" charset="0"/>
                                      </a:rPr>
                                      <m:t>𝑡𝑦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a:p>
            </p:txBody>
          </p:sp>
        </mc:Choice>
        <mc:Fallback>
          <p:sp>
            <p:nvSpPr>
              <p:cNvPr id="4" name="文本框 3"/>
              <p:cNvSpPr txBox="1">
                <a:spLocks noRot="1" noChangeAspect="1" noMove="1" noResize="1" noEditPoints="1" noAdjustHandles="1" noChangeArrowheads="1" noChangeShapeType="1" noTextEdit="1"/>
              </p:cNvSpPr>
              <p:nvPr/>
            </p:nvSpPr>
            <p:spPr>
              <a:xfrm>
                <a:off x="1094105" y="3414395"/>
                <a:ext cx="10144125" cy="81661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547495" y="5241290"/>
                <a:ext cx="8290560" cy="645160"/>
              </a:xfrm>
              <a:prstGeom prst="rect">
                <a:avLst/>
              </a:prstGeom>
              <a:noFill/>
            </p:spPr>
            <p:txBody>
              <a:bodyPr wrap="square" rtlCol="0">
                <a:spAutoFit/>
              </a:bodyPr>
              <a:p>
                <a:r>
                  <a:rPr lang="zh-CN" altLang="en-US">
                    <a:solidFill>
                      <a:srgbClr val="0070C0"/>
                    </a:solidFill>
                    <a:effectLst>
                      <a:outerShdw blurRad="38100" dist="19050" dir="2700000" algn="tl" rotWithShape="0">
                        <a:schemeClr val="dk1">
                          <a:alpha val="40000"/>
                        </a:schemeClr>
                      </a:outerShdw>
                    </a:effectLst>
                    <a:latin typeface="Cambria Math" panose="02040503050406030204" charset="0"/>
                  </a:rPr>
                  <a:t>旋转确实是</a:t>
                </a:r>
                <a14:m>
                  <m:oMath xmlns:m="http://schemas.openxmlformats.org/officeDocument/2006/math">
                    <m:r>
                      <a:rPr lang="zh-CN" altLang="en-US">
                        <a:solidFill>
                          <a:srgbClr val="0070C0"/>
                        </a:solidFill>
                        <a:effectLst>
                          <a:outerShdw blurRad="38100" dist="19050" dir="2700000" algn="tl" rotWithShape="0">
                            <a:schemeClr val="dk1">
                              <a:alpha val="40000"/>
                            </a:schemeClr>
                          </a:outerShdw>
                        </a:effectLst>
                        <a:latin typeface="Cambria Math" panose="02040503050406030204" charset="0"/>
                        <a:sym typeface="+mn-ea"/>
                      </a:rPr>
                      <m:t>𝜃</m:t>
                    </m:r>
                  </m:oMath>
                </a14:m>
                <a:r>
                  <a:rPr lang="zh-CN" altLang="en-US">
                    <a:solidFill>
                      <a:srgbClr val="0070C0"/>
                    </a:solidFill>
                    <a:effectLst>
                      <a:outerShdw blurRad="38100" dist="19050" dir="2700000" algn="tl" rotWithShape="0">
                        <a:schemeClr val="dk1">
                          <a:alpha val="40000"/>
                        </a:schemeClr>
                      </a:outerShdw>
                    </a:effectLst>
                    <a:latin typeface="Cambria Math" panose="02040503050406030204" charset="0"/>
                    <a:sym typeface="+mn-ea"/>
                  </a:rPr>
                  <a:t>角，但是平移了多少呢？能否构造多步变换矩阵相拼装呢</a:t>
                </a:r>
                <a:r>
                  <a:rPr lang="en-US" altLang="zh-CN">
                    <a:solidFill>
                      <a:srgbClr val="0070C0"/>
                    </a:solidFill>
                    <a:effectLst>
                      <a:outerShdw blurRad="38100" dist="19050" dir="2700000" algn="tl" rotWithShape="0">
                        <a:schemeClr val="dk1">
                          <a:alpha val="40000"/>
                        </a:schemeClr>
                      </a:outerShdw>
                    </a:effectLst>
                    <a:latin typeface="Cambria Math" panose="02040503050406030204" charset="0"/>
                    <a:sym typeface="+mn-ea"/>
                  </a:rPr>
                  <a:t>?</a:t>
                </a:r>
                <a:endParaRPr lang="en-US" altLang="zh-CN">
                  <a:solidFill>
                    <a:srgbClr val="0070C0"/>
                  </a:solidFill>
                  <a:effectLst>
                    <a:outerShdw blurRad="38100" dist="19050" dir="2700000" algn="tl" rotWithShape="0">
                      <a:schemeClr val="dk1">
                        <a:alpha val="40000"/>
                      </a:schemeClr>
                    </a:outerShdw>
                  </a:effectLst>
                  <a:latin typeface="Cambria Math" panose="02040503050406030204" charset="0"/>
                  <a:sym typeface="+mn-ea"/>
                </a:endParaRPr>
              </a:p>
              <a:p>
                <a:r>
                  <a:rPr lang="zh-CN" altLang="en-US">
                    <a:solidFill>
                      <a:srgbClr val="0070C0"/>
                    </a:solidFill>
                    <a:effectLst>
                      <a:outerShdw blurRad="38100" dist="19050" dir="2700000" algn="tl" rotWithShape="0">
                        <a:schemeClr val="dk1">
                          <a:alpha val="40000"/>
                        </a:schemeClr>
                      </a:outerShdw>
                    </a:effectLst>
                    <a:latin typeface="Cambria Math" panose="02040503050406030204" charset="0"/>
                    <a:sym typeface="+mn-ea"/>
                  </a:rPr>
                  <a:t>注意：旋转矩阵只能依托原点进行旋转，要根据旋转中心转的话得平移来平移去</a:t>
                </a:r>
                <a:endParaRPr lang="zh-CN" altLang="en-US">
                  <a:solidFill>
                    <a:srgbClr val="0070C0"/>
                  </a:solidFill>
                  <a:effectLst>
                    <a:outerShdw blurRad="38100" dist="19050" dir="2700000" algn="tl" rotWithShape="0">
                      <a:schemeClr val="dk1">
                        <a:alpha val="40000"/>
                      </a:schemeClr>
                    </a:outerShdw>
                  </a:effectLst>
                  <a:latin typeface="Cambria Math" panose="02040503050406030204" charset="0"/>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1547495" y="5241290"/>
                <a:ext cx="8290560" cy="64516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68985" y="1266190"/>
            <a:ext cx="431355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任意构造变换矩阵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768985" y="1955165"/>
                <a:ext cx="10059670" cy="368300"/>
              </a:xfrm>
              <a:prstGeom prst="rect">
                <a:avLst/>
              </a:prstGeom>
              <a:noFill/>
            </p:spPr>
            <p:txBody>
              <a:bodyPr wrap="square" rtlCol="0">
                <a:spAutoFit/>
              </a:bodyPr>
              <a:p>
                <a:r>
                  <a:rPr lang="zh-CN" altLang="en-US"/>
                  <a:t>现在，有一个二维坐标系</a:t>
                </a:r>
                <a:r>
                  <a:rPr lang="en-US" altLang="zh-CN"/>
                  <a:t>H0</a:t>
                </a:r>
                <a:r>
                  <a:rPr lang="zh-CN" altLang="en-US"/>
                  <a:t>，绕点</a:t>
                </a:r>
                <a:r>
                  <a:rPr lang="en-US" altLang="zh-CN"/>
                  <a:t>(x0,y0) </a:t>
                </a:r>
                <a:r>
                  <a:rPr lang="zh-CN" altLang="en-US"/>
                  <a:t>逆时针旋转</a:t>
                </a:r>
                <a14:m>
                  <m:oMath xmlns:m="http://schemas.openxmlformats.org/officeDocument/2006/math">
                    <m:r>
                      <a:rPr lang="en-US" altLang="zh-CN">
                        <a:latin typeface="Cambria Math" panose="02040503050406030204" charset="0"/>
                        <a:sym typeface="+mn-ea"/>
                      </a:rPr>
                      <m:t>𝜃</m:t>
                    </m:r>
                  </m:oMath>
                </a14:m>
                <a:r>
                  <a:rPr lang="zh-CN" altLang="en-US">
                    <a:latin typeface="Cambria Math" panose="02040503050406030204" charset="0"/>
                    <a:sym typeface="+mn-ea"/>
                  </a:rPr>
                  <a:t>角后得到</a:t>
                </a:r>
                <a:r>
                  <a:rPr lang="en-US" altLang="zh-CN">
                    <a:latin typeface="Cambria Math" panose="02040503050406030204" charset="0"/>
                    <a:sym typeface="+mn-ea"/>
                  </a:rPr>
                  <a:t>H1</a:t>
                </a:r>
                <a:r>
                  <a:rPr lang="zh-CN" altLang="en-US">
                    <a:latin typeface="Cambria Math" panose="02040503050406030204" charset="0"/>
                    <a:sym typeface="+mn-ea"/>
                  </a:rPr>
                  <a:t>，</a:t>
                </a:r>
                <a:r>
                  <a:rPr lang="zh-CN">
                    <a:latin typeface="Cambria Math" panose="02040503050406030204" charset="0"/>
                    <a:sym typeface="+mn-ea"/>
                  </a:rPr>
                  <a:t>如何构造坐标系的变换矩阵？</a:t>
                </a:r>
                <a:endParaRPr lang="zh-CN">
                  <a:latin typeface="Cambria Math" panose="02040503050406030204" charset="0"/>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768985" y="1955165"/>
                <a:ext cx="1005967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137920" y="2428875"/>
                <a:ext cx="10144125" cy="3880485"/>
              </a:xfrm>
              <a:prstGeom prst="rect">
                <a:avLst/>
              </a:prstGeom>
              <a:noFill/>
            </p:spPr>
            <p:txBody>
              <a:bodyPr wrap="square" rtlCol="0">
                <a:noAutofit/>
              </a:bodyPr>
              <a:p>
                <a:r>
                  <a:rPr lang="zh-CN" altLang="en-US"/>
                  <a:t>在</a:t>
                </a:r>
                <a:r>
                  <a:rPr lang="en-US" altLang="zh-CN"/>
                  <a:t>H0</a:t>
                </a:r>
                <a:r>
                  <a:rPr lang="zh-CN" altLang="en-US"/>
                  <a:t>坐标系中，先平移旋转中心到原点</a:t>
                </a:r>
                <a:r>
                  <a:rPr lang="zh-CN" altLang="en-US"/>
                  <a:t>，得到变换矩阵</a:t>
                </a:r>
                <a14:m>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endParaRPr lang="en-US" altLang="zh-CN"/>
              </a:p>
              <a:p>
                <a:r>
                  <a:rPr lang="en-US" altLang="zh-CN"/>
                  <a:t>然后，进行逆时针旋转</a:t>
                </a:r>
                <a14:m>
                  <m:oMath xmlns:m="http://schemas.openxmlformats.org/officeDocument/2006/math">
                    <m:r>
                      <a:rPr lang="en-US" altLang="zh-CN">
                        <a:latin typeface="Cambria Math" panose="02040503050406030204" charset="0"/>
                        <a:sym typeface="+mn-ea"/>
                      </a:rPr>
                      <m:t>𝜃</m:t>
                    </m:r>
                  </m:oMath>
                </a14:m>
                <a:r>
                  <a:rPr lang="en-US" altLang="zh-CN">
                    <a:sym typeface="+mn-ea"/>
                  </a:rPr>
                  <a:t>角,这一步的旋转</a:t>
                </a:r>
                <a:r>
                  <a:rPr lang="zh-CN" altLang="en-US">
                    <a:latin typeface="Cambria Math" panose="02040503050406030204" charset="0"/>
                    <a:sym typeface="+mn-ea"/>
                  </a:rPr>
                  <a:t>矩阵为</a:t>
                </a:r>
                <a:r>
                  <a:rPr lang="en-US" altLang="zh-CN">
                    <a:latin typeface="Cambria Math" panose="02040503050406030204" charset="0"/>
                    <a:sym typeface="+mn-ea"/>
                  </a:rPr>
                  <a:t> R = </a:t>
                </a:r>
                <a14:m>
                  <m:oMath xmlns:m="http://schemas.openxmlformats.org/officeDocument/2006/math">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rPr>
                                      <m:t>𝑐𝑜𝑠</m:t>
                                    </m:r>
                                    <m:r>
                                      <a:rPr lang="en-US" altLang="zh-CN">
                                        <a:latin typeface="Cambria Math" panose="02040503050406030204" charset="0"/>
                                        <a:sym typeface="+mn-ea"/>
                                      </a:rPr>
                                      <m:t>𝜃</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rPr>
                  <a:t>最后</a:t>
                </a:r>
                <a:r>
                  <a:rPr lang="en-US" altLang="zh-CN">
                    <a:latin typeface="Cambria Math" panose="02040503050406030204" charset="0"/>
                    <a:sym typeface="+mn-ea"/>
                  </a:rPr>
                  <a:t> </a:t>
                </a:r>
                <a:r>
                  <a:rPr lang="zh-CN" altLang="en-US">
                    <a:latin typeface="Cambria Math" panose="02040503050406030204" charset="0"/>
                    <a:sym typeface="+mn-ea"/>
                  </a:rPr>
                  <a:t>再把旋转中心放回原位，这一步变换矩阵</a:t>
                </a:r>
                <a14:m>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r>
                  <a:rPr lang="zh-CN" altLang="en-US">
                    <a:latin typeface="Cambria Math" panose="02040503050406030204" charset="0"/>
                    <a:sym typeface="+mn-ea"/>
                  </a:rPr>
                  <a:t>不断左乘，进行超级拼装，得到</a:t>
                </a:r>
                <a:r>
                  <a:rPr lang="en-US" altLang="zh-CN">
                    <a:latin typeface="Cambria Math" panose="02040503050406030204" charset="0"/>
                    <a:sym typeface="+mn-ea"/>
                  </a:rPr>
                  <a:t>T = </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rPr>
                                      <m:t>𝑐𝑜𝑠</m:t>
                                    </m:r>
                                    <m:r>
                                      <a:rPr lang="en-US" altLang="zh-CN">
                                        <a:latin typeface="Cambria Math" panose="02040503050406030204" charset="0"/>
                                        <a:sym typeface="+mn-ea"/>
                                      </a:rPr>
                                      <m:t>𝜃</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rPr>
                                      <m:t>𝜃</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m:rPr>
                                        <m:sty m:val="p"/>
                                      </m:rPr>
                                      <a:rPr lang="en-US" altLang="zh-CN" i="1">
                                        <a:latin typeface="Cambria Math" panose="02040503050406030204" charset="0"/>
                                        <a:cs typeface="Cambria Math" panose="02040503050406030204" charset="0"/>
                                      </a:rPr>
                                      <m:t>y</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m:rPr>
                                        <m:sty m:val="p"/>
                                      </m:rPr>
                                      <a:rPr lang="en-US" altLang="zh-CN" i="1">
                                        <a:latin typeface="Cambria Math" panose="02040503050406030204" charset="0"/>
                                        <a:cs typeface="Cambria Math" panose="02040503050406030204" charset="0"/>
                                      </a:rPr>
                                      <m:t>sin</m:t>
                                    </m:r>
                                    <m:r>
                                      <a:rPr lang="en-US" altLang="zh-CN" i="1">
                                        <a:latin typeface="Cambria Math" panose="02040503050406030204" charset="0"/>
                                        <a:cs typeface="Cambria Math" panose="02040503050406030204" charset="0"/>
                                      </a:rPr>
                                      <m:t>𝜃</m:t>
                                    </m:r>
                                  </m:e>
                                </m:mr>
                                <m:mr>
                                  <m:e>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rPr>
                                      <m:t>𝜃</m:t>
                                    </m:r>
                                    <m:r>
                                      <a:rPr lang="en-US" altLang="zh-CN" i="1">
                                        <a:latin typeface="Cambria Math" panose="02040503050406030204" charset="0"/>
                                        <a:cs typeface="Cambria Math" panose="02040503050406030204" charset="0"/>
                                      </a:rPr>
                                      <m:t>)+ </m:t>
                                    </m:r>
                                    <m:r>
                                      <m:rPr>
                                        <m:sty m:val="p"/>
                                      </m:rPr>
                                      <a:rPr lang="en-US" altLang="zh-CN" i="1">
                                        <a:latin typeface="Cambria Math" panose="02040503050406030204" charset="0"/>
                                        <a:cs typeface="Cambria Math" panose="02040503050406030204" charset="0"/>
                                      </a:rPr>
                                      <m:t>x</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m:rPr>
                                        <m:sty m:val="p"/>
                                      </m:rPr>
                                      <a:rPr lang="en-US" altLang="zh-CN" i="1">
                                        <a:latin typeface="Cambria Math" panose="02040503050406030204" charset="0"/>
                                        <a:cs typeface="Cambria Math" panose="02040503050406030204" charset="0"/>
                                      </a:rPr>
                                      <m:t>sin</m:t>
                                    </m:r>
                                    <m:r>
                                      <a:rPr lang="en-US" altLang="zh-CN" i="1">
                                        <a:latin typeface="Cambria Math" panose="02040503050406030204" charset="0"/>
                                        <a:cs typeface="Cambria Math" panose="02040503050406030204" charset="0"/>
                                      </a:rPr>
                                      <m:t>𝜃</m:t>
                                    </m:r>
                                    <m:r>
                                      <a:rPr lang="en-US" altLang="zh-CN" i="1">
                                        <a:latin typeface="Cambria Math" panose="02040503050406030204" charset="0"/>
                                        <a:cs typeface="Cambria Math" panose="02040503050406030204" charset="0"/>
                                      </a:rPr>
                                      <m:t> </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a:latin typeface="Cambria Math" panose="02040503050406030204"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1137920" y="2428875"/>
                <a:ext cx="10144125" cy="3880485"/>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54773" y="1275866"/>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简单变换矩阵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386205" y="2012315"/>
                <a:ext cx="9420225" cy="3246755"/>
              </a:xfrm>
              <a:prstGeom prst="rect">
                <a:avLst/>
              </a:prstGeom>
              <a:noFill/>
            </p:spPr>
            <p:txBody>
              <a:bodyPr wrap="square" rtlCol="0">
                <a:noAutofit/>
              </a:bodyPr>
              <a:p>
                <a:r>
                  <a:rPr lang="zh-CN" altLang="en-US"/>
                  <a:t>对于平移向量</a:t>
                </a:r>
                <a:r>
                  <a:rPr lang="en-US" altLang="zh-CN"/>
                  <a:t> [tx, ty]^T</a:t>
                </a:r>
                <a:r>
                  <a:rPr lang="zh-CN" altLang="en-US"/>
                  <a:t>，构造出的变换矩阵</a:t>
                </a:r>
                <a:r>
                  <a:rPr lang="en-US" altLang="zh-CN"/>
                  <a:t>T</a:t>
                </a:r>
                <a:r>
                  <a:rPr lang="zh-CN" altLang="en-US"/>
                  <a:t>为</a:t>
                </a:r>
                <a:r>
                  <a:rPr lang="en-US" altLang="zh-CN"/>
                  <a:t>:</a:t>
                </a:r>
                <a14:m>
                  <m:oMath xmlns:m="http://schemas.openxmlformats.org/officeDocument/2006/math">
                    <m:r>
                      <a:rPr lang="en-US" altLang="zh-CN">
                        <a:latin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𝑡𝑥</m:t>
                                    </m:r>
                                  </m:e>
                                </m:mr>
                                <m:mr>
                                  <m:e>
                                    <m:r>
                                      <a:rPr lang="en-US" altLang="zh-CN" i="1">
                                        <a:latin typeface="Cambria Math" panose="02040503050406030204" charset="0"/>
                                        <a:cs typeface="Cambria Math" panose="02040503050406030204" charset="0"/>
                                      </a:rPr>
                                      <m:t>𝑡𝑦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旋转变换矩阵</a:t>
                </a:r>
                <a:r>
                  <a:rPr lang="en-US" altLang="zh-CN">
                    <a:latin typeface="Cambria Math" panose="02040503050406030204" charset="0"/>
                    <a:cs typeface="Cambria Math" panose="02040503050406030204" charset="0"/>
                  </a:rPr>
                  <a:t>: </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mr>
                                <m:mr>
                                  <m:e>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𝑠𝑖𝑛</m:t>
                                    </m:r>
                                    <m:r>
                                      <a:rPr lang="en-US" altLang="zh-CN">
                                        <a:latin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a:latin typeface="Cambria Math" panose="02040503050406030204" charset="0"/>
                                        <a:sym typeface="+mn-ea"/>
                                      </a:rPr>
                                      <m:t>𝜃</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缩放变换矩阵</a:t>
                </a:r>
                <a:r>
                  <a:rPr lang="en-US" altLang="zh-CN">
                    <a:latin typeface="Cambria Math" panose="02040503050406030204" charset="0"/>
                    <a:cs typeface="Cambria Math" panose="02040503050406030204" charset="0"/>
                  </a:rPr>
                  <a:t>: </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𝑆𝑥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𝑆𝑦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𝑡𝑥</m:t>
                                    </m:r>
                                  </m:e>
                                </m:mr>
                                <m:mr>
                                  <m:e>
                                    <m:r>
                                      <a:rPr lang="en-US" altLang="zh-CN" i="1">
                                        <a:latin typeface="Cambria Math" panose="02040503050406030204" charset="0"/>
                                        <a:cs typeface="Cambria Math" panose="02040503050406030204" charset="0"/>
                                      </a:rPr>
                                      <m:t>𝑡𝑦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a:p>
              <a:p>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1386205" y="2012315"/>
                <a:ext cx="9420225" cy="324675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97560" y="1285240"/>
            <a:ext cx="62852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相机内参矩阵，堂堂登场！</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3119120" y="2469515"/>
                <a:ext cx="5210175" cy="85725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𝑓𝑥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𝑓𝑦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3119120" y="2469515"/>
                <a:ext cx="5210175" cy="857250"/>
              </a:xfrm>
              <a:prstGeom prst="rect">
                <a:avLst/>
              </a:prstGeom>
              <a:blipFill rotWithShape="1">
                <a:blip r:embed="rId3"/>
                <a:stretch>
                  <a:fillRect/>
                </a:stretch>
              </a:blipFill>
            </p:spPr>
            <p:txBody>
              <a:bodyPr/>
              <a:lstStyle/>
              <a:p>
                <a:r>
                  <a:rPr lang="zh-CN" altLang="en-US">
                    <a:noFill/>
                  </a:rPr>
                  <a:t> </a:t>
                </a:r>
              </a:p>
            </p:txBody>
          </p:sp>
        </mc:Fallback>
      </mc:AlternateContent>
      <p:sp>
        <p:nvSpPr>
          <p:cNvPr id="4" name="文本框 3"/>
          <p:cNvSpPr txBox="1"/>
          <p:nvPr/>
        </p:nvSpPr>
        <p:spPr>
          <a:xfrm>
            <a:off x="3771900" y="4598670"/>
            <a:ext cx="4039870" cy="521970"/>
          </a:xfrm>
          <a:prstGeom prst="rect">
            <a:avLst/>
          </a:prstGeom>
          <a:noFill/>
        </p:spPr>
        <p:txBody>
          <a:bodyPr wrap="square" rtlCol="0">
            <a:spAutoFit/>
          </a:bodyPr>
          <a:p>
            <a:r>
              <a:rPr lang="zh-CN" altLang="en-US" sz="2800">
                <a:solidFill>
                  <a:schemeClr val="tx1"/>
                </a:solidFill>
                <a:effectLst>
                  <a:outerShdw blurRad="38100" dist="19050" dir="2700000" algn="tl" rotWithShape="0">
                    <a:schemeClr val="dk1">
                      <a:alpha val="40000"/>
                    </a:schemeClr>
                  </a:outerShdw>
                </a:effectLst>
              </a:rPr>
              <a:t>请问：它的本质是什么？</a:t>
            </a:r>
            <a:endParaRPr lang="zh-CN" altLang="en-US" sz="2800">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44170" y="1093470"/>
            <a:ext cx="62852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重新推导相机内参矩阵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7551420" y="956945"/>
                <a:ext cx="2921000" cy="85725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𝑓𝑥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𝑓𝑦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7551420" y="956945"/>
                <a:ext cx="2921000" cy="857250"/>
              </a:xfrm>
              <a:prstGeom prst="rect">
                <a:avLst/>
              </a:prstGeom>
              <a:blipFill rotWithShape="1">
                <a:blip r:embed="rId3"/>
                <a:stretch>
                  <a:fillRect/>
                </a:stretch>
              </a:blipFill>
            </p:spPr>
            <p:txBody>
              <a:bodyPr/>
              <a:lstStyle/>
              <a:p>
                <a:r>
                  <a:rPr lang="zh-CN" altLang="en-US">
                    <a:noFill/>
                  </a:rPr>
                  <a:t> </a:t>
                </a:r>
              </a:p>
            </p:txBody>
          </p:sp>
        </mc:Fallback>
      </mc:AlternateContent>
      <p:sp>
        <p:nvSpPr>
          <p:cNvPr id="6" name="文本框 5"/>
          <p:cNvSpPr txBox="1"/>
          <p:nvPr/>
        </p:nvSpPr>
        <p:spPr>
          <a:xfrm>
            <a:off x="1198880" y="1677035"/>
            <a:ext cx="6520815" cy="368300"/>
          </a:xfrm>
          <a:prstGeom prst="rect">
            <a:avLst/>
          </a:prstGeom>
          <a:noFill/>
        </p:spPr>
        <p:txBody>
          <a:bodyPr wrap="square" rtlCol="0">
            <a:spAutoFit/>
          </a:bodyPr>
          <a:p>
            <a:r>
              <a:rPr lang="zh-CN" altLang="en-US" b="1"/>
              <a:t>已知相机系中一点为</a:t>
            </a:r>
            <a:r>
              <a:rPr lang="en-US" altLang="zh-CN" b="1"/>
              <a:t>(Xc, Yc, Zc)</a:t>
            </a:r>
            <a:r>
              <a:rPr lang="zh-CN" altLang="en-US" b="1"/>
              <a:t>，求它在像素平面中的坐标</a:t>
            </a:r>
            <a:r>
              <a:rPr lang="en-US" altLang="zh-CN" b="1"/>
              <a:t>(u,v)</a:t>
            </a:r>
            <a:endParaRPr lang="en-US" altLang="zh-CN" b="1"/>
          </a:p>
        </p:txBody>
      </p:sp>
      <p:pic>
        <p:nvPicPr>
          <p:cNvPr id="9" name="图片 8"/>
          <p:cNvPicPr/>
          <p:nvPr/>
        </p:nvPicPr>
        <p:blipFill>
          <a:blip r:embed="rId4"/>
          <a:stretch>
            <a:fillRect/>
          </a:stretch>
        </p:blipFill>
        <p:spPr>
          <a:xfrm>
            <a:off x="7249160" y="2380615"/>
            <a:ext cx="9544050" cy="3867150"/>
          </a:xfrm>
          <a:prstGeom prst="rect">
            <a:avLst/>
          </a:prstGeom>
        </p:spPr>
      </p:pic>
      <p:sp>
        <p:nvSpPr>
          <p:cNvPr id="10" name="文本框 9"/>
          <p:cNvSpPr txBox="1"/>
          <p:nvPr/>
        </p:nvSpPr>
        <p:spPr>
          <a:xfrm>
            <a:off x="924560" y="2290445"/>
            <a:ext cx="6695440" cy="368300"/>
          </a:xfrm>
          <a:prstGeom prst="rect">
            <a:avLst/>
          </a:prstGeom>
          <a:noFill/>
        </p:spPr>
        <p:txBody>
          <a:bodyPr wrap="square" rtlCol="0">
            <a:spAutoFit/>
          </a:bodyPr>
          <a:p>
            <a:r>
              <a:rPr lang="zh-CN" altLang="en-US" b="1"/>
              <a:t>相机系</a:t>
            </a:r>
            <a:r>
              <a:rPr lang="en-US" altLang="zh-CN" b="1"/>
              <a:t> -&gt; </a:t>
            </a:r>
            <a:r>
              <a:rPr lang="zh-CN" altLang="en-US" b="1"/>
              <a:t>归一化平面系</a:t>
            </a:r>
            <a:endParaRPr lang="zh-CN" altLang="en-US" b="1"/>
          </a:p>
        </p:txBody>
      </p:sp>
      <mc:AlternateContent xmlns:mc="http://schemas.openxmlformats.org/markup-compatibility/2006">
        <mc:Choice xmlns:a14="http://schemas.microsoft.com/office/drawing/2010/main" Requires="a14">
          <p:sp>
            <p:nvSpPr>
              <p:cNvPr id="11" name="文本框 10"/>
              <p:cNvSpPr txBox="1"/>
              <p:nvPr/>
            </p:nvSpPr>
            <p:spPr>
              <a:xfrm>
                <a:off x="924560" y="2585720"/>
                <a:ext cx="6325235" cy="2783840"/>
              </a:xfrm>
              <a:prstGeom prst="rect">
                <a:avLst/>
              </a:prstGeom>
              <a:noFill/>
            </p:spPr>
            <p:txBody>
              <a:bodyPr wrap="square" rtlCol="0">
                <a:noAutofit/>
              </a:bodyPr>
              <a:p>
                <a:r>
                  <a:rPr lang="zh-CN" altLang="en-US"/>
                  <a:t>先将相机系中坐标平面化，</a:t>
                </a:r>
                <a:endParaRPr lang="zh-CN" altLang="en-US"/>
              </a:p>
              <a:p>
                <a:r>
                  <a:rPr lang="zh-CN" altLang="en-US"/>
                  <a:t>从</a:t>
                </a:r>
                <a:r>
                  <a:rPr lang="en-US" altLang="zh-CN"/>
                  <a:t> [Xc, Yc, Zc, 1]^T </a:t>
                </a:r>
                <a:r>
                  <a:rPr lang="zh-CN" altLang="en-US"/>
                  <a:t>缩放到</a:t>
                </a:r>
                <a:r>
                  <a:rPr lang="en-US" altLang="zh-CN"/>
                  <a:t>[Xc, Yc , Zc]^T</a:t>
                </a:r>
                <a:endParaRPr lang="en-US" altLang="zh-CN"/>
              </a:p>
              <a:p>
                <a:endParaRPr lang="en-US" altLang="zh-CN"/>
              </a:p>
              <a:p>
                <a:r>
                  <a:rPr lang="zh-CN" altLang="en-US"/>
                  <a:t>写出线性投影变换矩阵</a:t>
                </a:r>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mr>
                          </m:m>
                        </m:e>
                      </m:d>
                    </m:oMath>
                  </m:oMathPara>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pPr algn="l">
                  <a:buClrTx/>
                  <a:buSzTx/>
                  <a:buFontTx/>
                </a:pPr>
                <a:r>
                  <a:rPr lang="zh-CN" altLang="en-US"/>
                  <a:t>然后对</a:t>
                </a:r>
                <a:r>
                  <a:rPr lang="en-US" altLang="zh-CN"/>
                  <a:t>Zc</a:t>
                </a:r>
                <a:r>
                  <a:rPr lang="zh-CN" altLang="en-US"/>
                  <a:t>进行归一化，得到</a:t>
                </a:r>
                <a:r>
                  <a:rPr lang="en-US" altLang="zh-CN"/>
                  <a:t>[x, y, 1]^T, x = Xc/Zc, y= Yc /Zc</a:t>
                </a:r>
                <a:endParaRPr lang="zh-CN" altLang="en-US"/>
              </a:p>
              <a:p>
                <a:r>
                  <a:rPr lang="zh-CN" altLang="en-US"/>
                  <a:t>由于</a:t>
                </a:r>
                <a:r>
                  <a:rPr lang="zh-CN" altLang="en-US" b="1"/>
                  <a:t>归一化是非线性的</a:t>
                </a:r>
                <a:r>
                  <a:rPr lang="zh-CN" altLang="en-US"/>
                  <a:t>，不应合并到</a:t>
                </a:r>
                <a:r>
                  <a:rPr lang="en-US" altLang="zh-CN"/>
                  <a:t>P</a:t>
                </a:r>
                <a:r>
                  <a:rPr lang="zh-CN" altLang="en-US"/>
                  <a:t>中去</a:t>
                </a:r>
                <a:endParaRPr lang="en-US" altLang="zh-CN"/>
              </a:p>
              <a:p>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924560" y="2585720"/>
                <a:ext cx="6325235" cy="2783840"/>
              </a:xfrm>
              <a:prstGeom prst="rect">
                <a:avLst/>
              </a:prstGeom>
              <a:blipFill rotWithShape="1">
                <a:blip r:embed="rId5"/>
                <a:stretch>
                  <a:fillRect b="-4927"/>
                </a:stretch>
              </a:blipFill>
            </p:spPr>
            <p:txBody>
              <a:bodyPr/>
              <a:lstStyle/>
              <a:p>
                <a:r>
                  <a:rPr lang="zh-CN" altLang="en-US">
                    <a:noFill/>
                  </a:rPr>
                  <a:t> </a:t>
                </a:r>
              </a:p>
            </p:txBody>
          </p:sp>
        </mc:Fallback>
      </mc:AlternateContent>
      <p:sp>
        <p:nvSpPr>
          <p:cNvPr id="12" name="文本框 11"/>
          <p:cNvSpPr txBox="1"/>
          <p:nvPr/>
        </p:nvSpPr>
        <p:spPr>
          <a:xfrm>
            <a:off x="924560" y="5370195"/>
            <a:ext cx="6072505" cy="368300"/>
          </a:xfrm>
          <a:prstGeom prst="rect">
            <a:avLst/>
          </a:prstGeom>
          <a:noFill/>
        </p:spPr>
        <p:txBody>
          <a:bodyPr wrap="square" rtlCol="0">
            <a:spAutoFit/>
          </a:bodyPr>
          <a:p>
            <a:r>
              <a:rPr lang="zh-CN" altLang="en-US"/>
              <a:t>此时成像的</a:t>
            </a:r>
            <a:r>
              <a:rPr lang="en-US" altLang="zh-CN"/>
              <a:t>x,y</a:t>
            </a:r>
            <a:r>
              <a:rPr lang="zh-CN" altLang="en-US"/>
              <a:t>平面距离光心平面为</a:t>
            </a:r>
            <a:r>
              <a:rPr lang="en-US" altLang="zh-CN"/>
              <a:t>1</a:t>
            </a:r>
            <a:r>
              <a:rPr lang="zh-CN" altLang="en-US"/>
              <a:t>。</a:t>
            </a:r>
            <a:endParaRPr lang="zh-CN" altLang="en-US">
              <a:sym typeface="+mn-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44170" y="1093470"/>
            <a:ext cx="62852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重新推导相机内参矩阵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7551420" y="956945"/>
                <a:ext cx="2921000" cy="85725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𝑓𝑥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𝑓𝑦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7551420" y="956945"/>
                <a:ext cx="2921000" cy="857250"/>
              </a:xfrm>
              <a:prstGeom prst="rect">
                <a:avLst/>
              </a:prstGeom>
              <a:blipFill rotWithShape="1">
                <a:blip r:embed="rId3"/>
                <a:stretch>
                  <a:fillRect/>
                </a:stretch>
              </a:blipFill>
            </p:spPr>
            <p:txBody>
              <a:bodyPr/>
              <a:lstStyle/>
              <a:p>
                <a:r>
                  <a:rPr lang="zh-CN" altLang="en-US">
                    <a:noFill/>
                  </a:rPr>
                  <a:t> </a:t>
                </a:r>
              </a:p>
            </p:txBody>
          </p:sp>
        </mc:Fallback>
      </mc:AlternateContent>
      <p:sp>
        <p:nvSpPr>
          <p:cNvPr id="6" name="文本框 5"/>
          <p:cNvSpPr txBox="1"/>
          <p:nvPr/>
        </p:nvSpPr>
        <p:spPr>
          <a:xfrm>
            <a:off x="1198880" y="1677035"/>
            <a:ext cx="6520815" cy="368300"/>
          </a:xfrm>
          <a:prstGeom prst="rect">
            <a:avLst/>
          </a:prstGeom>
          <a:noFill/>
        </p:spPr>
        <p:txBody>
          <a:bodyPr wrap="square" rtlCol="0">
            <a:spAutoFit/>
          </a:bodyPr>
          <a:p>
            <a:r>
              <a:rPr lang="zh-CN" altLang="en-US" b="1"/>
              <a:t>已知相机系中一点为</a:t>
            </a:r>
            <a:r>
              <a:rPr lang="en-US" altLang="zh-CN" b="1"/>
              <a:t>(Xc, Yc, Zc)</a:t>
            </a:r>
            <a:r>
              <a:rPr lang="zh-CN" altLang="en-US" b="1"/>
              <a:t>，求它在像素平面中的坐标</a:t>
            </a:r>
            <a:r>
              <a:rPr lang="en-US" altLang="zh-CN" b="1"/>
              <a:t>(u,v)</a:t>
            </a:r>
            <a:endParaRPr lang="en-US" altLang="zh-CN" b="1"/>
          </a:p>
        </p:txBody>
      </p:sp>
      <p:pic>
        <p:nvPicPr>
          <p:cNvPr id="9" name="图片 8"/>
          <p:cNvPicPr/>
          <p:nvPr/>
        </p:nvPicPr>
        <p:blipFill>
          <a:blip r:embed="rId4"/>
          <a:stretch>
            <a:fillRect/>
          </a:stretch>
        </p:blipFill>
        <p:spPr>
          <a:xfrm>
            <a:off x="7249160" y="2380615"/>
            <a:ext cx="9544050" cy="3867150"/>
          </a:xfrm>
          <a:prstGeom prst="rect">
            <a:avLst/>
          </a:prstGeom>
        </p:spPr>
      </p:pic>
      <p:sp>
        <p:nvSpPr>
          <p:cNvPr id="10" name="文本框 9"/>
          <p:cNvSpPr txBox="1"/>
          <p:nvPr/>
        </p:nvSpPr>
        <p:spPr>
          <a:xfrm>
            <a:off x="924560" y="2290445"/>
            <a:ext cx="6695440" cy="368300"/>
          </a:xfrm>
          <a:prstGeom prst="rect">
            <a:avLst/>
          </a:prstGeom>
          <a:noFill/>
        </p:spPr>
        <p:txBody>
          <a:bodyPr wrap="square" rtlCol="0">
            <a:spAutoFit/>
          </a:bodyPr>
          <a:p>
            <a:r>
              <a:rPr lang="zh-CN" altLang="en-US" b="1">
                <a:sym typeface="+mn-ea"/>
              </a:rPr>
              <a:t>归一化平面系</a:t>
            </a:r>
            <a:r>
              <a:rPr lang="en-US" altLang="zh-CN" b="1"/>
              <a:t> -&gt; </a:t>
            </a:r>
            <a:r>
              <a:rPr lang="zh-CN" altLang="en-US" b="1"/>
              <a:t>虚拟成像</a:t>
            </a:r>
            <a:r>
              <a:rPr lang="zh-CN" altLang="en-US" b="1"/>
              <a:t>平面系</a:t>
            </a:r>
            <a:endParaRPr lang="zh-CN" altLang="en-US" b="1"/>
          </a:p>
        </p:txBody>
      </p:sp>
      <mc:AlternateContent xmlns:mc="http://schemas.openxmlformats.org/markup-compatibility/2006">
        <mc:Choice xmlns:a14="http://schemas.microsoft.com/office/drawing/2010/main" Requires="a14">
          <p:sp>
            <p:nvSpPr>
              <p:cNvPr id="12" name="文本框 11"/>
              <p:cNvSpPr txBox="1"/>
              <p:nvPr/>
            </p:nvSpPr>
            <p:spPr>
              <a:xfrm>
                <a:off x="988695" y="2903855"/>
                <a:ext cx="6072505" cy="1411605"/>
              </a:xfrm>
              <a:prstGeom prst="rect">
                <a:avLst/>
              </a:prstGeom>
              <a:noFill/>
            </p:spPr>
            <p:txBody>
              <a:bodyPr wrap="square" rtlCol="0">
                <a:spAutoFit/>
              </a:bodyPr>
              <a:p>
                <a:r>
                  <a:rPr lang="zh-CN" altLang="en-US"/>
                  <a:t>然后依据透射原理投放到距离</a:t>
                </a:r>
                <a:r>
                  <a:rPr lang="zh-CN" altLang="en-US">
                    <a:sym typeface="+mn-ea"/>
                  </a:rPr>
                  <a:t>光心平面为</a:t>
                </a:r>
                <a:r>
                  <a:rPr lang="en-US" altLang="zh-CN">
                    <a:sym typeface="+mn-ea"/>
                  </a:rPr>
                  <a:t>f (mm)</a:t>
                </a:r>
                <a:r>
                  <a:rPr lang="zh-CN" altLang="en-US">
                    <a:sym typeface="+mn-ea"/>
                  </a:rPr>
                  <a:t>处，</a:t>
                </a:r>
                <a:endParaRPr lang="zh-CN" altLang="en-US">
                  <a:sym typeface="+mn-ea"/>
                </a:endParaRPr>
              </a:p>
              <a:p>
                <a:r>
                  <a:rPr lang="zh-CN" altLang="en-US">
                    <a:sym typeface="+mn-ea"/>
                  </a:rPr>
                  <a:t>变换矩阵仅负责缩放</a:t>
                </a:r>
                <a:r>
                  <a:rPr lang="en-US" altLang="zh-CN">
                    <a:sym typeface="+mn-ea"/>
                  </a:rPr>
                  <a:t>f</a:t>
                </a:r>
                <a:r>
                  <a:rPr lang="zh-CN" altLang="en-US">
                    <a:sym typeface="+mn-ea"/>
                  </a:rPr>
                  <a:t>，得到</a:t>
                </a:r>
                <a:endParaRPr lang="zh-CN" altLang="en-US">
                  <a:sym typeface="+mn-ea"/>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m:oMathPara>
                </a14:m>
                <a:endParaRPr lang="zh-CN" altLang="en-US">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988695" y="2903855"/>
                <a:ext cx="6072505" cy="1411605"/>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44170" y="1093470"/>
            <a:ext cx="62852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重新推导相机内参矩阵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7551420" y="956945"/>
                <a:ext cx="2921000" cy="85725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𝑓𝑥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𝑓𝑦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7551420" y="956945"/>
                <a:ext cx="2921000" cy="857250"/>
              </a:xfrm>
              <a:prstGeom prst="rect">
                <a:avLst/>
              </a:prstGeom>
              <a:blipFill rotWithShape="1">
                <a:blip r:embed="rId3"/>
                <a:stretch>
                  <a:fillRect/>
                </a:stretch>
              </a:blipFill>
            </p:spPr>
            <p:txBody>
              <a:bodyPr/>
              <a:lstStyle/>
              <a:p>
                <a:r>
                  <a:rPr lang="zh-CN" altLang="en-US">
                    <a:noFill/>
                  </a:rPr>
                  <a:t> </a:t>
                </a:r>
              </a:p>
            </p:txBody>
          </p:sp>
        </mc:Fallback>
      </mc:AlternateContent>
      <p:sp>
        <p:nvSpPr>
          <p:cNvPr id="6" name="文本框 5"/>
          <p:cNvSpPr txBox="1"/>
          <p:nvPr/>
        </p:nvSpPr>
        <p:spPr>
          <a:xfrm>
            <a:off x="1198880" y="1677035"/>
            <a:ext cx="6520815" cy="368300"/>
          </a:xfrm>
          <a:prstGeom prst="rect">
            <a:avLst/>
          </a:prstGeom>
          <a:noFill/>
        </p:spPr>
        <p:txBody>
          <a:bodyPr wrap="square" rtlCol="0">
            <a:spAutoFit/>
          </a:bodyPr>
          <a:p>
            <a:r>
              <a:rPr lang="zh-CN" altLang="en-US" b="1"/>
              <a:t>已知相机系中一点为</a:t>
            </a:r>
            <a:r>
              <a:rPr lang="en-US" altLang="zh-CN" b="1"/>
              <a:t>(Xc, Yc, Zc)</a:t>
            </a:r>
            <a:r>
              <a:rPr lang="zh-CN" altLang="en-US" b="1"/>
              <a:t>，求它在像素平面中的坐标</a:t>
            </a:r>
            <a:r>
              <a:rPr lang="en-US" altLang="zh-CN" b="1"/>
              <a:t>(u,v)</a:t>
            </a:r>
            <a:endParaRPr lang="en-US" altLang="zh-CN" b="1"/>
          </a:p>
        </p:txBody>
      </p:sp>
      <p:sp>
        <p:nvSpPr>
          <p:cNvPr id="10" name="文本框 9"/>
          <p:cNvSpPr txBox="1"/>
          <p:nvPr/>
        </p:nvSpPr>
        <p:spPr>
          <a:xfrm>
            <a:off x="933450" y="2290445"/>
            <a:ext cx="6695440" cy="368300"/>
          </a:xfrm>
          <a:prstGeom prst="rect">
            <a:avLst/>
          </a:prstGeom>
          <a:noFill/>
        </p:spPr>
        <p:txBody>
          <a:bodyPr wrap="square" rtlCol="0">
            <a:spAutoFit/>
          </a:bodyPr>
          <a:p>
            <a:r>
              <a:rPr lang="zh-CN" altLang="en-US" b="1"/>
              <a:t>虚拟成像平面系</a:t>
            </a:r>
            <a:r>
              <a:rPr lang="en-US" altLang="zh-CN" b="1"/>
              <a:t> -&gt; </a:t>
            </a:r>
            <a:r>
              <a:rPr lang="zh-CN" altLang="en-US" b="1"/>
              <a:t>像素平面系</a:t>
            </a:r>
            <a:endParaRPr lang="zh-CN" altLang="en-US" b="1"/>
          </a:p>
        </p:txBody>
      </p:sp>
      <mc:AlternateContent xmlns:mc="http://schemas.openxmlformats.org/markup-compatibility/2006">
        <mc:Choice xmlns:a14="http://schemas.microsoft.com/office/drawing/2010/main" Requires="a14">
          <p:sp>
            <p:nvSpPr>
              <p:cNvPr id="12" name="文本框 11"/>
              <p:cNvSpPr txBox="1"/>
              <p:nvPr/>
            </p:nvSpPr>
            <p:spPr>
              <a:xfrm>
                <a:off x="988695" y="2903855"/>
                <a:ext cx="6072505" cy="2793365"/>
              </a:xfrm>
              <a:prstGeom prst="rect">
                <a:avLst/>
              </a:prstGeom>
              <a:noFill/>
            </p:spPr>
            <p:txBody>
              <a:bodyPr wrap="square" rtlCol="0">
                <a:spAutoFit/>
              </a:bodyPr>
              <a:p>
                <a:r>
                  <a:rPr lang="zh-CN" altLang="en-US">
                    <a:sym typeface="+mn-ea"/>
                  </a:rPr>
                  <a:t>考虑</a:t>
                </a:r>
                <a:r>
                  <a:rPr lang="en-US" altLang="zh-CN">
                    <a:sym typeface="+mn-ea"/>
                  </a:rPr>
                  <a:t>dx (mm/pix) , dy (mm/pix)</a:t>
                </a:r>
                <a:endParaRPr lang="en-US" altLang="zh-CN">
                  <a:sym typeface="+mn-ea"/>
                </a:endParaRPr>
              </a:p>
              <a:p>
                <a:r>
                  <a:rPr lang="zh-CN" altLang="en-US">
                    <a:sym typeface="+mn-ea"/>
                  </a:rPr>
                  <a:t>每一毫米对应</a:t>
                </a:r>
                <a:r>
                  <a:rPr lang="en-US" altLang="zh-CN">
                    <a:sym typeface="+mn-ea"/>
                  </a:rPr>
                  <a:t>1/dx, 1/dy</a:t>
                </a:r>
                <a:r>
                  <a:rPr lang="zh-CN" altLang="en-US">
                    <a:sym typeface="+mn-ea"/>
                  </a:rPr>
                  <a:t>个像素</a:t>
                </a:r>
                <a:endParaRPr lang="zh-CN" altLang="en-US">
                  <a:sym typeface="+mn-ea"/>
                </a:endParaRPr>
              </a:p>
              <a:p>
                <a:endParaRPr lang="zh-CN" altLang="en-US">
                  <a:sym typeface="+mn-ea"/>
                </a:endParaRPr>
              </a:p>
              <a:p>
                <a:r>
                  <a:rPr lang="zh-CN" altLang="en-US">
                    <a:sym typeface="+mn-ea"/>
                  </a:rPr>
                  <a:t>且虚拟成像平面系和像素平面系</a:t>
                </a:r>
                <a:r>
                  <a:rPr lang="en-US" altLang="zh-CN">
                    <a:sym typeface="+mn-ea"/>
                  </a:rPr>
                  <a:t>x,y</a:t>
                </a:r>
                <a:r>
                  <a:rPr lang="zh-CN" altLang="en-US">
                    <a:sym typeface="+mn-ea"/>
                  </a:rPr>
                  <a:t>轴方向相同</a:t>
                </a:r>
                <a:endParaRPr lang="zh-CN" altLang="en-US">
                  <a:sym typeface="+mn-ea"/>
                </a:endParaRPr>
              </a:p>
              <a:p>
                <a:r>
                  <a:rPr lang="zh-CN" altLang="en-US">
                    <a:sym typeface="+mn-ea"/>
                  </a:rPr>
                  <a:t>原点的像素坐标为</a:t>
                </a:r>
                <a:r>
                  <a:rPr lang="en-US" altLang="zh-CN">
                    <a:sym typeface="+mn-ea"/>
                  </a:rPr>
                  <a:t>(u0,v0)</a:t>
                </a:r>
                <a:r>
                  <a:rPr lang="zh-CN" altLang="en-US">
                    <a:sym typeface="+mn-ea"/>
                  </a:rPr>
                  <a:t>，即平移向量为</a:t>
                </a:r>
                <a:r>
                  <a:rPr lang="en-US" altLang="zh-CN">
                    <a:sym typeface="+mn-ea"/>
                  </a:rPr>
                  <a:t>[u0,v0,1]^T</a:t>
                </a:r>
                <a:endParaRPr lang="en-US" altLang="zh-CN">
                  <a:sym typeface="+mn-ea"/>
                </a:endParaRPr>
              </a:p>
              <a:p>
                <a:endParaRPr lang="zh-CN" altLang="en-US">
                  <a:sym typeface="+mn-ea"/>
                </a:endParaRPr>
              </a:p>
              <a:p>
                <a:r>
                  <a:rPr lang="zh-CN" altLang="en-US">
                    <a:sym typeface="+mn-ea"/>
                  </a:rPr>
                  <a:t>因此列出变换矩阵</a:t>
                </a:r>
                <a:endParaRPr lang="zh-CN" altLang="en-US">
                  <a:sym typeface="+mn-ea"/>
                </a:endParaRPr>
              </a:p>
              <a:p>
                <a14:m>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𝑢</m:t>
                                    </m:r>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𝑣</m:t>
                                    </m:r>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a14:m>
                <a:r>
                  <a:rPr lang="en-US" altLang="zh-CN">
                    <a:sym typeface="+mn-ea"/>
                  </a:rPr>
                  <a:t> </a:t>
                </a:r>
                <a:endParaRPr lang="en-US" altLang="zh-CN">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988695" y="2903855"/>
                <a:ext cx="6072505" cy="2793365"/>
              </a:xfrm>
              <a:prstGeom prst="rect">
                <a:avLst/>
              </a:prstGeom>
              <a:blipFill rotWithShape="1">
                <a:blip r:embed="rId4"/>
                <a:stretch>
                  <a:fillRect/>
                </a:stretch>
              </a:blipFill>
            </p:spPr>
            <p:txBody>
              <a:bodyPr/>
              <a:lstStyle/>
              <a:p>
                <a:r>
                  <a:rPr lang="zh-CN" altLang="en-US">
                    <a:noFill/>
                  </a:rPr>
                  <a:t> </a:t>
                </a:r>
              </a:p>
            </p:txBody>
          </p:sp>
        </mc:Fallback>
      </mc:AlternateContent>
      <p:pic>
        <p:nvPicPr>
          <p:cNvPr id="4" name="图片 3"/>
          <p:cNvPicPr/>
          <p:nvPr/>
        </p:nvPicPr>
        <p:blipFill>
          <a:blip r:embed="rId5"/>
          <a:stretch>
            <a:fillRect/>
          </a:stretch>
        </p:blipFill>
        <p:spPr>
          <a:xfrm>
            <a:off x="7599045" y="2134870"/>
            <a:ext cx="4592955" cy="414210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11860" y="1218565"/>
            <a:ext cx="43218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重新推导相机内参矩阵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499870" y="2020570"/>
            <a:ext cx="8124825" cy="1291590"/>
          </a:xfrm>
          <a:prstGeom prst="rect">
            <a:avLst/>
          </a:prstGeom>
          <a:noFill/>
        </p:spPr>
        <p:txBody>
          <a:bodyPr wrap="square" rtlCol="0">
            <a:spAutoFit/>
          </a:bodyPr>
          <a:p>
            <a:endParaRPr lang="en-US" altLang="zh-CN" sz="2400">
              <a:solidFill>
                <a:schemeClr val="tx1"/>
              </a:solidFill>
              <a:effectLst>
                <a:outerShdw blurRad="38100" dist="19050" dir="2700000" algn="tl" rotWithShape="0">
                  <a:schemeClr val="dk1">
                    <a:alpha val="40000"/>
                  </a:schemeClr>
                </a:outerShdw>
              </a:effectLst>
            </a:endParaRPr>
          </a:p>
          <a:p>
            <a:endParaRPr lang="zh-CN" altLang="en-US"/>
          </a:p>
          <a:p>
            <a:endParaRPr lang="zh-CN" altLang="en-US"/>
          </a:p>
          <a:p>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1671320" y="1746885"/>
                <a:ext cx="9286875" cy="4944745"/>
              </a:xfrm>
              <a:prstGeom prst="rect">
                <a:avLst/>
              </a:prstGeom>
              <a:noFill/>
            </p:spPr>
            <p:txBody>
              <a:bodyPr wrap="square" rtlCol="0">
                <a:noAutofit/>
              </a:bodyPr>
              <a:p>
                <a:r>
                  <a:rPr lang="zh-CN" altLang="en-US"/>
                  <a:t>现在，相机系</a:t>
                </a:r>
                <a:r>
                  <a:rPr lang="en-US" altLang="zh-CN"/>
                  <a:t>-&gt; </a:t>
                </a:r>
                <a:r>
                  <a:rPr lang="zh-CN" altLang="en-US"/>
                  <a:t>未归一化投影平面系</a:t>
                </a:r>
                <a:r>
                  <a:rPr lang="en-US" altLang="zh-CN"/>
                  <a:t>: </a:t>
                </a:r>
                <a14:m>
                  <m:oMath xmlns:m="http://schemas.openxmlformats.org/officeDocument/2006/math">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mr>
                        </m:m>
                      </m:e>
                    </m:d>
                  </m:oMath>
                </a14:m>
                <a:endParaRPr lang="en-US" altLang="zh-CN" i="1">
                  <a:latin typeface="Cambria Math" panose="02040503050406030204" charset="0"/>
                  <a:cs typeface="Cambria Math" panose="02040503050406030204" charset="0"/>
                </a:endParaRPr>
              </a:p>
              <a:p>
                <a:endParaRPr lang="zh-CN" altLang="en-US" i="1">
                  <a:latin typeface="Cambria Math" panose="02040503050406030204" charset="0"/>
                  <a:cs typeface="Cambria Math" panose="02040503050406030204" charset="0"/>
                </a:endParaRPr>
              </a:p>
              <a:p>
                <a:r>
                  <a:rPr lang="zh-CN" altLang="en-US" i="1">
                    <a:latin typeface="Cambria Math" panose="02040503050406030204" charset="0"/>
                    <a:cs typeface="Cambria Math" panose="02040503050406030204" charset="0"/>
                  </a:rPr>
                  <a:t>然后进行非线性的归一化操作，得到归一化平面系</a:t>
                </a:r>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r>
                  <a:rPr lang="zh-CN" altLang="en-US">
                    <a:sym typeface="+mn-ea"/>
                  </a:rPr>
                  <a:t>归一化</a:t>
                </a:r>
                <a:r>
                  <a:rPr lang="zh-CN" altLang="en-US"/>
                  <a:t>平面系 </a:t>
                </a:r>
                <a:r>
                  <a:rPr lang="en-US" altLang="zh-CN"/>
                  <a:t>-&gt; </a:t>
                </a:r>
                <a:r>
                  <a:rPr lang="zh-CN" altLang="en-US"/>
                  <a:t>虚拟成像平面系</a:t>
                </a:r>
                <a:r>
                  <a:rPr lang="en-US" altLang="zh-CN"/>
                  <a:t>: </a:t>
                </a:r>
                <a14:m>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a14:m>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r>
                  <a:rPr lang="zh-CN" altLang="en-US">
                    <a:sym typeface="+mn-ea"/>
                  </a:rPr>
                  <a:t>虚拟成像平面系-&gt; 像素平面系</a:t>
                </a:r>
                <a:r>
                  <a:rPr lang="en-US" altLang="zh-CN">
                    <a:sym typeface="+mn-ea"/>
                  </a:rPr>
                  <a:t>: </a:t>
                </a:r>
                <a14:m>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𝑢</m:t>
                                    </m:r>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𝑣</m:t>
                                    </m:r>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a14:m>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r>
                  <a:rPr lang="zh-CN" altLang="en-US">
                    <a:sym typeface="+mn-ea"/>
                  </a:rPr>
                  <a:t>因此，相机系</a:t>
                </a:r>
                <a:r>
                  <a:rPr lang="en-US" altLang="zh-CN">
                    <a:sym typeface="+mn-ea"/>
                  </a:rPr>
                  <a:t>-&gt;</a:t>
                </a:r>
                <a:r>
                  <a:rPr lang="zh-CN" altLang="en-US">
                    <a:sym typeface="+mn-ea"/>
                  </a:rPr>
                  <a:t>像素系</a:t>
                </a:r>
                <a:r>
                  <a:rPr lang="en-US" altLang="zh-CN">
                    <a:sym typeface="+mn-ea"/>
                  </a:rPr>
                  <a:t>: </a:t>
                </a:r>
                <a14:m>
                  <m:oMath xmlns:m="http://schemas.openxmlformats.org/officeDocument/2006/math">
                    <m:sSubSup>
                      <m:sSubSupPr>
                        <m:ctrlPr>
                          <a:rPr lang="en-US" altLang="zh-CN" i="1">
                            <a:latin typeface="Cambria Math" panose="02040503050406030204" charset="0"/>
                            <a:cs typeface="Cambria Math" panose="02040503050406030204" charset="0"/>
                            <a:sym typeface="+mn-ea"/>
                          </a:rPr>
                        </m:ctrlPr>
                      </m:sSubSupPr>
                      <m:e>
                        <m:r>
                          <a:rPr lang="en-US" altLang="zh-CN" i="1">
                            <a:latin typeface="Cambria Math" panose="02040503050406030204" charset="0"/>
                            <a:cs typeface="Cambria Math" panose="02040503050406030204" charset="0"/>
                            <a:sym typeface="+mn-ea"/>
                          </a:rPr>
                          <m:t>𝑇</m:t>
                        </m:r>
                      </m:e>
                      <m:sub>
                        <m:r>
                          <a:rPr lang="en-US" altLang="zh-CN" i="1">
                            <a:latin typeface="Cambria Math" panose="02040503050406030204" charset="0"/>
                            <a:cs typeface="Cambria Math" panose="02040503050406030204" charset="0"/>
                            <a:sym typeface="+mn-ea"/>
                          </a:rPr>
                          <m:t>𝐶</m:t>
                        </m:r>
                      </m:sub>
                      <m:sup>
                        <m:r>
                          <a:rPr lang="en-US" altLang="zh-CN" i="1">
                            <a:latin typeface="Cambria Math" panose="02040503050406030204" charset="0"/>
                            <a:cs typeface="Cambria Math" panose="02040503050406030204" charset="0"/>
                            <a:sym typeface="+mn-ea"/>
                          </a:rPr>
                          <m:t>𝑃</m:t>
                        </m:r>
                      </m:sup>
                    </m:sSubSup>
                  </m:oMath>
                </a14:m>
                <a:r>
                  <a:rPr lang="en-US" altLang="zh-CN">
                    <a:sym typeface="+mn-ea"/>
                  </a:rPr>
                  <a:t> = </a:t>
                </a:r>
                <a14:m>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𝑃</m:t>
                    </m:r>
                  </m:oMath>
                </a14:m>
                <a:r>
                  <a:rPr lang="en-US" altLang="zh-CN">
                    <a:sym typeface="+mn-ea"/>
                  </a:rPr>
                  <a:t> </a:t>
                </a:r>
                <a:r>
                  <a:rPr lang="zh-CN" altLang="en-US">
                    <a:sym typeface="+mn-ea"/>
                  </a:rPr>
                  <a:t>，对于每一个齐次坐标</a:t>
                </a:r>
                <a:r>
                  <a:rPr lang="en-US" altLang="zh-CN">
                    <a:sym typeface="+mn-ea"/>
                  </a:rPr>
                  <a:t>[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𝑋𝑐</m:t>
                          </m:r>
                        </m:e>
                      </m:mr>
                      <m:mr>
                        <m:e>
                          <m:r>
                            <a:rPr lang="en-US" altLang="zh-CN" i="1">
                              <a:latin typeface="Cambria Math" panose="02040503050406030204" charset="0"/>
                              <a:cs typeface="Cambria Math" panose="02040503050406030204" charset="0"/>
                              <a:sym typeface="+mn-ea"/>
                            </a:rPr>
                            <m:t>𝑌𝑐</m:t>
                          </m:r>
                        </m:e>
                      </m:mr>
                      <m:mr>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𝑍𝑐</m:t>
                                </m:r>
                              </m:e>
                            </m:mr>
                            <m:mr>
                              <m:e>
                                <m:r>
                                  <a:rPr lang="en-US" altLang="zh-CN" i="1">
                                    <a:latin typeface="Cambria Math" panose="02040503050406030204" charset="0"/>
                                    <a:cs typeface="Cambria Math" panose="02040503050406030204" charset="0"/>
                                    <a:sym typeface="+mn-ea"/>
                                  </a:rPr>
                                  <m:t>1</m:t>
                                </m:r>
                              </m:e>
                            </m:mr>
                          </m:m>
                        </m:e>
                      </m:mr>
                    </m:m>
                    <m:r>
                      <a:rPr lang="en-US" altLang="zh-CN" i="1">
                        <a:latin typeface="Cambria Math" panose="02040503050406030204" charset="0"/>
                        <a:cs typeface="Cambria Math" panose="02040503050406030204" charset="0"/>
                        <a:sym typeface="+mn-ea"/>
                      </a:rPr>
                      <m:t> </m:t>
                    </m:r>
                  </m:oMath>
                </a14:m>
                <a:r>
                  <a:rPr lang="en-US" altLang="zh-CN">
                    <a:sym typeface="+mn-ea"/>
                  </a:rPr>
                  <a:t> ]</a:t>
                </a:r>
                <a:r>
                  <a:rPr lang="zh-CN" altLang="en-US">
                    <a:sym typeface="+mn-ea"/>
                  </a:rPr>
                  <a:t>而言，应用</a:t>
                </a:r>
                <a:r>
                  <a:rPr lang="en-US" altLang="zh-CN">
                    <a:sym typeface="+mn-ea"/>
                  </a:rPr>
                  <a:t>P</a:t>
                </a:r>
                <a:r>
                  <a:rPr lang="zh-CN" altLang="en-US">
                    <a:sym typeface="+mn-ea"/>
                  </a:rPr>
                  <a:t>后需要做独立的归一化</a:t>
                </a:r>
                <a:r>
                  <a:rPr lang="en-US" altLang="zh-CN">
                    <a:sym typeface="+mn-ea"/>
                  </a:rPr>
                  <a:t>(</a:t>
                </a:r>
                <a14:m>
                  <m:oMath xmlns:m="http://schemas.openxmlformats.org/officeDocument/2006/math">
                    <m:r>
                      <a:rPr lang="en-US" altLang="zh-CN" i="1">
                        <a:latin typeface="Cambria Math" panose="02040503050406030204" charset="0"/>
                        <a:cs typeface="Cambria Math" panose="02040503050406030204" charset="0"/>
                      </a:rPr>
                      <m:t> 乘上</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𝑍𝑐</m:t>
                    </m:r>
                  </m:oMath>
                </a14:m>
                <a:r>
                  <a:rPr lang="en-US" altLang="zh-CN">
                    <a:sym typeface="+mn-ea"/>
                  </a:rPr>
                  <a:t>)</a:t>
                </a:r>
                <a:r>
                  <a:rPr lang="zh-CN" altLang="en-US">
                    <a:sym typeface="+mn-ea"/>
                  </a:rPr>
                  <a:t>操作，因其为非线性变换，无法写入矩阵乘法链</a:t>
                </a:r>
                <a:endParaRPr lang="zh-CN" altLang="en-US">
                  <a:sym typeface="+mn-ea"/>
                </a:endParaRPr>
              </a:p>
              <a:p>
                <a:endParaRPr lang="zh-CN" altLang="en-US">
                  <a:sym typeface="+mn-ea"/>
                </a:endParaRPr>
              </a:p>
              <a:p>
                <a:endParaRPr lang="en-US" altLang="zh-CN"/>
              </a:p>
            </p:txBody>
          </p:sp>
        </mc:Choice>
        <mc:Fallback>
          <p:sp>
            <p:nvSpPr>
              <p:cNvPr id="9" name="文本框 8"/>
              <p:cNvSpPr txBox="1">
                <a:spLocks noRot="1" noChangeAspect="1" noMove="1" noResize="1" noEditPoints="1" noAdjustHandles="1" noChangeArrowheads="1" noChangeShapeType="1" noTextEdit="1"/>
              </p:cNvSpPr>
              <p:nvPr/>
            </p:nvSpPr>
            <p:spPr>
              <a:xfrm>
                <a:off x="1671320" y="1746885"/>
                <a:ext cx="9286875" cy="4944745"/>
              </a:xfrm>
              <a:prstGeom prst="rect">
                <a:avLst/>
              </a:prstGeom>
              <a:blipFill rotWithShape="1">
                <a:blip r:embed="rId3"/>
                <a:stretch>
                  <a:fillRect b="-8784"/>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11860" y="1218565"/>
            <a:ext cx="43218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重新推导相机内参矩阵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499870" y="2020570"/>
            <a:ext cx="8124825" cy="1291590"/>
          </a:xfrm>
          <a:prstGeom prst="rect">
            <a:avLst/>
          </a:prstGeom>
          <a:noFill/>
        </p:spPr>
        <p:txBody>
          <a:bodyPr wrap="square" rtlCol="0">
            <a:spAutoFit/>
          </a:bodyPr>
          <a:p>
            <a:endParaRPr lang="en-US" altLang="zh-CN" sz="2400">
              <a:solidFill>
                <a:schemeClr val="tx1"/>
              </a:solidFill>
              <a:effectLst>
                <a:outerShdw blurRad="38100" dist="19050" dir="2700000" algn="tl" rotWithShape="0">
                  <a:schemeClr val="dk1">
                    <a:alpha val="40000"/>
                  </a:schemeClr>
                </a:outerShdw>
              </a:effectLst>
            </a:endParaRPr>
          </a:p>
          <a:p>
            <a:endParaRPr lang="zh-CN" altLang="en-US"/>
          </a:p>
          <a:p>
            <a:endParaRPr lang="zh-CN" altLang="en-US"/>
          </a:p>
          <a:p>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1068705" y="1913255"/>
                <a:ext cx="10494645" cy="4944745"/>
              </a:xfrm>
              <a:prstGeom prst="rect">
                <a:avLst/>
              </a:prstGeom>
              <a:noFill/>
            </p:spPr>
            <p:txBody>
              <a:bodyPr wrap="square" rtlCol="0">
                <a:noAutofit/>
              </a:bodyPr>
              <a:p>
                <a:r>
                  <a:rPr lang="zh-CN" altLang="en-US">
                    <a:latin typeface="Cambria Math" panose="02040503050406030204" charset="0"/>
                    <a:cs typeface="Cambria Math" panose="02040503050406030204" charset="0"/>
                    <a:sym typeface="+mn-ea"/>
                  </a:rPr>
                  <a:t>记</a:t>
                </a:r>
                <a14:m>
                  <m:oMath xmlns:m="http://schemas.openxmlformats.org/officeDocument/2006/math">
                    <m:r>
                      <a:rPr lang="en-US" altLang="zh-CN" i="1">
                        <a:latin typeface="Cambria Math" panose="02040503050406030204" charset="0"/>
                        <a:cs typeface="Cambria Math" panose="02040503050406030204" charset="0"/>
                        <a:sym typeface="+mn-ea"/>
                      </a:rPr>
                      <m:t>𝐾</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𝐾</m:t>
                    </m:r>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𝑢</m:t>
                                    </m:r>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𝑣</m:t>
                                    </m:r>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𝑢</m:t>
                                    </m:r>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𝑣</m:t>
                                    </m:r>
                                    <m:r>
                                      <a:rPr lang="en-US" altLang="zh-CN" i="1">
                                        <a:latin typeface="Cambria Math" panose="02040503050406030204" charset="0"/>
                                        <a:cs typeface="Cambria Math" panose="02040503050406030204" charset="0"/>
                                        <a:sym typeface="+mn-ea"/>
                                      </a:rPr>
                                      <m:t>0</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r>
                                      <a:rPr lang="en-US" altLang="zh-CN" i="1">
                                        <a:latin typeface="Cambria Math" panose="02040503050406030204" charset="0"/>
                                        <a:cs typeface="Cambria Math" panose="02040503050406030204" charset="0"/>
                                        <a:sym typeface="+mn-ea"/>
                                      </a:rPr>
                                      <m:t> </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a14:m>
                <a:endParaRPr lang="en-US" altLang="zh-CN" i="1">
                  <a:latin typeface="Cambria Math" panose="02040503050406030204" charset="0"/>
                  <a:cs typeface="Cambria Math" panose="02040503050406030204" charset="0"/>
                  <a:sym typeface="+mn-ea"/>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sym typeface="+mn-ea"/>
                        </a:rPr>
                        <m:t> </m:t>
                      </m:r>
                    </m:oMath>
                  </m:oMathPara>
                </a14:m>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由于</a:t>
                </a:r>
                <a14:m>
                  <m:oMath xmlns:m="http://schemas.openxmlformats.org/officeDocument/2006/math">
                    <m:r>
                      <a:rPr lang="en-US" altLang="zh-CN" i="1">
                        <a:latin typeface="Cambria Math" panose="02040503050406030204" charset="0"/>
                        <a:cs typeface="Cambria Math" panose="02040503050406030204" charset="0"/>
                        <a:sym typeface="+mn-ea"/>
                      </a:rPr>
                      <m:t>𝑓𝑥</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𝑓</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𝑑𝑥</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𝑓𝑦</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𝑓</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𝑑𝑦</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𝑐𝑥</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𝑢</m:t>
                    </m:r>
                    <m:r>
                      <a:rPr lang="en-US" altLang="zh-CN" i="1">
                        <a:latin typeface="Cambria Math" panose="02040503050406030204" charset="0"/>
                        <a:cs typeface="Cambria Math" panose="02040503050406030204" charset="0"/>
                        <a:sym typeface="+mn-ea"/>
                      </a:rPr>
                      <m:t>0</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𝑣</m:t>
                    </m:r>
                    <m:r>
                      <a:rPr lang="en-US" altLang="zh-CN" i="1">
                        <a:latin typeface="Cambria Math" panose="02040503050406030204" charset="0"/>
                        <a:cs typeface="Cambria Math" panose="02040503050406030204" charset="0"/>
                        <a:sym typeface="+mn-ea"/>
                      </a:rPr>
                      <m:t>0</m:t>
                    </m:r>
                  </m:oMath>
                </a14:m>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因此</a:t>
                </a:r>
                <a:r>
                  <a:rPr lang="en-US" altLang="zh-CN">
                    <a:latin typeface="Cambria Math" panose="02040503050406030204" charset="0"/>
                    <a:cs typeface="Cambria Math" panose="02040503050406030204" charset="0"/>
                    <a:sym typeface="+mn-ea"/>
                  </a:rPr>
                  <a:t>K = </a:t>
                </a:r>
                <a14:m>
                  <m:oMath xmlns:m="http://schemas.openxmlformats.org/officeDocument/2006/math">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𝑐𝑥</m:t>
                                    </m:r>
                                  </m:e>
                                </m:mr>
                                <m:mr>
                                  <m:e>
                                    <m:r>
                                      <a:rPr lang="en-US" altLang="zh-CN" i="1">
                                        <a:latin typeface="Cambria Math" panose="02040503050406030204" charset="0"/>
                                        <a:cs typeface="Cambria Math" panose="02040503050406030204" charset="0"/>
                                        <a:sym typeface="+mn-ea"/>
                                      </a:rPr>
                                      <m:t>𝑐𝑦</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a14:m>
                <a:r>
                  <a:rPr lang="en-US" altLang="zh-CN" i="1">
                    <a:latin typeface="Cambria Math" panose="02040503050406030204" charset="0"/>
                    <a:cs typeface="Cambria Math" panose="02040503050406030204" charset="0"/>
                    <a:sym typeface="+mn-ea"/>
                  </a:rPr>
                  <a:t> </a:t>
                </a:r>
                <a:r>
                  <a:rPr lang="zh-CN" altLang="en-US" i="1">
                    <a:latin typeface="Cambria Math" panose="02040503050406030204" charset="0"/>
                    <a:cs typeface="Cambria Math" panose="02040503050406030204" charset="0"/>
                    <a:sym typeface="+mn-ea"/>
                  </a:rPr>
                  <a:t>，</a:t>
                </a:r>
                <a:r>
                  <a:rPr lang="zh-CN" altLang="en-US">
                    <a:latin typeface="Cambria Math" panose="02040503050406030204" charset="0"/>
                    <a:cs typeface="Cambria Math" panose="02040503050406030204" charset="0"/>
                    <a:sym typeface="+mn-ea"/>
                  </a:rPr>
                  <a:t>即内参矩阵。</a:t>
                </a:r>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14:m>
                  <m:oMath xmlns:m="http://schemas.openxmlformats.org/officeDocument/2006/math">
                    <m:sSubSup>
                      <m:sSubSupPr>
                        <m:ctrlPr>
                          <a:rPr lang="en-US" altLang="zh-CN" i="1">
                            <a:latin typeface="Cambria Math" panose="02040503050406030204" charset="0"/>
                            <a:cs typeface="Cambria Math" panose="02040503050406030204" charset="0"/>
                            <a:sym typeface="+mn-ea"/>
                          </a:rPr>
                        </m:ctrlPr>
                      </m:sSubSupPr>
                      <m:e>
                        <m:r>
                          <a:rPr lang="en-US" altLang="zh-CN" i="1">
                            <a:latin typeface="Cambria Math" panose="02040503050406030204" charset="0"/>
                            <a:cs typeface="Cambria Math" panose="02040503050406030204" charset="0"/>
                            <a:sym typeface="+mn-ea"/>
                          </a:rPr>
                          <m:t>𝑇</m:t>
                        </m:r>
                      </m:e>
                      <m:sub>
                        <m:r>
                          <a:rPr lang="en-US" altLang="zh-CN" i="1">
                            <a:latin typeface="Cambria Math" panose="02040503050406030204" charset="0"/>
                            <a:cs typeface="Cambria Math" panose="02040503050406030204" charset="0"/>
                            <a:sym typeface="+mn-ea"/>
                          </a:rPr>
                          <m:t>𝐶</m:t>
                        </m:r>
                      </m:sub>
                      <m:sup>
                        <m:r>
                          <a:rPr lang="en-US" altLang="zh-CN" i="1">
                            <a:latin typeface="Cambria Math" panose="02040503050406030204" charset="0"/>
                            <a:cs typeface="Cambria Math" panose="02040503050406030204" charset="0"/>
                            <a:sym typeface="+mn-ea"/>
                          </a:rPr>
                          <m:t>𝑃</m:t>
                        </m:r>
                      </m:sup>
                    </m:sSubSup>
                  </m:oMath>
                </a14:m>
                <a:r>
                  <a:rPr lang="en-US" altLang="zh-CN">
                    <a:sym typeface="+mn-ea"/>
                  </a:rPr>
                  <a:t> = </a:t>
                </a:r>
                <a14:m>
                  <m:oMath xmlns:m="http://schemas.openxmlformats.org/officeDocument/2006/math">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𝑇</m:t>
                    </m:r>
                    <m:r>
                      <a:rPr lang="en-US" altLang="zh-CN" i="1">
                        <a:latin typeface="Cambria Math" panose="02040503050406030204" charset="0"/>
                        <a:cs typeface="Cambria Math" panose="02040503050406030204" charset="0"/>
                        <a:sym typeface="+mn-ea"/>
                      </a:rPr>
                      <m:t>1</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𝑃</m:t>
                    </m:r>
                  </m:oMath>
                </a14:m>
                <a:r>
                  <a:rPr lang="zh-CN" altLang="en-US">
                    <a:latin typeface="Cambria Math" panose="02040503050406030204" charset="0"/>
                    <a:cs typeface="Cambria Math" panose="02040503050406030204" charset="0"/>
                  </a:rPr>
                  <a:t>，即内参矩阵</a:t>
                </a:r>
                <a:r>
                  <a:rPr lang="en-US" altLang="zh-CN">
                    <a:latin typeface="Cambria Math" panose="02040503050406030204" charset="0"/>
                    <a:cs typeface="Cambria Math" panose="02040503050406030204" charset="0"/>
                  </a:rPr>
                  <a:t> + </a:t>
                </a:r>
                <a:r>
                  <a:rPr lang="zh-CN" altLang="en-US">
                    <a:latin typeface="Cambria Math" panose="02040503050406030204" charset="0"/>
                    <a:cs typeface="Cambria Math" panose="02040503050406030204" charset="0"/>
                  </a:rPr>
                  <a:t>二维投影，即可将相机系的三维坐标转换为像素系的二维坐标，最后记得进行归一化。</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也即</a:t>
                </a:r>
                <a:r>
                  <a:rPr lang="en-US" altLang="zh-CN">
                    <a:latin typeface="Cambria Math" panose="02040503050406030204" charset="0"/>
                    <a:cs typeface="Cambria Math" panose="02040503050406030204" charset="0"/>
                  </a:rPr>
                  <a:t>: [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𝑢𝑤</m:t>
                                </m:r>
                              </m:e>
                            </m:mr>
                            <m:mr>
                              <m:e>
                                <m:r>
                                  <a:rPr lang="en-US" altLang="zh-CN" i="1">
                                    <a:latin typeface="Cambria Math" panose="02040503050406030204" charset="0"/>
                                    <a:cs typeface="Cambria Math" panose="02040503050406030204" charset="0"/>
                                  </a:rPr>
                                  <m:t>𝑣𝑤</m:t>
                                </m:r>
                              </m:e>
                            </m:mr>
                          </m:m>
                        </m:e>
                      </m:mr>
                      <m:mr>
                        <m:e>
                          <m:r>
                            <a:rPr lang="en-US" altLang="zh-CN" i="1">
                              <a:latin typeface="Cambria Math" panose="02040503050406030204" charset="0"/>
                              <a:cs typeface="Cambria Math" panose="02040503050406030204" charset="0"/>
                            </a:rPr>
                            <m:t>𝑤</m:t>
                          </m:r>
                        </m:e>
                      </m:mr>
                    </m:m>
                  </m:oMath>
                </a14:m>
                <a:r>
                  <a:rPr lang="en-US" altLang="zh-CN">
                    <a:latin typeface="Cambria Math" panose="02040503050406030204" charset="0"/>
                    <a:cs typeface="Cambria Math" panose="02040503050406030204" charset="0"/>
                  </a:rPr>
                  <a:t> ] = </a:t>
                </a:r>
                <a14:m>
                  <m:oMath xmlns:m="http://schemas.openxmlformats.org/officeDocument/2006/math">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𝑃</m:t>
                    </m:r>
                  </m:oMath>
                </a14:m>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 </m:t>
                    </m:r>
                  </m:oMath>
                </a14:m>
                <a:r>
                  <a:rPr lang="en-US" altLang="zh-CN">
                    <a:latin typeface="Cambria Math" panose="02040503050406030204" charset="0"/>
                    <a:cs typeface="Cambria Math" panose="02040503050406030204" charset="0"/>
                  </a:rPr>
                  <a:t>[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𝑋𝑐</m:t>
                          </m:r>
                        </m:e>
                      </m:mr>
                      <m:mr>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𝑌𝑐</m:t>
                                </m:r>
                              </m:e>
                            </m:mr>
                            <m:mr>
                              <m:e>
                                <m:r>
                                  <a:rPr lang="en-US" altLang="zh-CN" i="1">
                                    <a:latin typeface="Cambria Math" panose="02040503050406030204" charset="0"/>
                                    <a:cs typeface="Cambria Math" panose="02040503050406030204" charset="0"/>
                                  </a:rPr>
                                  <m:t>𝑍𝑐</m:t>
                                </m:r>
                              </m:e>
                            </m:mr>
                          </m:m>
                        </m:e>
                      </m:mr>
                      <m:mr>
                        <m:e>
                          <m:r>
                            <a:rPr lang="en-US" altLang="zh-CN" i="1">
                              <a:latin typeface="Cambria Math" panose="02040503050406030204" charset="0"/>
                              <a:cs typeface="Cambria Math" panose="02040503050406030204" charset="0"/>
                            </a:rPr>
                            <m:t>1</m:t>
                          </m:r>
                        </m:e>
                      </m:mr>
                    </m:m>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a:t>
                </a:r>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或</a:t>
                </a:r>
                <a:r>
                  <a:rPr lang="en-US" altLang="zh-CN">
                    <a:latin typeface="Cambria Math" panose="02040503050406030204" charset="0"/>
                    <a:cs typeface="Cambria Math" panose="02040503050406030204" charset="0"/>
                  </a:rPr>
                  <a:t> [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𝑢</m:t>
                                </m:r>
                              </m:e>
                            </m:mr>
                            <m:mr>
                              <m:e>
                                <m:r>
                                  <a:rPr lang="en-US" altLang="zh-CN" i="1">
                                    <a:latin typeface="Cambria Math" panose="02040503050406030204" charset="0"/>
                                    <a:cs typeface="Cambria Math" panose="02040503050406030204" charset="0"/>
                                  </a:rPr>
                                  <m:t>𝑣</m:t>
                                </m:r>
                              </m:e>
                            </m:mr>
                          </m:m>
                        </m:e>
                      </m:mr>
                      <m:mr>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oMath>
                </a14:m>
                <a:r>
                  <a:rPr lang="en-US" altLang="zh-CN">
                    <a:latin typeface="Cambria Math" panose="02040503050406030204" charset="0"/>
                    <a:cs typeface="Cambria Math" panose="02040503050406030204" charset="0"/>
                  </a:rPr>
                  <a:t> = </a:t>
                </a:r>
                <a14:m>
                  <m:oMath xmlns:m="http://schemas.openxmlformats.org/officeDocument/2006/math">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𝑍𝑐</m:t>
                    </m:r>
                    <m:r>
                      <a:rPr lang="en-US" altLang="zh-CN" i="1">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sym typeface="+mn-ea"/>
                      </a:rPr>
                      <m:t>[ </m:t>
                    </m:r>
                    <m:m>
                      <m:mPr>
                        <m:mcs>
                          <m:mc>
                            <m:mcPr>
                              <m:count m:val="1"/>
                              <m:mcJc m:val="center"/>
                            </m:mcPr>
                          </m:mc>
                        </m:mcs>
                        <m:ctrlPr>
                          <a:rPr lang="en-US" altLang="zh-CN" i="1">
                            <a:latin typeface="Cambria Math" panose="02040503050406030204" charset="0"/>
                            <a:cs typeface="Cambria Math" panose="02040503050406030204" charset="0"/>
                            <a:sym typeface="+mn-ea"/>
                          </a:rPr>
                        </m:ctrlPr>
                      </m:mPr>
                      <m:mr>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𝑋𝑐</m:t>
                                </m:r>
                              </m:e>
                            </m:mr>
                            <m:mr>
                              <m:e>
                                <m:r>
                                  <a:rPr lang="en-US" altLang="zh-CN" i="1">
                                    <a:latin typeface="Cambria Math" panose="02040503050406030204" charset="0"/>
                                    <a:cs typeface="Cambria Math" panose="02040503050406030204" charset="0"/>
                                    <a:sym typeface="+mn-ea"/>
                                  </a:rPr>
                                  <m:t>𝑌𝑐</m:t>
                                </m:r>
                              </m:e>
                            </m:mr>
                          </m:m>
                        </m:e>
                      </m:mr>
                      <m:mr>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𝑍𝑐</m:t>
                                </m:r>
                              </m:e>
                            </m:mr>
                            <m:mr>
                              <m:e>
                                <m:r>
                                  <a:rPr lang="en-US" altLang="zh-CN" i="1">
                                    <a:latin typeface="Cambria Math" panose="02040503050406030204" charset="0"/>
                                    <a:cs typeface="Cambria Math" panose="02040503050406030204" charset="0"/>
                                    <a:sym typeface="+mn-ea"/>
                                  </a:rPr>
                                  <m:t>1</m:t>
                                </m:r>
                              </m:e>
                            </m:mr>
                          </m:m>
                        </m:e>
                      </m:mr>
                    </m:m>
                    <m:r>
                      <a:rPr lang="en-US" altLang="zh-CN">
                        <a:latin typeface="Cambria Math" panose="02040503050406030204" charset="0"/>
                        <a:cs typeface="Cambria Math" panose="02040503050406030204" charset="0"/>
                        <a:sym typeface="+mn-ea"/>
                      </a:rPr>
                      <m:t> </m:t>
                    </m:r>
                    <m:r>
                      <a:rPr lang="en-US" altLang="zh-CN">
                        <a:latin typeface="Cambria Math" panose="02040503050406030204" charset="0"/>
                        <a:cs typeface="Cambria Math" panose="02040503050406030204" charset="0"/>
                        <a:sym typeface="+mn-ea"/>
                      </a:rPr>
                      <m:t>]</m:t>
                    </m:r>
                    <m:r>
                      <a:rPr lang="en-US" altLang="zh-CN">
                        <a:latin typeface="Cambria Math" panose="02040503050406030204" charset="0"/>
                        <a:cs typeface="Cambria Math" panose="02040503050406030204" charset="0"/>
                        <a:sym typeface="+mn-ea"/>
                      </a:rPr>
                      <m:t>) , 也有</m:t>
                    </m:r>
                  </m:oMath>
                </a14:m>
                <a:r>
                  <a:rPr lang="en-US" altLang="zh-CN">
                    <a:latin typeface="Cambria Math" panose="02040503050406030204" charset="0"/>
                    <a:cs typeface="Cambria Math" panose="02040503050406030204" charset="0"/>
                    <a:sym typeface="+mn-ea"/>
                  </a:rPr>
                  <a:t> [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𝑢</m:t>
                                </m:r>
                              </m:e>
                            </m:mr>
                            <m:mr>
                              <m:e>
                                <m:r>
                                  <a:rPr lang="en-US" altLang="zh-CN" i="1">
                                    <a:latin typeface="Cambria Math" panose="02040503050406030204" charset="0"/>
                                    <a:cs typeface="Cambria Math" panose="02040503050406030204" charset="0"/>
                                  </a:rPr>
                                  <m:t>𝑣</m:t>
                                </m:r>
                              </m:e>
                            </m:mr>
                          </m:m>
                        </m:e>
                      </m:mr>
                      <m:mr>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oMath>
                </a14:m>
                <a:r>
                  <a:rPr lang="en-US" altLang="zh-CN">
                    <a:latin typeface="Cambria Math" panose="02040503050406030204" charset="0"/>
                    <a:cs typeface="Cambria Math" panose="02040503050406030204" charset="0"/>
                    <a:sym typeface="+mn-ea"/>
                  </a:rPr>
                  <a:t> = </a:t>
                </a:r>
                <a14:m>
                  <m:oMath xmlns:m="http://schemas.openxmlformats.org/officeDocument/2006/math">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𝑍𝑐</m:t>
                    </m:r>
                    <m:r>
                      <a:rPr lang="en-US" altLang="zh-CN" i="1">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sym typeface="+mn-ea"/>
                      </a:rPr>
                      <m:t>[ </m:t>
                    </m:r>
                    <m:m>
                      <m:mPr>
                        <m:mcs>
                          <m:mc>
                            <m:mcPr>
                              <m:count m:val="1"/>
                              <m:mcJc m:val="center"/>
                            </m:mcPr>
                          </m:mc>
                        </m:mcs>
                        <m:ctrlPr>
                          <a:rPr lang="en-US" altLang="zh-CN" i="1">
                            <a:latin typeface="Cambria Math" panose="02040503050406030204" charset="0"/>
                            <a:cs typeface="Cambria Math" panose="02040503050406030204" charset="0"/>
                            <a:sym typeface="+mn-ea"/>
                          </a:rPr>
                        </m:ctrlPr>
                      </m:mPr>
                      <m:mr>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𝑋𝑐</m:t>
                                </m:r>
                              </m:e>
                            </m:mr>
                            <m:mr>
                              <m:e>
                                <m:r>
                                  <a:rPr lang="en-US" altLang="zh-CN" i="1">
                                    <a:latin typeface="Cambria Math" panose="02040503050406030204" charset="0"/>
                                    <a:cs typeface="Cambria Math" panose="02040503050406030204" charset="0"/>
                                    <a:sym typeface="+mn-ea"/>
                                  </a:rPr>
                                  <m:t>𝑌𝑐</m:t>
                                </m:r>
                              </m:e>
                            </m:mr>
                          </m:m>
                        </m:e>
                      </m:mr>
                      <m:mr>
                        <m:e>
                          <m:r>
                            <a:rPr lang="en-US" altLang="zh-CN" i="1">
                              <a:latin typeface="Cambria Math" panose="02040503050406030204" charset="0"/>
                              <a:cs typeface="Cambria Math" panose="02040503050406030204" charset="0"/>
                              <a:sym typeface="+mn-ea"/>
                            </a:rPr>
                            <m:t>𝑍𝑐</m:t>
                          </m:r>
                        </m:e>
                      </m:mr>
                    </m:m>
                    <m:r>
                      <a:rPr lang="en-US" altLang="zh-CN">
                        <a:latin typeface="Cambria Math" panose="02040503050406030204" charset="0"/>
                        <a:cs typeface="Cambria Math" panose="02040503050406030204" charset="0"/>
                        <a:sym typeface="+mn-ea"/>
                      </a:rPr>
                      <m:t> ])</m:t>
                    </m:r>
                  </m:oMath>
                </a14:m>
                <a:endParaRPr lang="en-US" altLang="zh-CN">
                  <a:latin typeface="Cambria Math" panose="02040503050406030204" charset="0"/>
                  <a:cs typeface="Cambria Math" panose="02040503050406030204"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068705" y="1913255"/>
                <a:ext cx="10494645" cy="494474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027493" y="1142516"/>
            <a:ext cx="3361033"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相机内参矩阵</a:t>
            </a:r>
            <a:endParaRPr lang="zh-CN" altLang="en-US" sz="3200" b="1" dirty="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2141220" y="2143125"/>
                <a:ext cx="6096000" cy="1003935"/>
              </a:xfrm>
              <a:prstGeom prst="rect">
                <a:avLst/>
              </a:prstGeom>
              <a:noFill/>
            </p:spPr>
            <p:txBody>
              <a:bodyPr wrap="square" rtlCol="0" anchor="t">
                <a:noAutofit/>
              </a:bodyPr>
              <a:p>
                <a:r>
                  <a:rPr lang="zh-CN" altLang="en-US">
                    <a:latin typeface="Cambria Math" panose="02040503050406030204" charset="0"/>
                    <a:cs typeface="Cambria Math" panose="02040503050406030204" charset="0"/>
                    <a:sym typeface="+mn-ea"/>
                  </a:rPr>
                  <a:t>内参矩阵</a:t>
                </a:r>
                <a:r>
                  <a:rPr lang="en-US" altLang="zh-CN">
                    <a:latin typeface="Cambria Math" panose="02040503050406030204" charset="0"/>
                    <a:cs typeface="Cambria Math" panose="02040503050406030204" charset="0"/>
                    <a:sym typeface="+mn-ea"/>
                  </a:rPr>
                  <a:t> K = </a:t>
                </a:r>
                <a14:m>
                  <m:oMath xmlns:m="http://schemas.openxmlformats.org/officeDocument/2006/math">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𝑐𝑥</m:t>
                                    </m:r>
                                  </m:e>
                                </m:mr>
                                <m:mr>
                                  <m:e>
                                    <m:r>
                                      <a:rPr lang="en-US" altLang="zh-CN" i="1">
                                        <a:latin typeface="Cambria Math" panose="02040503050406030204" charset="0"/>
                                        <a:cs typeface="Cambria Math" panose="02040503050406030204" charset="0"/>
                                        <a:sym typeface="+mn-ea"/>
                                      </a:rPr>
                                      <m:t>𝑐𝑦</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oMath>
                </a14:m>
                <a:r>
                  <a:rPr lang="en-US" altLang="zh-CN" i="1">
                    <a:latin typeface="Cambria Math" panose="02040503050406030204" charset="0"/>
                    <a:cs typeface="Cambria Math" panose="02040503050406030204" charset="0"/>
                    <a:sym typeface="+mn-ea"/>
                  </a:rPr>
                  <a:t> </a:t>
                </a:r>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a:p>
                <a:endParaRPr lang="en-US" altLang="zh-CN" i="1">
                  <a:latin typeface="Cambria Math" panose="02040503050406030204" charset="0"/>
                  <a:cs typeface="Cambria Math" panose="02040503050406030204" charset="0"/>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2141220" y="2143125"/>
                <a:ext cx="6096000" cy="1003935"/>
              </a:xfrm>
              <a:prstGeom prst="rect">
                <a:avLst/>
              </a:prstGeom>
              <a:blipFill rotWithShape="1">
                <a:blip r:embed="rId3"/>
                <a:stretch>
                  <a:fillRect b="-89437"/>
                </a:stretch>
              </a:blipFill>
            </p:spPr>
            <p:txBody>
              <a:bodyPr/>
              <a:lstStyle/>
              <a:p>
                <a:r>
                  <a:rPr lang="zh-CN" altLang="en-US">
                    <a:noFill/>
                  </a:rPr>
                  <a:t> </a:t>
                </a:r>
              </a:p>
            </p:txBody>
          </p:sp>
        </mc:Fallback>
      </mc:AlternateContent>
      <p:sp>
        <p:nvSpPr>
          <p:cNvPr id="4" name="文本框 3"/>
          <p:cNvSpPr txBox="1"/>
          <p:nvPr/>
        </p:nvSpPr>
        <p:spPr>
          <a:xfrm>
            <a:off x="2396490" y="4905375"/>
            <a:ext cx="9935845" cy="1476375"/>
          </a:xfrm>
          <a:prstGeom prst="rect">
            <a:avLst/>
          </a:prstGeom>
          <a:noFill/>
        </p:spPr>
        <p:txBody>
          <a:bodyPr wrap="square" rtlCol="0">
            <a:spAutoFit/>
          </a:bodyPr>
          <a:p>
            <a:r>
              <a:rPr lang="zh-CN" altLang="en-US">
                <a:latin typeface="微软雅黑" panose="020B0503020204020204" charset="-122"/>
                <a:ea typeface="微软雅黑" panose="020B0503020204020204" charset="-122"/>
                <a:cs typeface="微软雅黑" panose="020B0503020204020204" charset="-122"/>
              </a:rPr>
              <a:t>其意义在于：</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将归一化的成像平面系</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例如</a:t>
            </a:r>
            <a:r>
              <a:rPr lang="en-US" altLang="zh-CN">
                <a:latin typeface="微软雅黑" panose="020B0503020204020204" charset="-122"/>
                <a:ea typeface="微软雅黑" panose="020B0503020204020204" charset="-122"/>
                <a:cs typeface="微软雅黑" panose="020B0503020204020204" charset="-122"/>
              </a:rPr>
              <a:t>[Xc/Zc, Yc/Zc, 1]^T)</a:t>
            </a:r>
            <a:endParaRPr lang="en-US" altLang="zh-CN">
              <a:latin typeface="微软雅黑" panose="020B0503020204020204" charset="-122"/>
              <a:ea typeface="微软雅黑" panose="020B0503020204020204" charset="-122"/>
              <a:cs typeface="微软雅黑" panose="020B0503020204020204" charset="-122"/>
            </a:endParaRPr>
          </a:p>
          <a:p>
            <a:endParaRPr lang="en-US" altLang="zh-CN">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转换为像素坐标系</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例如</a:t>
            </a:r>
            <a:r>
              <a:rPr lang="en-US" altLang="zh-CN">
                <a:latin typeface="微软雅黑" panose="020B0503020204020204" charset="-122"/>
                <a:ea typeface="微软雅黑" panose="020B0503020204020204" charset="-122"/>
                <a:cs typeface="微软雅黑" panose="020B0503020204020204" charset="-122"/>
              </a:rPr>
              <a:t>[u, v, 1]^T)</a:t>
            </a:r>
            <a:endParaRPr lang="en-US" altLang="zh-CN">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文本框 8"/>
              <p:cNvSpPr txBox="1"/>
              <p:nvPr/>
            </p:nvSpPr>
            <p:spPr>
              <a:xfrm>
                <a:off x="3660140" y="3404235"/>
                <a:ext cx="2875915" cy="1051560"/>
              </a:xfrm>
              <a:prstGeom prst="rect">
                <a:avLst/>
              </a:prstGeom>
              <a:noFill/>
            </p:spPr>
            <p:txBody>
              <a:bodyPr wrap="square" rtlCol="0">
                <a:spAutoFit/>
              </a:bodyPr>
              <a:p>
                <a:r>
                  <a:rPr lang="en-US" altLang="zh-CN">
                    <a:latin typeface="Cambria Math" panose="02040503050406030204" charset="0"/>
                    <a:cs typeface="Cambria Math" panose="02040503050406030204" charset="0"/>
                    <a:sym typeface="+mn-ea"/>
                  </a:rPr>
                  <a:t> [ </a:t>
                </a:r>
                <a14:m>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𝑢</m:t>
                                </m:r>
                              </m:e>
                            </m:mr>
                            <m:mr>
                              <m:e>
                                <m:r>
                                  <a:rPr lang="en-US" altLang="zh-CN" i="1">
                                    <a:latin typeface="Cambria Math" panose="02040503050406030204" charset="0"/>
                                    <a:cs typeface="Cambria Math" panose="02040503050406030204" charset="0"/>
                                  </a:rPr>
                                  <m:t>𝑣</m:t>
                                </m:r>
                              </m:e>
                            </m:mr>
                          </m:m>
                        </m:e>
                      </m:mr>
                      <m:mr>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oMath>
                </a14:m>
                <a:r>
                  <a:rPr lang="en-US" altLang="zh-CN">
                    <a:latin typeface="Cambria Math" panose="02040503050406030204" charset="0"/>
                    <a:cs typeface="Cambria Math" panose="02040503050406030204" charset="0"/>
                    <a:sym typeface="+mn-ea"/>
                  </a:rPr>
                  <a:t> = </a:t>
                </a:r>
                <a14:m>
                  <m:oMath xmlns:m="http://schemas.openxmlformats.org/officeDocument/2006/math">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𝑍𝑐</m:t>
                    </m:r>
                    <m:r>
                      <a:rPr lang="en-US" altLang="zh-CN" i="1">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sym typeface="+mn-ea"/>
                      </a:rPr>
                      <m:t>[ </m:t>
                    </m:r>
                    <m:m>
                      <m:mPr>
                        <m:mcs>
                          <m:mc>
                            <m:mcPr>
                              <m:count m:val="1"/>
                              <m:mcJc m:val="center"/>
                            </m:mcPr>
                          </m:mc>
                        </m:mcs>
                        <m:ctrlPr>
                          <a:rPr lang="en-US" altLang="zh-CN" i="1">
                            <a:latin typeface="Cambria Math" panose="02040503050406030204" charset="0"/>
                            <a:cs typeface="Cambria Math" panose="02040503050406030204" charset="0"/>
                            <a:sym typeface="+mn-ea"/>
                          </a:rPr>
                        </m:ctrlPr>
                      </m:mPr>
                      <m:mr>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𝑋𝑐</m:t>
                                </m:r>
                              </m:e>
                            </m:mr>
                            <m:mr>
                              <m:e>
                                <m:r>
                                  <a:rPr lang="en-US" altLang="zh-CN" i="1">
                                    <a:latin typeface="Cambria Math" panose="02040503050406030204" charset="0"/>
                                    <a:cs typeface="Cambria Math" panose="02040503050406030204" charset="0"/>
                                    <a:sym typeface="+mn-ea"/>
                                  </a:rPr>
                                  <m:t>𝑌𝑐</m:t>
                                </m:r>
                              </m:e>
                            </m:mr>
                          </m:m>
                        </m:e>
                      </m:mr>
                      <m:mr>
                        <m:e>
                          <m:r>
                            <a:rPr lang="en-US" altLang="zh-CN" i="1">
                              <a:latin typeface="Cambria Math" panose="02040503050406030204" charset="0"/>
                              <a:cs typeface="Cambria Math" panose="02040503050406030204" charset="0"/>
                              <a:sym typeface="+mn-ea"/>
                            </a:rPr>
                            <m:t>𝑍𝑐</m:t>
                          </m:r>
                        </m:e>
                      </m:mr>
                    </m:m>
                    <m:r>
                      <a:rPr lang="en-US" altLang="zh-CN">
                        <a:latin typeface="Cambria Math" panose="02040503050406030204" charset="0"/>
                        <a:cs typeface="Cambria Math" panose="02040503050406030204" charset="0"/>
                        <a:sym typeface="+mn-ea"/>
                      </a:rPr>
                      <m:t> ])</m:t>
                    </m:r>
                  </m:oMath>
                </a14:m>
                <a:endParaRPr lang="en-US" altLang="zh-CN">
                  <a:latin typeface="Cambria Math" panose="02040503050406030204" charset="0"/>
                  <a:cs typeface="Cambria Math" panose="02040503050406030204" charset="0"/>
                </a:endParaRPr>
              </a:p>
              <a:p>
                <a:endParaRPr lang="zh-CN" altLang="en-US"/>
              </a:p>
            </p:txBody>
          </p:sp>
        </mc:Choice>
        <mc:Fallback>
          <p:sp>
            <p:nvSpPr>
              <p:cNvPr id="9" name="文本框 8"/>
              <p:cNvSpPr txBox="1">
                <a:spLocks noRot="1" noChangeAspect="1" noMove="1" noResize="1" noEditPoints="1" noAdjustHandles="1" noChangeArrowheads="1" noChangeShapeType="1" noTextEdit="1"/>
              </p:cNvSpPr>
              <p:nvPr/>
            </p:nvSpPr>
            <p:spPr>
              <a:xfrm>
                <a:off x="3660140" y="3404235"/>
                <a:ext cx="2875915" cy="105156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159510" y="127063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多重坐标系变换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86155" y="2124710"/>
                <a:ext cx="10432415" cy="2175510"/>
              </a:xfrm>
              <a:prstGeom prst="rect">
                <a:avLst/>
              </a:prstGeom>
              <a:noFill/>
            </p:spPr>
            <p:txBody>
              <a:bodyPr wrap="square" rtlCol="0">
                <a:noAutofit/>
              </a:bodyPr>
              <a:p>
                <a:r>
                  <a:rPr lang="zh-CN" altLang="en-US"/>
                  <a:t>现在，无人机的世界系</a:t>
                </a:r>
                <a:r>
                  <a:rPr lang="en-US" altLang="zh-CN"/>
                  <a:t>Hw</a:t>
                </a:r>
                <a:r>
                  <a:rPr lang="zh-CN" altLang="en-US"/>
                  <a:t>以起飞时的点为原点，向前为</a:t>
                </a:r>
                <a:r>
                  <a:rPr lang="en-US" altLang="zh-CN"/>
                  <a:t>x</a:t>
                </a:r>
                <a:r>
                  <a:rPr lang="zh-CN" altLang="en-US"/>
                  <a:t>轴正方向，向左为</a:t>
                </a:r>
                <a:r>
                  <a:rPr lang="en-US" altLang="zh-CN"/>
                  <a:t>y</a:t>
                </a:r>
                <a:r>
                  <a:rPr lang="zh-CN" altLang="en-US"/>
                  <a:t>轴正方向，向上为</a:t>
                </a:r>
                <a:r>
                  <a:rPr lang="en-US" altLang="zh-CN"/>
                  <a:t>z</a:t>
                </a:r>
                <a:r>
                  <a:rPr lang="zh-CN" altLang="en-US"/>
                  <a:t>轴正方向；</a:t>
                </a:r>
                <a:endParaRPr lang="zh-CN" altLang="en-US"/>
              </a:p>
              <a:p>
                <a:r>
                  <a:rPr lang="zh-CN" altLang="en-US"/>
                  <a:t>无人机的机体系</a:t>
                </a:r>
                <a:r>
                  <a:rPr lang="en-US" altLang="zh-CN"/>
                  <a:t>Hb</a:t>
                </a:r>
                <a:r>
                  <a:rPr lang="zh-CN" altLang="en-US"/>
                  <a:t>原点在世界系中坐标为</a:t>
                </a:r>
                <a:r>
                  <a:rPr lang="en-US" altLang="zh-CN"/>
                  <a:t>(Xw,Yw,Zw)</a:t>
                </a:r>
                <a:r>
                  <a:rPr lang="zh-CN" altLang="en-US"/>
                  <a:t>，</a:t>
                </a:r>
                <a:r>
                  <a:rPr lang="en-US" altLang="zh-CN">
                    <a:sym typeface="+mn-ea"/>
                  </a:rPr>
                  <a:t>x,y</a:t>
                </a:r>
                <a:r>
                  <a:rPr lang="zh-CN" altLang="en-US">
                    <a:sym typeface="+mn-ea"/>
                  </a:rPr>
                  <a:t>轴均由</a:t>
                </a:r>
                <a:r>
                  <a:rPr lang="en-US" altLang="zh-CN">
                    <a:sym typeface="+mn-ea"/>
                  </a:rPr>
                  <a:t>Hw</a:t>
                </a:r>
                <a:r>
                  <a:rPr lang="zh-CN" altLang="en-US">
                    <a:sym typeface="+mn-ea"/>
                  </a:rPr>
                  <a:t>沿</a:t>
                </a:r>
                <a:r>
                  <a:rPr lang="en-US" altLang="zh-CN">
                    <a:sym typeface="+mn-ea"/>
                  </a:rPr>
                  <a:t>z</a:t>
                </a:r>
                <a:r>
                  <a:rPr lang="zh-CN" altLang="en-US">
                    <a:sym typeface="+mn-ea"/>
                  </a:rPr>
                  <a:t>轴逆时针旋转</a:t>
                </a:r>
                <a:r>
                  <a:rPr lang="en-US" altLang="zh-CN">
                    <a:sym typeface="+mn-ea"/>
                  </a:rPr>
                  <a:t>θ</a:t>
                </a:r>
                <a:r>
                  <a:rPr lang="zh-CN" altLang="en-US">
                    <a:sym typeface="+mn-ea"/>
                  </a:rPr>
                  <a:t>得到</a:t>
                </a:r>
                <a:r>
                  <a:rPr lang="zh-CN" altLang="en-US"/>
                  <a:t>，计算从世界系到机体系的变换矩阵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𝑏</m:t>
                        </m:r>
                      </m:sup>
                    </m:sSubSup>
                  </m:oMath>
                </a14:m>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986155" y="2124710"/>
                <a:ext cx="10432415" cy="217551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159510" y="127063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多重坐标系变换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86155" y="1959610"/>
                <a:ext cx="10432415" cy="1214755"/>
              </a:xfrm>
              <a:prstGeom prst="rect">
                <a:avLst/>
              </a:prstGeom>
              <a:noFill/>
            </p:spPr>
            <p:txBody>
              <a:bodyPr wrap="square" rtlCol="0">
                <a:spAutoFit/>
              </a:bodyPr>
              <a:p>
                <a:r>
                  <a:rPr lang="zh-CN" altLang="en-US"/>
                  <a:t>现在，无人机的世界系</a:t>
                </a:r>
                <a:r>
                  <a:rPr lang="en-US" altLang="zh-CN"/>
                  <a:t>Hw</a:t>
                </a:r>
                <a:r>
                  <a:rPr lang="zh-CN" altLang="en-US"/>
                  <a:t>以起飞时的点为原点，向前为</a:t>
                </a:r>
                <a:r>
                  <a:rPr lang="en-US" altLang="zh-CN"/>
                  <a:t>x</a:t>
                </a:r>
                <a:r>
                  <a:rPr lang="zh-CN" altLang="en-US"/>
                  <a:t>轴正方向，向左为</a:t>
                </a:r>
                <a:r>
                  <a:rPr lang="en-US" altLang="zh-CN"/>
                  <a:t>y</a:t>
                </a:r>
                <a:r>
                  <a:rPr lang="zh-CN" altLang="en-US"/>
                  <a:t>轴正方向，向上为</a:t>
                </a:r>
                <a:r>
                  <a:rPr lang="en-US" altLang="zh-CN"/>
                  <a:t>z</a:t>
                </a:r>
                <a:r>
                  <a:rPr lang="zh-CN" altLang="en-US"/>
                  <a:t>轴正方向；</a:t>
                </a:r>
                <a:endParaRPr lang="zh-CN" altLang="en-US"/>
              </a:p>
              <a:p>
                <a:r>
                  <a:rPr lang="zh-CN" altLang="en-US"/>
                  <a:t>无人机的机体系</a:t>
                </a:r>
                <a:r>
                  <a:rPr lang="en-US" altLang="zh-CN"/>
                  <a:t>Hb</a:t>
                </a:r>
                <a:r>
                  <a:rPr lang="zh-CN" altLang="en-US"/>
                  <a:t>原点在世界系中坐标为</a:t>
                </a:r>
                <a:r>
                  <a:rPr lang="en-US" altLang="zh-CN"/>
                  <a:t>(Xw,Yw,Zw)</a:t>
                </a:r>
                <a:r>
                  <a:rPr lang="zh-CN" altLang="en-US"/>
                  <a:t>，</a:t>
                </a:r>
                <a:r>
                  <a:rPr lang="en-US" altLang="zh-CN"/>
                  <a:t>x,y</a:t>
                </a:r>
                <a:r>
                  <a:rPr lang="zh-CN" altLang="en-US"/>
                  <a:t>轴均由</a:t>
                </a:r>
                <a:r>
                  <a:rPr lang="en-US" altLang="zh-CN"/>
                  <a:t>Hw</a:t>
                </a:r>
                <a:r>
                  <a:rPr lang="zh-CN" altLang="en-US"/>
                  <a:t>沿</a:t>
                </a:r>
                <a:r>
                  <a:rPr lang="en-US" altLang="zh-CN"/>
                  <a:t>z</a:t>
                </a:r>
                <a:r>
                  <a:rPr lang="zh-CN" altLang="en-US"/>
                  <a:t>轴逆时针旋转</a:t>
                </a:r>
                <a:r>
                  <a:rPr lang="en-US" altLang="zh-CN"/>
                  <a:t>θ</a:t>
                </a:r>
                <a:r>
                  <a:rPr lang="zh-CN" altLang="en-US"/>
                  <a:t>得到，计算从世界系到机体系的变换矩阵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𝑏</m:t>
                        </m:r>
                      </m:sup>
                    </m:sSubSup>
                  </m:oMath>
                </a14:m>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986155" y="1959610"/>
                <a:ext cx="10432415" cy="121475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674495" y="3174365"/>
                <a:ext cx="6122670" cy="2009775"/>
              </a:xfrm>
              <a:prstGeom prst="rect">
                <a:avLst/>
              </a:prstGeom>
              <a:noFill/>
            </p:spPr>
            <p:txBody>
              <a:bodyPr wrap="square" rtlCol="0" anchor="t">
                <a:spAutoFit/>
              </a:bodyPr>
              <a:p>
                <a:r>
                  <a:rPr lang="zh-CN" altLang="en-US">
                    <a:latin typeface="Cambria Math" panose="02040503050406030204" charset="0"/>
                    <a:cs typeface="Cambria Math" panose="02040503050406030204" charset="0"/>
                  </a:rPr>
                  <a:t>先</a:t>
                </a:r>
                <a14:m>
                  <m:oMath xmlns:m="http://schemas.openxmlformats.org/officeDocument/2006/math">
                    <m:r>
                      <a:rPr lang="en-US" altLang="zh-CN">
                        <a:latin typeface="Cambria Math" panose="02040503050406030204" charset="0"/>
                        <a:cs typeface="Cambria Math" panose="02040503050406030204" charset="0"/>
                      </a:rPr>
                      <m:t>将(</m:t>
                    </m:r>
                    <m:r>
                      <m:rPr>
                        <m:sty m:val="p"/>
                      </m:rPr>
                      <a:rPr lang="en-US" altLang="zh-CN">
                        <a:latin typeface="Cambria Math" panose="02040503050406030204" charset="0"/>
                        <a:cs typeface="Cambria Math" panose="02040503050406030204" charset="0"/>
                      </a:rPr>
                      <m:t>Xw</m:t>
                    </m:r>
                    <m:r>
                      <a:rPr lang="en-US" altLang="zh-CN">
                        <a:latin typeface="Cambria Math" panose="02040503050406030204" charset="0"/>
                        <a:cs typeface="Cambria Math" panose="02040503050406030204" charset="0"/>
                      </a:rPr>
                      <m:t>, </m:t>
                    </m:r>
                    <m:r>
                      <m:rPr>
                        <m:sty m:val="p"/>
                      </m:rPr>
                      <a:rPr lang="en-US" altLang="zh-CN">
                        <a:latin typeface="Cambria Math" panose="02040503050406030204" charset="0"/>
                        <a:cs typeface="Cambria Math" panose="02040503050406030204" charset="0"/>
                      </a:rPr>
                      <m:t>Yw</m:t>
                    </m:r>
                    <m:r>
                      <a:rPr lang="en-US" altLang="zh-CN">
                        <a:latin typeface="Cambria Math" panose="02040503050406030204" charset="0"/>
                        <a:cs typeface="Cambria Math" panose="02040503050406030204" charset="0"/>
                      </a:rPr>
                      <m:t>, </m:t>
                    </m:r>
                    <m:r>
                      <m:rPr>
                        <m:sty m:val="p"/>
                      </m:rPr>
                      <a:rPr lang="en-US" altLang="zh-CN">
                        <a:latin typeface="Cambria Math" panose="02040503050406030204" charset="0"/>
                        <a:cs typeface="Cambria Math" panose="02040503050406030204" charset="0"/>
                      </a:rPr>
                      <m:t>Zw</m:t>
                    </m:r>
                    <m:r>
                      <a:rPr lang="en-US" altLang="zh-CN">
                        <a:latin typeface="Cambria Math" panose="02040503050406030204" charset="0"/>
                        <a:cs typeface="Cambria Math" panose="02040503050406030204" charset="0"/>
                      </a:rPr>
                      <m:t>)移动回</m:t>
                    </m:r>
                    <m:r>
                      <m:rPr>
                        <m:sty m:val="p"/>
                      </m:rPr>
                      <a:rPr lang="en-US" altLang="zh-CN">
                        <a:latin typeface="Cambria Math" panose="02040503050406030204" charset="0"/>
                        <a:cs typeface="Cambria Math" panose="02040503050406030204" charset="0"/>
                      </a:rPr>
                      <m:t>Hw</m:t>
                    </m:r>
                    <m:r>
                      <a:rPr lang="en-US" altLang="zh-CN">
                        <a:latin typeface="Cambria Math" panose="02040503050406030204" charset="0"/>
                        <a:cs typeface="Cambria Math" panose="02040503050406030204" charset="0"/>
                      </a:rPr>
                      <m:t>原点， </m:t>
                    </m:r>
                    <m:r>
                      <m:rPr>
                        <m:sty m:val="p"/>
                      </m:rPr>
                      <a:rPr lang="en-US" altLang="zh-CN">
                        <a:latin typeface="Cambria Math" panose="02040503050406030204" charset="0"/>
                        <a:cs typeface="Cambria Math" panose="02040503050406030204" charset="0"/>
                      </a:rPr>
                      <m:t>T</m:t>
                    </m:r>
                    <m:r>
                      <a:rPr lang="en-US" altLang="zh-CN">
                        <a:latin typeface="Cambria Math" panose="02040503050406030204" charset="0"/>
                        <a:cs typeface="Cambria Math" panose="02040503050406030204" charset="0"/>
                      </a:rPr>
                      <m:t>1</m:t>
                    </m:r>
                    <m:r>
                      <a:rPr lang="en-US" altLang="zh-CN">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i="1">
                                        <a:latin typeface="Cambria Math" panose="02040503050406030204" charset="0"/>
                                      </a:rPr>
                                      <m:t>0</m:t>
                                    </m:r>
                                  </m:e>
                                </m:mr>
                                <m:mr>
                                  <m:e>
                                    <m:r>
                                      <a:rPr lang="en-US" i="1">
                                        <a:latin typeface="Cambria Math" panose="02040503050406030204" charset="0"/>
                                      </a:rPr>
                                      <m:t>0</m:t>
                                    </m:r>
                                  </m:e>
                                  <m:e>
                                    <m:r>
                                      <a:rPr lang="en-US" i="1">
                                        <a:latin typeface="Cambria Math" panose="02040503050406030204" charset="0"/>
                                      </a:rPr>
                                      <m:t>1</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i="1">
                                        <a:latin typeface="Cambria Math" panose="02040503050406030204" charset="0"/>
                                      </a:rPr>
                                      <m:t>−</m:t>
                                    </m:r>
                                    <m:r>
                                      <a:rPr lang="en-US" i="1">
                                        <a:latin typeface="Cambria Math" panose="02040503050406030204" charset="0"/>
                                      </a:rPr>
                                      <m:t>𝑋𝑤</m:t>
                                    </m:r>
                                  </m:e>
                                </m:mr>
                                <m:mr>
                                  <m:e>
                                    <m:r>
                                      <a:rPr lang="en-US" i="1">
                                        <a:latin typeface="Cambria Math" panose="02040503050406030204" charset="0"/>
                                      </a:rPr>
                                      <m:t>0</m:t>
                                    </m:r>
                                  </m:e>
                                  <m:e>
                                    <m:r>
                                      <a:rPr lang="en-US" i="1">
                                        <a:latin typeface="Cambria Math" panose="02040503050406030204" charset="0"/>
                                      </a:rPr>
                                      <m:t>−</m:t>
                                    </m:r>
                                    <m:r>
                                      <a:rPr lang="en-US" i="1">
                                        <a:latin typeface="Cambria Math" panose="02040503050406030204" charset="0"/>
                                      </a:rPr>
                                      <m:t>𝑌𝑤</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i="1">
                                        <a:latin typeface="Cambria Math" panose="02040503050406030204" charset="0"/>
                                      </a:rPr>
                                      <m:t>0</m:t>
                                    </m:r>
                                  </m:e>
                                </m:mr>
                                <m:mr>
                                  <m:e>
                                    <m:r>
                                      <a:rPr lang="en-US" i="1">
                                        <a:latin typeface="Cambria Math" panose="02040503050406030204" charset="0"/>
                                      </a:rPr>
                                      <m:t>0</m:t>
                                    </m:r>
                                  </m:e>
                                  <m:e>
                                    <m:r>
                                      <a:rPr lang="en-US" i="1">
                                        <a:latin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i="1">
                                        <a:latin typeface="Cambria Math" panose="02040503050406030204" charset="0"/>
                                      </a:rPr>
                                      <m:t>−</m:t>
                                    </m:r>
                                    <m:r>
                                      <a:rPr lang="en-US" i="1">
                                        <a:latin typeface="Cambria Math" panose="02040503050406030204" charset="0"/>
                                      </a:rPr>
                                      <m:t>𝑍𝑤</m:t>
                                    </m:r>
                                  </m:e>
                                </m:mr>
                                <m:mr>
                                  <m:e>
                                    <m:r>
                                      <a:rPr lang="en-US" i="1">
                                        <a:latin typeface="Cambria Math" panose="02040503050406030204" charset="0"/>
                                      </a:rPr>
                                      <m:t>0</m:t>
                                    </m:r>
                                  </m:e>
                                  <m:e>
                                    <m:r>
                                      <a:rPr lang="en-US" i="1">
                                        <a:latin typeface="Cambria Math" panose="02040503050406030204" charset="0"/>
                                      </a:rPr>
                                      <m:t>1</m:t>
                                    </m:r>
                                  </m:e>
                                </m:mr>
                              </m:m>
                            </m:e>
                          </m:mr>
                        </m:m>
                      </m:e>
                    </m:d>
                  </m:oMath>
                </a14:m>
                <a:endParaRPr i="1">
                  <a:latin typeface="Cambria Math" panose="02040503050406030204" charset="0"/>
                </a:endParaRPr>
              </a:p>
              <a:p>
                <a:r>
                  <a:rPr lang="en-US" altLang="zh-CN">
                    <a:latin typeface="Cambria Math" panose="02040503050406030204" charset="0"/>
                    <a:cs typeface="Cambria Math" panose="02040503050406030204" charset="0"/>
                  </a:rPr>
                  <a:t>再逆时针转</a:t>
                </a:r>
                <a:r>
                  <a:rPr lang="en-US" altLang="zh-CN">
                    <a:latin typeface="Cambria Math" panose="02040503050406030204" charset="0"/>
                    <a:cs typeface="Cambria Math" panose="02040503050406030204" charset="0"/>
                    <a:sym typeface="+mn-ea"/>
                  </a:rPr>
                  <a:t>θ, R1 = </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i="1">
                                        <a:latin typeface="Cambria Math" panose="02040503050406030204" charset="0"/>
                                      </a:rPr>
                                      <m:t>0</m:t>
                                    </m:r>
                                  </m:e>
                                </m:mr>
                                <m:mr>
                                  <m:e>
                                    <m:r>
                                      <a:rPr lang="en-US" i="1">
                                        <a:latin typeface="Cambria Math" panose="02040503050406030204" charset="0"/>
                                      </a:rPr>
                                      <m:t>0</m:t>
                                    </m:r>
                                  </m:e>
                                  <m:e>
                                    <m:r>
                                      <a:rPr lang="en-US" i="1">
                                        <a:latin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e>
                                  <m:e>
                                    <m:r>
                                      <a:rPr lang="en-US" i="1">
                                        <a:latin typeface="Cambria Math" panose="02040503050406030204" charset="0"/>
                                      </a:rPr>
                                      <m:t>0</m:t>
                                    </m:r>
                                  </m:e>
                                </m:mr>
                                <m:mr>
                                  <m:e>
                                    <m:r>
                                      <a:rPr lang="en-US" i="1">
                                        <a:latin typeface="Cambria Math" panose="02040503050406030204" charset="0"/>
                                      </a:rPr>
                                      <m:t>0</m:t>
                                    </m:r>
                                    <m:r>
                                      <a:rPr lang="en-US" i="1">
                                        <a:latin typeface="Cambria Math" panose="02040503050406030204" charset="0"/>
                                      </a:rPr>
                                      <m:t>      </m:t>
                                    </m:r>
                                  </m:e>
                                  <m:e>
                                    <m:r>
                                      <a:rPr lang="en-US" i="1">
                                        <a:latin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i="1">
                                        <a:latin typeface="Cambria Math" panose="02040503050406030204" charset="0"/>
                                      </a:rPr>
                                      <m:t>0</m:t>
                                    </m:r>
                                  </m:e>
                                </m:mr>
                                <m:mr>
                                  <m:e>
                                    <m:r>
                                      <a:rPr lang="en-US" i="1">
                                        <a:latin typeface="Cambria Math" panose="02040503050406030204" charset="0"/>
                                      </a:rPr>
                                      <m:t>0</m:t>
                                    </m:r>
                                  </m:e>
                                  <m:e>
                                    <m:r>
                                      <a:rPr lang="en-US" i="1">
                                        <a:latin typeface="Cambria Math" panose="02040503050406030204" charset="0"/>
                                      </a:rPr>
                                      <m:t>1</m:t>
                                    </m:r>
                                  </m:e>
                                </m:mr>
                              </m:m>
                            </m:e>
                          </m:mr>
                        </m:m>
                      </m:e>
                    </m:d>
                  </m:oMath>
                </a14:m>
                <a:endParaRPr lang="en-US" altLang="zh-CN">
                  <a:latin typeface="Cambria Math" panose="02040503050406030204" charset="0"/>
                  <a:cs typeface="Cambria Math" panose="02040503050406030204"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674495" y="3174365"/>
                <a:ext cx="6122670" cy="200977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610360" y="5186045"/>
                <a:ext cx="6096000" cy="1344295"/>
              </a:xfrm>
              <a:prstGeom prst="rect">
                <a:avLst/>
              </a:prstGeom>
              <a:noFill/>
            </p:spPr>
            <p:txBody>
              <a:bodyPr wrap="square" rtlCol="0" anchor="t">
                <a:spAutoFit/>
              </a:bodyPr>
              <a:p>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𝑏</m:t>
                        </m:r>
                      </m:sup>
                    </m:sSubSup>
                  </m:oMath>
                </a14:m>
                <a:r>
                  <a:rPr lang="en-US" altLang="zh-CN" i="1">
                    <a:latin typeface="Cambria Math" panose="02040503050406030204" charset="0"/>
                    <a:cs typeface="Cambria Math" panose="02040503050406030204" charset="0"/>
                  </a:rPr>
                  <a:t> = </a:t>
                </a:r>
                <a14:m>
                  <m:oMath xmlns:m="http://schemas.openxmlformats.org/officeDocument/2006/math">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i="1">
                                        <a:latin typeface="Cambria Math" panose="02040503050406030204" charset="0"/>
                                      </a:rPr>
                                      <m:t>−</m:t>
                                    </m:r>
                                    <m:r>
                                      <a:rPr lang="en-US" i="1">
                                        <a:latin typeface="Cambria Math" panose="02040503050406030204" charset="0"/>
                                      </a:rPr>
                                      <m:t>𝑋𝑤</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0</m:t>
                                    </m:r>
                                  </m:e>
                                  <m:e>
                                    <m:r>
                                      <a:rPr lang="en-US" i="1">
                                        <a:latin typeface="Cambria Math" panose="02040503050406030204" charset="0"/>
                                      </a:rPr>
                                      <m:t>𝑋𝑤</m:t>
                                    </m:r>
                                    <m:r>
                                      <a:rPr lang="en-US" i="1">
                                        <a:latin typeface="Cambria Math" panose="02040503050406030204" charset="0"/>
                                      </a:rPr>
                                      <m:t> </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i="1">
                                        <a:latin typeface="Cambria Math" panose="02040503050406030204" charset="0"/>
                                      </a:rPr>
                                      <m:t>0</m:t>
                                    </m:r>
                                  </m:e>
                                </m:mr>
                                <m:mr>
                                  <m:e>
                                    <m:r>
                                      <a:rPr lang="en-US" i="1">
                                        <a:latin typeface="Cambria Math" panose="02040503050406030204" charset="0"/>
                                      </a:rPr>
                                      <m:t>0</m:t>
                                    </m:r>
                                    <m:r>
                                      <a:rPr lang="en-US" i="1">
                                        <a:latin typeface="Cambria Math" panose="02040503050406030204" charset="0"/>
                                      </a:rPr>
                                      <m:t>      </m:t>
                                    </m:r>
                                  </m:e>
                                  <m:e>
                                    <m:r>
                                      <a:rPr lang="en-US" i="1">
                                        <a:latin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i="1">
                                        <a:latin typeface="Cambria Math" panose="02040503050406030204" charset="0"/>
                                      </a:rPr>
                                      <m:t>  </m:t>
                                    </m:r>
                                    <m:r>
                                      <a:rPr lang="en-US" i="1">
                                        <a:latin typeface="Cambria Math" panose="02040503050406030204" charset="0"/>
                                      </a:rPr>
                                      <m:t>                         </m:t>
                                    </m:r>
                                    <m:r>
                                      <a:rPr lang="en-US" i="1">
                                        <a:latin typeface="Cambria Math" panose="02040503050406030204" charset="0"/>
                                      </a:rPr>
                                      <m:t>       </m:t>
                                    </m:r>
                                    <m:r>
                                      <a:rPr lang="en-US" i="1">
                                        <a:latin typeface="Cambria Math" panose="02040503050406030204" charset="0"/>
                                      </a:rPr>
                                      <m:t>−</m:t>
                                    </m:r>
                                    <m:r>
                                      <a:rPr lang="en-US" i="1">
                                        <a:latin typeface="Cambria Math" panose="02040503050406030204" charset="0"/>
                                      </a:rPr>
                                      <m:t>𝑍𝑤</m:t>
                                    </m:r>
                                  </m:e>
                                </m:mr>
                                <m:mr>
                                  <m:e>
                                    <m:r>
                                      <a:rPr lang="en-US" i="1">
                                        <a:latin typeface="Cambria Math" panose="02040503050406030204" charset="0"/>
                                      </a:rPr>
                                      <m:t>0</m:t>
                                    </m:r>
                                  </m:e>
                                  <m:e>
                                    <m:r>
                                      <a:rPr lang="en-US" i="1">
                                        <a:latin typeface="Cambria Math" panose="02040503050406030204" charset="0"/>
                                      </a:rPr>
                                      <m:t>                              </m:t>
                                    </m:r>
                                    <m:r>
                                      <a:rPr lang="en-US" i="1">
                                        <a:latin typeface="Cambria Math" panose="02040503050406030204" charset="0"/>
                                      </a:rPr>
                                      <m:t>             </m:t>
                                    </m:r>
                                    <m:r>
                                      <a:rPr lang="en-US" i="1">
                                        <a:latin typeface="Cambria Math" panose="02040503050406030204" charset="0"/>
                                      </a:rPr>
                                      <m:t>1</m:t>
                                    </m:r>
                                  </m:e>
                                </m:mr>
                              </m:m>
                            </m:e>
                          </m:mr>
                        </m:m>
                      </m:e>
                    </m:d>
                  </m:oMath>
                </a14:m>
                <a:endParaRPr lang="en-US" altLang="zh-CN"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610360" y="5186045"/>
                <a:ext cx="6096000" cy="134429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029450" y="5812790"/>
                <a:ext cx="3892550" cy="383540"/>
              </a:xfrm>
              <a:prstGeom prst="rect">
                <a:avLst/>
              </a:prstGeom>
              <a:noFill/>
            </p:spPr>
            <p:txBody>
              <a:bodyPr wrap="square" rtlCol="0">
                <a:spAutoFit/>
              </a:bodyPr>
              <a:p>
                <a:r>
                  <a:rPr lang="zh-CN" altLang="en-US"/>
                  <a:t>齐次坐标满足</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𝐶𝑏</m:t>
                    </m:r>
                    <m:r>
                      <a:rPr lang="en-US" altLang="zh-CN" i="1">
                        <a:latin typeface="Cambria Math" panose="02040503050406030204" charset="0"/>
                        <a:cs typeface="Cambria Math" panose="02040503050406030204" charset="0"/>
                      </a:rPr>
                      <m:t> =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𝑏</m:t>
                        </m:r>
                      </m:sup>
                    </m:sSubSup>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𝐶𝑤</m:t>
                    </m:r>
                    <m:r>
                      <a:rPr lang="en-US" altLang="zh-CN" i="1">
                        <a:latin typeface="Cambria Math" panose="02040503050406030204" charset="0"/>
                        <a:cs typeface="Cambria Math" panose="02040503050406030204" charset="0"/>
                      </a:rPr>
                      <m:t> </m:t>
                    </m:r>
                  </m:oMath>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7029450" y="5812790"/>
                <a:ext cx="3892550" cy="38354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159510" y="127063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多重坐标系变换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86155" y="2124710"/>
                <a:ext cx="10432415" cy="4278630"/>
              </a:xfrm>
              <a:prstGeom prst="rect">
                <a:avLst/>
              </a:prstGeom>
              <a:noFill/>
            </p:spPr>
            <p:txBody>
              <a:bodyPr wrap="square" rtlCol="0">
                <a:noAutofit/>
              </a:bodyPr>
              <a:p>
                <a:r>
                  <a:rPr lang="zh-CN"/>
                  <a:t>已知相机系的坐标轴朝向和机体系完全相反，假设相机光心在机体系的坐标为</a:t>
                </a:r>
                <a:r>
                  <a:rPr lang="en-US" altLang="zh-CN"/>
                  <a:t>(Xb,Yb,Zb)</a:t>
                </a:r>
                <a:r>
                  <a:rPr lang="zh-CN" altLang="en-US"/>
                  <a:t>，求从机体系到相机系的变换矩阵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𝑏</m:t>
                        </m:r>
                      </m:sub>
                      <m:sup>
                        <m:r>
                          <a:rPr lang="en-US" altLang="zh-CN" i="1">
                            <a:latin typeface="Cambria Math" panose="02040503050406030204" charset="0"/>
                            <a:cs typeface="Cambria Math" panose="02040503050406030204" charset="0"/>
                          </a:rPr>
                          <m:t>𝑐</m:t>
                        </m:r>
                      </m:sup>
                    </m:sSubSup>
                  </m:oMath>
                </a14:m>
                <a:r>
                  <a:rPr lang="zh-CN" altLang="en-US">
                    <a:latin typeface="Cambria Math" panose="02040503050406030204" charset="0"/>
                    <a:cs typeface="Cambria Math" panose="02040503050406030204" charset="0"/>
                  </a:rPr>
                  <a:t>。</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endParaRPr lang="en-US" altLang="zh-CN">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86155" y="2124710"/>
                <a:ext cx="10432415" cy="427863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159510" y="127063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多重坐标系变换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86155" y="2124710"/>
                <a:ext cx="10432415" cy="4278630"/>
              </a:xfrm>
              <a:prstGeom prst="rect">
                <a:avLst/>
              </a:prstGeom>
              <a:noFill/>
            </p:spPr>
            <p:txBody>
              <a:bodyPr wrap="square" rtlCol="0">
                <a:noAutofit/>
              </a:bodyPr>
              <a:p>
                <a:r>
                  <a:rPr lang="zh-CN"/>
                  <a:t>已知相机系的坐标轴朝向为机体系全部反转</a:t>
                </a:r>
                <a:r>
                  <a:rPr lang="en-US" altLang="zh-CN"/>
                  <a:t>(</a:t>
                </a:r>
                <a:r>
                  <a:rPr lang="zh-CN" altLang="en-US"/>
                  <a:t>实际</a:t>
                </a:r>
                <a:r>
                  <a:rPr lang="en-US" altLang="zh-CN"/>
                  <a:t>:</a:t>
                </a:r>
                <a:r>
                  <a:rPr lang="en-US" altLang="zh-CN">
                    <a:sym typeface="+mn-ea"/>
                  </a:rPr>
                  <a:t>Z</a:t>
                </a:r>
                <a:r>
                  <a:rPr lang="zh-CN" altLang="en-US">
                    <a:sym typeface="+mn-ea"/>
                  </a:rPr>
                  <a:t>轴和机体系</a:t>
                </a:r>
                <a:r>
                  <a:rPr lang="en-US" altLang="zh-CN">
                    <a:sym typeface="+mn-ea"/>
                  </a:rPr>
                  <a:t>Z</a:t>
                </a:r>
                <a:r>
                  <a:rPr lang="zh-CN" altLang="en-US">
                    <a:sym typeface="+mn-ea"/>
                  </a:rPr>
                  <a:t>轴相反，</a:t>
                </a:r>
                <a:r>
                  <a:rPr lang="en-US" altLang="zh-CN">
                    <a:sym typeface="+mn-ea"/>
                  </a:rPr>
                  <a:t>X</a:t>
                </a:r>
                <a:r>
                  <a:rPr lang="zh-CN" altLang="en-US">
                    <a:sym typeface="+mn-ea"/>
                  </a:rPr>
                  <a:t>轴朝向为机体系</a:t>
                </a:r>
                <a:r>
                  <a:rPr lang="en-US" altLang="zh-CN">
                    <a:sym typeface="+mn-ea"/>
                  </a:rPr>
                  <a:t>Y</a:t>
                </a:r>
                <a:r>
                  <a:rPr lang="zh-CN" altLang="en-US">
                    <a:sym typeface="+mn-ea"/>
                  </a:rPr>
                  <a:t>轴的反方向，</a:t>
                </a:r>
                <a:r>
                  <a:rPr lang="en-US" altLang="zh-CN">
                    <a:sym typeface="+mn-ea"/>
                  </a:rPr>
                  <a:t>Y</a:t>
                </a:r>
                <a:r>
                  <a:rPr lang="zh-CN" altLang="en-US">
                    <a:sym typeface="+mn-ea"/>
                  </a:rPr>
                  <a:t>轴朝向为机体系</a:t>
                </a:r>
                <a:r>
                  <a:rPr lang="en-US" altLang="zh-CN">
                    <a:sym typeface="+mn-ea"/>
                  </a:rPr>
                  <a:t>X</a:t>
                </a:r>
                <a:r>
                  <a:rPr lang="zh-CN" altLang="en-US">
                    <a:sym typeface="+mn-ea"/>
                  </a:rPr>
                  <a:t>轴的反方向，此处假设如此</a:t>
                </a:r>
                <a:r>
                  <a:rPr lang="en-US" altLang="zh-CN"/>
                  <a:t>)</a:t>
                </a:r>
                <a:r>
                  <a:rPr lang="zh-CN"/>
                  <a:t>，假设相机光心在机体系的坐标为</a:t>
                </a:r>
                <a:r>
                  <a:rPr lang="en-US" altLang="zh-CN"/>
                  <a:t>(Xb,Yb,Zb)</a:t>
                </a:r>
                <a:r>
                  <a:rPr lang="zh-CN" altLang="en-US"/>
                  <a:t>，求从机体系到相机系的变换矩阵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𝑏</m:t>
                        </m:r>
                      </m:sub>
                      <m:sup>
                        <m:r>
                          <a:rPr lang="en-US" altLang="zh-CN" i="1">
                            <a:latin typeface="Cambria Math" panose="02040503050406030204" charset="0"/>
                            <a:cs typeface="Cambria Math" panose="02040503050406030204" charset="0"/>
                          </a:rPr>
                          <m:t>𝑐</m:t>
                        </m:r>
                      </m:sup>
                    </m:sSubSup>
                  </m:oMath>
                </a14:m>
                <a:r>
                  <a:rPr lang="zh-CN" altLang="en-US">
                    <a:latin typeface="Cambria Math" panose="02040503050406030204" charset="0"/>
                    <a:cs typeface="Cambria Math" panose="02040503050406030204" charset="0"/>
                  </a:rPr>
                  <a:t>。</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先将</a:t>
                </a:r>
                <a:r>
                  <a:rPr lang="en-US" altLang="zh-CN">
                    <a:sym typeface="+mn-ea"/>
                  </a:rPr>
                  <a:t>(Xb,Yb,Zb)</a:t>
                </a:r>
                <a:r>
                  <a:rPr lang="zh-CN" altLang="en-US">
                    <a:latin typeface="Cambria Math" panose="02040503050406030204" charset="0"/>
                    <a:cs typeface="Cambria Math" panose="02040503050406030204" charset="0"/>
                  </a:rPr>
                  <a:t>移动到机体系原点，</a:t>
                </a:r>
                <a14:m>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𝑋𝑏</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𝑌𝑏</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𝑍𝑏</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而后将所有坐标轴翻转，</a:t>
                </a:r>
                <a14:m>
                  <m:oMath xmlns:m="http://schemas.openxmlformats.org/officeDocument/2006/math">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i="1">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得到</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𝑏</m:t>
                        </m:r>
                      </m:sub>
                      <m:sup>
                        <m:r>
                          <a:rPr lang="en-US" altLang="zh-CN" i="1">
                            <a:latin typeface="Cambria Math" panose="02040503050406030204" charset="0"/>
                            <a:cs typeface="Cambria Math" panose="02040503050406030204" charset="0"/>
                          </a:rPr>
                          <m:t>𝑐</m:t>
                        </m:r>
                      </m:sup>
                    </m:sSubSup>
                  </m:oMath>
                </a14:m>
                <a:r>
                  <a:rPr lang="en-US" altLang="zh-CN">
                    <a:latin typeface="Cambria Math" panose="02040503050406030204" charset="0"/>
                    <a:cs typeface="Cambria Math" panose="02040503050406030204" charset="0"/>
                  </a:rPr>
                  <a:t> = </a:t>
                </a:r>
                <a14:m>
                  <m:oMath xmlns:m="http://schemas.openxmlformats.org/officeDocument/2006/math">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𝑋𝑏</m:t>
                                    </m:r>
                                  </m:e>
                                </m:mr>
                                <m:mr>
                                  <m:e>
                                    <m:r>
                                      <a:rPr lang="en-US" altLang="zh-CN" i="1">
                                        <a:latin typeface="Cambria Math" panose="02040503050406030204" charset="0"/>
                                        <a:cs typeface="Cambria Math" panose="02040503050406030204" charset="0"/>
                                      </a:rPr>
                                      <m:t>𝑌𝑏</m:t>
                                    </m:r>
                                  </m:e>
                                </m:mr>
                                <m:mr>
                                  <m:e>
                                    <m:r>
                                      <a:rPr lang="en-US" altLang="zh-CN" i="1">
                                        <a:latin typeface="Cambria Math" panose="02040503050406030204" charset="0"/>
                                        <a:cs typeface="Cambria Math" panose="02040503050406030204" charset="0"/>
                                      </a:rPr>
                                      <m:t>𝑍𝑏</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a14:m>
                <a:endParaRPr lang="en-US" altLang="zh-CN">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86155" y="2124710"/>
                <a:ext cx="10432415" cy="4278630"/>
              </a:xfrm>
              <a:prstGeom prst="rect">
                <a:avLst/>
              </a:prstGeom>
              <a:blipFill rotWithShape="1">
                <a:blip r:embed="rId3"/>
                <a:stretch>
                  <a:fillRect r="-1175" b="-26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029450" y="5812790"/>
                <a:ext cx="3892550" cy="373380"/>
              </a:xfrm>
              <a:prstGeom prst="rect">
                <a:avLst/>
              </a:prstGeom>
              <a:noFill/>
            </p:spPr>
            <p:txBody>
              <a:bodyPr wrap="square" rtlCol="0">
                <a:spAutoFit/>
              </a:bodyPr>
              <a:p>
                <a:r>
                  <a:rPr lang="zh-CN" altLang="en-US"/>
                  <a:t>齐次坐标满足</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𝐶𝑐</m:t>
                    </m:r>
                    <m:r>
                      <a:rPr lang="en-US" altLang="zh-CN" i="1">
                        <a:latin typeface="Cambria Math" panose="02040503050406030204" charset="0"/>
                        <a:cs typeface="Cambria Math" panose="02040503050406030204" charset="0"/>
                      </a:rPr>
                      <m:t> =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𝑏</m:t>
                        </m:r>
                      </m:sub>
                      <m:sup>
                        <m:r>
                          <a:rPr lang="en-US" altLang="zh-CN" i="1">
                            <a:latin typeface="Cambria Math" panose="02040503050406030204" charset="0"/>
                            <a:cs typeface="Cambria Math" panose="02040503050406030204" charset="0"/>
                          </a:rPr>
                          <m:t>𝑐</m:t>
                        </m:r>
                      </m:sup>
                    </m:sSubSup>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𝐶𝑏</m:t>
                    </m:r>
                    <m:r>
                      <a:rPr lang="en-US" altLang="zh-CN" i="1">
                        <a:latin typeface="Cambria Math" panose="02040503050406030204" charset="0"/>
                        <a:cs typeface="Cambria Math" panose="02040503050406030204" charset="0"/>
                      </a:rPr>
                      <m:t> </m:t>
                    </m:r>
                  </m:oMath>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7029450" y="5812790"/>
                <a:ext cx="3892550" cy="37338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47395" y="117411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多重坐标系变换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159510" y="1932305"/>
                <a:ext cx="10375900" cy="2175510"/>
              </a:xfrm>
              <a:prstGeom prst="rect">
                <a:avLst/>
              </a:prstGeom>
              <a:noFill/>
            </p:spPr>
            <p:txBody>
              <a:bodyPr wrap="square" rtlCol="0">
                <a:noAutofit/>
              </a:bodyPr>
              <a:p>
                <a:r>
                  <a:rPr lang="zh-CN" altLang="en-US"/>
                  <a:t>现在，无人机的世界系</a:t>
                </a:r>
                <a:r>
                  <a:rPr lang="en-US" altLang="zh-CN"/>
                  <a:t>Hw</a:t>
                </a:r>
                <a:r>
                  <a:rPr lang="zh-CN" altLang="en-US"/>
                  <a:t>以起飞时的点为原点，向前为</a:t>
                </a:r>
                <a:r>
                  <a:rPr lang="en-US" altLang="zh-CN"/>
                  <a:t>x</a:t>
                </a:r>
                <a:r>
                  <a:rPr lang="zh-CN" altLang="en-US"/>
                  <a:t>轴正方向，向左为</a:t>
                </a:r>
                <a:r>
                  <a:rPr lang="en-US" altLang="zh-CN"/>
                  <a:t>y</a:t>
                </a:r>
                <a:r>
                  <a:rPr lang="zh-CN" altLang="en-US"/>
                  <a:t>轴正方向，向上为</a:t>
                </a:r>
                <a:r>
                  <a:rPr lang="en-US" altLang="zh-CN"/>
                  <a:t>z</a:t>
                </a:r>
                <a:r>
                  <a:rPr lang="zh-CN" altLang="en-US"/>
                  <a:t>轴正方向；</a:t>
                </a:r>
                <a:endParaRPr lang="zh-CN" altLang="en-US"/>
              </a:p>
              <a:p>
                <a:r>
                  <a:rPr lang="zh-CN" altLang="en-US"/>
                  <a:t>无人机的机体系</a:t>
                </a:r>
                <a:r>
                  <a:rPr lang="en-US" altLang="zh-CN"/>
                  <a:t>Hb</a:t>
                </a:r>
                <a:r>
                  <a:rPr lang="zh-CN" altLang="en-US"/>
                  <a:t>原点在世界系中坐标为</a:t>
                </a:r>
                <a:r>
                  <a:rPr lang="en-US" altLang="zh-CN"/>
                  <a:t>(Xw,Yw,Zw)</a:t>
                </a:r>
                <a:r>
                  <a:rPr lang="zh-CN" altLang="en-US"/>
                  <a:t>，</a:t>
                </a:r>
                <a:r>
                  <a:rPr lang="en-US" altLang="zh-CN">
                    <a:sym typeface="+mn-ea"/>
                  </a:rPr>
                  <a:t>x,y</a:t>
                </a:r>
                <a:r>
                  <a:rPr lang="zh-CN" altLang="en-US">
                    <a:sym typeface="+mn-ea"/>
                  </a:rPr>
                  <a:t>轴均由</a:t>
                </a:r>
                <a:r>
                  <a:rPr lang="en-US" altLang="zh-CN">
                    <a:sym typeface="+mn-ea"/>
                  </a:rPr>
                  <a:t>Hw</a:t>
                </a:r>
                <a:r>
                  <a:rPr lang="zh-CN" altLang="en-US">
                    <a:sym typeface="+mn-ea"/>
                  </a:rPr>
                  <a:t>沿</a:t>
                </a:r>
                <a:r>
                  <a:rPr lang="en-US" altLang="zh-CN">
                    <a:sym typeface="+mn-ea"/>
                  </a:rPr>
                  <a:t>z</a:t>
                </a:r>
                <a:r>
                  <a:rPr lang="zh-CN" altLang="en-US">
                    <a:sym typeface="+mn-ea"/>
                  </a:rPr>
                  <a:t>轴</a:t>
                </a:r>
                <a:r>
                  <a:rPr lang="en-US" altLang="zh-CN">
                    <a:sym typeface="+mn-ea"/>
                  </a:rPr>
                  <a:t> </a:t>
                </a:r>
                <a:r>
                  <a:rPr lang="zh-CN" altLang="en-US">
                    <a:sym typeface="+mn-ea"/>
                  </a:rPr>
                  <a:t>逆时针旋转</a:t>
                </a:r>
                <a:r>
                  <a:rPr lang="en-US" altLang="zh-CN">
                    <a:sym typeface="+mn-ea"/>
                  </a:rPr>
                  <a:t>θ</a:t>
                </a:r>
                <a:r>
                  <a:rPr lang="zh-CN" altLang="en-US">
                    <a:sym typeface="+mn-ea"/>
                  </a:rPr>
                  <a:t>得到</a:t>
                </a:r>
                <a:r>
                  <a:rPr lang="en-US" altLang="zh-CN"/>
                  <a:t>;</a:t>
                </a:r>
                <a:endParaRPr lang="en-US" altLang="zh-CN"/>
              </a:p>
              <a:p>
                <a:r>
                  <a:rPr lang="zh-CN">
                    <a:sym typeface="+mn-ea"/>
                  </a:rPr>
                  <a:t>相机系的坐标轴朝向和机体系完全相反，假设相机光心在机体系的坐标为</a:t>
                </a:r>
                <a:r>
                  <a:rPr lang="en-US" altLang="zh-CN">
                    <a:sym typeface="+mn-ea"/>
                  </a:rPr>
                  <a:t>(Xb,Yb,Zb);</a:t>
                </a:r>
                <a:endParaRPr lang="en-US" altLang="zh-CN">
                  <a:sym typeface="+mn-ea"/>
                </a:endParaRPr>
              </a:p>
              <a:p>
                <a:r>
                  <a:rPr lang="zh-CN" altLang="en-US"/>
                  <a:t>已知相机内参矩阵为</a:t>
                </a:r>
                <a:r>
                  <a:rPr lang="en-US" altLang="zh-CN"/>
                  <a:t>K</a:t>
                </a:r>
                <a:r>
                  <a:rPr lang="zh-CN" altLang="en-US"/>
                  <a:t>，求世界系</a:t>
                </a:r>
                <a:r>
                  <a:rPr lang="en-US" altLang="zh-CN"/>
                  <a:t>-&gt;</a:t>
                </a:r>
                <a:r>
                  <a:rPr lang="zh-CN" altLang="en-US"/>
                  <a:t>像素系的变换矩阵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𝑝</m:t>
                        </m:r>
                      </m:sup>
                    </m:sSubSup>
                  </m:oMath>
                </a14:m>
                <a:endParaRPr lang="en-US" altLang="zh-CN" i="1">
                  <a:latin typeface="Cambria Math" panose="02040503050406030204" charset="0"/>
                  <a:cs typeface="Cambria Math" panose="02040503050406030204" charset="0"/>
                </a:endParaRPr>
              </a:p>
              <a:p>
                <a:endParaRPr lang="zh-CN" altLang="en-US"/>
              </a:p>
              <a:p>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159510" y="1932305"/>
                <a:ext cx="10375900" cy="217551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488315" y="105473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多重坐标系变换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138555" y="1645920"/>
                <a:ext cx="10375900" cy="1973580"/>
              </a:xfrm>
              <a:prstGeom prst="rect">
                <a:avLst/>
              </a:prstGeom>
              <a:noFill/>
            </p:spPr>
            <p:txBody>
              <a:bodyPr wrap="square" rtlCol="0">
                <a:noAutofit/>
              </a:bodyPr>
              <a:p>
                <a:r>
                  <a:rPr lang="zh-CN" altLang="en-US"/>
                  <a:t>现在，无人机的世界系</a:t>
                </a:r>
                <a:r>
                  <a:rPr lang="en-US" altLang="zh-CN"/>
                  <a:t>Hw</a:t>
                </a:r>
                <a:r>
                  <a:rPr lang="zh-CN" altLang="en-US"/>
                  <a:t>以起飞时的点为原点，向前为</a:t>
                </a:r>
                <a:r>
                  <a:rPr lang="en-US" altLang="zh-CN"/>
                  <a:t>x</a:t>
                </a:r>
                <a:r>
                  <a:rPr lang="zh-CN" altLang="en-US"/>
                  <a:t>轴正方向，向左为</a:t>
                </a:r>
                <a:r>
                  <a:rPr lang="en-US" altLang="zh-CN"/>
                  <a:t>y</a:t>
                </a:r>
                <a:r>
                  <a:rPr lang="zh-CN" altLang="en-US"/>
                  <a:t>轴正方向，向上为</a:t>
                </a:r>
                <a:r>
                  <a:rPr lang="en-US" altLang="zh-CN"/>
                  <a:t>z</a:t>
                </a:r>
                <a:r>
                  <a:rPr lang="zh-CN" altLang="en-US"/>
                  <a:t>轴正方向；</a:t>
                </a:r>
                <a:endParaRPr lang="zh-CN" altLang="en-US"/>
              </a:p>
              <a:p>
                <a:r>
                  <a:rPr lang="zh-CN" altLang="en-US"/>
                  <a:t>无人机的机体系</a:t>
                </a:r>
                <a:r>
                  <a:rPr lang="en-US" altLang="zh-CN"/>
                  <a:t>Hb</a:t>
                </a:r>
                <a:r>
                  <a:rPr lang="zh-CN" altLang="en-US"/>
                  <a:t>原点在世界系中坐标为</a:t>
                </a:r>
                <a:r>
                  <a:rPr lang="en-US" altLang="zh-CN"/>
                  <a:t>(Xw,Yw,Zw)</a:t>
                </a:r>
                <a:r>
                  <a:rPr lang="zh-CN" altLang="en-US"/>
                  <a:t>，</a:t>
                </a:r>
                <a:r>
                  <a:rPr lang="en-US" altLang="zh-CN">
                    <a:sym typeface="+mn-ea"/>
                  </a:rPr>
                  <a:t>x,y</a:t>
                </a:r>
                <a:r>
                  <a:rPr lang="zh-CN" altLang="en-US">
                    <a:sym typeface="+mn-ea"/>
                  </a:rPr>
                  <a:t>轴均由</a:t>
                </a:r>
                <a:r>
                  <a:rPr lang="en-US" altLang="zh-CN">
                    <a:sym typeface="+mn-ea"/>
                  </a:rPr>
                  <a:t>Hw</a:t>
                </a:r>
                <a:r>
                  <a:rPr lang="zh-CN" altLang="en-US">
                    <a:sym typeface="+mn-ea"/>
                  </a:rPr>
                  <a:t>沿</a:t>
                </a:r>
                <a:r>
                  <a:rPr lang="en-US" altLang="zh-CN">
                    <a:sym typeface="+mn-ea"/>
                  </a:rPr>
                  <a:t>z</a:t>
                </a:r>
                <a:r>
                  <a:rPr lang="zh-CN" altLang="en-US">
                    <a:sym typeface="+mn-ea"/>
                  </a:rPr>
                  <a:t>轴</a:t>
                </a:r>
                <a:r>
                  <a:rPr lang="en-US" altLang="zh-CN">
                    <a:sym typeface="+mn-ea"/>
                  </a:rPr>
                  <a:t> </a:t>
                </a:r>
                <a:r>
                  <a:rPr lang="zh-CN" altLang="en-US">
                    <a:sym typeface="+mn-ea"/>
                  </a:rPr>
                  <a:t>逆时针旋转</a:t>
                </a:r>
                <a:r>
                  <a:rPr lang="en-US" altLang="zh-CN">
                    <a:sym typeface="+mn-ea"/>
                  </a:rPr>
                  <a:t>θ</a:t>
                </a:r>
                <a:r>
                  <a:rPr lang="zh-CN" altLang="en-US">
                    <a:sym typeface="+mn-ea"/>
                  </a:rPr>
                  <a:t>得到</a:t>
                </a:r>
                <a:r>
                  <a:rPr lang="en-US" altLang="zh-CN"/>
                  <a:t>;</a:t>
                </a:r>
                <a:endParaRPr lang="en-US" altLang="zh-CN"/>
              </a:p>
              <a:p>
                <a:r>
                  <a:rPr lang="zh-CN">
                    <a:sym typeface="+mn-ea"/>
                  </a:rPr>
                  <a:t>相机系的坐标轴朝向和机体系完全相反，假设相机光心在机体系的坐标为</a:t>
                </a:r>
                <a:r>
                  <a:rPr lang="en-US" altLang="zh-CN">
                    <a:sym typeface="+mn-ea"/>
                  </a:rPr>
                  <a:t>(Xb,Yb,Zb);</a:t>
                </a:r>
                <a:endParaRPr lang="en-US" altLang="zh-CN">
                  <a:sym typeface="+mn-ea"/>
                </a:endParaRPr>
              </a:p>
              <a:p>
                <a:r>
                  <a:rPr lang="zh-CN" altLang="en-US"/>
                  <a:t>已知相机内参矩阵</a:t>
                </a:r>
                <a:r>
                  <a:rPr lang="en-US" altLang="zh-CN"/>
                  <a:t>K</a:t>
                </a:r>
                <a:r>
                  <a:rPr lang="zh-CN" altLang="en-US"/>
                  <a:t>，求世界系</a:t>
                </a:r>
                <a:r>
                  <a:rPr lang="en-US" altLang="zh-CN"/>
                  <a:t>-&gt;</a:t>
                </a:r>
                <a:r>
                  <a:rPr lang="zh-CN" altLang="en-US"/>
                  <a:t>像素系的变换矩阵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𝑝</m:t>
                        </m:r>
                      </m:sup>
                    </m:sSubSup>
                  </m:oMath>
                </a14:m>
                <a:endParaRPr lang="en-US" altLang="zh-CN" i="1">
                  <a:latin typeface="Cambria Math" panose="02040503050406030204" charset="0"/>
                  <a:cs typeface="Cambria Math" panose="02040503050406030204" charset="0"/>
                </a:endParaRPr>
              </a:p>
              <a:p>
                <a:endParaRPr lang="zh-CN" altLang="en-US"/>
              </a:p>
              <a:p>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138555" y="1645920"/>
                <a:ext cx="10375900" cy="1973580"/>
              </a:xfrm>
              <a:prstGeom prst="rect">
                <a:avLst/>
              </a:prstGeom>
              <a:blipFill rotWithShape="1">
                <a:blip r:embed="rId3"/>
                <a:stretch>
                  <a:fillRect b="-11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551180" y="2820035"/>
                <a:ext cx="11308715" cy="650240"/>
              </a:xfrm>
              <a:prstGeom prst="rect">
                <a:avLst/>
              </a:prstGeom>
              <a:noFill/>
            </p:spPr>
            <p:txBody>
              <a:bodyPr wrap="square" rtlCol="0" anchor="t">
                <a:noAutofit/>
              </a:bodyPr>
              <a:p>
                <a:endParaRPr lang="en-US" altLang="zh-CN" i="1">
                  <a:latin typeface="Cambria Math" panose="02040503050406030204" charset="0"/>
                  <a:cs typeface="Cambria Math" panose="02040503050406030204" charset="0"/>
                </a:endParaRPr>
              </a:p>
              <a:p>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𝑝</m:t>
                        </m:r>
                      </m:sup>
                    </m:sSubSup>
                  </m:oMath>
                </a14:m>
                <a:r>
                  <a:rPr lang="en-US" altLang="zh-CN">
                    <a:sym typeface="+mn-ea"/>
                  </a:rPr>
                  <a:t> =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𝑐</m:t>
                        </m:r>
                      </m:sub>
                      <m:sup>
                        <m:r>
                          <a:rPr lang="en-US" altLang="zh-CN" i="1">
                            <a:latin typeface="Cambria Math" panose="02040503050406030204" charset="0"/>
                            <a:cs typeface="Cambria Math" panose="02040503050406030204" charset="0"/>
                          </a:rPr>
                          <m:t>𝑝</m:t>
                        </m:r>
                      </m:sup>
                    </m:sSubSup>
                    <m:r>
                      <a:rPr lang="en-US" altLang="zh-CN" i="1">
                        <a:latin typeface="Cambria Math" panose="02040503050406030204" charset="0"/>
                        <a:cs typeface="Cambria Math" panose="02040503050406030204" charset="0"/>
                      </a:rPr>
                      <m:t>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𝑏</m:t>
                        </m:r>
                      </m:sub>
                      <m:sup>
                        <m:r>
                          <a:rPr lang="en-US" altLang="zh-CN" i="1">
                            <a:latin typeface="Cambria Math" panose="02040503050406030204" charset="0"/>
                            <a:cs typeface="Cambria Math" panose="02040503050406030204" charset="0"/>
                          </a:rPr>
                          <m:t>𝑐</m:t>
                        </m:r>
                      </m:sup>
                    </m:sSubSup>
                  </m:oMath>
                </a14:m>
                <a:br>
                  <a:rPr lang="en-US" altLang="zh-CN" i="1">
                    <a:latin typeface="Cambria Math" panose="02040503050406030204" charset="0"/>
                    <a:cs typeface="Cambria Math" panose="02040503050406030204" charset="0"/>
                  </a:rPr>
                </a:b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𝑏</m:t>
                        </m:r>
                      </m:sup>
                    </m:sSubSup>
                  </m:oMath>
                </a14:m>
                <a:r>
                  <a:rPr lang="en-US" altLang="zh-CN">
                    <a:sym typeface="+mn-ea"/>
                  </a:rPr>
                  <a:t> </a:t>
                </a:r>
                <a14:m>
                  <m:oMath xmlns:m="http://schemas.openxmlformats.org/officeDocument/2006/math">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 ∙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𝑏</m:t>
                        </m:r>
                      </m:sub>
                      <m:sup>
                        <m:r>
                          <a:rPr lang="en-US" altLang="zh-CN" i="1">
                            <a:latin typeface="Cambria Math" panose="02040503050406030204" charset="0"/>
                            <a:cs typeface="Cambria Math" panose="02040503050406030204" charset="0"/>
                          </a:rPr>
                          <m:t>𝑐</m:t>
                        </m:r>
                      </m:sup>
                    </m:sSubSup>
                    <m:r>
                      <a:rPr lang="en-US" altLang="zh-CN" i="1">
                        <a:latin typeface="Cambria Math" panose="02040503050406030204" charset="0"/>
                        <a:cs typeface="Cambria Math" panose="02040503050406030204" charset="0"/>
                      </a:rPr>
                      <m:t> ∙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𝑏</m:t>
                        </m:r>
                      </m:sup>
                    </m:sSubSup>
                    <m:r>
                      <a:rPr lang="en-US" altLang="zh-CN" i="1">
                        <a:latin typeface="Cambria Math" panose="02040503050406030204" charset="0"/>
                        <a:cs typeface="Cambria Math" panose="02040503050406030204" charset="0"/>
                      </a:rPr>
                      <m:t> = </m:t>
                    </m:r>
                  </m:oMath>
                </a14:m>
                <a:endParaRPr lang="en-US" altLang="zh-CN"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551180" y="2820035"/>
                <a:ext cx="11308715" cy="650240"/>
              </a:xfrm>
              <a:prstGeom prst="rect">
                <a:avLst/>
              </a:prstGeom>
              <a:blipFill rotWithShape="1">
                <a:blip r:embed="rId4"/>
                <a:stretch>
                  <a:fillRect b="-420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88315" y="3627120"/>
                <a:ext cx="11314430" cy="1228090"/>
              </a:xfrm>
              <a:prstGeom prst="rect">
                <a:avLst/>
              </a:prstGeom>
              <a:noFill/>
            </p:spPr>
            <p:txBody>
              <a:bodyPr wrap="square" rtlCol="0" anchor="t">
                <a:no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sym typeface="+mn-ea"/>
                            </a:rPr>
                          </m:ctrlPr>
                        </m:dPr>
                        <m:e>
                          <m:m>
                            <m:mPr>
                              <m:mcs>
                                <m:mc>
                                  <m:mcPr>
                                    <m:count m:val="2"/>
                                    <m:mcJc m:val="center"/>
                                  </m:mcPr>
                                </m:mc>
                              </m:mcs>
                              <m:ctrlPr>
                                <a:rPr lang="en-US" altLang="zh-CN" i="1">
                                  <a:latin typeface="Cambria Math" panose="02040503050406030204" charset="0"/>
                                  <a:cs typeface="Cambria Math" panose="02040503050406030204" charset="0"/>
                                  <a:sym typeface="+mn-ea"/>
                                </a:rPr>
                              </m:ctrlPr>
                            </m:mP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𝑓𝑥</m:t>
                                      </m:r>
                                    </m:e>
                                    <m:e>
                                      <m:r>
                                        <a:rPr lang="en-US" altLang="zh-CN" i="1">
                                          <a:latin typeface="Cambria Math" panose="02040503050406030204" charset="0"/>
                                          <a:cs typeface="Cambria Math" panose="02040503050406030204" charset="0"/>
                                          <a:sym typeface="+mn-ea"/>
                                        </a:rPr>
                                        <m:t>0</m:t>
                                      </m:r>
                                    </m:e>
                                  </m:m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𝑓𝑦</m:t>
                                      </m:r>
                                    </m:e>
                                  </m:mr>
                                </m:m>
                              </m:e>
                              <m:e>
                                <m:m>
                                  <m:mPr>
                                    <m:mcs>
                                      <m:mc>
                                        <m:mcPr>
                                          <m:count m:val="1"/>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𝑐𝑥</m:t>
                                      </m:r>
                                    </m:e>
                                  </m:mr>
                                  <m:mr>
                                    <m:e>
                                      <m:r>
                                        <a:rPr lang="en-US" altLang="zh-CN" i="1">
                                          <a:latin typeface="Cambria Math" panose="02040503050406030204" charset="0"/>
                                          <a:cs typeface="Cambria Math" panose="02040503050406030204" charset="0"/>
                                          <a:sym typeface="+mn-ea"/>
                                        </a:rPr>
                                        <m:t>𝑐𝑦</m:t>
                                      </m:r>
                                    </m:e>
                                  </m:mr>
                                </m:m>
                              </m:e>
                            </m:mr>
                            <m:mr>
                              <m:e>
                                <m:m>
                                  <m:mPr>
                                    <m:mcs>
                                      <m:mc>
                                        <m:mcPr>
                                          <m:count m:val="2"/>
                                          <m:mcJc m:val="center"/>
                                        </m:mcPr>
                                      </m:mc>
                                    </m:mcs>
                                    <m:ctrlPr>
                                      <a:rPr lang="en-US" altLang="zh-CN" i="1">
                                        <a:latin typeface="Cambria Math" panose="02040503050406030204" charset="0"/>
                                        <a:cs typeface="Cambria Math" panose="02040503050406030204" charset="0"/>
                                        <a:sym typeface="+mn-ea"/>
                                      </a:rPr>
                                    </m:ctrlPr>
                                  </m:mPr>
                                  <m:mr>
                                    <m:e>
                                      <m:r>
                                        <a:rPr lang="en-US" altLang="zh-CN" i="1">
                                          <a:latin typeface="Cambria Math" panose="02040503050406030204" charset="0"/>
                                          <a:cs typeface="Cambria Math" panose="02040503050406030204" charset="0"/>
                                          <a:sym typeface="+mn-ea"/>
                                        </a:rPr>
                                        <m:t>0</m:t>
                                      </m:r>
                                    </m:e>
                                    <m:e>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0</m:t>
                                      </m:r>
                                    </m:e>
                                  </m:mr>
                                </m:m>
                              </m:e>
                              <m:e>
                                <m:r>
                                  <a:rPr lang="en-US" altLang="zh-CN" i="1">
                                    <a:latin typeface="Cambria Math" panose="02040503050406030204" charset="0"/>
                                    <a:cs typeface="Cambria Math" panose="02040503050406030204" charset="0"/>
                                    <a:sym typeface="+mn-ea"/>
                                  </a:rPr>
                                  <m:t>1</m:t>
                                </m:r>
                              </m:e>
                            </m:mr>
                          </m:m>
                        </m:e>
                      </m:d>
                      <m:r>
                        <a:rPr lang="en-US" altLang="zh-CN" i="1">
                          <a:latin typeface="Cambria Math" panose="02040503050406030204" charset="0"/>
                          <a:cs typeface="Cambria Math" panose="02040503050406030204" charset="0"/>
                          <a:sym typeface="+mn-ea"/>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mr>
                          </m:m>
                        </m:e>
                      </m:d>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𝑋𝑏</m:t>
                                      </m:r>
                                    </m:e>
                                  </m:mr>
                                  <m:mr>
                                    <m:e>
                                      <m:r>
                                        <a:rPr lang="en-US" altLang="zh-CN" i="1">
                                          <a:latin typeface="Cambria Math" panose="02040503050406030204" charset="0"/>
                                          <a:cs typeface="Cambria Math" panose="02040503050406030204" charset="0"/>
                                        </a:rPr>
                                        <m:t>𝑌𝑏</m:t>
                                      </m:r>
                                    </m:e>
                                  </m:mr>
                                  <m:mr>
                                    <m:e>
                                      <m:r>
                                        <a:rPr lang="en-US" altLang="zh-CN" i="1">
                                          <a:latin typeface="Cambria Math" panose="02040503050406030204" charset="0"/>
                                          <a:cs typeface="Cambria Math" panose="02040503050406030204" charset="0"/>
                                        </a:rPr>
                                        <m:t>𝑍𝑏</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i="1">
                                          <a:latin typeface="Cambria Math" panose="02040503050406030204" charset="0"/>
                                        </a:rPr>
                                        <m:t>−</m:t>
                                      </m:r>
                                      <m:r>
                                        <a:rPr lang="en-US" i="1">
                                          <a:latin typeface="Cambria Math" panose="02040503050406030204" charset="0"/>
                                        </a:rPr>
                                        <m:t>𝑋𝑤</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0</m:t>
                                      </m:r>
                                    </m:e>
                                    <m:e>
                                      <m:r>
                                        <a:rPr lang="en-US" i="1">
                                          <a:latin typeface="Cambria Math" panose="02040503050406030204" charset="0"/>
                                        </a:rPr>
                                        <m:t>𝑋𝑤</m:t>
                                      </m:r>
                                      <m:r>
                                        <a:rPr lang="en-US" i="1">
                                          <a:latin typeface="Cambria Math" panose="02040503050406030204" charset="0"/>
                                        </a:rPr>
                                        <m:t> </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i="1">
                                          <a:latin typeface="Cambria Math" panose="02040503050406030204" charset="0"/>
                                        </a:rPr>
                                        <m:t>0</m:t>
                                      </m:r>
                                    </m:e>
                                  </m:mr>
                                  <m:mr>
                                    <m:e>
                                      <m:r>
                                        <a:rPr lang="en-US" i="1">
                                          <a:latin typeface="Cambria Math" panose="02040503050406030204" charset="0"/>
                                        </a:rPr>
                                        <m:t>0</m:t>
                                      </m:r>
                                      <m:r>
                                        <a:rPr lang="en-US" i="1">
                                          <a:latin typeface="Cambria Math" panose="02040503050406030204" charset="0"/>
                                        </a:rPr>
                                        <m:t>      </m:t>
                                      </m:r>
                                    </m:e>
                                    <m:e>
                                      <m:r>
                                        <a:rPr lang="en-US" i="1">
                                          <a:latin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i="1">
                                          <a:latin typeface="Cambria Math" panose="02040503050406030204" charset="0"/>
                                        </a:rPr>
                                        <m:t>                                   </m:t>
                                      </m:r>
                                      <m:r>
                                        <a:rPr lang="en-US" i="1">
                                          <a:latin typeface="Cambria Math" panose="02040503050406030204" charset="0"/>
                                        </a:rPr>
                                        <m:t>−</m:t>
                                      </m:r>
                                      <m:r>
                                        <a:rPr lang="en-US" i="1">
                                          <a:latin typeface="Cambria Math" panose="02040503050406030204" charset="0"/>
                                        </a:rPr>
                                        <m:t>𝑍𝑤</m:t>
                                      </m:r>
                                    </m:e>
                                  </m:mr>
                                  <m:mr>
                                    <m:e>
                                      <m:r>
                                        <a:rPr lang="en-US" i="1">
                                          <a:latin typeface="Cambria Math" panose="02040503050406030204" charset="0"/>
                                        </a:rPr>
                                        <m:t>0</m:t>
                                      </m:r>
                                    </m:e>
                                    <m:e>
                                      <m:r>
                                        <a:rPr lang="en-US" i="1">
                                          <a:latin typeface="Cambria Math" panose="02040503050406030204" charset="0"/>
                                        </a:rPr>
                                        <m:t>                                           </m:t>
                                      </m:r>
                                      <m:r>
                                        <a:rPr lang="en-US" i="1">
                                          <a:latin typeface="Cambria Math" panose="02040503050406030204" charset="0"/>
                                        </a:rPr>
                                        <m:t>1</m:t>
                                      </m:r>
                                    </m:e>
                                  </m:mr>
                                </m:m>
                              </m:e>
                            </m:mr>
                          </m:m>
                        </m:e>
                      </m:d>
                    </m:oMath>
                  </m:oMathPara>
                </a14:m>
                <a:endParaRPr lang="en-US" i="1">
                  <a:latin typeface="Cambria Math" panose="02040503050406030204"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m:t>
                      </m:r>
                    </m:oMath>
                  </m:oMathPara>
                </a14:m>
                <a:endParaRPr lang="en-US" altLang="zh-CN" i="1">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488315" y="3627120"/>
                <a:ext cx="11314430" cy="1228090"/>
              </a:xfrm>
              <a:prstGeom prst="rect">
                <a:avLst/>
              </a:prstGeom>
              <a:blipFill rotWithShape="1">
                <a:blip r:embed="rId5"/>
                <a:stretch>
                  <a:fillRect b="-79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739900" y="4652010"/>
                <a:ext cx="9648825" cy="105156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𝑓𝑥</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𝑐𝑥</m:t>
                                            </m:r>
                                          </m:e>
                                          <m:e>
                                            <m:r>
                                              <a:rPr lang="en-US" altLang="zh-CN" i="1">
                                                <a:latin typeface="Cambria Math" panose="02040503050406030204" charset="0"/>
                                                <a:cs typeface="Cambria Math" panose="02040503050406030204" charset="0"/>
                                              </a:rPr>
                                              <m:t>𝑓𝑥</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𝑋𝑏</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𝑐𝑥</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𝑍𝑏</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𝑐𝑦</m:t>
                                            </m:r>
                                          </m:e>
                                          <m:e>
                                            <m:r>
                                              <a:rPr lang="en-US" altLang="zh-CN" i="1">
                                                <a:latin typeface="Cambria Math" panose="02040503050406030204" charset="0"/>
                                                <a:cs typeface="Cambria Math" panose="02040503050406030204" charset="0"/>
                                              </a:rPr>
                                              <m:t>𝑓𝑦</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𝑌𝑏</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𝑐𝑦</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𝑍𝑏</m:t>
                                            </m:r>
                                          </m:e>
                                        </m:mr>
                                      </m:m>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𝑍𝑏</m:t>
                                      </m:r>
                                    </m:e>
                                  </m:mr>
                                </m:m>
                              </m:e>
                            </m:mr>
                          </m:m>
                        </m:e>
                      </m:d>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i="1">
                                          <a:latin typeface="Cambria Math" panose="02040503050406030204" charset="0"/>
                                        </a:rPr>
                                        <m:t>−</m:t>
                                      </m:r>
                                      <m:r>
                                        <a:rPr lang="en-US" i="1">
                                          <a:latin typeface="Cambria Math" panose="02040503050406030204" charset="0"/>
                                        </a:rPr>
                                        <m:t>𝑋𝑤</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i="1">
                                          <a:latin typeface="Cambria Math" panose="02040503050406030204" charset="0"/>
                                          <a:cs typeface="Cambria Math" panose="02040503050406030204" charset="0"/>
                                          <a:sym typeface="+mn-ea"/>
                                        </a:rPr>
                                        <m:t>𝜃</m:t>
                                      </m:r>
                                    </m:e>
                                  </m:mr>
                                  <m:mr>
                                    <m:e>
                                      <m:r>
                                        <a:rPr lang="en-US" i="1">
                                          <a:latin typeface="Cambria Math" panose="02040503050406030204" charset="0"/>
                                        </a:rPr>
                                        <m:t>0</m:t>
                                      </m:r>
                                    </m:e>
                                    <m:e>
                                      <m:r>
                                        <a:rPr lang="en-US" i="1">
                                          <a:latin typeface="Cambria Math" panose="02040503050406030204" charset="0"/>
                                        </a:rPr>
                                        <m:t>𝑋𝑤</m:t>
                                      </m:r>
                                      <m:r>
                                        <a:rPr lang="en-US" i="1">
                                          <a:latin typeface="Cambria Math" panose="02040503050406030204" charset="0"/>
                                        </a:rPr>
                                        <m:t> </m:t>
                                      </m:r>
                                      <m:r>
                                        <a:rPr lang="en-US" i="1">
                                          <a:latin typeface="Cambria Math" panose="02040503050406030204" charset="0"/>
                                        </a:rPr>
                                        <m:t>𝑠𝑖𝑛</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i="1">
                                          <a:latin typeface="Cambria Math" panose="02040503050406030204" charset="0"/>
                                        </a:rPr>
                                        <m:t>0</m:t>
                                      </m:r>
                                    </m:e>
                                  </m:mr>
                                  <m:mr>
                                    <m:e>
                                      <m:r>
                                        <a:rPr lang="en-US" i="1">
                                          <a:latin typeface="Cambria Math" panose="02040503050406030204" charset="0"/>
                                        </a:rPr>
                                        <m:t>0</m:t>
                                      </m:r>
                                      <m:r>
                                        <a:rPr lang="en-US" i="1">
                                          <a:latin typeface="Cambria Math" panose="02040503050406030204" charset="0"/>
                                        </a:rPr>
                                        <m:t>      </m:t>
                                      </m:r>
                                    </m:e>
                                    <m:e>
                                      <m:r>
                                        <a:rPr lang="en-US" i="1">
                                          <a:latin typeface="Cambria Math" panose="02040503050406030204" charset="0"/>
                                        </a:rPr>
                                        <m:t>0</m:t>
                                      </m:r>
                                    </m:e>
                                  </m:mr>
                                </m:m>
                              </m:e>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i="1">
                                          <a:latin typeface="Cambria Math" panose="02040503050406030204" charset="0"/>
                                        </a:rPr>
                                        <m:t>                                   −</m:t>
                                      </m:r>
                                      <m:r>
                                        <a:rPr lang="en-US" i="1">
                                          <a:latin typeface="Cambria Math" panose="02040503050406030204" charset="0"/>
                                        </a:rPr>
                                        <m:t>𝑍𝑤</m:t>
                                      </m:r>
                                    </m:e>
                                  </m:mr>
                                  <m:mr>
                                    <m:e>
                                      <m:r>
                                        <a:rPr lang="en-US" i="1">
                                          <a:latin typeface="Cambria Math" panose="02040503050406030204" charset="0"/>
                                        </a:rPr>
                                        <m:t>0</m:t>
                                      </m:r>
                                    </m:e>
                                    <m:e>
                                      <m:r>
                                        <a:rPr lang="en-US" i="1">
                                          <a:latin typeface="Cambria Math" panose="02040503050406030204" charset="0"/>
                                        </a:rPr>
                                        <m:t>                                           </m:t>
                                      </m:r>
                                      <m:r>
                                        <a:rPr lang="en-US" i="1">
                                          <a:latin typeface="Cambria Math" panose="02040503050406030204" charset="0"/>
                                        </a:rPr>
                                        <m:t>1</m:t>
                                      </m:r>
                                    </m:e>
                                  </m:mr>
                                </m:m>
                              </m:e>
                            </m:mr>
                          </m:m>
                        </m:e>
                      </m:d>
                      <m:r>
                        <a:rPr lang="en-US" altLang="zh-CN" i="1">
                          <a:latin typeface="Cambria Math" panose="02040503050406030204" charset="0"/>
                          <a:cs typeface="Cambria Math" panose="02040503050406030204" charset="0"/>
                        </a:rPr>
                        <m:t> </m:t>
                      </m:r>
                    </m:oMath>
                  </m:oMathPara>
                </a14:m>
                <a:endParaRPr lang="en-US" altLang="zh-CN"/>
              </a:p>
            </p:txBody>
          </p:sp>
        </mc:Choice>
        <mc:Fallback>
          <p:sp>
            <p:nvSpPr>
              <p:cNvPr id="9" name="文本框 8"/>
              <p:cNvSpPr txBox="1">
                <a:spLocks noRot="1" noChangeAspect="1" noMove="1" noResize="1" noEditPoints="1" noAdjustHandles="1" noChangeArrowheads="1" noChangeShapeType="1" noTextEdit="1"/>
              </p:cNvSpPr>
              <p:nvPr/>
            </p:nvSpPr>
            <p:spPr>
              <a:xfrm>
                <a:off x="1739900" y="4652010"/>
                <a:ext cx="9648825" cy="105156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138555" y="5770880"/>
                <a:ext cx="9032240" cy="86677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𝑝</m:t>
                          </m:r>
                        </m:sup>
                      </m:sSubSup>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𝑓𝑥</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𝑓𝑥</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𝑓𝑦</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𝑓𝑦</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𝑐𝑦</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𝑓𝑥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𝑋𝑤</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𝑍𝑤</m:t>
                                      </m:r>
                                      <m:r>
                                        <a:rPr lang="en-US" altLang="zh-CN" i="1">
                                          <a:latin typeface="Cambria Math" panose="02040503050406030204" charset="0"/>
                                          <a:cs typeface="Cambria Math" panose="02040503050406030204" charset="0"/>
                                        </a:rPr>
                                        <m:t>)</m:t>
                                      </m:r>
                                    </m:e>
                                  </m:mr>
                                  <m:mr>
                                    <m:e>
                                      <m:r>
                                        <a:rPr lang="en-US" altLang="zh-CN" i="1">
                                          <a:latin typeface="Cambria Math" panose="02040503050406030204" charset="0"/>
                                          <a:cs typeface="Cambria Math" panose="02040503050406030204" charset="0"/>
                                        </a:rPr>
                                        <m:t>𝑓𝑦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𝑌𝑏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𝑋𝑤</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𝑌𝑤</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𝑍𝑏</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𝑍𝑤</m:t>
                                      </m:r>
                                      <m:r>
                                        <a:rPr lang="en-US" altLang="zh-CN" i="1">
                                          <a:latin typeface="Cambria Math" panose="02040503050406030204" charset="0"/>
                                          <a:cs typeface="Cambria Math" panose="02040503050406030204" charset="0"/>
                                          <a:sym typeface="+mn-ea"/>
                                        </a:rPr>
                                        <m:t>)</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
                              </m:e>
                              <m:e>
                                <m:r>
                                  <a:rPr lang="en-US" altLang="zh-CN" i="1">
                                    <a:latin typeface="Cambria Math" panose="02040503050406030204" charset="0"/>
                                    <a:cs typeface="Cambria Math" panose="02040503050406030204" charset="0"/>
                                  </a:rPr>
                                  <m:t>𝑍𝑏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𝑍𝑤</m:t>
                                </m:r>
                              </m:e>
                            </m:mr>
                          </m:m>
                        </m:e>
                      </m:d>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1138555" y="5770880"/>
                <a:ext cx="9032240" cy="866775"/>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47395" y="117411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课后习题</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426845" y="2004695"/>
                <a:ext cx="10375900" cy="4363085"/>
              </a:xfrm>
              <a:prstGeom prst="rect">
                <a:avLst/>
              </a:prstGeom>
              <a:noFill/>
            </p:spPr>
            <p:txBody>
              <a:bodyPr wrap="square" rtlCol="0">
                <a:noAutofit/>
              </a:bodyPr>
              <a:p>
                <a:endParaRPr lang="zh-CN" altLang="en-US"/>
              </a:p>
              <a:p>
                <a:r>
                  <a:rPr lang="en-US" altLang="zh-CN" b="1"/>
                  <a:t>1.</a:t>
                </a:r>
                <a:r>
                  <a:rPr lang="en-US" altLang="zh-CN"/>
                  <a:t> </a:t>
                </a:r>
                <a:r>
                  <a:rPr lang="zh-CN" altLang="en-US"/>
                  <a:t>标定给定单目相机，测量内参矩阵</a:t>
                </a:r>
                <a:endParaRPr lang="zh-CN" altLang="en-US"/>
              </a:p>
              <a:p>
                <a:r>
                  <a:rPr lang="en-US" altLang="zh-CN">
                    <a:solidFill>
                      <a:schemeClr val="tx1"/>
                    </a:solidFill>
                    <a:highlight>
                      <a:srgbClr val="FFFF00"/>
                    </a:highlight>
                  </a:rPr>
                  <a:t>MatLab-CameraCalibrator</a:t>
                </a:r>
                <a:r>
                  <a:rPr lang="zh-CN" altLang="en-US">
                    <a:solidFill>
                      <a:schemeClr val="tx1"/>
                    </a:solidFill>
                    <a:highlight>
                      <a:srgbClr val="FFFF00"/>
                    </a:highlight>
                  </a:rPr>
                  <a:t>，注意分辨率不同导致内参不同</a:t>
                </a:r>
                <a:endParaRPr lang="zh-CN" altLang="en-US">
                  <a:solidFill>
                    <a:schemeClr val="tx1"/>
                  </a:solidFill>
                  <a:highlight>
                    <a:srgbClr val="FFFF00"/>
                  </a:highlight>
                </a:endParaRPr>
              </a:p>
              <a:p>
                <a:r>
                  <a:rPr lang="zh-CN" altLang="en-US">
                    <a:solidFill>
                      <a:schemeClr val="tx1"/>
                    </a:solidFill>
                    <a:highlight>
                      <a:srgbClr val="FFFF00"/>
                    </a:highlight>
                  </a:rPr>
                  <a:t>关于畸变参数</a:t>
                </a:r>
                <a:r>
                  <a:rPr lang="en-US" altLang="zh-CN">
                    <a:solidFill>
                      <a:schemeClr val="tx1"/>
                    </a:solidFill>
                    <a:highlight>
                      <a:srgbClr val="FFFF00"/>
                    </a:highlight>
                  </a:rPr>
                  <a:t>:</a:t>
                </a:r>
                <a:r>
                  <a:rPr lang="zh-CN" altLang="en-US">
                    <a:solidFill>
                      <a:schemeClr val="tx1"/>
                    </a:solidFill>
                    <a:highlight>
                      <a:srgbClr val="FFFF00"/>
                    </a:highlight>
                  </a:rPr>
                  <a:t>会在后续实训中出现，请自行学习</a:t>
                </a:r>
                <a:endParaRPr lang="zh-CN" altLang="en-US">
                  <a:solidFill>
                    <a:schemeClr val="tx1"/>
                  </a:solidFill>
                  <a:highlight>
                    <a:srgbClr val="FFFF00"/>
                  </a:highlight>
                </a:endParaRPr>
              </a:p>
              <a:p>
                <a:endParaRPr lang="zh-CN" altLang="en-US"/>
              </a:p>
              <a:p>
                <a:endParaRPr lang="zh-CN" altLang="en-US"/>
              </a:p>
              <a:p>
                <a:r>
                  <a:rPr lang="en-US" altLang="zh-CN" b="1"/>
                  <a:t>2.</a:t>
                </a:r>
                <a:r>
                  <a:rPr lang="en-US" altLang="zh-CN"/>
                  <a:t> </a:t>
                </a:r>
                <a:r>
                  <a:rPr lang="zh-CN" altLang="en-US"/>
                  <a:t>现在，无人机的世界系</a:t>
                </a:r>
                <a:r>
                  <a:rPr lang="en-US" altLang="zh-CN"/>
                  <a:t>Hw</a:t>
                </a:r>
                <a:r>
                  <a:rPr lang="zh-CN" altLang="en-US"/>
                  <a:t>以起飞时的点为原点，向前为</a:t>
                </a:r>
                <a:r>
                  <a:rPr lang="en-US" altLang="zh-CN"/>
                  <a:t>x</a:t>
                </a:r>
                <a:r>
                  <a:rPr lang="zh-CN" altLang="en-US"/>
                  <a:t>轴正方向，向左为</a:t>
                </a:r>
                <a:r>
                  <a:rPr lang="en-US" altLang="zh-CN"/>
                  <a:t>y</a:t>
                </a:r>
                <a:r>
                  <a:rPr lang="zh-CN" altLang="en-US"/>
                  <a:t>轴正方向，向上为</a:t>
                </a:r>
                <a:r>
                  <a:rPr lang="en-US" altLang="zh-CN"/>
                  <a:t>z</a:t>
                </a:r>
                <a:r>
                  <a:rPr lang="zh-CN" altLang="en-US"/>
                  <a:t>轴正方向；</a:t>
                </a:r>
                <a:endParaRPr lang="zh-CN" altLang="en-US"/>
              </a:p>
              <a:p>
                <a:r>
                  <a:rPr lang="zh-CN" altLang="en-US"/>
                  <a:t>无人机的机体系</a:t>
                </a:r>
                <a:r>
                  <a:rPr lang="en-US" altLang="zh-CN"/>
                  <a:t>Hb</a:t>
                </a:r>
                <a:r>
                  <a:rPr lang="zh-CN" altLang="en-US"/>
                  <a:t>原点在世界系中坐标为</a:t>
                </a:r>
                <a:r>
                  <a:rPr lang="en-US" altLang="zh-CN"/>
                  <a:t>(Xw,Yw,Zw)</a:t>
                </a:r>
                <a:r>
                  <a:rPr lang="zh-CN" altLang="en-US"/>
                  <a:t>，且</a:t>
                </a:r>
                <a:r>
                  <a:rPr lang="en-US" altLang="zh-CN"/>
                  <a:t>Hb</a:t>
                </a:r>
                <a:r>
                  <a:rPr lang="zh-CN" altLang="en-US"/>
                  <a:t>相对于</a:t>
                </a:r>
                <a:r>
                  <a:rPr lang="en-US" altLang="zh-CN"/>
                  <a:t>Hw</a:t>
                </a:r>
                <a:r>
                  <a:rPr lang="zh-CN" altLang="en-US"/>
                  <a:t>的欧拉角（</a:t>
                </a:r>
                <a:r>
                  <a:rPr lang="en-US" altLang="zh-CN"/>
                  <a:t>yaw, pitch, roll</a:t>
                </a:r>
                <a:r>
                  <a:rPr lang="zh-CN" altLang="en-US"/>
                  <a:t>）以</a:t>
                </a:r>
                <a:r>
                  <a:rPr lang="en-US" altLang="zh-CN"/>
                  <a:t>ZYX</a:t>
                </a:r>
                <a:r>
                  <a:rPr lang="zh-CN" altLang="en-US"/>
                  <a:t>顺序（即先绕</a:t>
                </a:r>
                <a:r>
                  <a:rPr lang="en-US" altLang="zh-CN"/>
                  <a:t>Z</a:t>
                </a:r>
                <a:r>
                  <a:rPr lang="zh-CN" altLang="en-US"/>
                  <a:t>轴旋转</a:t>
                </a:r>
                <a:r>
                  <a:rPr lang="en-US" altLang="zh-CN"/>
                  <a:t>yaw</a:t>
                </a:r>
                <a:r>
                  <a:rPr lang="zh-CN" altLang="en-US"/>
                  <a:t>，再绕</a:t>
                </a:r>
                <a:r>
                  <a:rPr lang="en-US" altLang="zh-CN"/>
                  <a:t>Y</a:t>
                </a:r>
                <a:r>
                  <a:rPr lang="zh-CN" altLang="en-US"/>
                  <a:t>轴旋转</a:t>
                </a:r>
                <a:r>
                  <a:rPr lang="en-US" altLang="zh-CN"/>
                  <a:t>pitch</a:t>
                </a:r>
                <a:r>
                  <a:rPr lang="zh-CN" altLang="en-US"/>
                  <a:t>，最后绕</a:t>
                </a:r>
                <a:r>
                  <a:rPr lang="en-US" altLang="zh-CN"/>
                  <a:t>X</a:t>
                </a:r>
                <a:r>
                  <a:rPr lang="zh-CN" altLang="en-US"/>
                  <a:t>轴旋转</a:t>
                </a:r>
                <a:r>
                  <a:rPr lang="en-US" altLang="zh-CN"/>
                  <a:t>roll</a:t>
                </a:r>
                <a:r>
                  <a:rPr lang="zh-CN" altLang="en-US"/>
                  <a:t>）定义</a:t>
                </a:r>
                <a:r>
                  <a:rPr lang="en-US" altLang="zh-CN"/>
                  <a:t>;</a:t>
                </a:r>
                <a:endParaRPr lang="en-US" altLang="zh-CN"/>
              </a:p>
              <a:p>
                <a:endParaRPr lang="en-US" altLang="zh-CN"/>
              </a:p>
              <a:p>
                <a:r>
                  <a:rPr lang="zh-CN">
                    <a:sym typeface="+mn-ea"/>
                  </a:rPr>
                  <a:t>相机系的坐标轴朝向和机体系完全相反，假设相机光心在机体系的坐标为</a:t>
                </a:r>
                <a:r>
                  <a:rPr lang="en-US" altLang="zh-CN">
                    <a:sym typeface="+mn-ea"/>
                  </a:rPr>
                  <a:t>(Xb,Yb,Zb);</a:t>
                </a:r>
                <a:endParaRPr lang="en-US" altLang="zh-CN">
                  <a:sym typeface="+mn-ea"/>
                </a:endParaRPr>
              </a:p>
              <a:p>
                <a:r>
                  <a:rPr lang="zh-CN" altLang="en-US"/>
                  <a:t>已知相机内参，求世界系</a:t>
                </a:r>
                <a:r>
                  <a:rPr lang="en-US" altLang="zh-CN"/>
                  <a:t>-&gt;</a:t>
                </a:r>
                <a:r>
                  <a:rPr lang="zh-CN" altLang="en-US"/>
                  <a:t>像素系的变换矩阵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𝑇</m:t>
                        </m:r>
                      </m:e>
                      <m:sub>
                        <m:r>
                          <a:rPr lang="en-US" altLang="zh-CN" i="1">
                            <a:latin typeface="Cambria Math" panose="02040503050406030204" charset="0"/>
                            <a:cs typeface="Cambria Math" panose="02040503050406030204" charset="0"/>
                          </a:rPr>
                          <m:t>𝑤</m:t>
                        </m:r>
                      </m:sub>
                      <m:sup>
                        <m:r>
                          <a:rPr lang="en-US" altLang="zh-CN" i="1">
                            <a:latin typeface="Cambria Math" panose="02040503050406030204" charset="0"/>
                            <a:cs typeface="Cambria Math" panose="02040503050406030204" charset="0"/>
                          </a:rPr>
                          <m:t>𝑝</m:t>
                        </m:r>
                      </m:sup>
                    </m:sSubSup>
                  </m:oMath>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r>
                  <a:rPr lang="zh-CN" altLang="en-US">
                    <a:highlight>
                      <a:srgbClr val="FFFF00"/>
                    </a:highlight>
                    <a:latin typeface="Cambria Math" panose="02040503050406030204" charset="0"/>
                    <a:cs typeface="Cambria Math" panose="02040503050406030204" charset="0"/>
                  </a:rPr>
                  <a:t>多乘两个旋转变换矩阵就行</a:t>
                </a:r>
                <a:endParaRPr lang="en-US" altLang="zh-CN">
                  <a:highlight>
                    <a:srgbClr val="FFFF00"/>
                  </a:highlight>
                  <a:latin typeface="Cambria Math" panose="02040503050406030204" charset="0"/>
                  <a:cs typeface="Cambria Math" panose="02040503050406030204" charset="0"/>
                </a:endParaRPr>
              </a:p>
              <a:p>
                <a:endParaRPr lang="zh-CN" altLang="en-US"/>
              </a:p>
              <a:p>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426845" y="2004695"/>
                <a:ext cx="10375900" cy="4363085"/>
              </a:xfrm>
              <a:prstGeom prst="rect">
                <a:avLst/>
              </a:prstGeom>
              <a:blipFill rotWithShape="1">
                <a:blip r:embed="rId3"/>
                <a:stretch>
                  <a:fillRect b="-8630"/>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47395" y="117411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课后习题</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41095" y="1478280"/>
            <a:ext cx="10375900" cy="5155565"/>
          </a:xfrm>
          <a:prstGeom prst="rect">
            <a:avLst/>
          </a:prstGeom>
          <a:noFill/>
        </p:spPr>
        <p:txBody>
          <a:bodyPr wrap="square" rtlCol="0">
            <a:noAutofit/>
          </a:bodyPr>
          <a:p>
            <a:endParaRPr lang="zh-CN" altLang="en-US"/>
          </a:p>
          <a:p>
            <a:r>
              <a:rPr lang="en-US" b="1"/>
              <a:t>3. [</a:t>
            </a:r>
            <a:r>
              <a:rPr lang="zh-CN" altLang="en-US" b="1"/>
              <a:t>思考题</a:t>
            </a:r>
            <a:r>
              <a:rPr lang="en-US" b="1"/>
              <a:t>] </a:t>
            </a:r>
            <a:r>
              <a:rPr lang="zh-CN" altLang="en-US"/>
              <a:t>在相机原理一节中，我们提到了像素坐标</a:t>
            </a:r>
            <a:r>
              <a:rPr lang="en-US" altLang="zh-CN"/>
              <a:t>(u,v)</a:t>
            </a:r>
            <a:r>
              <a:rPr lang="zh-CN" altLang="en-US"/>
              <a:t>无法导出世界坐标</a:t>
            </a:r>
            <a:r>
              <a:rPr lang="en-US" altLang="zh-CN"/>
              <a:t>(Xw,Yw,Zw)</a:t>
            </a:r>
            <a:r>
              <a:rPr lang="zh-CN" altLang="en-US"/>
              <a:t>，需要结合</a:t>
            </a:r>
            <a:r>
              <a:rPr lang="en-US" altLang="zh-CN"/>
              <a:t>Zc</a:t>
            </a:r>
            <a:r>
              <a:rPr lang="zh-CN" altLang="en-US"/>
              <a:t>才能得到；在变换矩阵一节中，对于给定的世界系</a:t>
            </a:r>
            <a:r>
              <a:rPr lang="en-US" altLang="zh-CN"/>
              <a:t>-&gt;</a:t>
            </a:r>
            <a:r>
              <a:rPr lang="zh-CN" altLang="en-US"/>
              <a:t>像素系的变换矩阵，由于它是</a:t>
            </a:r>
            <a:r>
              <a:rPr lang="en-US" altLang="zh-CN"/>
              <a:t>3*4</a:t>
            </a:r>
            <a:r>
              <a:rPr lang="zh-CN" altLang="en-US"/>
              <a:t>的，你会发现它似乎没有逆矩阵。那我们如何写从像素坐标到世界坐标转换的函数呢</a:t>
            </a:r>
            <a:r>
              <a:rPr lang="en-US" altLang="zh-CN"/>
              <a:t>?</a:t>
            </a:r>
            <a:endParaRPr lang="en-US" altLang="zh-CN"/>
          </a:p>
          <a:p>
            <a:endParaRPr lang="en-US" altLang="zh-CN" i="1">
              <a:latin typeface="Cambria Math" panose="02040503050406030204" charset="0"/>
              <a:cs typeface="Cambria Math" panose="02040503050406030204" charset="0"/>
            </a:endParaRPr>
          </a:p>
          <a:p>
            <a:r>
              <a:rPr lang="zh-CN" altLang="en-US"/>
              <a:t>计算机专业的小</a:t>
            </a:r>
            <a:r>
              <a:rPr lang="en-US" altLang="zh-CN"/>
              <a:t>O</a:t>
            </a:r>
            <a:r>
              <a:rPr lang="zh-CN" altLang="en-US"/>
              <a:t>认为，既然如此，那就先从像素系推出归一化平面坐标，结合</a:t>
            </a:r>
            <a:r>
              <a:rPr lang="en-US" altLang="zh-CN"/>
              <a:t>Zc</a:t>
            </a:r>
            <a:r>
              <a:rPr lang="zh-CN" altLang="en-US"/>
              <a:t>得到相机系坐标，再算世界系坐标，将二维和三维完全区分，从而解决问题。请你基于这个思想，实现参数为像素系坐标和</a:t>
            </a:r>
            <a:r>
              <a:rPr lang="en-US" altLang="zh-CN"/>
              <a:t>Zc</a:t>
            </a:r>
            <a:r>
              <a:rPr lang="zh-CN" altLang="en-US"/>
              <a:t>，返回值为世界系坐标的函数。</a:t>
            </a:r>
            <a:endParaRPr lang="zh-CN" altLang="en-US"/>
          </a:p>
          <a:p>
            <a:endParaRPr lang="zh-CN" altLang="en-US" i="1">
              <a:latin typeface="Cambria Math" panose="02040503050406030204" charset="0"/>
              <a:cs typeface="Cambria Math" panose="02040503050406030204" charset="0"/>
            </a:endParaRPr>
          </a:p>
          <a:p>
            <a:r>
              <a:rPr lang="zh-CN" altLang="en-US"/>
              <a:t>数学专业的小</a:t>
            </a:r>
            <a:r>
              <a:rPr lang="en-US" altLang="zh-CN"/>
              <a:t>Z</a:t>
            </a:r>
            <a:r>
              <a:rPr lang="zh-CN" altLang="en-US"/>
              <a:t>认为，我们在推导变换矩阵时，为了</a:t>
            </a:r>
            <a:r>
              <a:rPr lang="zh-CN" altLang="en-US">
                <a:sym typeface="+mn-ea"/>
              </a:rPr>
              <a:t>数学形式的优美和</a:t>
            </a:r>
            <a:r>
              <a:rPr lang="zh-CN" altLang="en-US"/>
              <a:t>内参矩阵的展示，因而牺牲了实用性。他认为，应当三维化像素坐标，将内参矩阵改写为</a:t>
            </a:r>
            <a:r>
              <a:rPr lang="en-US" altLang="zh-CN"/>
              <a:t>4*4</a:t>
            </a:r>
            <a:r>
              <a:rPr lang="zh-CN" altLang="en-US"/>
              <a:t>形式，请基于这个思想，做出数学推导，并完成编程实现。</a:t>
            </a:r>
            <a:endParaRPr lang="zh-CN" altLang="en-US"/>
          </a:p>
          <a:p>
            <a:endParaRPr lang="zh-CN" altLang="en-US"/>
          </a:p>
          <a:p>
            <a:r>
              <a:rPr lang="zh-CN" altLang="en-US" i="1">
                <a:latin typeface="Cambria Math" panose="02040503050406030204" charset="0"/>
                <a:cs typeface="Cambria Math" panose="02040503050406030204" charset="0"/>
                <a:sym typeface="+mn-ea"/>
              </a:rPr>
              <a:t>以上两个你可以任择其一完成。</a:t>
            </a:r>
            <a:endParaRPr lang="zh-CN" altLang="en-US" i="1">
              <a:latin typeface="Cambria Math" panose="02040503050406030204" charset="0"/>
              <a:cs typeface="Cambria Math" panose="02040503050406030204" charset="0"/>
            </a:endParaRPr>
          </a:p>
          <a:p>
            <a:endParaRPr lang="zh-CN" altLang="en-US"/>
          </a:p>
          <a:p>
            <a:endParaRPr lang="zh-CN" altLang="en-US"/>
          </a:p>
          <a:p>
            <a:r>
              <a:rPr lang="en-US" b="1">
                <a:sym typeface="+mn-ea"/>
              </a:rPr>
              <a:t>[</a:t>
            </a:r>
            <a:r>
              <a:rPr lang="zh-CN" altLang="en-US" b="1">
                <a:sym typeface="+mn-ea"/>
              </a:rPr>
              <a:t>附加题</a:t>
            </a:r>
            <a:r>
              <a:rPr lang="en-US" b="1">
                <a:sym typeface="+mn-ea"/>
              </a:rPr>
              <a:t>] </a:t>
            </a:r>
            <a:r>
              <a:rPr lang="zh-CN" altLang="en-US"/>
              <a:t>同属数学专业的小</a:t>
            </a:r>
            <a:r>
              <a:rPr lang="en-US" altLang="zh-CN"/>
              <a:t>A</a:t>
            </a:r>
            <a:r>
              <a:rPr lang="zh-CN" altLang="en-US"/>
              <a:t>认为，尽管并非方阵，但变换矩阵有广义逆，由此可导出像素系</a:t>
            </a:r>
            <a:r>
              <a:rPr lang="en-US" altLang="zh-CN"/>
              <a:t>-&gt;</a:t>
            </a:r>
            <a:r>
              <a:rPr lang="zh-CN" altLang="en-US"/>
              <a:t>世界系的变换矩阵。你觉得他说得对吗？</a:t>
            </a:r>
            <a:r>
              <a:rPr lang="zh-CN" altLang="en-US">
                <a:sym typeface="+mn-ea"/>
              </a:rPr>
              <a:t>为什么？这样做</a:t>
            </a:r>
            <a:r>
              <a:rPr lang="zh-CN" altLang="en-US"/>
              <a:t>他由像素坐标求出来的世界系的</a:t>
            </a:r>
            <a:r>
              <a:rPr lang="en-US" altLang="zh-CN"/>
              <a:t>”</a:t>
            </a:r>
            <a:r>
              <a:rPr lang="zh-CN" altLang="en-US"/>
              <a:t>东西</a:t>
            </a:r>
            <a:r>
              <a:rPr lang="en-US" altLang="zh-CN"/>
              <a:t>”</a:t>
            </a:r>
            <a:r>
              <a:rPr lang="zh-CN" altLang="en-US"/>
              <a:t>到底是什么？</a:t>
            </a:r>
            <a:endParaRPr lang="zh-CN" altLang="en-US"/>
          </a:p>
          <a:p>
            <a:endParaRPr lang="zh-CN" altLang="en-US"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endParaRPr lang="zh-CN" altLang="en-US"/>
          </a:p>
          <a:p>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747395" y="1174115"/>
            <a:ext cx="36074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课后习题</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1141095" y="1478280"/>
                <a:ext cx="10375900" cy="5155565"/>
              </a:xfrm>
              <a:prstGeom prst="rect">
                <a:avLst/>
              </a:prstGeom>
              <a:noFill/>
            </p:spPr>
            <p:txBody>
              <a:bodyPr wrap="square" rtlCol="0">
                <a:noAutofit/>
              </a:bodyPr>
              <a:p>
                <a:endParaRPr lang="zh-CN" altLang="en-US"/>
              </a:p>
              <a:p>
                <a:r>
                  <a:rPr lang="en-US" b="1"/>
                  <a:t>3. [</a:t>
                </a:r>
                <a:r>
                  <a:rPr lang="zh-CN" altLang="en-US" b="1"/>
                  <a:t>思考题</a:t>
                </a:r>
                <a:r>
                  <a:rPr lang="en-US" b="1"/>
                  <a:t>] </a:t>
                </a:r>
                <a:r>
                  <a:rPr lang="zh-CN" altLang="en-US"/>
                  <a:t>在相机原理一节中，我们提到了像素坐标</a:t>
                </a:r>
                <a:r>
                  <a:rPr lang="en-US" altLang="zh-CN"/>
                  <a:t>(u,v)</a:t>
                </a:r>
                <a:r>
                  <a:rPr lang="zh-CN" altLang="en-US"/>
                  <a:t>无法导出世界坐标</a:t>
                </a:r>
                <a:r>
                  <a:rPr lang="en-US" altLang="zh-CN"/>
                  <a:t>(Xw,Yw,Zw)</a:t>
                </a:r>
                <a:r>
                  <a:rPr lang="zh-CN" altLang="en-US"/>
                  <a:t>，需要结合</a:t>
                </a:r>
                <a:r>
                  <a:rPr lang="en-US" altLang="zh-CN"/>
                  <a:t>Zc</a:t>
                </a:r>
                <a:r>
                  <a:rPr lang="zh-CN" altLang="en-US"/>
                  <a:t>才能得到；在变换矩阵一节中，对于给定的世界系</a:t>
                </a:r>
                <a:r>
                  <a:rPr lang="en-US" altLang="zh-CN"/>
                  <a:t>-&gt;</a:t>
                </a:r>
                <a:r>
                  <a:rPr lang="zh-CN" altLang="en-US"/>
                  <a:t>像素系的变换矩阵，由于它是</a:t>
                </a:r>
                <a:r>
                  <a:rPr lang="en-US" altLang="zh-CN"/>
                  <a:t>3*4</a:t>
                </a:r>
                <a:r>
                  <a:rPr lang="zh-CN" altLang="en-US"/>
                  <a:t>的，你会发现它似乎没有逆矩阵。那我们如何写从像素坐标到世界坐标转换的函数呢</a:t>
                </a:r>
                <a:r>
                  <a:rPr lang="en-US" altLang="zh-CN"/>
                  <a:t>?</a:t>
                </a:r>
                <a:endParaRPr lang="en-US" altLang="zh-CN"/>
              </a:p>
              <a:p>
                <a:endParaRPr lang="en-US" altLang="zh-CN" i="1">
                  <a:latin typeface="Cambria Math" panose="02040503050406030204" charset="0"/>
                  <a:cs typeface="Cambria Math" panose="02040503050406030204" charset="0"/>
                </a:endParaRPr>
              </a:p>
              <a:p>
                <a:r>
                  <a:rPr lang="zh-CN" altLang="en-US">
                    <a:highlight>
                      <a:srgbClr val="FFFF00"/>
                    </a:highlight>
                    <a:latin typeface="Cambria Math" panose="02040503050406030204" charset="0"/>
                    <a:cs typeface="Cambria Math" panose="02040503050406030204" charset="0"/>
                  </a:rPr>
                  <a:t>广义逆是基于最小二乘法得出的。可以修改第四行第三个元素为</a:t>
                </a:r>
                <a:r>
                  <a:rPr lang="en-US" altLang="zh-CN">
                    <a:highlight>
                      <a:srgbClr val="FFFF00"/>
                    </a:highlight>
                    <a:latin typeface="Cambria Math" panose="02040503050406030204" charset="0"/>
                    <a:cs typeface="Cambria Math" panose="02040503050406030204" charset="0"/>
                  </a:rPr>
                  <a:t>1/Zc</a:t>
                </a:r>
                <a:r>
                  <a:rPr lang="zh-CN" altLang="en-US">
                    <a:highlight>
                      <a:srgbClr val="FFFF00"/>
                    </a:highlight>
                    <a:latin typeface="Cambria Math" panose="02040503050406030204" charset="0"/>
                    <a:cs typeface="Cambria Math" panose="02040503050406030204" charset="0"/>
                  </a:rPr>
                  <a:t>，得到</a:t>
                </a:r>
                <a:r>
                  <a:rPr lang="en-US" altLang="zh-CN">
                    <a:highlight>
                      <a:srgbClr val="FFFF00"/>
                    </a:highlight>
                    <a:latin typeface="Cambria Math" panose="02040503050406030204" charset="0"/>
                    <a:cs typeface="Cambria Math" panose="02040503050406030204" charset="0"/>
                  </a:rPr>
                  <a:t>[</a:t>
                </a:r>
                <a:r>
                  <a:rPr lang="zh-CN" altLang="en-US">
                    <a:highlight>
                      <a:srgbClr val="FFFF00"/>
                    </a:highlight>
                    <a:latin typeface="Cambria Math" panose="02040503050406030204" charset="0"/>
                    <a:cs typeface="Cambria Math" panose="02040503050406030204" charset="0"/>
                  </a:rPr>
                  <a:t>非线性</a:t>
                </a:r>
                <a:r>
                  <a:rPr lang="en-US" altLang="zh-CN">
                    <a:highlight>
                      <a:srgbClr val="FFFF00"/>
                    </a:highlight>
                    <a:latin typeface="Cambria Math" panose="02040503050406030204" charset="0"/>
                    <a:cs typeface="Cambria Math" panose="02040503050406030204" charset="0"/>
                  </a:rPr>
                  <a:t>]</a:t>
                </a:r>
                <a:r>
                  <a:rPr lang="zh-CN" altLang="en-US">
                    <a:highlight>
                      <a:srgbClr val="FFFF00"/>
                    </a:highlight>
                    <a:latin typeface="Cambria Math" panose="02040503050406030204" charset="0"/>
                    <a:cs typeface="Cambria Math" panose="02040503050406030204" charset="0"/>
                  </a:rPr>
                  <a:t>逆变换矩阵</a:t>
                </a:r>
                <a:r>
                  <a:rPr lang="en-US" altLang="zh-CN">
                    <a:highlight>
                      <a:srgbClr val="FFFF00"/>
                    </a:highlight>
                    <a:latin typeface="Cambria Math" panose="02040503050406030204" charset="0"/>
                    <a:cs typeface="Cambria Math" panose="02040503050406030204" charset="0"/>
                  </a:rPr>
                  <a:t>:</a:t>
                </a:r>
                <a:br>
                  <a:rPr lang="en-US" altLang="zh-CN" i="1">
                    <a:highlight>
                      <a:srgbClr val="FFFF00"/>
                    </a:highlight>
                    <a:latin typeface="Cambria Math" panose="02040503050406030204" charset="0"/>
                    <a:cs typeface="Cambria Math" panose="02040503050406030204" charset="0"/>
                  </a:rPr>
                </a:b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𝑍𝑐</m:t>
                                      </m:r>
                                    </m:e>
                                  </m:mr>
                                </m:m>
                              </m:e>
                            </m:mr>
                          </m:m>
                        </m:e>
                      </m:d>
                    </m:oMath>
                  </m:oMathPara>
                </a14:m>
                <a:endParaRPr lang="en-US" altLang="zh-CN" i="1">
                  <a:highlight>
                    <a:srgbClr val="FFFF00"/>
                  </a:highlight>
                  <a:latin typeface="Cambria Math" panose="02040503050406030204" charset="0"/>
                  <a:cs typeface="Cambria Math" panose="02040503050406030204" charset="0"/>
                </a:endParaRPr>
              </a:p>
              <a:p>
                <a:endParaRPr lang="en-US" altLang="zh-CN" i="1">
                  <a:highlight>
                    <a:srgbClr val="FFFF00"/>
                  </a:highlight>
                  <a:latin typeface="Cambria Math" panose="02040503050406030204" charset="0"/>
                  <a:cs typeface="Cambria Math" panose="02040503050406030204" charset="0"/>
                </a:endParaRPr>
              </a:p>
              <a:p>
                <a:r>
                  <a:rPr lang="zh-CN" altLang="en-US">
                    <a:highlight>
                      <a:srgbClr val="FFFF00"/>
                    </a:highlight>
                    <a:latin typeface="Cambria Math" panose="02040503050406030204" charset="0"/>
                    <a:cs typeface="Cambria Math" panose="02040503050406030204" charset="0"/>
                  </a:rPr>
                  <a:t>既然都非线性了，顺手去掉归一化吧</a:t>
                </a:r>
                <a:r>
                  <a:rPr lang="en-US" altLang="zh-CN">
                    <a:highlight>
                      <a:srgbClr val="FFFF00"/>
                    </a:highlight>
                    <a:latin typeface="Cambria Math" panose="02040503050406030204" charset="0"/>
                    <a:cs typeface="Cambria Math" panose="02040503050406030204" charset="0"/>
                  </a:rPr>
                  <a:t>:</a:t>
                </a:r>
                <a:br>
                  <a:rPr lang="en-US" altLang="zh-CN" i="1">
                    <a:highlight>
                      <a:srgbClr val="FFFF00"/>
                    </a:highlight>
                    <a:latin typeface="Cambria Math" panose="02040503050406030204" charset="0"/>
                    <a:cs typeface="Cambria Math" panose="02040503050406030204" charset="0"/>
                  </a:rPr>
                </a:b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𝑍𝑐</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𝑍𝑐</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𝑍𝑐</m:t>
                                      </m:r>
                                    </m:e>
                                  </m:mr>
                                  <m:mr>
                                    <m:e>
                                      <m:r>
                                        <a:rPr lang="en-US" altLang="zh-CN" i="1">
                                          <a:latin typeface="Cambria Math" panose="02040503050406030204" charset="0"/>
                                          <a:cs typeface="Cambria Math" panose="02040503050406030204" charset="0"/>
                                        </a:rPr>
                                        <m:t>1</m:t>
                                      </m:r>
                                    </m:e>
                                  </m:mr>
                                </m:m>
                              </m:e>
                            </m:mr>
                          </m:m>
                        </m:e>
                      </m:d>
                    </m:oMath>
                  </m:oMathPara>
                </a14:m>
                <a:endParaRPr lang="zh-CN" altLang="en-US" i="1">
                  <a:highlight>
                    <a:srgbClr val="FFFF00"/>
                  </a:highlight>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endParaRPr lang="zh-CN" altLang="en-US"/>
              </a:p>
              <a:p>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141095" y="1478280"/>
                <a:ext cx="10375900" cy="515556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06489" y="1720372"/>
            <a:ext cx="3117231" cy="52322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3701415" y="2689225"/>
            <a:ext cx="4706620" cy="2306955"/>
          </a:xfrm>
          <a:prstGeom prst="rect">
            <a:avLst/>
          </a:prstGeom>
          <a:noFill/>
        </p:spPr>
        <p:txBody>
          <a:bodyPr wrap="square" rtlCol="0">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marL="457200" lvl="1">
              <a:lnSpc>
                <a:spcPct val="150000"/>
              </a:lnSpc>
            </a:pPr>
            <a:r>
              <a:rPr lang="zh-CN" altLang="en-US" sz="2400" strike="sngStrike" dirty="0" smtClean="0">
                <a:solidFill>
                  <a:srgbClr val="065980"/>
                </a:solidFill>
                <a:latin typeface="微软雅黑" panose="020B0503020204020204" charset="-122"/>
                <a:ea typeface="微软雅黑" panose="020B0503020204020204" charset="-122"/>
              </a:rPr>
              <a:t>01、相机原理和变换矩阵</a:t>
            </a:r>
            <a:endParaRPr lang="zh-CN" altLang="en-US" sz="2400" strike="sngStrike"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FF0000"/>
                </a:solidFill>
                <a:latin typeface="微软雅黑" panose="020B0503020204020204" charset="-122"/>
                <a:ea typeface="微软雅黑" panose="020B0503020204020204" charset="-122"/>
              </a:rPr>
              <a:t>02</a:t>
            </a:r>
            <a:r>
              <a:rPr lang="zh-CN" altLang="en-US" sz="2400" i="1" dirty="0" smtClean="0">
                <a:solidFill>
                  <a:srgbClr val="FF0000"/>
                </a:solidFill>
                <a:latin typeface="微软雅黑" panose="020B0503020204020204" charset="-122"/>
                <a:ea typeface="微软雅黑" panose="020B0503020204020204" charset="-122"/>
              </a:rPr>
              <a:t>、</a:t>
            </a:r>
            <a:r>
              <a:rPr lang="zh-CN" altLang="en-US" sz="2400" dirty="0" smtClean="0">
                <a:solidFill>
                  <a:srgbClr val="FF0000"/>
                </a:solidFill>
                <a:latin typeface="微软雅黑" panose="020B0503020204020204" charset="-122"/>
                <a:ea typeface="微软雅黑" panose="020B0503020204020204" charset="-122"/>
              </a:rPr>
              <a:t>图像原理和</a:t>
            </a:r>
            <a:r>
              <a:rPr lang="en-US" altLang="zh-CN" sz="2400" dirty="0" smtClean="0">
                <a:solidFill>
                  <a:srgbClr val="FF0000"/>
                </a:solidFill>
                <a:latin typeface="微软雅黑" panose="020B0503020204020204" charset="-122"/>
                <a:ea typeface="微软雅黑" panose="020B0503020204020204" charset="-122"/>
              </a:rPr>
              <a:t>OpenCV</a:t>
            </a:r>
            <a:r>
              <a:rPr lang="zh-CN" altLang="en-US" sz="2400" dirty="0" smtClean="0">
                <a:solidFill>
                  <a:srgbClr val="FF0000"/>
                </a:solidFill>
                <a:latin typeface="微软雅黑" panose="020B0503020204020204" charset="-122"/>
                <a:ea typeface="微软雅黑" panose="020B0503020204020204" charset="-122"/>
              </a:rPr>
              <a:t>基础</a:t>
            </a:r>
            <a:endParaRPr lang="en-US" altLang="zh-CN" sz="2400" dirty="0" smtClean="0">
              <a:solidFill>
                <a:srgbClr val="FF000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03</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深度学习和目标检测</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04</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视觉</a:t>
            </a:r>
            <a:r>
              <a:rPr lang="en-US" altLang="zh-CN" sz="2400" i="1" dirty="0" smtClean="0">
                <a:solidFill>
                  <a:srgbClr val="065980"/>
                </a:solidFill>
                <a:latin typeface="微软雅黑" panose="020B0503020204020204" charset="-122"/>
                <a:ea typeface="微软雅黑" panose="020B0503020204020204" charset="-122"/>
                <a:sym typeface="+mn-ea"/>
              </a:rPr>
              <a:t> + ROS</a:t>
            </a:r>
            <a:endParaRPr lang="en-US" altLang="zh-CN" sz="2400" i="1" dirty="0" smtClean="0">
              <a:solidFill>
                <a:srgbClr val="065980"/>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0005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模拟图像-&gt;数字图像</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637540" y="2195195"/>
            <a:ext cx="5291455" cy="852805"/>
          </a:xfrm>
          <a:prstGeom prst="rect">
            <a:avLst/>
          </a:prstGeom>
          <a:noFill/>
        </p:spPr>
        <p:txBody>
          <a:bodyPr wrap="square" rtlCol="0">
            <a:noAutofit/>
          </a:bodyPr>
          <a:p>
            <a:r>
              <a:rPr lang="zh-CN" altLang="en-US"/>
              <a:t>书接上回，投影在像素平面上后，每个像元将其映射为离散化的像素值</a:t>
            </a:r>
            <a:r>
              <a:rPr lang="en-US" altLang="zh-CN"/>
              <a:t> </a:t>
            </a:r>
            <a:r>
              <a:rPr lang="en-US" altLang="zh-CN" b="1"/>
              <a:t>(</a:t>
            </a:r>
            <a:r>
              <a:rPr lang="zh-CN" altLang="en-US" b="1"/>
              <a:t>空间抽样</a:t>
            </a:r>
            <a:r>
              <a:rPr lang="en-US" altLang="zh-CN" b="1"/>
              <a:t>: </a:t>
            </a:r>
            <a:r>
              <a:rPr lang="zh-CN" altLang="en-US" b="1"/>
              <a:t>连续</a:t>
            </a:r>
            <a:r>
              <a:rPr lang="en-US" altLang="zh-CN" b="1"/>
              <a:t>-&gt;</a:t>
            </a:r>
            <a:r>
              <a:rPr lang="zh-CN" altLang="en-US" b="1"/>
              <a:t>离散</a:t>
            </a:r>
            <a:r>
              <a:rPr lang="en-US" altLang="zh-CN" b="1"/>
              <a:t>)</a:t>
            </a:r>
            <a:r>
              <a:rPr lang="zh-CN" altLang="en-US"/>
              <a:t>，由此得到了</a:t>
            </a:r>
            <a:r>
              <a:rPr lang="zh-CN" altLang="en-US">
                <a:sym typeface="+mn-ea"/>
              </a:rPr>
              <a:t>数字图像，可以用矩阵和数组进行表示。</a:t>
            </a:r>
            <a:endParaRPr lang="zh-CN" altLang="en-US">
              <a:sym typeface="+mn-ea"/>
            </a:endParaRPr>
          </a:p>
          <a:p>
            <a:endParaRPr lang="zh-CN" altLang="en-US"/>
          </a:p>
          <a:p>
            <a:endParaRPr lang="zh-CN" altLang="en-US"/>
          </a:p>
        </p:txBody>
      </p:sp>
      <p:pic>
        <p:nvPicPr>
          <p:cNvPr id="271363" name="Picture 3" descr="fig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0930" y="1649095"/>
            <a:ext cx="5703888"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4"/>
          <a:stretch>
            <a:fillRect/>
          </a:stretch>
        </p:blipFill>
        <p:spPr>
          <a:xfrm>
            <a:off x="798830" y="3388995"/>
            <a:ext cx="5130165" cy="1718310"/>
          </a:xfrm>
          <a:prstGeom prst="rect">
            <a:avLst/>
          </a:prstGeom>
        </p:spPr>
      </p:pic>
      <p:sp>
        <p:nvSpPr>
          <p:cNvPr id="10" name="文本框 9"/>
          <p:cNvSpPr txBox="1"/>
          <p:nvPr/>
        </p:nvSpPr>
        <p:spPr>
          <a:xfrm>
            <a:off x="916940" y="5263515"/>
            <a:ext cx="6096000" cy="1198880"/>
          </a:xfrm>
          <a:prstGeom prst="rect">
            <a:avLst/>
          </a:prstGeom>
          <a:noFill/>
        </p:spPr>
        <p:txBody>
          <a:bodyPr wrap="square" rtlCol="0" anchor="t">
            <a:spAutoFit/>
          </a:bodyPr>
          <a:p>
            <a:r>
              <a:rPr lang="zh-CN" altLang="en-US">
                <a:sym typeface="+mn-ea"/>
              </a:rPr>
              <a:t>在模拟图像</a:t>
            </a:r>
            <a:r>
              <a:rPr lang="en-US" altLang="zh-CN">
                <a:sym typeface="+mn-ea"/>
              </a:rPr>
              <a:t>-&gt;</a:t>
            </a:r>
            <a:r>
              <a:rPr lang="zh-CN" altLang="en-US">
                <a:sym typeface="+mn-ea"/>
              </a:rPr>
              <a:t>数字图像过程中，我们主要关心两个东西</a:t>
            </a:r>
            <a:r>
              <a:rPr lang="en-US" altLang="zh-CN">
                <a:sym typeface="+mn-ea"/>
              </a:rPr>
              <a:t>:</a:t>
            </a:r>
            <a:endParaRPr lang="en-US" altLang="zh-CN"/>
          </a:p>
          <a:p>
            <a:endParaRPr lang="en-US" altLang="zh-CN"/>
          </a:p>
          <a:p>
            <a:r>
              <a:rPr lang="en-US" altLang="zh-CN">
                <a:sym typeface="+mn-ea"/>
              </a:rPr>
              <a:t>1. </a:t>
            </a:r>
            <a:r>
              <a:rPr kumimoji="1" lang="zh-CN" altLang="en-US" b="1">
                <a:latin typeface="Times New Roman" panose="02020603050405020304" pitchFamily="18" charset="0"/>
                <a:ea typeface="宋体" panose="02010600030101010101" pitchFamily="2" charset="-122"/>
                <a:sym typeface="+mn-ea"/>
              </a:rPr>
              <a:t>空间上，如何进行图像抽样</a:t>
            </a:r>
            <a:endParaRPr kumimoji="1" lang="zh-CN" altLang="en-US" b="1">
              <a:latin typeface="Times New Roman" panose="02020603050405020304" pitchFamily="18" charset="0"/>
              <a:ea typeface="宋体" panose="02010600030101010101" pitchFamily="2" charset="-122"/>
              <a:sym typeface="+mn-ea"/>
            </a:endParaRPr>
          </a:p>
          <a:p>
            <a:r>
              <a:rPr lang="en-US" altLang="zh-CN">
                <a:sym typeface="+mn-ea"/>
              </a:rPr>
              <a:t>2. </a:t>
            </a:r>
            <a:r>
              <a:rPr kumimoji="1" lang="zh-CN" altLang="en-US" b="1">
                <a:latin typeface="Times New Roman" panose="02020603050405020304" pitchFamily="18" charset="0"/>
                <a:ea typeface="宋体" panose="02010600030101010101" pitchFamily="2" charset="-122"/>
                <a:sym typeface="+mn-ea"/>
              </a:rPr>
              <a:t>幅度上，如何进行灰度级量化</a:t>
            </a:r>
            <a:endParaRPr kumimoji="1" lang="zh-CN" altLang="en-US" b="1">
              <a:latin typeface="Times New Roman" panose="02020603050405020304" pitchFamily="18" charset="0"/>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44170" y="1270635"/>
            <a:ext cx="357759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空间抽样和分辨率</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344170" y="1914525"/>
            <a:ext cx="7161530" cy="3192145"/>
          </a:xfrm>
          <a:prstGeom prst="rect">
            <a:avLst/>
          </a:prstGeom>
          <a:noFill/>
        </p:spPr>
        <p:txBody>
          <a:bodyPr wrap="square" rtlCol="0">
            <a:spAutoFit/>
          </a:bodyPr>
          <a:p>
            <a:r>
              <a:rPr lang="zh-CN" altLang="en-US"/>
              <a:t>对于投影在成像平面上的连续图像，为了决定如何进行空间抽样，我们设定出其分辨率。</a:t>
            </a:r>
            <a:endParaRPr lang="zh-CN" altLang="en-US"/>
          </a:p>
          <a:p>
            <a:endParaRPr lang="zh-CN" altLang="en-US"/>
          </a:p>
          <a:p>
            <a:pPr algn="just" eaLnBrk="1" hangingPunct="1">
              <a:lnSpc>
                <a:spcPct val="130000"/>
              </a:lnSpc>
              <a:buFontTx/>
              <a:buNone/>
            </a:pPr>
            <a:r>
              <a:rPr lang="zh-CN" altLang="en-US" dirty="0" smtClean="0">
                <a:sym typeface="+mn-ea"/>
              </a:rPr>
              <a:t>它是指映射到图像平面上的单个像素的景物元素的尺寸。</a:t>
            </a:r>
            <a:endParaRPr lang="zh-CN" altLang="en-US" dirty="0" smtClean="0"/>
          </a:p>
          <a:p>
            <a:pPr algn="just" eaLnBrk="1" hangingPunct="1">
              <a:lnSpc>
                <a:spcPct val="130000"/>
              </a:lnSpc>
              <a:buFontTx/>
              <a:buNone/>
            </a:pPr>
            <a:r>
              <a:rPr lang="zh-CN" altLang="en-US" dirty="0" smtClean="0">
                <a:sym typeface="+mn-ea"/>
              </a:rPr>
              <a:t>        </a:t>
            </a:r>
            <a:r>
              <a:rPr lang="zh-CN" altLang="en-US" dirty="0" smtClean="0">
                <a:solidFill>
                  <a:schemeClr val="tx2"/>
                </a:solidFill>
                <a:sym typeface="+mn-ea"/>
              </a:rPr>
              <a:t>单位：</a:t>
            </a:r>
            <a:r>
              <a:rPr lang="zh-CN" altLang="en-US" b="1" dirty="0" smtClean="0">
                <a:solidFill>
                  <a:schemeClr val="tx1"/>
                </a:solidFill>
                <a:sym typeface="+mn-ea"/>
              </a:rPr>
              <a:t>像素</a:t>
            </a:r>
            <a:r>
              <a:rPr lang="en-US" altLang="zh-CN" b="1" dirty="0" smtClean="0">
                <a:solidFill>
                  <a:schemeClr val="tx1"/>
                </a:solidFill>
                <a:sym typeface="+mn-ea"/>
              </a:rPr>
              <a:t>/</a:t>
            </a:r>
            <a:r>
              <a:rPr lang="zh-CN" altLang="en-US" b="1" dirty="0" smtClean="0">
                <a:solidFill>
                  <a:schemeClr val="tx1"/>
                </a:solidFill>
                <a:sym typeface="+mn-ea"/>
              </a:rPr>
              <a:t>英寸</a:t>
            </a:r>
            <a:r>
              <a:rPr lang="zh-CN" altLang="en-US" dirty="0" smtClean="0">
                <a:solidFill>
                  <a:schemeClr val="tx1"/>
                </a:solidFill>
                <a:sym typeface="+mn-ea"/>
              </a:rPr>
              <a:t>，</a:t>
            </a:r>
            <a:r>
              <a:rPr lang="zh-CN" altLang="en-US" b="1" dirty="0" smtClean="0">
                <a:solidFill>
                  <a:schemeClr val="tx1"/>
                </a:solidFill>
                <a:sym typeface="+mn-ea"/>
              </a:rPr>
              <a:t>像素</a:t>
            </a:r>
            <a:r>
              <a:rPr lang="en-US" altLang="zh-CN" b="1" dirty="0" smtClean="0">
                <a:solidFill>
                  <a:schemeClr val="tx1"/>
                </a:solidFill>
                <a:sym typeface="+mn-ea"/>
              </a:rPr>
              <a:t>/</a:t>
            </a:r>
            <a:r>
              <a:rPr lang="zh-CN" altLang="en-US" b="1" dirty="0" smtClean="0">
                <a:solidFill>
                  <a:schemeClr val="tx1"/>
                </a:solidFill>
                <a:sym typeface="+mn-ea"/>
              </a:rPr>
              <a:t>厘米</a:t>
            </a:r>
            <a:endParaRPr lang="zh-CN" altLang="en-US" b="1" dirty="0" smtClean="0">
              <a:solidFill>
                <a:schemeClr val="tx1"/>
              </a:solidFill>
            </a:endParaRPr>
          </a:p>
          <a:p>
            <a:pPr algn="just" eaLnBrk="1" hangingPunct="1">
              <a:lnSpc>
                <a:spcPct val="130000"/>
              </a:lnSpc>
              <a:buFontTx/>
              <a:buNone/>
            </a:pPr>
            <a:r>
              <a:rPr lang="zh-CN" altLang="en-US" dirty="0" smtClean="0">
                <a:sym typeface="+mn-ea"/>
              </a:rPr>
              <a:t>      或者是指要精确测量和再现一定尺寸的图像所必需的像素个数。</a:t>
            </a:r>
            <a:endParaRPr lang="zh-CN" altLang="en-US" dirty="0" smtClean="0"/>
          </a:p>
          <a:p>
            <a:pPr algn="just" eaLnBrk="1" hangingPunct="1">
              <a:lnSpc>
                <a:spcPct val="130000"/>
              </a:lnSpc>
              <a:buClrTx/>
              <a:buSzTx/>
              <a:buFontTx/>
              <a:buNone/>
            </a:pPr>
            <a:r>
              <a:rPr lang="zh-CN" altLang="en-US" dirty="0" smtClean="0">
                <a:solidFill>
                  <a:schemeClr val="tx2"/>
                </a:solidFill>
                <a:sym typeface="+mn-ea"/>
              </a:rPr>
              <a:t>        单位：</a:t>
            </a:r>
            <a:r>
              <a:rPr lang="zh-CN" altLang="en-US" b="1" dirty="0" smtClean="0">
                <a:sym typeface="+mn-ea"/>
              </a:rPr>
              <a:t>像素*像素</a:t>
            </a:r>
            <a:endParaRPr lang="zh-CN" altLang="en-US" b="1" dirty="0" smtClean="0"/>
          </a:p>
          <a:p>
            <a:endParaRPr lang="zh-CN" altLang="en-US"/>
          </a:p>
          <a:p>
            <a:r>
              <a:rPr lang="zh-CN" altLang="en-US"/>
              <a:t>实际上，在软件层面，我们能够决定的</a:t>
            </a:r>
            <a:r>
              <a:rPr lang="en-US" altLang="zh-CN"/>
              <a:t>”</a:t>
            </a:r>
            <a:r>
              <a:rPr lang="zh-CN" altLang="en-US"/>
              <a:t>分辨率</a:t>
            </a:r>
            <a:r>
              <a:rPr lang="en-US" altLang="zh-CN"/>
              <a:t>”</a:t>
            </a:r>
            <a:r>
              <a:rPr lang="zh-CN" altLang="en-US"/>
              <a:t>往往是后者，即当你设定要获取的图像的长宽后，相机驱动自行根据你的需求调整前者</a:t>
            </a:r>
            <a:endParaRPr lang="zh-CN" altLang="en-US"/>
          </a:p>
        </p:txBody>
      </p:sp>
      <p:sp>
        <p:nvSpPr>
          <p:cNvPr id="10" name="文本框 9"/>
          <p:cNvSpPr txBox="1"/>
          <p:nvPr/>
        </p:nvSpPr>
        <p:spPr>
          <a:xfrm>
            <a:off x="696595" y="5436235"/>
            <a:ext cx="5333365" cy="368300"/>
          </a:xfrm>
          <a:prstGeom prst="rect">
            <a:avLst/>
          </a:prstGeom>
          <a:noFill/>
        </p:spPr>
        <p:txBody>
          <a:bodyPr wrap="square" rtlCol="0">
            <a:spAutoFit/>
          </a:bodyPr>
          <a:p>
            <a:r>
              <a:rPr lang="zh-CN" altLang="en-US">
                <a:solidFill>
                  <a:srgbClr val="FF0000"/>
                </a:solidFill>
              </a:rPr>
              <a:t>请注意</a:t>
            </a:r>
            <a:r>
              <a:rPr lang="en-US" altLang="zh-CN">
                <a:solidFill>
                  <a:srgbClr val="FF0000"/>
                </a:solidFill>
              </a:rPr>
              <a:t>:</a:t>
            </a:r>
            <a:r>
              <a:rPr lang="zh-CN" altLang="en-US">
                <a:solidFill>
                  <a:srgbClr val="FF0000"/>
                </a:solidFill>
              </a:rPr>
              <a:t>分辨率会影响内参矩阵</a:t>
            </a:r>
            <a:endParaRPr lang="zh-CN" altLang="en-US">
              <a:solidFill>
                <a:srgbClr val="FF0000"/>
              </a:solidFill>
            </a:endParaRPr>
          </a:p>
        </p:txBody>
      </p:sp>
      <p:pic>
        <p:nvPicPr>
          <p:cNvPr id="21504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303770" y="2505075"/>
            <a:ext cx="4738370" cy="35439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8343265" y="2217420"/>
            <a:ext cx="3458845" cy="368300"/>
          </a:xfrm>
          <a:prstGeom prst="rect">
            <a:avLst/>
          </a:prstGeom>
          <a:noFill/>
        </p:spPr>
        <p:txBody>
          <a:bodyPr wrap="square" rtlCol="0">
            <a:spAutoFit/>
          </a:bodyPr>
          <a:p>
            <a:r>
              <a:rPr lang="zh-CN" altLang="en-US" b="1"/>
              <a:t>分辨率对图像质量的影响</a:t>
            </a:r>
            <a:endParaRPr lang="zh-CN" altLang="en-US" b="1"/>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280987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灰度量化</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969010" y="2033905"/>
            <a:ext cx="4272280" cy="2671445"/>
          </a:xfrm>
          <a:prstGeom prst="rect">
            <a:avLst/>
          </a:prstGeom>
          <a:noFill/>
        </p:spPr>
        <p:txBody>
          <a:bodyPr wrap="square" rtlCol="0">
            <a:noAutofit/>
          </a:bodyPr>
          <a:p>
            <a:r>
              <a:rPr lang="zh-CN" altLang="en-US" dirty="0">
                <a:sym typeface="+mn-ea"/>
              </a:rPr>
              <a:t>灰度量化，是将各个像素所含的明暗信息离散化后，用数字来表示称为图像的量化，一般的量化值用整数来表示。</a:t>
            </a:r>
            <a:endParaRPr lang="zh-CN" altLang="en-US" dirty="0">
              <a:sym typeface="+mn-ea"/>
            </a:endParaRPr>
          </a:p>
          <a:p>
            <a:endParaRPr lang="zh-CN" altLang="en-US" dirty="0">
              <a:sym typeface="+mn-ea"/>
            </a:endParaRPr>
          </a:p>
          <a:p>
            <a:r>
              <a:rPr lang="zh-CN" altLang="en-US" dirty="0">
                <a:sym typeface="+mn-ea"/>
              </a:rPr>
              <a:t>充分考虑到人眼的识别能力之后，目前非特殊用途的图像均为</a:t>
            </a:r>
            <a:r>
              <a:rPr lang="en-US" altLang="zh-CN" dirty="0">
                <a:sym typeface="+mn-ea"/>
              </a:rPr>
              <a:t>8bit</a:t>
            </a:r>
            <a:r>
              <a:rPr lang="zh-CN" altLang="en-US" dirty="0">
                <a:sym typeface="+mn-ea"/>
              </a:rPr>
              <a:t>量化，即用</a:t>
            </a:r>
            <a:r>
              <a:rPr lang="en-US" altLang="zh-CN" b="1" dirty="0">
                <a:solidFill>
                  <a:schemeClr val="tx1"/>
                </a:solidFill>
                <a:sym typeface="+mn-ea"/>
              </a:rPr>
              <a:t>0-255</a:t>
            </a:r>
            <a:r>
              <a:rPr lang="zh-CN" altLang="en-US" dirty="0">
                <a:sym typeface="+mn-ea"/>
              </a:rPr>
              <a:t>描述</a:t>
            </a:r>
            <a:r>
              <a:rPr lang="zh-CN" altLang="en-US" b="1" dirty="0">
                <a:solidFill>
                  <a:schemeClr val="tx1"/>
                </a:solidFill>
                <a:latin typeface="Arial" panose="020B0604020202020204" pitchFamily="34" charset="0"/>
                <a:sym typeface="+mn-ea"/>
              </a:rPr>
              <a:t>“</a:t>
            </a:r>
            <a:r>
              <a:rPr lang="zh-CN" altLang="en-US" b="1" dirty="0">
                <a:solidFill>
                  <a:schemeClr val="tx1"/>
                </a:solidFill>
                <a:sym typeface="+mn-ea"/>
              </a:rPr>
              <a:t>黑</a:t>
            </a:r>
            <a:r>
              <a:rPr lang="en-US" altLang="zh-CN" b="1" dirty="0">
                <a:solidFill>
                  <a:schemeClr val="tx1"/>
                </a:solidFill>
                <a:sym typeface="+mn-ea"/>
              </a:rPr>
              <a:t>-</a:t>
            </a:r>
            <a:r>
              <a:rPr lang="zh-CN" altLang="en-US" b="1" dirty="0">
                <a:solidFill>
                  <a:schemeClr val="tx1"/>
                </a:solidFill>
                <a:sym typeface="+mn-ea"/>
              </a:rPr>
              <a:t>白</a:t>
            </a:r>
            <a:r>
              <a:rPr lang="zh-CN" altLang="en-US" b="1" dirty="0">
                <a:solidFill>
                  <a:schemeClr val="tx1"/>
                </a:solidFill>
                <a:latin typeface="Arial" panose="020B0604020202020204" pitchFamily="34" charset="0"/>
                <a:sym typeface="+mn-ea"/>
              </a:rPr>
              <a:t>”</a:t>
            </a:r>
            <a:endParaRPr lang="zh-CN" altLang="en-US" b="1" dirty="0">
              <a:solidFill>
                <a:schemeClr val="tx1"/>
              </a:solidFill>
              <a:latin typeface="Arial" panose="020B0604020202020204" pitchFamily="34" charset="0"/>
              <a:sym typeface="+mn-ea"/>
            </a:endParaRPr>
          </a:p>
        </p:txBody>
      </p:sp>
      <p:pic>
        <p:nvPicPr>
          <p:cNvPr id="22221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91885" y="1169670"/>
            <a:ext cx="5210810" cy="519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6714490" y="801370"/>
            <a:ext cx="6096000" cy="368300"/>
          </a:xfrm>
          <a:prstGeom prst="rect">
            <a:avLst/>
          </a:prstGeom>
          <a:noFill/>
        </p:spPr>
        <p:txBody>
          <a:bodyPr wrap="square" rtlCol="0" anchor="t">
            <a:spAutoFit/>
          </a:bodyPr>
          <a:p>
            <a:pPr eaLnBrk="1" hangingPunct="1"/>
            <a:r>
              <a:rPr kumimoji="1" lang="zh-CN" altLang="en-US" b="1">
                <a:latin typeface="Tahoma" panose="020B0604030504040204" pitchFamily="34" charset="0"/>
                <a:ea typeface="宋体" panose="02010600030101010101" pitchFamily="2" charset="-122"/>
                <a:sym typeface="+mn-ea"/>
              </a:rPr>
              <a:t>灰度级对图像质量的影响</a:t>
            </a:r>
            <a:endParaRPr lang="zh-CN" altLang="en-US" b="1">
              <a:sym typeface="+mn-ea"/>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34518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彩色图像</a:t>
            </a:r>
            <a:r>
              <a:rPr lang="en-US" altLang="zh-CN" sz="3200" b="1" dirty="0" smtClean="0">
                <a:solidFill>
                  <a:schemeClr val="bg1"/>
                </a:solidFill>
                <a:latin typeface="微软雅黑" panose="020B0503020204020204" charset="-122"/>
                <a:ea typeface="微软雅黑" panose="020B0503020204020204" charset="-122"/>
                <a:sym typeface="+mn-ea"/>
              </a:rPr>
              <a:t>?</a:t>
            </a:r>
            <a:endParaRPr lang="en-US" alt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1029970" y="2237740"/>
            <a:ext cx="7363460" cy="645160"/>
          </a:xfrm>
          <a:prstGeom prst="rect">
            <a:avLst/>
          </a:prstGeom>
          <a:noFill/>
        </p:spPr>
        <p:txBody>
          <a:bodyPr wrap="square" rtlCol="0">
            <a:spAutoFit/>
          </a:bodyPr>
          <a:p>
            <a:r>
              <a:rPr lang="zh-CN"/>
              <a:t>使用单一通道的灰度来量化明暗程度后，仅能表示从</a:t>
            </a:r>
            <a:r>
              <a:rPr lang="zh-CN" altLang="en-US">
                <a:sym typeface="+mn-ea"/>
              </a:rPr>
              <a:t>黑</a:t>
            </a:r>
            <a:r>
              <a:rPr lang="en-US" altLang="zh-CN"/>
              <a:t>-&gt;</a:t>
            </a:r>
            <a:r>
              <a:rPr lang="zh-CN"/>
              <a:t>灰</a:t>
            </a:r>
            <a:r>
              <a:rPr lang="en-US" altLang="zh-CN"/>
              <a:t>-&gt;</a:t>
            </a:r>
            <a:r>
              <a:rPr lang="zh-CN" altLang="en-US"/>
              <a:t>白的一张灰度图片，如何表示彩色图像呢</a:t>
            </a:r>
            <a:r>
              <a:rPr lang="en-US" altLang="zh-CN"/>
              <a:t>?</a:t>
            </a:r>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34518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色度学基础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6" name="文本框 5"/>
          <p:cNvSpPr txBox="1"/>
          <p:nvPr/>
        </p:nvSpPr>
        <p:spPr>
          <a:xfrm>
            <a:off x="916305" y="1943100"/>
            <a:ext cx="2969895" cy="368300"/>
          </a:xfrm>
          <a:prstGeom prst="rect">
            <a:avLst/>
          </a:prstGeom>
          <a:noFill/>
        </p:spPr>
        <p:txBody>
          <a:bodyPr wrap="square" rtlCol="0">
            <a:spAutoFit/>
          </a:bodyPr>
          <a:p>
            <a:r>
              <a:rPr lang="en-US" altLang="zh-CN" b="1"/>
              <a:t>RGB</a:t>
            </a:r>
            <a:r>
              <a:rPr lang="zh-CN" altLang="en-US" b="1"/>
              <a:t>颜色模型</a:t>
            </a:r>
            <a:endParaRPr lang="zh-CN" altLang="en-US" b="1"/>
          </a:p>
        </p:txBody>
      </p:sp>
      <p:sp>
        <p:nvSpPr>
          <p:cNvPr id="10" name="文本框 9"/>
          <p:cNvSpPr txBox="1"/>
          <p:nvPr/>
        </p:nvSpPr>
        <p:spPr>
          <a:xfrm>
            <a:off x="916305" y="2400300"/>
            <a:ext cx="6096000" cy="2085340"/>
          </a:xfrm>
          <a:prstGeom prst="rect">
            <a:avLst/>
          </a:prstGeom>
          <a:noFill/>
        </p:spPr>
        <p:txBody>
          <a:bodyPr wrap="square" rtlCol="0" anchor="t">
            <a:spAutoFit/>
          </a:bodyPr>
          <a:p>
            <a:pPr algn="l" eaLnBrk="1" hangingPunct="1">
              <a:spcBef>
                <a:spcPct val="10000"/>
              </a:spcBef>
              <a:buClrTx/>
              <a:buSzTx/>
              <a:buFontTx/>
            </a:pPr>
            <a:r>
              <a:rPr lang="en-US" altLang="zh-CN" sz="1800">
                <a:sym typeface="+mn-ea"/>
              </a:rPr>
              <a:t>在三维直角坐标系中，用相互垂直的三个坐标轴代表R、G、B三个分量，并将R、G、B分别限定在[0,1]，则该单位正方体就代表颜色空间，其中的一个点就代表一种颜色。</a:t>
            </a:r>
            <a:endParaRPr lang="en-US" altLang="zh-CN" sz="1800">
              <a:sym typeface="+mn-ea"/>
            </a:endParaRPr>
          </a:p>
          <a:p>
            <a:pPr algn="l" eaLnBrk="1" hangingPunct="1">
              <a:spcBef>
                <a:spcPct val="10000"/>
              </a:spcBef>
              <a:buClrTx/>
              <a:buSzTx/>
              <a:buFontTx/>
            </a:pPr>
            <a:endParaRPr lang="en-US" altLang="zh-CN" sz="1800">
              <a:sym typeface="+mn-ea"/>
            </a:endParaRPr>
          </a:p>
          <a:p>
            <a:pPr algn="l" eaLnBrk="1" hangingPunct="1">
              <a:spcBef>
                <a:spcPct val="10000"/>
              </a:spcBef>
              <a:buClrTx/>
              <a:buSzTx/>
              <a:buFontTx/>
            </a:pPr>
            <a:r>
              <a:rPr lang="en-US" altLang="zh-CN" sz="1800">
                <a:sym typeface="+mn-ea"/>
              </a:rPr>
              <a:t>如</a:t>
            </a:r>
            <a:r>
              <a:rPr lang="zh-CN" altLang="en-US" sz="1800">
                <a:sym typeface="+mn-ea"/>
              </a:rPr>
              <a:t>右</a:t>
            </a:r>
            <a:r>
              <a:rPr lang="en-US" altLang="zh-CN" sz="1800">
                <a:sym typeface="+mn-ea"/>
              </a:rPr>
              <a:t>图所示。 其中，r、g、b、c、m和y分别代表红色（red）、绿色（green）、蓝色（blue）、青色（cyan）、品红（magenta）和黄色（yellow）。 </a:t>
            </a:r>
            <a:endParaRPr lang="en-US" altLang="zh-CN" sz="1800">
              <a:sym typeface="+mn-ea"/>
            </a:endParaRPr>
          </a:p>
        </p:txBody>
      </p:sp>
      <p:graphicFrame>
        <p:nvGraphicFramePr>
          <p:cNvPr id="260100" name="Object 4"/>
          <p:cNvGraphicFramePr>
            <a:graphicFrameLocks noChangeAspect="1"/>
          </p:cNvGraphicFramePr>
          <p:nvPr/>
        </p:nvGraphicFramePr>
        <p:xfrm>
          <a:off x="7174865" y="1854200"/>
          <a:ext cx="4627880" cy="3836670"/>
        </p:xfrm>
        <a:graphic>
          <a:graphicData uri="http://schemas.openxmlformats.org/presentationml/2006/ole">
            <mc:AlternateContent xmlns:mc="http://schemas.openxmlformats.org/markup-compatibility/2006">
              <mc:Choice xmlns:v="urn:schemas-microsoft-com:vml" Requires="v">
                <p:oleObj spid="_x0000_s11342" name="Visio" r:id="rId3" imgW="2413000" imgH="1999615" progId="Visio.Drawing.11">
                  <p:embed/>
                </p:oleObj>
              </mc:Choice>
              <mc:Fallback>
                <p:oleObj name="Visio" r:id="rId3" imgW="2413000" imgH="199961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4865" y="1854200"/>
                        <a:ext cx="4627880" cy="383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p:cNvSpPr txBox="1"/>
          <p:nvPr/>
        </p:nvSpPr>
        <p:spPr>
          <a:xfrm>
            <a:off x="1009650" y="4853940"/>
            <a:ext cx="5838190" cy="1019175"/>
          </a:xfrm>
          <a:prstGeom prst="rect">
            <a:avLst/>
          </a:prstGeom>
          <a:noFill/>
        </p:spPr>
        <p:txBody>
          <a:bodyPr wrap="square" rtlCol="0">
            <a:noAutofit/>
          </a:bodyPr>
          <a:p>
            <a:r>
              <a:rPr lang="zh-CN" altLang="en-US"/>
              <a:t>在实际应用时，我们一般对于三个通道上均量化到</a:t>
            </a:r>
            <a:r>
              <a:rPr lang="en-US" altLang="zh-CN"/>
              <a:t>0~255</a:t>
            </a:r>
            <a:r>
              <a:rPr lang="zh-CN" altLang="en-US"/>
              <a:t>，每个像素表示为一个三元组。</a:t>
            </a:r>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34518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色度学基础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6" name="文本框 5"/>
          <p:cNvSpPr txBox="1"/>
          <p:nvPr/>
        </p:nvSpPr>
        <p:spPr>
          <a:xfrm>
            <a:off x="916305" y="1943100"/>
            <a:ext cx="2969895" cy="368300"/>
          </a:xfrm>
          <a:prstGeom prst="rect">
            <a:avLst/>
          </a:prstGeom>
          <a:noFill/>
        </p:spPr>
        <p:txBody>
          <a:bodyPr wrap="square" rtlCol="0">
            <a:spAutoFit/>
          </a:bodyPr>
          <a:p>
            <a:r>
              <a:rPr lang="en-US" altLang="zh-CN" b="1"/>
              <a:t>RGB</a:t>
            </a:r>
            <a:r>
              <a:rPr lang="zh-CN" altLang="en-US" b="1"/>
              <a:t>颜色模型</a:t>
            </a:r>
            <a:endParaRPr lang="zh-CN" altLang="en-US" b="1"/>
          </a:p>
        </p:txBody>
      </p:sp>
      <p:sp>
        <p:nvSpPr>
          <p:cNvPr id="10" name="文本框 9"/>
          <p:cNvSpPr txBox="1"/>
          <p:nvPr/>
        </p:nvSpPr>
        <p:spPr>
          <a:xfrm>
            <a:off x="916305" y="2311400"/>
            <a:ext cx="6096000" cy="949960"/>
          </a:xfrm>
          <a:prstGeom prst="rect">
            <a:avLst/>
          </a:prstGeom>
          <a:noFill/>
        </p:spPr>
        <p:txBody>
          <a:bodyPr wrap="square" rtlCol="0" anchor="t">
            <a:spAutoFit/>
          </a:bodyPr>
          <a:p>
            <a:pPr algn="l" eaLnBrk="1" hangingPunct="1">
              <a:spcBef>
                <a:spcPct val="10000"/>
              </a:spcBef>
              <a:buClrTx/>
              <a:buSzTx/>
              <a:buFontTx/>
            </a:pPr>
            <a:r>
              <a:rPr lang="en-US" sz="1800">
                <a:sym typeface="+mn-ea"/>
              </a:rPr>
              <a:t>RGB</a:t>
            </a:r>
            <a:r>
              <a:rPr lang="zh-CN" altLang="en-US" sz="1800">
                <a:sym typeface="+mn-ea"/>
              </a:rPr>
              <a:t>模型有用的本质在于</a:t>
            </a:r>
            <a:r>
              <a:rPr lang="en-US" altLang="zh-CN" sz="1800">
                <a:sym typeface="+mn-ea"/>
              </a:rPr>
              <a:t>: </a:t>
            </a:r>
            <a:endParaRPr lang="en-US" altLang="zh-CN" sz="1800">
              <a:sym typeface="+mn-ea"/>
            </a:endParaRPr>
          </a:p>
          <a:p>
            <a:pPr algn="l" eaLnBrk="1" hangingPunct="1">
              <a:spcBef>
                <a:spcPct val="10000"/>
              </a:spcBef>
              <a:buClrTx/>
              <a:buSzTx/>
              <a:buFontTx/>
            </a:pPr>
            <a:r>
              <a:rPr lang="zh-CN" altLang="en-US" sz="1800">
                <a:sym typeface="+mn-ea"/>
              </a:rPr>
              <a:t>类视网膜上主要存在三种对光敏感的视锥细胞，它们分别对红、绿、蓝这三种波长的光最为敏感。</a:t>
            </a:r>
            <a:endParaRPr lang="en-US" altLang="zh-CN" sz="1800">
              <a:sym typeface="+mn-ea"/>
            </a:endParaRPr>
          </a:p>
        </p:txBody>
      </p:sp>
      <p:pic>
        <p:nvPicPr>
          <p:cNvPr id="3" name="图片 2"/>
          <p:cNvPicPr>
            <a:picLocks noChangeAspect="1"/>
          </p:cNvPicPr>
          <p:nvPr/>
        </p:nvPicPr>
        <p:blipFill>
          <a:blip r:embed="rId3"/>
          <a:stretch>
            <a:fillRect/>
          </a:stretch>
        </p:blipFill>
        <p:spPr>
          <a:xfrm>
            <a:off x="7731125" y="2165350"/>
            <a:ext cx="4143375" cy="3476625"/>
          </a:xfrm>
          <a:prstGeom prst="rect">
            <a:avLst/>
          </a:prstGeom>
        </p:spPr>
      </p:pic>
      <p:sp>
        <p:nvSpPr>
          <p:cNvPr id="4" name="文本框 3"/>
          <p:cNvSpPr txBox="1"/>
          <p:nvPr/>
        </p:nvSpPr>
        <p:spPr>
          <a:xfrm>
            <a:off x="916305" y="3261360"/>
            <a:ext cx="6021705" cy="1753235"/>
          </a:xfrm>
          <a:prstGeom prst="rect">
            <a:avLst/>
          </a:prstGeom>
        </p:spPr>
        <p:txBody>
          <a:bodyPr wrap="square">
            <a:spAutoFit/>
          </a:bodyPr>
          <a:p>
            <a:pPr marL="0" algn="l">
              <a:spcBef>
                <a:spcPct val="10000"/>
              </a:spcBef>
              <a:buClrTx/>
              <a:buSzTx/>
              <a:buFontTx/>
            </a:pPr>
            <a:r>
              <a:rPr lang="zh-CN" altLang="en-US" sz="1800" b="0" i="0"/>
              <a:t>当光线进入眼睛，这三种细胞会受到不同程度的刺激。大脑并不是直接接收某种“黄色”的信号，而是接收来自“红”和“绿”视锥细胞的组合信号，然后将其解释为“黄色”。例如，波长为580nm的黄光，会同时中等程度地刺激红色和绿色视锥细胞。我们感知到的颜色，本质上是这三种基本信号在大脑中</a:t>
            </a:r>
            <a:r>
              <a:rPr lang="zh-CN" altLang="en-US" sz="1800" b="1" i="0"/>
              <a:t>混合</a:t>
            </a:r>
            <a:r>
              <a:rPr lang="zh-CN" altLang="en-US" sz="1800" b="0" i="0"/>
              <a:t>的结果。</a:t>
            </a:r>
            <a:endParaRPr lang="zh-CN" altLang="en-US" sz="1800" b="0" i="0"/>
          </a:p>
        </p:txBody>
      </p:sp>
      <p:sp>
        <p:nvSpPr>
          <p:cNvPr id="9" name="文本框 8"/>
          <p:cNvSpPr txBox="1"/>
          <p:nvPr/>
        </p:nvSpPr>
        <p:spPr>
          <a:xfrm>
            <a:off x="990600" y="5116830"/>
            <a:ext cx="6021705" cy="1198880"/>
          </a:xfrm>
          <a:prstGeom prst="rect">
            <a:avLst/>
          </a:prstGeom>
          <a:noFill/>
        </p:spPr>
        <p:txBody>
          <a:bodyPr wrap="square" rtlCol="0">
            <a:spAutoFit/>
          </a:bodyPr>
          <a:p>
            <a:r>
              <a:rPr lang="en-US" altLang="zh-CN"/>
              <a:t>RGB</a:t>
            </a:r>
            <a:r>
              <a:rPr lang="zh-CN" altLang="en-US"/>
              <a:t>这种</a:t>
            </a:r>
            <a:r>
              <a:rPr lang="zh-CN" altLang="en-US" b="1"/>
              <a:t>加色模型</a:t>
            </a:r>
            <a:r>
              <a:rPr lang="zh-CN" altLang="en-US"/>
              <a:t>契合上述生理原理，因此在本身发光的设备，例如显示屏上，每一个像素点都由微小的</a:t>
            </a:r>
            <a:r>
              <a:rPr lang="zh-CN" altLang="en-US" b="1"/>
              <a:t>红、绿、蓝</a:t>
            </a:r>
            <a:r>
              <a:rPr lang="zh-CN" altLang="en-US"/>
              <a:t>子像素构成，通过控制它们的亮度，就能在屏幕上呈现出数百万甚至数十亿种不同的颜色组合。</a:t>
            </a:r>
            <a:endParaRPr lang="zh-CN" alt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34518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色度学基础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11" name="文本框 10"/>
          <p:cNvSpPr txBox="1"/>
          <p:nvPr/>
        </p:nvSpPr>
        <p:spPr>
          <a:xfrm>
            <a:off x="1009650" y="2023745"/>
            <a:ext cx="6096000" cy="998855"/>
          </a:xfrm>
          <a:prstGeom prst="rect">
            <a:avLst/>
          </a:prstGeom>
          <a:noFill/>
        </p:spPr>
        <p:txBody>
          <a:bodyPr wrap="square" rtlCol="0" anchor="t">
            <a:spAutoFit/>
          </a:bodyPr>
          <a:p>
            <a:pPr eaLnBrk="1" hangingPunct="1">
              <a:spcBef>
                <a:spcPct val="50000"/>
              </a:spcBef>
              <a:defRPr/>
            </a:pPr>
            <a:r>
              <a:rPr kumimoji="1" lang="en-US" altLang="zh-CN" b="1" u="sng" dirty="0" smtClean="0">
                <a:solidFill>
                  <a:srgbClr val="CC0099"/>
                </a:solidFill>
                <a:effectLst>
                  <a:outerShdw blurRad="38100" dist="38100" dir="2700000" algn="tl">
                    <a:srgbClr val="C0C0C0"/>
                  </a:outerShdw>
                </a:effectLst>
                <a:latin typeface="Times New Roman" panose="02020603050405020304" pitchFamily="18" charset="0"/>
                <a:ea typeface="黑体" panose="02010609060101010101" pitchFamily="49" charset="-122"/>
                <a:sym typeface="+mn-ea"/>
              </a:rPr>
              <a:t>HSI(HSL) / HSV(HSB)</a:t>
            </a:r>
            <a:r>
              <a:rPr kumimoji="1" lang="zh-CN" altLang="en-US" b="1" u="sng" dirty="0" smtClean="0">
                <a:solidFill>
                  <a:srgbClr val="CC0099"/>
                </a:solidFill>
                <a:effectLst>
                  <a:outerShdw blurRad="38100" dist="38100" dir="2700000" algn="tl">
                    <a:srgbClr val="C0C0C0"/>
                  </a:outerShdw>
                </a:effectLst>
                <a:latin typeface="Times New Roman" panose="02020603050405020304" pitchFamily="18" charset="0"/>
                <a:ea typeface="黑体" panose="02010609060101010101" pitchFamily="49" charset="-122"/>
                <a:sym typeface="+mn-ea"/>
              </a:rPr>
              <a:t>模型</a:t>
            </a:r>
            <a:r>
              <a:rPr kumimoji="1" lang="zh-CN" altLang="en-US" b="1" u="sng" dirty="0">
                <a:solidFill>
                  <a:srgbClr val="CC0099"/>
                </a:solidFill>
                <a:effectLst>
                  <a:outerShdw blurRad="38100" dist="38100" dir="2700000" algn="tl">
                    <a:srgbClr val="C0C0C0"/>
                  </a:outerShdw>
                </a:effectLst>
                <a:latin typeface="Times New Roman" panose="02020603050405020304" pitchFamily="18" charset="0"/>
                <a:ea typeface="黑体" panose="02010609060101010101" pitchFamily="49" charset="-122"/>
                <a:sym typeface="+mn-ea"/>
              </a:rPr>
              <a:t>：</a:t>
            </a:r>
            <a:endParaRPr kumimoji="1" lang="zh-CN" altLang="en-US" b="1" u="sng" dirty="0">
              <a:solidFill>
                <a:srgbClr val="CC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lgn="just" eaLnBrk="1" hangingPunct="1">
              <a:spcBef>
                <a:spcPts val="600"/>
              </a:spcBef>
              <a:defRPr/>
            </a:pPr>
            <a:r>
              <a:rPr kumimoji="1" lang="zh-CN" altLang="en-US" b="1" dirty="0">
                <a:solidFill>
                  <a:srgbClr val="CC0099"/>
                </a:solidFill>
                <a:latin typeface="黑体" panose="02010609060101010101" pitchFamily="49" charset="-122"/>
                <a:ea typeface="黑体" panose="02010609060101010101" pitchFamily="49" charset="-122"/>
                <a:sym typeface="+mn-ea"/>
              </a:rPr>
              <a:t>      </a:t>
            </a:r>
            <a:r>
              <a:rPr kumimoji="1" lang="en-US" altLang="zh-CN" b="1" dirty="0">
                <a:latin typeface="黑体" panose="02010609060101010101" pitchFamily="49" charset="-122"/>
                <a:ea typeface="黑体" panose="02010609060101010101" pitchFamily="49" charset="-122"/>
                <a:sym typeface="+mn-ea"/>
              </a:rPr>
              <a:t>HSI</a:t>
            </a:r>
            <a:r>
              <a:rPr kumimoji="1" lang="zh-CN" altLang="en-US" b="1" dirty="0">
                <a:latin typeface="黑体" panose="02010609060101010101" pitchFamily="49" charset="-122"/>
                <a:ea typeface="黑体" panose="02010609060101010101" pitchFamily="49" charset="-122"/>
                <a:sym typeface="+mn-ea"/>
              </a:rPr>
              <a:t>模型利用颜色的三个属性</a:t>
            </a:r>
            <a:r>
              <a:rPr kumimoji="1" lang="zh-CN" altLang="en-US" b="1" dirty="0">
                <a:solidFill>
                  <a:srgbClr val="FF0000"/>
                </a:solidFill>
                <a:latin typeface="黑体" panose="02010609060101010101" pitchFamily="49" charset="-122"/>
                <a:ea typeface="黑体" panose="02010609060101010101" pitchFamily="49" charset="-122"/>
                <a:sym typeface="+mn-ea"/>
              </a:rPr>
              <a:t>色调</a:t>
            </a:r>
            <a:r>
              <a:rPr kumimoji="1" lang="en-US" altLang="zh-CN" b="1" dirty="0">
                <a:solidFill>
                  <a:srgbClr val="FF0000"/>
                </a:solidFill>
                <a:latin typeface="黑体" panose="02010609060101010101" pitchFamily="49" charset="-122"/>
                <a:ea typeface="黑体" panose="02010609060101010101" pitchFamily="49" charset="-122"/>
                <a:sym typeface="+mn-ea"/>
              </a:rPr>
              <a:t>H</a:t>
            </a:r>
            <a:r>
              <a:rPr kumimoji="1" lang="zh-CN" altLang="en-US" b="1" dirty="0">
                <a:latin typeface="黑体" panose="02010609060101010101" pitchFamily="49" charset="-122"/>
                <a:ea typeface="黑体" panose="02010609060101010101" pitchFamily="49" charset="-122"/>
                <a:sym typeface="+mn-ea"/>
              </a:rPr>
              <a:t>（</a:t>
            </a:r>
            <a:r>
              <a:rPr kumimoji="1" lang="en-US" altLang="zh-CN" b="1" dirty="0">
                <a:latin typeface="黑体" panose="02010609060101010101" pitchFamily="49" charset="-122"/>
                <a:ea typeface="黑体" panose="02010609060101010101" pitchFamily="49" charset="-122"/>
                <a:sym typeface="+mn-ea"/>
              </a:rPr>
              <a:t>hue</a:t>
            </a:r>
            <a:r>
              <a:rPr kumimoji="1" lang="zh-CN" altLang="en-US" b="1" dirty="0">
                <a:latin typeface="黑体" panose="02010609060101010101" pitchFamily="49" charset="-122"/>
                <a:ea typeface="黑体" panose="02010609060101010101" pitchFamily="49" charset="-122"/>
                <a:sym typeface="+mn-ea"/>
              </a:rPr>
              <a:t>）、</a:t>
            </a:r>
            <a:r>
              <a:rPr kumimoji="1" lang="zh-CN" altLang="en-US" b="1" dirty="0">
                <a:solidFill>
                  <a:srgbClr val="FF0000"/>
                </a:solidFill>
                <a:latin typeface="黑体" panose="02010609060101010101" pitchFamily="49" charset="-122"/>
                <a:ea typeface="黑体" panose="02010609060101010101" pitchFamily="49" charset="-122"/>
                <a:sym typeface="+mn-ea"/>
              </a:rPr>
              <a:t>饱和度</a:t>
            </a:r>
            <a:r>
              <a:rPr kumimoji="1" lang="en-US" altLang="zh-CN" b="1" dirty="0">
                <a:solidFill>
                  <a:srgbClr val="FF0000"/>
                </a:solidFill>
                <a:latin typeface="黑体" panose="02010609060101010101" pitchFamily="49" charset="-122"/>
                <a:ea typeface="黑体" panose="02010609060101010101" pitchFamily="49" charset="-122"/>
                <a:sym typeface="+mn-ea"/>
              </a:rPr>
              <a:t>S</a:t>
            </a:r>
            <a:r>
              <a:rPr kumimoji="1" lang="zh-CN" altLang="en-US" b="1" dirty="0">
                <a:latin typeface="黑体" panose="02010609060101010101" pitchFamily="49" charset="-122"/>
                <a:ea typeface="黑体" panose="02010609060101010101" pitchFamily="49" charset="-122"/>
                <a:sym typeface="+mn-ea"/>
              </a:rPr>
              <a:t>（</a:t>
            </a:r>
            <a:r>
              <a:rPr kumimoji="1" lang="en-US" altLang="zh-CN" b="1" dirty="0">
                <a:latin typeface="黑体" panose="02010609060101010101" pitchFamily="49" charset="-122"/>
                <a:ea typeface="黑体" panose="02010609060101010101" pitchFamily="49" charset="-122"/>
                <a:sym typeface="+mn-ea"/>
              </a:rPr>
              <a:t>saturation</a:t>
            </a:r>
            <a:r>
              <a:rPr kumimoji="1" lang="zh-CN" altLang="en-US" b="1" dirty="0">
                <a:latin typeface="黑体" panose="02010609060101010101" pitchFamily="49" charset="-122"/>
                <a:ea typeface="黑体" panose="02010609060101010101" pitchFamily="49" charset="-122"/>
                <a:sym typeface="+mn-ea"/>
              </a:rPr>
              <a:t>）和</a:t>
            </a:r>
            <a:r>
              <a:rPr kumimoji="1" lang="zh-CN" altLang="en-US" b="1" dirty="0">
                <a:solidFill>
                  <a:srgbClr val="FF0000"/>
                </a:solidFill>
                <a:latin typeface="黑体" panose="02010609060101010101" pitchFamily="49" charset="-122"/>
                <a:ea typeface="黑体" panose="02010609060101010101" pitchFamily="49" charset="-122"/>
                <a:sym typeface="+mn-ea"/>
              </a:rPr>
              <a:t>亮度</a:t>
            </a:r>
            <a:r>
              <a:rPr kumimoji="1" lang="en-US" altLang="zh-CN" b="1" dirty="0">
                <a:solidFill>
                  <a:srgbClr val="FF0000"/>
                </a:solidFill>
                <a:latin typeface="黑体" panose="02010609060101010101" pitchFamily="49" charset="-122"/>
                <a:ea typeface="黑体" panose="02010609060101010101" pitchFamily="49" charset="-122"/>
                <a:sym typeface="+mn-ea"/>
              </a:rPr>
              <a:t>I</a:t>
            </a:r>
            <a:r>
              <a:rPr kumimoji="1" lang="zh-CN" altLang="en-US" b="1" dirty="0">
                <a:latin typeface="黑体" panose="02010609060101010101" pitchFamily="49" charset="-122"/>
                <a:ea typeface="黑体" panose="02010609060101010101" pitchFamily="49" charset="-122"/>
                <a:sym typeface="+mn-ea"/>
              </a:rPr>
              <a:t>（</a:t>
            </a:r>
            <a:r>
              <a:rPr kumimoji="1" lang="en-US" altLang="zh-CN" b="1" dirty="0">
                <a:latin typeface="黑体" panose="02010609060101010101" pitchFamily="49" charset="-122"/>
                <a:ea typeface="黑体" panose="02010609060101010101" pitchFamily="49" charset="-122"/>
                <a:sym typeface="+mn-ea"/>
              </a:rPr>
              <a:t>intensity</a:t>
            </a:r>
            <a:r>
              <a:rPr kumimoji="1" lang="zh-CN" altLang="en-US" b="1" dirty="0" smtClean="0">
                <a:latin typeface="黑体" panose="02010609060101010101" pitchFamily="49" charset="-122"/>
                <a:ea typeface="黑体" panose="02010609060101010101" pitchFamily="49" charset="-122"/>
                <a:sym typeface="+mn-ea"/>
              </a:rPr>
              <a:t>）表示颜色</a:t>
            </a:r>
            <a:endParaRPr lang="en-US" altLang="zh-CN" sz="1800">
              <a:sym typeface="+mn-ea"/>
            </a:endParaRPr>
          </a:p>
        </p:txBody>
      </p:sp>
      <p:pic>
        <p:nvPicPr>
          <p:cNvPr id="12" name="Picture 17" descr="色相环"/>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V="1">
            <a:off x="1254540" y="3160713"/>
            <a:ext cx="2769120" cy="2769121"/>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p:cNvSpPr txBox="1"/>
          <p:nvPr/>
        </p:nvSpPr>
        <p:spPr>
          <a:xfrm>
            <a:off x="1486972" y="5931371"/>
            <a:ext cx="2880320" cy="369332"/>
          </a:xfrm>
          <a:prstGeom prst="rect">
            <a:avLst/>
          </a:prstGeom>
          <a:noFill/>
        </p:spPr>
        <p:txBody>
          <a:bodyPr wrap="square" rtlCol="0">
            <a:spAutoFit/>
          </a:bodyPr>
          <a:lstStyle/>
          <a:p>
            <a:r>
              <a:rPr lang="zh-CN" altLang="en-US" dirty="0" smtClean="0">
                <a:latin typeface="+mn-ea"/>
                <a:ea typeface="+mn-ea"/>
              </a:rPr>
              <a:t>色调：描述纯色是什么</a:t>
            </a:r>
            <a:endParaRPr lang="zh-CN" altLang="en-US" dirty="0">
              <a:latin typeface="+mn-ea"/>
              <a:ea typeface="+mn-ea"/>
            </a:endParaRPr>
          </a:p>
        </p:txBody>
      </p:sp>
      <p:sp>
        <p:nvSpPr>
          <p:cNvPr id="14" name="椭圆 13"/>
          <p:cNvSpPr/>
          <p:nvPr/>
        </p:nvSpPr>
        <p:spPr>
          <a:xfrm>
            <a:off x="4727332" y="3341556"/>
            <a:ext cx="698425" cy="698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p:cNvSpPr/>
          <p:nvPr/>
        </p:nvSpPr>
        <p:spPr>
          <a:xfrm>
            <a:off x="4735593" y="4364017"/>
            <a:ext cx="720080" cy="648072"/>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等腰三角形 15"/>
          <p:cNvSpPr/>
          <p:nvPr/>
        </p:nvSpPr>
        <p:spPr>
          <a:xfrm>
            <a:off x="4761928" y="5264117"/>
            <a:ext cx="686573" cy="653952"/>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右箭头 16"/>
          <p:cNvSpPr/>
          <p:nvPr/>
        </p:nvSpPr>
        <p:spPr>
          <a:xfrm>
            <a:off x="4006533" y="4383199"/>
            <a:ext cx="288751" cy="25202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椭圆 17"/>
          <p:cNvSpPr/>
          <p:nvPr>
            <p:custDataLst>
              <p:tags r:id="rId4"/>
            </p:custDataLst>
          </p:nvPr>
        </p:nvSpPr>
        <p:spPr>
          <a:xfrm>
            <a:off x="6327780" y="3222664"/>
            <a:ext cx="2626642" cy="262664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文本框 18"/>
          <p:cNvSpPr txBox="1"/>
          <p:nvPr>
            <p:custDataLst>
              <p:tags r:id="rId5"/>
            </p:custDataLst>
          </p:nvPr>
        </p:nvSpPr>
        <p:spPr>
          <a:xfrm>
            <a:off x="9052523" y="4336440"/>
            <a:ext cx="731641" cy="369332"/>
          </a:xfrm>
          <a:prstGeom prst="rect">
            <a:avLst/>
          </a:prstGeom>
          <a:noFill/>
        </p:spPr>
        <p:txBody>
          <a:bodyPr wrap="square" rtlCol="0">
            <a:spAutoFit/>
          </a:bodyPr>
          <a:lstStyle/>
          <a:p>
            <a:r>
              <a:rPr lang="zh-CN" altLang="en-US" dirty="0">
                <a:solidFill>
                  <a:srgbClr val="FF0000"/>
                </a:solidFill>
                <a:latin typeface="+mn-ea"/>
                <a:ea typeface="+mn-ea"/>
              </a:rPr>
              <a:t>红色</a:t>
            </a:r>
            <a:endParaRPr lang="zh-CN" altLang="en-US" dirty="0" smtClean="0">
              <a:solidFill>
                <a:srgbClr val="FF0000"/>
              </a:solidFill>
              <a:latin typeface="+mn-ea"/>
              <a:ea typeface="+mn-ea"/>
            </a:endParaRPr>
          </a:p>
        </p:txBody>
      </p:sp>
      <p:cxnSp>
        <p:nvCxnSpPr>
          <p:cNvPr id="20" name="直接箭头连接符 19"/>
          <p:cNvCxnSpPr/>
          <p:nvPr>
            <p:custDataLst>
              <p:tags r:id="rId6"/>
            </p:custDataLst>
          </p:nvPr>
        </p:nvCxnSpPr>
        <p:spPr>
          <a:xfrm flipV="1">
            <a:off x="7623924" y="3780433"/>
            <a:ext cx="648072" cy="7560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7"/>
            </p:custDataLst>
          </p:nvPr>
        </p:nvCxnSpPr>
        <p:spPr>
          <a:xfrm flipV="1">
            <a:off x="7623924" y="4535985"/>
            <a:ext cx="1330498" cy="53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p:cNvSpPr txBox="1"/>
          <p:nvPr>
            <p:custDataLst>
              <p:tags r:id="rId8"/>
            </p:custDataLst>
          </p:nvPr>
        </p:nvSpPr>
        <p:spPr>
          <a:xfrm>
            <a:off x="7623924" y="3807350"/>
            <a:ext cx="504056" cy="369332"/>
          </a:xfrm>
          <a:prstGeom prst="rect">
            <a:avLst/>
          </a:prstGeom>
          <a:noFill/>
        </p:spPr>
        <p:txBody>
          <a:bodyPr wrap="square" rtlCol="0">
            <a:spAutoFit/>
          </a:bodyPr>
          <a:lstStyle/>
          <a:p>
            <a:r>
              <a:rPr lang="en-US" altLang="zh-CN" dirty="0" smtClean="0">
                <a:latin typeface="+mn-ea"/>
                <a:ea typeface="+mn-ea"/>
              </a:rPr>
              <a:t>S</a:t>
            </a:r>
            <a:endParaRPr lang="zh-CN" altLang="en-US" dirty="0" smtClean="0">
              <a:latin typeface="+mn-ea"/>
              <a:ea typeface="+mn-ea"/>
            </a:endParaRPr>
          </a:p>
        </p:txBody>
      </p:sp>
      <p:sp>
        <p:nvSpPr>
          <p:cNvPr id="32" name="文本框 31"/>
          <p:cNvSpPr txBox="1"/>
          <p:nvPr>
            <p:custDataLst>
              <p:tags r:id="rId9"/>
            </p:custDataLst>
          </p:nvPr>
        </p:nvSpPr>
        <p:spPr>
          <a:xfrm>
            <a:off x="8091976" y="4089910"/>
            <a:ext cx="504056" cy="369332"/>
          </a:xfrm>
          <a:prstGeom prst="rect">
            <a:avLst/>
          </a:prstGeom>
          <a:noFill/>
        </p:spPr>
        <p:txBody>
          <a:bodyPr wrap="square" rtlCol="0">
            <a:spAutoFit/>
          </a:bodyPr>
          <a:lstStyle/>
          <a:p>
            <a:r>
              <a:rPr lang="en-US" altLang="zh-CN" dirty="0" smtClean="0">
                <a:latin typeface="+mn-ea"/>
                <a:ea typeface="+mn-ea"/>
              </a:rPr>
              <a:t>H</a:t>
            </a:r>
            <a:endParaRPr lang="zh-CN" altLang="en-US" dirty="0" smtClean="0">
              <a:latin typeface="+mn-ea"/>
              <a:ea typeface="+mn-ea"/>
            </a:endParaRPr>
          </a:p>
        </p:txBody>
      </p:sp>
      <p:sp>
        <p:nvSpPr>
          <p:cNvPr id="28" name="下弧形箭头 27"/>
          <p:cNvSpPr/>
          <p:nvPr>
            <p:custDataLst>
              <p:tags r:id="rId10"/>
            </p:custDataLst>
          </p:nvPr>
        </p:nvSpPr>
        <p:spPr>
          <a:xfrm rot="15292188">
            <a:off x="7879227" y="4275400"/>
            <a:ext cx="371896" cy="100854"/>
          </a:xfrm>
          <a:prstGeom prst="curvedUpArrow">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31" name="椭圆 30"/>
          <p:cNvSpPr/>
          <p:nvPr>
            <p:custDataLst>
              <p:tags r:id="rId11"/>
            </p:custDataLst>
          </p:nvPr>
        </p:nvSpPr>
        <p:spPr>
          <a:xfrm>
            <a:off x="8255724" y="3699123"/>
            <a:ext cx="81310" cy="81310"/>
          </a:xfrm>
          <a:prstGeom prst="ellipse">
            <a:avLst/>
          </a:prstGeom>
          <a:solidFill>
            <a:srgbClr val="FFF78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数字图像的描述</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069975" y="2124710"/>
            <a:ext cx="6797675" cy="368300"/>
          </a:xfrm>
          <a:prstGeom prst="rect">
            <a:avLst/>
          </a:prstGeom>
          <a:noFill/>
        </p:spPr>
        <p:txBody>
          <a:bodyPr wrap="square" rtlCol="0">
            <a:spAutoFit/>
          </a:bodyPr>
          <a:p>
            <a:r>
              <a:rPr lang="zh-CN" b="1"/>
              <a:t>黑白图像</a:t>
            </a:r>
            <a:endParaRPr lang="zh-CN" b="1"/>
          </a:p>
        </p:txBody>
      </p:sp>
      <p:sp>
        <p:nvSpPr>
          <p:cNvPr id="4" name="文本框 3"/>
          <p:cNvSpPr txBox="1"/>
          <p:nvPr/>
        </p:nvSpPr>
        <p:spPr>
          <a:xfrm>
            <a:off x="1069975" y="2493010"/>
            <a:ext cx="4615815" cy="1724025"/>
          </a:xfrm>
          <a:prstGeom prst="rect">
            <a:avLst/>
          </a:prstGeom>
          <a:noFill/>
        </p:spPr>
        <p:txBody>
          <a:bodyPr wrap="square" rtlCol="0">
            <a:spAutoFit/>
          </a:bodyPr>
          <a:p>
            <a:pPr marL="0" indent="720090" algn="just" eaLnBrk="1" hangingPunct="1">
              <a:lnSpc>
                <a:spcPct val="130000"/>
              </a:lnSpc>
              <a:buFontTx/>
              <a:buNone/>
              <a:defRPr/>
            </a:pPr>
            <a:r>
              <a:rPr lang="zh-CN" altLang="en-US" dirty="0">
                <a:sym typeface="+mn-ea"/>
              </a:rPr>
              <a:t>是指图像的每个像素只能是黑或者白，没有中间的过渡，故又</a:t>
            </a:r>
            <a:r>
              <a:rPr lang="zh-CN" altLang="en-US" dirty="0" smtClean="0">
                <a:sym typeface="+mn-ea"/>
              </a:rPr>
              <a:t>称为</a:t>
            </a:r>
            <a:r>
              <a:rPr lang="zh-CN" altLang="en-US" dirty="0">
                <a:sym typeface="+mn-ea"/>
              </a:rPr>
              <a:t>二</a:t>
            </a:r>
            <a:r>
              <a:rPr lang="zh-CN" altLang="en-US" dirty="0" smtClean="0">
                <a:sym typeface="+mn-ea"/>
              </a:rPr>
              <a:t>值</a:t>
            </a:r>
            <a:r>
              <a:rPr lang="zh-CN" altLang="en-US" dirty="0">
                <a:sym typeface="+mn-ea"/>
              </a:rPr>
              <a:t>图像</a:t>
            </a:r>
            <a:r>
              <a:rPr lang="zh-CN" altLang="en-US" dirty="0" smtClean="0">
                <a:sym typeface="+mn-ea"/>
              </a:rPr>
              <a:t>。二值</a:t>
            </a:r>
            <a:r>
              <a:rPr lang="zh-CN" altLang="en-US" dirty="0">
                <a:sym typeface="+mn-ea"/>
              </a:rPr>
              <a:t>图像的像素值为</a:t>
            </a:r>
            <a:r>
              <a:rPr lang="en-US" altLang="zh-CN" dirty="0">
                <a:sym typeface="+mn-ea"/>
              </a:rPr>
              <a:t>0</a:t>
            </a:r>
            <a:r>
              <a:rPr lang="zh-CN" altLang="en-US" dirty="0">
                <a:sym typeface="+mn-ea"/>
              </a:rPr>
              <a:t>、</a:t>
            </a:r>
            <a:r>
              <a:rPr lang="en-US" altLang="zh-CN" dirty="0">
                <a:sym typeface="+mn-ea"/>
              </a:rPr>
              <a:t>1</a:t>
            </a:r>
            <a:r>
              <a:rPr lang="zh-CN" altLang="en-US" dirty="0">
                <a:sym typeface="+mn-ea"/>
              </a:rPr>
              <a:t>。</a:t>
            </a:r>
            <a:endParaRPr lang="zh-CN" altLang="en-US" dirty="0"/>
          </a:p>
          <a:p>
            <a:pPr eaLnBrk="1" hangingPunct="1">
              <a:buFontTx/>
              <a:buNone/>
              <a:defRPr/>
            </a:pPr>
            <a:endParaRPr lang="zh-CN" altLang="en-US" dirty="0"/>
          </a:p>
          <a:p>
            <a:endParaRPr lang="zh-CN" altLang="en-US"/>
          </a:p>
        </p:txBody>
      </p:sp>
      <p:grpSp>
        <p:nvGrpSpPr>
          <p:cNvPr id="6" name="Group 4"/>
          <p:cNvGrpSpPr/>
          <p:nvPr/>
        </p:nvGrpSpPr>
        <p:grpSpPr bwMode="auto">
          <a:xfrm>
            <a:off x="2120900" y="4205288"/>
            <a:ext cx="1676400" cy="1525587"/>
            <a:chOff x="672" y="2784"/>
            <a:chExt cx="1056" cy="960"/>
          </a:xfrm>
        </p:grpSpPr>
        <p:sp>
          <p:nvSpPr>
            <p:cNvPr id="37895" name="Rectangle 5"/>
            <p:cNvSpPr>
              <a:spLocks noChangeArrowheads="1"/>
            </p:cNvSpPr>
            <p:nvPr/>
          </p:nvSpPr>
          <p:spPr bwMode="auto">
            <a:xfrm>
              <a:off x="672" y="2784"/>
              <a:ext cx="1056" cy="960"/>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896" name="Line 6"/>
            <p:cNvSpPr>
              <a:spLocks noChangeShapeType="1"/>
            </p:cNvSpPr>
            <p:nvPr/>
          </p:nvSpPr>
          <p:spPr bwMode="auto">
            <a:xfrm>
              <a:off x="672" y="3072"/>
              <a:ext cx="105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7897" name="Line 7"/>
            <p:cNvSpPr>
              <a:spLocks noChangeShapeType="1"/>
            </p:cNvSpPr>
            <p:nvPr/>
          </p:nvSpPr>
          <p:spPr bwMode="auto">
            <a:xfrm>
              <a:off x="672" y="3408"/>
              <a:ext cx="105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7898" name="Line 8"/>
            <p:cNvSpPr>
              <a:spLocks noChangeShapeType="1"/>
            </p:cNvSpPr>
            <p:nvPr/>
          </p:nvSpPr>
          <p:spPr bwMode="auto">
            <a:xfrm>
              <a:off x="1008" y="2784"/>
              <a:ext cx="0" cy="96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7899" name="Line 9"/>
            <p:cNvSpPr>
              <a:spLocks noChangeShapeType="1"/>
            </p:cNvSpPr>
            <p:nvPr/>
          </p:nvSpPr>
          <p:spPr bwMode="auto">
            <a:xfrm>
              <a:off x="1344" y="2784"/>
              <a:ext cx="0" cy="96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7900" name="Rectangle 10"/>
            <p:cNvSpPr>
              <a:spLocks noChangeArrowheads="1"/>
            </p:cNvSpPr>
            <p:nvPr/>
          </p:nvSpPr>
          <p:spPr bwMode="auto">
            <a:xfrm>
              <a:off x="672" y="2784"/>
              <a:ext cx="336" cy="288"/>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901" name="Rectangle 11"/>
            <p:cNvSpPr>
              <a:spLocks noChangeArrowheads="1"/>
            </p:cNvSpPr>
            <p:nvPr/>
          </p:nvSpPr>
          <p:spPr bwMode="auto">
            <a:xfrm>
              <a:off x="1344" y="3072"/>
              <a:ext cx="384" cy="336"/>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902" name="Rectangle 12"/>
            <p:cNvSpPr>
              <a:spLocks noChangeArrowheads="1"/>
            </p:cNvSpPr>
            <p:nvPr/>
          </p:nvSpPr>
          <p:spPr bwMode="auto">
            <a:xfrm>
              <a:off x="672" y="3408"/>
              <a:ext cx="336" cy="336"/>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903" name="Rectangle 13"/>
            <p:cNvSpPr>
              <a:spLocks noChangeArrowheads="1"/>
            </p:cNvSpPr>
            <p:nvPr/>
          </p:nvSpPr>
          <p:spPr bwMode="auto">
            <a:xfrm>
              <a:off x="1008" y="3408"/>
              <a:ext cx="336" cy="336"/>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904" name="Rectangle 14"/>
            <p:cNvSpPr>
              <a:spLocks noChangeArrowheads="1"/>
            </p:cNvSpPr>
            <p:nvPr/>
          </p:nvSpPr>
          <p:spPr bwMode="auto">
            <a:xfrm>
              <a:off x="1344" y="3408"/>
              <a:ext cx="384" cy="336"/>
            </a:xfrm>
            <a:prstGeom prst="rect">
              <a:avLst/>
            </a:prstGeom>
            <a:solidFill>
              <a:srgbClr val="000000"/>
            </a:solidFill>
            <a:ln w="9525" algn="ctr">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905" name="Rectangle 15"/>
            <p:cNvSpPr>
              <a:spLocks noChangeArrowheads="1"/>
            </p:cNvSpPr>
            <p:nvPr/>
          </p:nvSpPr>
          <p:spPr bwMode="auto">
            <a:xfrm>
              <a:off x="1008" y="2784"/>
              <a:ext cx="720" cy="288"/>
            </a:xfrm>
            <a:prstGeom prst="rect">
              <a:avLst/>
            </a:prstGeom>
            <a:solidFill>
              <a:srgbClr val="000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7906" name="Rectangle 16"/>
            <p:cNvSpPr>
              <a:spLocks noChangeArrowheads="1"/>
            </p:cNvSpPr>
            <p:nvPr/>
          </p:nvSpPr>
          <p:spPr bwMode="auto">
            <a:xfrm>
              <a:off x="672" y="3072"/>
              <a:ext cx="672" cy="336"/>
            </a:xfrm>
            <a:prstGeom prst="rect">
              <a:avLst/>
            </a:prstGeom>
            <a:solidFill>
              <a:srgbClr val="000000"/>
            </a:solidFill>
            <a:ln w="9525" algn="ctr">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219154" name="AutoShape 18"/>
          <p:cNvSpPr>
            <a:spLocks noChangeArrowheads="1"/>
          </p:cNvSpPr>
          <p:nvPr/>
        </p:nvSpPr>
        <p:spPr bwMode="auto">
          <a:xfrm>
            <a:off x="5118100" y="4662805"/>
            <a:ext cx="914400" cy="685800"/>
          </a:xfrm>
          <a:prstGeom prst="rightArrow">
            <a:avLst>
              <a:gd name="adj1" fmla="val 50000"/>
              <a:gd name="adj2" fmla="val 33333"/>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aphicFrame>
        <p:nvGraphicFramePr>
          <p:cNvPr id="219153" name="Object 17"/>
          <p:cNvGraphicFramePr>
            <a:graphicFrameLocks noChangeAspect="1"/>
          </p:cNvGraphicFramePr>
          <p:nvPr/>
        </p:nvGraphicFramePr>
        <p:xfrm>
          <a:off x="6905308" y="4174808"/>
          <a:ext cx="2001837" cy="1555750"/>
        </p:xfrm>
        <a:graphic>
          <a:graphicData uri="http://schemas.openxmlformats.org/presentationml/2006/ole">
            <mc:AlternateContent xmlns:mc="http://schemas.openxmlformats.org/markup-compatibility/2006">
              <mc:Choice xmlns:v="urn:schemas-microsoft-com:vml" Requires="v">
                <p:oleObj spid="_x0000_s37975" name="公式" r:id="rId3" imgW="914400" imgH="711200" progId="Equation.3">
                  <p:embed/>
                </p:oleObj>
              </mc:Choice>
              <mc:Fallback>
                <p:oleObj name="公式" r:id="rId3" imgW="914400" imgH="7112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308" y="4174808"/>
                        <a:ext cx="2001837" cy="155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数字图像的描述</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938530" y="2124710"/>
            <a:ext cx="6797675" cy="368300"/>
          </a:xfrm>
          <a:prstGeom prst="rect">
            <a:avLst/>
          </a:prstGeom>
          <a:noFill/>
        </p:spPr>
        <p:txBody>
          <a:bodyPr wrap="square" rtlCol="0">
            <a:spAutoFit/>
          </a:bodyPr>
          <a:p>
            <a:r>
              <a:rPr lang="zh-CN" b="1"/>
              <a:t>灰度图像</a:t>
            </a:r>
            <a:endParaRPr lang="zh-CN" b="1"/>
          </a:p>
        </p:txBody>
      </p:sp>
      <p:sp>
        <p:nvSpPr>
          <p:cNvPr id="4" name="文本框 3"/>
          <p:cNvSpPr txBox="1"/>
          <p:nvPr/>
        </p:nvSpPr>
        <p:spPr>
          <a:xfrm>
            <a:off x="1080135" y="2555875"/>
            <a:ext cx="5100320" cy="1198880"/>
          </a:xfrm>
          <a:prstGeom prst="rect">
            <a:avLst/>
          </a:prstGeom>
          <a:noFill/>
        </p:spPr>
        <p:txBody>
          <a:bodyPr wrap="square" rtlCol="0">
            <a:spAutoFit/>
          </a:bodyPr>
          <a:p>
            <a:pPr indent="457200" eaLnBrk="1" hangingPunct="1">
              <a:buFontTx/>
              <a:buNone/>
              <a:defRPr/>
            </a:pPr>
            <a:r>
              <a:rPr lang="zh-CN" altLang="en-US" dirty="0">
                <a:sym typeface="+mn-ea"/>
              </a:rPr>
              <a:t>灰度图像是指每个像素的信息由一个量化的灰度级来描述的图像，没有彩色信息。</a:t>
            </a:r>
            <a:endParaRPr lang="zh-CN" altLang="en-US" dirty="0"/>
          </a:p>
          <a:p>
            <a:pPr eaLnBrk="1" hangingPunct="1">
              <a:buFontTx/>
              <a:buNone/>
              <a:defRPr/>
            </a:pPr>
            <a:endParaRPr lang="zh-CN" altLang="en-US" dirty="0"/>
          </a:p>
          <a:p>
            <a:endParaRPr lang="zh-CN" altLang="en-US"/>
          </a:p>
        </p:txBody>
      </p:sp>
      <p:sp>
        <p:nvSpPr>
          <p:cNvPr id="219154" name="AutoShape 18"/>
          <p:cNvSpPr>
            <a:spLocks noChangeArrowheads="1"/>
          </p:cNvSpPr>
          <p:nvPr/>
        </p:nvSpPr>
        <p:spPr bwMode="auto">
          <a:xfrm>
            <a:off x="5039360" y="4410075"/>
            <a:ext cx="914400" cy="685800"/>
          </a:xfrm>
          <a:prstGeom prst="rightArrow">
            <a:avLst>
              <a:gd name="adj1" fmla="val 50000"/>
              <a:gd name="adj2" fmla="val 33333"/>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nvGrpSpPr>
          <p:cNvPr id="9" name="Group 6"/>
          <p:cNvGrpSpPr/>
          <p:nvPr/>
        </p:nvGrpSpPr>
        <p:grpSpPr bwMode="auto">
          <a:xfrm>
            <a:off x="2125345" y="4091305"/>
            <a:ext cx="1676400" cy="1447800"/>
            <a:chOff x="1008" y="2832"/>
            <a:chExt cx="1056" cy="912"/>
          </a:xfrm>
        </p:grpSpPr>
        <p:sp>
          <p:nvSpPr>
            <p:cNvPr id="38919" name="Rectangle 7"/>
            <p:cNvSpPr>
              <a:spLocks noChangeArrowheads="1"/>
            </p:cNvSpPr>
            <p:nvPr/>
          </p:nvSpPr>
          <p:spPr bwMode="auto">
            <a:xfrm>
              <a:off x="1008" y="2832"/>
              <a:ext cx="1056" cy="912"/>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20" name="Line 8"/>
            <p:cNvSpPr>
              <a:spLocks noChangeShapeType="1"/>
            </p:cNvSpPr>
            <p:nvPr/>
          </p:nvSpPr>
          <p:spPr bwMode="auto">
            <a:xfrm>
              <a:off x="1008" y="3120"/>
              <a:ext cx="105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8921" name="Line 9"/>
            <p:cNvSpPr>
              <a:spLocks noChangeShapeType="1"/>
            </p:cNvSpPr>
            <p:nvPr/>
          </p:nvSpPr>
          <p:spPr bwMode="auto">
            <a:xfrm>
              <a:off x="1008" y="3408"/>
              <a:ext cx="105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8922" name="Line 10"/>
            <p:cNvSpPr>
              <a:spLocks noChangeShapeType="1"/>
            </p:cNvSpPr>
            <p:nvPr/>
          </p:nvSpPr>
          <p:spPr bwMode="auto">
            <a:xfrm>
              <a:off x="1344" y="2832"/>
              <a:ext cx="0" cy="91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8923" name="Line 11"/>
            <p:cNvSpPr>
              <a:spLocks noChangeShapeType="1"/>
            </p:cNvSpPr>
            <p:nvPr/>
          </p:nvSpPr>
          <p:spPr bwMode="auto">
            <a:xfrm>
              <a:off x="1728" y="2832"/>
              <a:ext cx="0" cy="91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8924" name="Rectangle 12"/>
            <p:cNvSpPr>
              <a:spLocks noChangeArrowheads="1"/>
            </p:cNvSpPr>
            <p:nvPr/>
          </p:nvSpPr>
          <p:spPr bwMode="auto">
            <a:xfrm>
              <a:off x="1008" y="2832"/>
              <a:ext cx="336" cy="288"/>
            </a:xfrm>
            <a:prstGeom prst="rect">
              <a:avLst/>
            </a:prstGeom>
            <a:solidFill>
              <a:srgbClr val="000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25" name="Rectangle 13"/>
            <p:cNvSpPr>
              <a:spLocks noChangeArrowheads="1"/>
            </p:cNvSpPr>
            <p:nvPr/>
          </p:nvSpPr>
          <p:spPr bwMode="auto">
            <a:xfrm>
              <a:off x="1344" y="3120"/>
              <a:ext cx="384" cy="288"/>
            </a:xfrm>
            <a:prstGeom prst="rect">
              <a:avLst/>
            </a:prstGeom>
            <a:solidFill>
              <a:srgbClr val="323232"/>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26" name="Rectangle 14"/>
            <p:cNvSpPr>
              <a:spLocks noChangeArrowheads="1"/>
            </p:cNvSpPr>
            <p:nvPr/>
          </p:nvSpPr>
          <p:spPr bwMode="auto">
            <a:xfrm>
              <a:off x="1728" y="3408"/>
              <a:ext cx="336" cy="336"/>
            </a:xfrm>
            <a:prstGeom prst="rect">
              <a:avLst/>
            </a:prstGeom>
            <a:solidFill>
              <a:srgbClr val="646464"/>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27" name="Rectangle 15"/>
            <p:cNvSpPr>
              <a:spLocks noChangeArrowheads="1"/>
            </p:cNvSpPr>
            <p:nvPr/>
          </p:nvSpPr>
          <p:spPr bwMode="auto">
            <a:xfrm>
              <a:off x="1344" y="2832"/>
              <a:ext cx="384" cy="288"/>
            </a:xfrm>
            <a:prstGeom prst="rect">
              <a:avLst/>
            </a:prstGeom>
            <a:solidFill>
              <a:srgbClr val="969696"/>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28" name="Rectangle 16"/>
            <p:cNvSpPr>
              <a:spLocks noChangeArrowheads="1"/>
            </p:cNvSpPr>
            <p:nvPr/>
          </p:nvSpPr>
          <p:spPr bwMode="auto">
            <a:xfrm>
              <a:off x="1728" y="2832"/>
              <a:ext cx="336" cy="288"/>
            </a:xfrm>
            <a:prstGeom prst="rect">
              <a:avLst/>
            </a:prstGeom>
            <a:solidFill>
              <a:srgbClr val="C8C8C8"/>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29" name="Rectangle 17"/>
            <p:cNvSpPr>
              <a:spLocks noChangeArrowheads="1"/>
            </p:cNvSpPr>
            <p:nvPr/>
          </p:nvSpPr>
          <p:spPr bwMode="auto">
            <a:xfrm>
              <a:off x="1728" y="3120"/>
              <a:ext cx="336" cy="288"/>
            </a:xfrm>
            <a:prstGeom prst="rect">
              <a:avLst/>
            </a:prstGeom>
            <a:solidFill>
              <a:srgbClr val="B4B4B4"/>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30" name="Rectangle 18"/>
            <p:cNvSpPr>
              <a:spLocks noChangeArrowheads="1"/>
            </p:cNvSpPr>
            <p:nvPr/>
          </p:nvSpPr>
          <p:spPr bwMode="auto">
            <a:xfrm>
              <a:off x="1008" y="3408"/>
              <a:ext cx="336" cy="336"/>
            </a:xfrm>
            <a:prstGeom prst="rect">
              <a:avLst/>
            </a:prstGeom>
            <a:solidFill>
              <a:srgbClr val="FAFAFA"/>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31" name="Rectangle 19"/>
            <p:cNvSpPr>
              <a:spLocks noChangeArrowheads="1"/>
            </p:cNvSpPr>
            <p:nvPr/>
          </p:nvSpPr>
          <p:spPr bwMode="auto">
            <a:xfrm>
              <a:off x="1008" y="3120"/>
              <a:ext cx="336" cy="288"/>
            </a:xfrm>
            <a:prstGeom prst="rect">
              <a:avLst/>
            </a:prstGeom>
            <a:solidFill>
              <a:srgbClr val="787878"/>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32" name="Rectangle 20"/>
            <p:cNvSpPr>
              <a:spLocks noChangeArrowheads="1"/>
            </p:cNvSpPr>
            <p:nvPr/>
          </p:nvSpPr>
          <p:spPr bwMode="auto">
            <a:xfrm>
              <a:off x="1344" y="3408"/>
              <a:ext cx="384" cy="336"/>
            </a:xfrm>
            <a:prstGeom prst="rect">
              <a:avLst/>
            </a:prstGeom>
            <a:solidFill>
              <a:srgbClr val="DCDCD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graphicFrame>
        <p:nvGraphicFramePr>
          <p:cNvPr id="10" name="Object 5"/>
          <p:cNvGraphicFramePr>
            <a:graphicFrameLocks noChangeAspect="1"/>
          </p:cNvGraphicFramePr>
          <p:nvPr/>
        </p:nvGraphicFramePr>
        <p:xfrm>
          <a:off x="6717030" y="4091305"/>
          <a:ext cx="3005138" cy="1555750"/>
        </p:xfrm>
        <a:graphic>
          <a:graphicData uri="http://schemas.openxmlformats.org/presentationml/2006/ole">
            <mc:AlternateContent xmlns:mc="http://schemas.openxmlformats.org/markup-compatibility/2006">
              <mc:Choice xmlns:v="urn:schemas-microsoft-com:vml" Requires="v">
                <p:oleObj spid="_x0000_s11" name="公式" r:id="rId3" imgW="1371600" imgH="711200" progId="Equation.3">
                  <p:embed/>
                </p:oleObj>
              </mc:Choice>
              <mc:Fallback>
                <p:oleObj name="公式" r:id="rId3" imgW="1371600" imgH="71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7030" y="4091305"/>
                        <a:ext cx="3005138" cy="155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数字图像的描述</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938530" y="1983105"/>
            <a:ext cx="6797675" cy="368300"/>
          </a:xfrm>
          <a:prstGeom prst="rect">
            <a:avLst/>
          </a:prstGeom>
          <a:noFill/>
        </p:spPr>
        <p:txBody>
          <a:bodyPr wrap="square" rtlCol="0">
            <a:spAutoFit/>
          </a:bodyPr>
          <a:p>
            <a:r>
              <a:rPr lang="zh-CN" b="1"/>
              <a:t>灰度图像示例</a:t>
            </a:r>
            <a:endParaRPr lang="zh-CN" b="1"/>
          </a:p>
        </p:txBody>
      </p:sp>
      <p:pic>
        <p:nvPicPr>
          <p:cNvPr id="39946" name="Picture 13" descr="fig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7403" y="3482975"/>
            <a:ext cx="2414587"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4815" y="956628"/>
            <a:ext cx="458152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AutoShape 2"/>
          <p:cNvSpPr>
            <a:spLocks noChangeArrowheads="1"/>
          </p:cNvSpPr>
          <p:nvPr/>
        </p:nvSpPr>
        <p:spPr bwMode="auto">
          <a:xfrm>
            <a:off x="8847138" y="3949065"/>
            <a:ext cx="990600" cy="839788"/>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ln>
        </p:spPr>
        <p:txBody>
          <a:bodyPr wrap="none" anchor="ctr"/>
          <a:lstStyle/>
          <a:p>
            <a:endParaRPr lang="zh-CN" altLang="en-US"/>
          </a:p>
        </p:txBody>
      </p:sp>
      <p:grpSp>
        <p:nvGrpSpPr>
          <p:cNvPr id="39941" name="Group 5"/>
          <p:cNvGrpSpPr/>
          <p:nvPr/>
        </p:nvGrpSpPr>
        <p:grpSpPr bwMode="auto">
          <a:xfrm>
            <a:off x="1127443" y="2606358"/>
            <a:ext cx="3522662" cy="3725862"/>
            <a:chOff x="2220" y="1449"/>
            <a:chExt cx="4070" cy="4081"/>
          </a:xfrm>
        </p:grpSpPr>
        <p:pic>
          <p:nvPicPr>
            <p:cNvPr id="6" name="Picture 6" descr="fig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0" y="1461"/>
              <a:ext cx="3839" cy="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8" name="Line 7"/>
            <p:cNvSpPr>
              <a:spLocks noChangeShapeType="1"/>
            </p:cNvSpPr>
            <p:nvPr/>
          </p:nvSpPr>
          <p:spPr bwMode="auto">
            <a:xfrm>
              <a:off x="2220" y="1449"/>
              <a:ext cx="407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9" name="Line 8"/>
            <p:cNvSpPr>
              <a:spLocks noChangeShapeType="1"/>
            </p:cNvSpPr>
            <p:nvPr/>
          </p:nvSpPr>
          <p:spPr bwMode="auto">
            <a:xfrm>
              <a:off x="2220" y="1449"/>
              <a:ext cx="1" cy="40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9942" name="Text Box 9"/>
          <p:cNvSpPr txBox="1">
            <a:spLocks noChangeArrowheads="1"/>
          </p:cNvSpPr>
          <p:nvPr/>
        </p:nvSpPr>
        <p:spPr bwMode="auto">
          <a:xfrm>
            <a:off x="4327843" y="2122170"/>
            <a:ext cx="476250" cy="45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6301" tIns="43151" rIns="86301" bIns="43151"/>
          <a:lstStyle>
            <a:lvl1pPr defTabSz="863600">
              <a:defRPr>
                <a:solidFill>
                  <a:schemeClr val="tx1"/>
                </a:solidFill>
                <a:latin typeface="Arial" panose="020B0604020202020204" pitchFamily="34" charset="0"/>
                <a:ea typeface="Gungsuh" pitchFamily="18" charset="-127"/>
              </a:defRPr>
            </a:lvl1pPr>
            <a:lvl2pPr marL="742950" indent="-285750" defTabSz="863600">
              <a:defRPr>
                <a:solidFill>
                  <a:schemeClr val="tx1"/>
                </a:solidFill>
                <a:latin typeface="Arial" panose="020B0604020202020204" pitchFamily="34" charset="0"/>
                <a:ea typeface="Gungsuh" pitchFamily="18" charset="-127"/>
              </a:defRPr>
            </a:lvl2pPr>
            <a:lvl3pPr marL="1143000" indent="-228600" defTabSz="863600">
              <a:defRPr>
                <a:solidFill>
                  <a:schemeClr val="tx1"/>
                </a:solidFill>
                <a:latin typeface="Arial" panose="020B0604020202020204" pitchFamily="34" charset="0"/>
                <a:ea typeface="Gungsuh" pitchFamily="18" charset="-127"/>
              </a:defRPr>
            </a:lvl3pPr>
            <a:lvl4pPr marL="1600200" indent="-228600" defTabSz="863600">
              <a:defRPr>
                <a:solidFill>
                  <a:schemeClr val="tx1"/>
                </a:solidFill>
                <a:latin typeface="Arial" panose="020B0604020202020204" pitchFamily="34" charset="0"/>
                <a:ea typeface="Gungsuh" pitchFamily="18" charset="-127"/>
              </a:defRPr>
            </a:lvl4pPr>
            <a:lvl5pPr marL="2057400" indent="-228600" defTabSz="863600">
              <a:defRPr>
                <a:solidFill>
                  <a:schemeClr val="tx1"/>
                </a:solidFill>
                <a:latin typeface="Arial" panose="020B0604020202020204" pitchFamily="34" charset="0"/>
                <a:ea typeface="Gungsuh" pitchFamily="18" charset="-127"/>
              </a:defRPr>
            </a:lvl5pPr>
            <a:lvl6pPr marL="25146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r>
              <a:rPr kumimoji="1" lang="en-US" altLang="zh-CN" sz="2300" i="1">
                <a:latin typeface="Times New Roman" panose="02020603050405020304" pitchFamily="18" charset="0"/>
                <a:ea typeface="宋体" panose="02010600030101010101" pitchFamily="2" charset="-122"/>
              </a:rPr>
              <a:t>x</a:t>
            </a:r>
            <a:endParaRPr kumimoji="1" lang="en-US" altLang="zh-CN" sz="2300" b="1">
              <a:latin typeface="Times New Roman" panose="02020603050405020304" pitchFamily="18" charset="0"/>
              <a:ea typeface="宋体" panose="02010600030101010101" pitchFamily="2" charset="-122"/>
            </a:endParaRPr>
          </a:p>
        </p:txBody>
      </p:sp>
      <p:sp>
        <p:nvSpPr>
          <p:cNvPr id="39944" name="Text Box 11"/>
          <p:cNvSpPr txBox="1">
            <a:spLocks noChangeArrowheads="1"/>
          </p:cNvSpPr>
          <p:nvPr/>
        </p:nvSpPr>
        <p:spPr bwMode="auto">
          <a:xfrm>
            <a:off x="1046480" y="2266633"/>
            <a:ext cx="46355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301" tIns="43151" rIns="86301" bIns="43151"/>
          <a:lstStyle>
            <a:lvl1pPr defTabSz="863600">
              <a:defRPr>
                <a:solidFill>
                  <a:schemeClr val="tx1"/>
                </a:solidFill>
                <a:latin typeface="Arial" panose="020B0604020202020204" pitchFamily="34" charset="0"/>
                <a:ea typeface="Gungsuh" pitchFamily="18" charset="-127"/>
              </a:defRPr>
            </a:lvl1pPr>
            <a:lvl2pPr marL="742950" indent="-285750" defTabSz="863600">
              <a:defRPr>
                <a:solidFill>
                  <a:schemeClr val="tx1"/>
                </a:solidFill>
                <a:latin typeface="Arial" panose="020B0604020202020204" pitchFamily="34" charset="0"/>
                <a:ea typeface="Gungsuh" pitchFamily="18" charset="-127"/>
              </a:defRPr>
            </a:lvl2pPr>
            <a:lvl3pPr marL="1143000" indent="-228600" defTabSz="863600">
              <a:defRPr>
                <a:solidFill>
                  <a:schemeClr val="tx1"/>
                </a:solidFill>
                <a:latin typeface="Arial" panose="020B0604020202020204" pitchFamily="34" charset="0"/>
                <a:ea typeface="Gungsuh" pitchFamily="18" charset="-127"/>
              </a:defRPr>
            </a:lvl3pPr>
            <a:lvl4pPr marL="1600200" indent="-228600" defTabSz="863600">
              <a:defRPr>
                <a:solidFill>
                  <a:schemeClr val="tx1"/>
                </a:solidFill>
                <a:latin typeface="Arial" panose="020B0604020202020204" pitchFamily="34" charset="0"/>
                <a:ea typeface="Gungsuh" pitchFamily="18" charset="-127"/>
              </a:defRPr>
            </a:lvl4pPr>
            <a:lvl5pPr marL="2057400" indent="-228600" defTabSz="863600">
              <a:defRPr>
                <a:solidFill>
                  <a:schemeClr val="tx1"/>
                </a:solidFill>
                <a:latin typeface="Arial" panose="020B0604020202020204" pitchFamily="34" charset="0"/>
                <a:ea typeface="Gungsuh" pitchFamily="18" charset="-127"/>
              </a:defRPr>
            </a:lvl5pPr>
            <a:lvl6pPr marL="25146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r>
              <a:rPr kumimoji="1" lang="en-US" altLang="zh-CN" sz="1500" i="1">
                <a:latin typeface="Times New Roman" panose="02020603050405020304" pitchFamily="18" charset="0"/>
                <a:ea typeface="宋体" panose="02010600030101010101" pitchFamily="2" charset="-122"/>
              </a:rPr>
              <a:t>0</a:t>
            </a:r>
            <a:endParaRPr kumimoji="1" lang="en-US" altLang="zh-CN" sz="1500" b="1">
              <a:latin typeface="Times New Roman" panose="02020603050405020304" pitchFamily="18" charset="0"/>
              <a:ea typeface="宋体" panose="02010600030101010101" pitchFamily="2" charset="-122"/>
            </a:endParaRPr>
          </a:p>
        </p:txBody>
      </p:sp>
      <p:sp>
        <p:nvSpPr>
          <p:cNvPr id="39945" name="Text Box 12"/>
          <p:cNvSpPr txBox="1">
            <a:spLocks noChangeArrowheads="1"/>
          </p:cNvSpPr>
          <p:nvPr/>
        </p:nvSpPr>
        <p:spPr bwMode="auto">
          <a:xfrm>
            <a:off x="2303780" y="2141220"/>
            <a:ext cx="10461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301" tIns="43151" rIns="86301" bIns="43151"/>
          <a:lstStyle>
            <a:lvl1pPr defTabSz="863600">
              <a:defRPr>
                <a:solidFill>
                  <a:schemeClr val="tx1"/>
                </a:solidFill>
                <a:latin typeface="Arial" panose="020B0604020202020204" pitchFamily="34" charset="0"/>
                <a:ea typeface="Gungsuh" pitchFamily="18" charset="-127"/>
              </a:defRPr>
            </a:lvl1pPr>
            <a:lvl2pPr marL="742950" indent="-285750" defTabSz="863600">
              <a:defRPr>
                <a:solidFill>
                  <a:schemeClr val="tx1"/>
                </a:solidFill>
                <a:latin typeface="Arial" panose="020B0604020202020204" pitchFamily="34" charset="0"/>
                <a:ea typeface="Gungsuh" pitchFamily="18" charset="-127"/>
              </a:defRPr>
            </a:lvl2pPr>
            <a:lvl3pPr marL="1143000" indent="-228600" defTabSz="863600">
              <a:defRPr>
                <a:solidFill>
                  <a:schemeClr val="tx1"/>
                </a:solidFill>
                <a:latin typeface="Arial" panose="020B0604020202020204" pitchFamily="34" charset="0"/>
                <a:ea typeface="Gungsuh" pitchFamily="18" charset="-127"/>
              </a:defRPr>
            </a:lvl3pPr>
            <a:lvl4pPr marL="1600200" indent="-228600" defTabSz="863600">
              <a:defRPr>
                <a:solidFill>
                  <a:schemeClr val="tx1"/>
                </a:solidFill>
                <a:latin typeface="Arial" panose="020B0604020202020204" pitchFamily="34" charset="0"/>
                <a:ea typeface="Gungsuh" pitchFamily="18" charset="-127"/>
              </a:defRPr>
            </a:lvl4pPr>
            <a:lvl5pPr marL="2057400" indent="-228600" defTabSz="863600">
              <a:defRPr>
                <a:solidFill>
                  <a:schemeClr val="tx1"/>
                </a:solidFill>
                <a:latin typeface="Arial" panose="020B0604020202020204" pitchFamily="34" charset="0"/>
                <a:ea typeface="Gungsuh" pitchFamily="18" charset="-127"/>
              </a:defRPr>
            </a:lvl5pPr>
            <a:lvl6pPr marL="25146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r>
              <a:rPr kumimoji="1" lang="en-US" altLang="zh-CN" sz="2300" i="1">
                <a:latin typeface="Times New Roman" panose="02020603050405020304" pitchFamily="18" charset="0"/>
                <a:ea typeface="宋体" panose="02010600030101010101" pitchFamily="2" charset="-122"/>
              </a:rPr>
              <a:t>g (x,y)</a:t>
            </a:r>
            <a:endParaRPr kumimoji="1" lang="en-US" altLang="zh-CN" sz="2300" b="1">
              <a:latin typeface="Times New Roman" panose="02020603050405020304" pitchFamily="18" charset="0"/>
              <a:ea typeface="宋体" panose="02010600030101010101" pitchFamily="2" charset="-122"/>
            </a:endParaRPr>
          </a:p>
        </p:txBody>
      </p:sp>
      <p:sp>
        <p:nvSpPr>
          <p:cNvPr id="39943" name="Text Box 10"/>
          <p:cNvSpPr txBox="1">
            <a:spLocks noChangeArrowheads="1"/>
          </p:cNvSpPr>
          <p:nvPr/>
        </p:nvSpPr>
        <p:spPr bwMode="auto">
          <a:xfrm>
            <a:off x="1128078" y="6121400"/>
            <a:ext cx="476250" cy="45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6301" tIns="43151" rIns="86301" bIns="43151"/>
          <a:lstStyle>
            <a:lvl1pPr defTabSz="863600">
              <a:defRPr>
                <a:solidFill>
                  <a:schemeClr val="tx1"/>
                </a:solidFill>
                <a:latin typeface="Arial" panose="020B0604020202020204" pitchFamily="34" charset="0"/>
                <a:ea typeface="Gungsuh" pitchFamily="18" charset="-127"/>
              </a:defRPr>
            </a:lvl1pPr>
            <a:lvl2pPr marL="742950" indent="-285750" defTabSz="863600">
              <a:defRPr>
                <a:solidFill>
                  <a:schemeClr val="tx1"/>
                </a:solidFill>
                <a:latin typeface="Arial" panose="020B0604020202020204" pitchFamily="34" charset="0"/>
                <a:ea typeface="Gungsuh" pitchFamily="18" charset="-127"/>
              </a:defRPr>
            </a:lvl2pPr>
            <a:lvl3pPr marL="1143000" indent="-228600" defTabSz="863600">
              <a:defRPr>
                <a:solidFill>
                  <a:schemeClr val="tx1"/>
                </a:solidFill>
                <a:latin typeface="Arial" panose="020B0604020202020204" pitchFamily="34" charset="0"/>
                <a:ea typeface="Gungsuh" pitchFamily="18" charset="-127"/>
              </a:defRPr>
            </a:lvl3pPr>
            <a:lvl4pPr marL="1600200" indent="-228600" defTabSz="863600">
              <a:defRPr>
                <a:solidFill>
                  <a:schemeClr val="tx1"/>
                </a:solidFill>
                <a:latin typeface="Arial" panose="020B0604020202020204" pitchFamily="34" charset="0"/>
                <a:ea typeface="Gungsuh" pitchFamily="18" charset="-127"/>
              </a:defRPr>
            </a:lvl4pPr>
            <a:lvl5pPr marL="2057400" indent="-228600" defTabSz="863600">
              <a:defRPr>
                <a:solidFill>
                  <a:schemeClr val="tx1"/>
                </a:solidFill>
                <a:latin typeface="Arial" panose="020B0604020202020204" pitchFamily="34" charset="0"/>
                <a:ea typeface="Gungsuh" pitchFamily="18" charset="-127"/>
              </a:defRPr>
            </a:lvl5pPr>
            <a:lvl6pPr marL="25146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defTabSz="863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r>
              <a:rPr kumimoji="1" lang="en-US" altLang="zh-CN" sz="2300" i="1">
                <a:latin typeface="Times New Roman" panose="02020603050405020304" pitchFamily="18" charset="0"/>
                <a:ea typeface="宋体" panose="02010600030101010101" pitchFamily="2" charset="-122"/>
              </a:rPr>
              <a:t>y</a:t>
            </a:r>
            <a:endParaRPr kumimoji="1" lang="en-US" altLang="zh-CN" sz="23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数字图像的描述</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069975" y="2124710"/>
            <a:ext cx="6797675" cy="368300"/>
          </a:xfrm>
          <a:prstGeom prst="rect">
            <a:avLst/>
          </a:prstGeom>
          <a:noFill/>
        </p:spPr>
        <p:txBody>
          <a:bodyPr wrap="square" rtlCol="0">
            <a:spAutoFit/>
          </a:bodyPr>
          <a:p>
            <a:r>
              <a:rPr lang="zh-CN" b="1"/>
              <a:t>彩色图像</a:t>
            </a:r>
            <a:endParaRPr lang="zh-CN" b="1"/>
          </a:p>
        </p:txBody>
      </p:sp>
      <p:sp>
        <p:nvSpPr>
          <p:cNvPr id="4" name="文本框 3"/>
          <p:cNvSpPr txBox="1"/>
          <p:nvPr/>
        </p:nvSpPr>
        <p:spPr>
          <a:xfrm>
            <a:off x="1069975" y="2493010"/>
            <a:ext cx="4615815" cy="2084070"/>
          </a:xfrm>
          <a:prstGeom prst="rect">
            <a:avLst/>
          </a:prstGeom>
          <a:noFill/>
        </p:spPr>
        <p:txBody>
          <a:bodyPr wrap="square" rtlCol="0">
            <a:spAutoFit/>
          </a:bodyPr>
          <a:p>
            <a:pPr marL="0" indent="720090" algn="just" eaLnBrk="1" hangingPunct="1">
              <a:lnSpc>
                <a:spcPct val="130000"/>
              </a:lnSpc>
              <a:buFontTx/>
              <a:buNone/>
              <a:defRPr/>
            </a:pPr>
            <a:r>
              <a:rPr lang="zh-CN" altLang="en-US" dirty="0">
                <a:sym typeface="+mn-ea"/>
              </a:rPr>
              <a:t>彩色图像是指每个像素的信息由</a:t>
            </a:r>
            <a:r>
              <a:rPr lang="en-US" altLang="zh-CN" dirty="0">
                <a:sym typeface="+mn-ea"/>
              </a:rPr>
              <a:t>RGB</a:t>
            </a:r>
            <a:r>
              <a:rPr lang="zh-CN" altLang="en-US" dirty="0">
                <a:sym typeface="+mn-ea"/>
              </a:rPr>
              <a:t>三原色构成的图像，其中</a:t>
            </a:r>
            <a:r>
              <a:rPr lang="en-US" altLang="zh-CN" dirty="0">
                <a:sym typeface="+mn-ea"/>
              </a:rPr>
              <a:t>RBG</a:t>
            </a:r>
            <a:r>
              <a:rPr lang="zh-CN" altLang="en-US" dirty="0">
                <a:sym typeface="+mn-ea"/>
              </a:rPr>
              <a:t>是由不同的灰度级来描述的。</a:t>
            </a:r>
            <a:endParaRPr lang="zh-CN" altLang="en-US" dirty="0"/>
          </a:p>
          <a:p>
            <a:pPr marL="0" indent="720090" algn="just" eaLnBrk="1" hangingPunct="1">
              <a:lnSpc>
                <a:spcPct val="130000"/>
              </a:lnSpc>
              <a:buFontTx/>
              <a:buNone/>
              <a:defRPr/>
            </a:pPr>
            <a:endParaRPr lang="zh-CN" altLang="en-US" dirty="0"/>
          </a:p>
          <a:p>
            <a:pPr eaLnBrk="1" hangingPunct="1">
              <a:buFontTx/>
              <a:buNone/>
              <a:defRPr/>
            </a:pPr>
            <a:endParaRPr lang="zh-CN" altLang="en-US" dirty="0"/>
          </a:p>
          <a:p>
            <a:endParaRPr lang="zh-CN" altLang="en-US"/>
          </a:p>
        </p:txBody>
      </p:sp>
      <p:sp>
        <p:nvSpPr>
          <p:cNvPr id="219154" name="AutoShape 18"/>
          <p:cNvSpPr>
            <a:spLocks noChangeArrowheads="1"/>
          </p:cNvSpPr>
          <p:nvPr/>
        </p:nvSpPr>
        <p:spPr bwMode="auto">
          <a:xfrm>
            <a:off x="3077845" y="4462780"/>
            <a:ext cx="914400" cy="685800"/>
          </a:xfrm>
          <a:prstGeom prst="rightArrow">
            <a:avLst>
              <a:gd name="adj1" fmla="val 50000"/>
              <a:gd name="adj2" fmla="val 33333"/>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nvGrpSpPr>
          <p:cNvPr id="9" name="Group 6"/>
          <p:cNvGrpSpPr/>
          <p:nvPr/>
        </p:nvGrpSpPr>
        <p:grpSpPr bwMode="auto">
          <a:xfrm>
            <a:off x="946150" y="4196080"/>
            <a:ext cx="1371600" cy="1219200"/>
            <a:chOff x="1152" y="1344"/>
            <a:chExt cx="864" cy="768"/>
          </a:xfrm>
        </p:grpSpPr>
        <p:grpSp>
          <p:nvGrpSpPr>
            <p:cNvPr id="41991" name="Group 7"/>
            <p:cNvGrpSpPr/>
            <p:nvPr/>
          </p:nvGrpSpPr>
          <p:grpSpPr bwMode="auto">
            <a:xfrm>
              <a:off x="1152" y="1344"/>
              <a:ext cx="864" cy="768"/>
              <a:chOff x="1824" y="1392"/>
              <a:chExt cx="864" cy="768"/>
            </a:xfrm>
          </p:grpSpPr>
          <p:sp>
            <p:nvSpPr>
              <p:cNvPr id="41998" name="Rectangle 8"/>
              <p:cNvSpPr>
                <a:spLocks noChangeArrowheads="1"/>
              </p:cNvSpPr>
              <p:nvPr/>
            </p:nvSpPr>
            <p:spPr bwMode="auto">
              <a:xfrm>
                <a:off x="1824" y="1392"/>
                <a:ext cx="864" cy="768"/>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1999" name="Line 9"/>
              <p:cNvSpPr>
                <a:spLocks noChangeShapeType="1"/>
              </p:cNvSpPr>
              <p:nvPr/>
            </p:nvSpPr>
            <p:spPr bwMode="auto">
              <a:xfrm>
                <a:off x="1824" y="1632"/>
                <a:ext cx="86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0" name="Line 10"/>
              <p:cNvSpPr>
                <a:spLocks noChangeShapeType="1"/>
              </p:cNvSpPr>
              <p:nvPr/>
            </p:nvSpPr>
            <p:spPr bwMode="auto">
              <a:xfrm>
                <a:off x="1824" y="1920"/>
                <a:ext cx="86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1" name="Line 11"/>
              <p:cNvSpPr>
                <a:spLocks noChangeShapeType="1"/>
              </p:cNvSpPr>
              <p:nvPr/>
            </p:nvSpPr>
            <p:spPr bwMode="auto">
              <a:xfrm>
                <a:off x="2112" y="1392"/>
                <a:ext cx="0" cy="76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2" name="Line 12"/>
              <p:cNvSpPr>
                <a:spLocks noChangeShapeType="1"/>
              </p:cNvSpPr>
              <p:nvPr/>
            </p:nvSpPr>
            <p:spPr bwMode="auto">
              <a:xfrm>
                <a:off x="2400" y="1392"/>
                <a:ext cx="0" cy="76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3" name="Rectangle 13"/>
              <p:cNvSpPr>
                <a:spLocks noChangeArrowheads="1"/>
              </p:cNvSpPr>
              <p:nvPr/>
            </p:nvSpPr>
            <p:spPr bwMode="auto">
              <a:xfrm>
                <a:off x="1824" y="1392"/>
                <a:ext cx="288" cy="240"/>
              </a:xfrm>
              <a:prstGeom prst="rect">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2004" name="Rectangle 14"/>
              <p:cNvSpPr>
                <a:spLocks noChangeArrowheads="1"/>
              </p:cNvSpPr>
              <p:nvPr/>
            </p:nvSpPr>
            <p:spPr bwMode="auto">
              <a:xfrm>
                <a:off x="2112" y="1632"/>
                <a:ext cx="288" cy="288"/>
              </a:xfrm>
              <a:prstGeom prst="rect">
                <a:avLst/>
              </a:prstGeom>
              <a:solidFill>
                <a:srgbClr val="00FF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2005" name="Rectangle 15"/>
              <p:cNvSpPr>
                <a:spLocks noChangeArrowheads="1"/>
              </p:cNvSpPr>
              <p:nvPr/>
            </p:nvSpPr>
            <p:spPr bwMode="auto">
              <a:xfrm>
                <a:off x="2400" y="1920"/>
                <a:ext cx="288" cy="240"/>
              </a:xfrm>
              <a:prstGeom prst="rect">
                <a:avLst/>
              </a:prstGeom>
              <a:solidFill>
                <a:srgbClr val="0000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41992" name="Rectangle 16"/>
            <p:cNvSpPr>
              <a:spLocks noChangeArrowheads="1"/>
            </p:cNvSpPr>
            <p:nvPr/>
          </p:nvSpPr>
          <p:spPr bwMode="auto">
            <a:xfrm>
              <a:off x="1152" y="1584"/>
              <a:ext cx="288" cy="288"/>
            </a:xfrm>
            <a:prstGeom prst="rect">
              <a:avLst/>
            </a:prstGeom>
            <a:solidFill>
              <a:srgbClr val="FFFF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1993" name="Rectangle 17"/>
            <p:cNvSpPr>
              <a:spLocks noChangeArrowheads="1"/>
            </p:cNvSpPr>
            <p:nvPr/>
          </p:nvSpPr>
          <p:spPr bwMode="auto">
            <a:xfrm>
              <a:off x="1152" y="1872"/>
              <a:ext cx="288" cy="240"/>
            </a:xfrm>
            <a:prstGeom prst="rect">
              <a:avLst/>
            </a:prstGeom>
            <a:solidFill>
              <a:srgbClr val="FF00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1994" name="Rectangle 18"/>
            <p:cNvSpPr>
              <a:spLocks noChangeArrowheads="1"/>
            </p:cNvSpPr>
            <p:nvPr/>
          </p:nvSpPr>
          <p:spPr bwMode="auto">
            <a:xfrm>
              <a:off x="1440" y="1872"/>
              <a:ext cx="288" cy="240"/>
            </a:xfrm>
            <a:prstGeom prst="rect">
              <a:avLst/>
            </a:prstGeom>
            <a:solidFill>
              <a:srgbClr val="00FF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1995" name="Rectangle 19"/>
            <p:cNvSpPr>
              <a:spLocks noChangeArrowheads="1"/>
            </p:cNvSpPr>
            <p:nvPr/>
          </p:nvSpPr>
          <p:spPr bwMode="auto">
            <a:xfrm>
              <a:off x="1440" y="1344"/>
              <a:ext cx="288" cy="240"/>
            </a:xfrm>
            <a:prstGeom prst="rect">
              <a:avLst/>
            </a:prstGeom>
            <a:solidFill>
              <a:srgbClr val="DCA05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1996" name="Rectangle 20"/>
            <p:cNvSpPr>
              <a:spLocks noChangeArrowheads="1"/>
            </p:cNvSpPr>
            <p:nvPr/>
          </p:nvSpPr>
          <p:spPr bwMode="auto">
            <a:xfrm>
              <a:off x="1728" y="1344"/>
              <a:ext cx="288" cy="240"/>
            </a:xfrm>
            <a:prstGeom prst="rect">
              <a:avLst/>
            </a:prstGeom>
            <a:solidFill>
              <a:srgbClr val="F050A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1997" name="Rectangle 21"/>
            <p:cNvSpPr>
              <a:spLocks noChangeArrowheads="1"/>
            </p:cNvSpPr>
            <p:nvPr/>
          </p:nvSpPr>
          <p:spPr bwMode="auto">
            <a:xfrm>
              <a:off x="1728" y="1584"/>
              <a:ext cx="288" cy="288"/>
            </a:xfrm>
            <a:prstGeom prst="rect">
              <a:avLst/>
            </a:prstGeom>
            <a:solidFill>
              <a:srgbClr val="50A0F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graphicFrame>
        <p:nvGraphicFramePr>
          <p:cNvPr id="224258" name="Object 2"/>
          <p:cNvGraphicFramePr>
            <a:graphicFrameLocks noGrp="1" noChangeAspect="1"/>
          </p:cNvGraphicFramePr>
          <p:nvPr>
            <p:ph type="body" idx="1"/>
          </p:nvPr>
        </p:nvGraphicFramePr>
        <p:xfrm>
          <a:off x="4657408" y="4155758"/>
          <a:ext cx="2117725" cy="1241425"/>
        </p:xfrm>
        <a:graphic>
          <a:graphicData uri="http://schemas.openxmlformats.org/presentationml/2006/ole">
            <mc:AlternateContent xmlns:mc="http://schemas.openxmlformats.org/markup-compatibility/2006">
              <mc:Choice xmlns:v="urn:schemas-microsoft-com:vml" Requires="v">
                <p:oleObj spid="_x0000_s42210" name="公式" r:id="rId3" imgW="1397000" imgH="711200" progId="Equation.3">
                  <p:embed/>
                </p:oleObj>
              </mc:Choice>
              <mc:Fallback>
                <p:oleObj name="公式" r:id="rId3" imgW="1397000" imgH="711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7408" y="4155758"/>
                        <a:ext cx="2117725" cy="1241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59" name="Object 3"/>
          <p:cNvGraphicFramePr>
            <a:graphicFrameLocks noChangeAspect="1"/>
          </p:cNvGraphicFramePr>
          <p:nvPr/>
        </p:nvGraphicFramePr>
        <p:xfrm>
          <a:off x="7084695" y="4071620"/>
          <a:ext cx="2328863" cy="1185863"/>
        </p:xfrm>
        <a:graphic>
          <a:graphicData uri="http://schemas.openxmlformats.org/presentationml/2006/ole">
            <mc:AlternateContent xmlns:mc="http://schemas.openxmlformats.org/markup-compatibility/2006">
              <mc:Choice xmlns:v="urn:schemas-microsoft-com:vml" Requires="v">
                <p:oleObj spid="_x0000_s42211" name="公式" r:id="rId5" imgW="1397000" imgH="711200" progId="Equation.3">
                  <p:embed/>
                </p:oleObj>
              </mc:Choice>
              <mc:Fallback>
                <p:oleObj name="公式" r:id="rId5" imgW="1397000" imgH="711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4695" y="4071620"/>
                        <a:ext cx="2328863"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0" name="Object 4"/>
          <p:cNvGraphicFramePr>
            <a:graphicFrameLocks noChangeAspect="1"/>
          </p:cNvGraphicFramePr>
          <p:nvPr/>
        </p:nvGraphicFramePr>
        <p:xfrm>
          <a:off x="9610408" y="4071620"/>
          <a:ext cx="2328862" cy="1185863"/>
        </p:xfrm>
        <a:graphic>
          <a:graphicData uri="http://schemas.openxmlformats.org/presentationml/2006/ole">
            <mc:AlternateContent xmlns:mc="http://schemas.openxmlformats.org/markup-compatibility/2006">
              <mc:Choice xmlns:v="urn:schemas-microsoft-com:vml" Requires="v">
                <p:oleObj spid="_x0000_s42212" name="公式" r:id="rId7" imgW="1397000" imgH="711200" progId="Equation.3">
                  <p:embed/>
                </p:oleObj>
              </mc:Choice>
              <mc:Fallback>
                <p:oleObj name="公式" r:id="rId7" imgW="1397000" imgH="711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10408" y="4071620"/>
                        <a:ext cx="2328862"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chemeClr val="bg1"/>
                </a:solidFill>
                <a:latin typeface="微软雅黑" panose="020B0503020204020204" charset="-122"/>
                <a:ea typeface="微软雅黑" panose="020B0503020204020204" charset="-122"/>
                <a:sym typeface="+mn-ea"/>
              </a:rPr>
              <a:t>OpenCV</a:t>
            </a:r>
            <a:r>
              <a:rPr lang="zh-CN" altLang="en-US" sz="3200" b="1" dirty="0" smtClean="0">
                <a:solidFill>
                  <a:schemeClr val="bg1"/>
                </a:solidFill>
                <a:latin typeface="微软雅黑" panose="020B0503020204020204" charset="-122"/>
                <a:ea typeface="微软雅黑" panose="020B0503020204020204" charset="-122"/>
                <a:sym typeface="+mn-ea"/>
              </a:rPr>
              <a:t>基础</a:t>
            </a:r>
            <a:endParaRPr lang="zh-CN" altLang="en-US"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796925" y="1854200"/>
            <a:ext cx="8422005" cy="2030095"/>
          </a:xfrm>
          <a:prstGeom prst="rect">
            <a:avLst/>
          </a:prstGeom>
          <a:noFill/>
        </p:spPr>
        <p:txBody>
          <a:bodyPr wrap="square" rtlCol="0">
            <a:spAutoFit/>
          </a:bodyPr>
          <a:p>
            <a:r>
              <a:rPr lang="zh-CN" altLang="en-US"/>
              <a:t>在</a:t>
            </a:r>
            <a:r>
              <a:rPr lang="en-US" altLang="zh-CN"/>
              <a:t>Opencv</a:t>
            </a:r>
            <a:r>
              <a:rPr lang="zh-CN" altLang="en-US"/>
              <a:t>中，图像被定义为矩阵</a:t>
            </a:r>
            <a:r>
              <a:rPr lang="en-US" altLang="zh-CN"/>
              <a:t>(cv::Mat)</a:t>
            </a:r>
            <a:endParaRPr lang="en-US" altLang="zh-CN"/>
          </a:p>
          <a:p>
            <a:r>
              <a:rPr lang="zh-CN" altLang="en-US"/>
              <a:t>不同量化、不同通道的图像有不同的类型，最常见的有</a:t>
            </a:r>
            <a:r>
              <a:rPr lang="en-US" altLang="zh-CN"/>
              <a:t>:</a:t>
            </a:r>
            <a:endParaRPr lang="zh-CN" altLang="en-US"/>
          </a:p>
          <a:p>
            <a:endParaRPr lang="zh-CN" altLang="en-US"/>
          </a:p>
          <a:p>
            <a:r>
              <a:rPr lang="zh-CN" altLang="en-US"/>
              <a:t>灰度图</a:t>
            </a:r>
            <a:r>
              <a:rPr lang="en-US" altLang="zh-CN"/>
              <a:t>:CV_8UC1            (8 bit unsigned, 1 channel)</a:t>
            </a:r>
            <a:endParaRPr lang="en-US" altLang="zh-CN"/>
          </a:p>
          <a:p>
            <a:r>
              <a:rPr lang="zh-CN" altLang="en-US"/>
              <a:t>彩色图像</a:t>
            </a:r>
            <a:r>
              <a:rPr lang="en-US" altLang="zh-CN"/>
              <a:t>:CV_8UC3         (8 bit unsigned, 3 channel)</a:t>
            </a:r>
            <a:endParaRPr lang="en-US" altLang="zh-CN"/>
          </a:p>
          <a:p>
            <a:endParaRPr lang="en-US" altLang="zh-CN"/>
          </a:p>
          <a:p>
            <a:r>
              <a:rPr lang="zh-CN" altLang="en-US"/>
              <a:t>灰</a:t>
            </a:r>
            <a:r>
              <a:rPr lang="zh-CN" altLang="en-US">
                <a:sym typeface="+mn-ea"/>
              </a:rPr>
              <a:t>度</a:t>
            </a:r>
            <a:r>
              <a:rPr lang="zh-CN" altLang="en-US"/>
              <a:t>图有时在工业相机中编码方式被称为</a:t>
            </a:r>
            <a:r>
              <a:rPr lang="en-US" altLang="zh-CN"/>
              <a:t>Mono8</a:t>
            </a:r>
            <a:r>
              <a:rPr lang="zh-CN" altLang="en-US"/>
              <a:t>，彩色图像默认顺序为</a:t>
            </a:r>
            <a:r>
              <a:rPr lang="en-US" altLang="zh-CN"/>
              <a:t>BGR.</a:t>
            </a:r>
            <a:endParaRPr lang="en-US" altLang="zh-CN"/>
          </a:p>
        </p:txBody>
      </p:sp>
      <p:sp>
        <p:nvSpPr>
          <p:cNvPr id="4" name="文本框 3"/>
          <p:cNvSpPr txBox="1"/>
          <p:nvPr/>
        </p:nvSpPr>
        <p:spPr>
          <a:xfrm>
            <a:off x="878205" y="4204335"/>
            <a:ext cx="10893425" cy="1207770"/>
          </a:xfrm>
          <a:prstGeom prst="rect">
            <a:avLst/>
          </a:prstGeom>
          <a:noFill/>
        </p:spPr>
        <p:txBody>
          <a:bodyPr wrap="square" rtlCol="0">
            <a:noAutofit/>
          </a:bodyPr>
          <a:p>
            <a:r>
              <a:rPr lang="zh-CN" altLang="en-US"/>
              <a:t>一些工具函数</a:t>
            </a:r>
            <a:r>
              <a:rPr lang="en-US" altLang="zh-CN"/>
              <a:t>:</a:t>
            </a:r>
            <a:endParaRPr lang="en-US" altLang="zh-CN"/>
          </a:p>
          <a:p>
            <a:pPr algn="l">
              <a:buClrTx/>
              <a:buSzTx/>
              <a:buFontTx/>
            </a:pPr>
            <a:r>
              <a:rPr lang="en-US" altLang="zh-CN" sz="1600">
                <a:latin typeface="Consolas" panose="020B0609020204030204"/>
                <a:ea typeface="Consolas" panose="020B0609020204030204"/>
              </a:rPr>
              <a:t>cv::Mat cv::imread(const cv::String &amp;filename, int flags = 1)</a:t>
            </a:r>
            <a:endParaRPr lang="en-US" altLang="zh-CN" sz="1600">
              <a:latin typeface="Consolas" panose="020B0609020204030204"/>
              <a:ea typeface="Consolas" panose="020B0609020204030204"/>
            </a:endParaRPr>
          </a:p>
          <a:p>
            <a:pPr algn="l">
              <a:buClrTx/>
              <a:buSzTx/>
              <a:buFontTx/>
            </a:pPr>
            <a:r>
              <a:rPr lang="en-US" altLang="zh-CN" sz="1600">
                <a:latin typeface="Consolas" panose="020B0609020204030204"/>
                <a:ea typeface="Consolas" panose="020B0609020204030204"/>
              </a:rPr>
              <a:t>void cv::imshow(const cv::String &amp;winname, cv::InputArray mat);</a:t>
            </a:r>
            <a:endParaRPr lang="en-US" altLang="zh-CN" sz="1600">
              <a:latin typeface="Consolas" panose="020B0609020204030204"/>
              <a:ea typeface="Consolas" panose="020B0609020204030204"/>
            </a:endParaRPr>
          </a:p>
          <a:p>
            <a:pPr algn="l">
              <a:buClrTx/>
              <a:buSzTx/>
              <a:buFontTx/>
            </a:pPr>
            <a:r>
              <a:rPr lang="en-US" altLang="zh-CN" sz="1600">
                <a:latin typeface="Consolas" panose="020B0609020204030204"/>
                <a:ea typeface="Consolas" panose="020B0609020204030204"/>
              </a:rPr>
              <a:t>bool cv::imwrite(const cv::String &amp;filename, cv::InputArray img, ...);</a:t>
            </a:r>
            <a:endParaRPr lang="en-US" altLang="zh-CN" sz="1600">
              <a:latin typeface="Consolas" panose="020B0609020204030204"/>
              <a:ea typeface="Consolas" panose="020B0609020204030204"/>
            </a:endParaRPr>
          </a:p>
          <a:p>
            <a:endParaRPr lang="en-US" altLang="zh-CN"/>
          </a:p>
          <a:p>
            <a:pPr algn="l">
              <a:buClrTx/>
              <a:buSzTx/>
              <a:buFontTx/>
            </a:pPr>
            <a:endParaRPr lang="zh-CN" altLang="en-US"/>
          </a:p>
        </p:txBody>
      </p:sp>
      <p:sp>
        <p:nvSpPr>
          <p:cNvPr id="10" name="文本框 9"/>
          <p:cNvSpPr txBox="1"/>
          <p:nvPr/>
        </p:nvSpPr>
        <p:spPr>
          <a:xfrm>
            <a:off x="878205" y="5455285"/>
            <a:ext cx="8312150" cy="967740"/>
          </a:xfrm>
          <a:prstGeom prst="rect">
            <a:avLst/>
          </a:prstGeom>
        </p:spPr>
        <p:txBody>
          <a:bodyPr>
            <a:noAutofit/>
          </a:bodyPr>
          <a:p>
            <a:pPr marL="0" indent="0"/>
            <a:r>
              <a:rPr lang="en-US" altLang="zh-CN" sz="1600" b="0" i="0">
                <a:solidFill>
                  <a:schemeClr val="tx1"/>
                </a:solidFill>
                <a:latin typeface="Consolas" panose="020B0609020204030204"/>
                <a:ea typeface="Consolas" panose="020B0609020204030204"/>
              </a:rPr>
              <a:t>//cv::Mat</a:t>
            </a:r>
            <a:r>
              <a:rPr lang="zh-CN" altLang="en-US" sz="1600" b="0" i="0">
                <a:solidFill>
                  <a:schemeClr val="tx1"/>
                </a:solidFill>
                <a:latin typeface="Consolas" panose="020B0609020204030204"/>
                <a:ea typeface="宋体" panose="02010600030101010101" pitchFamily="2" charset="-122"/>
              </a:rPr>
              <a:t>类的工具函数</a:t>
            </a:r>
            <a:endParaRPr lang="en-US" altLang="zh-CN" sz="1600" b="0" i="0">
              <a:solidFill>
                <a:schemeClr val="tx1"/>
              </a:solidFill>
              <a:latin typeface="Consolas" panose="020B0609020204030204"/>
              <a:ea typeface="Consolas" panose="020B0609020204030204"/>
            </a:endParaRPr>
          </a:p>
          <a:p>
            <a:pPr marL="0" indent="0"/>
            <a:r>
              <a:rPr lang="en-US" altLang="zh-CN" sz="1600" b="0" i="0">
                <a:solidFill>
                  <a:schemeClr val="tx1"/>
                </a:solidFill>
                <a:latin typeface="Consolas" panose="020B0609020204030204"/>
                <a:ea typeface="Consolas" panose="020B0609020204030204"/>
              </a:rPr>
              <a:t>bool cv::Mat::empty() const;</a:t>
            </a:r>
            <a:endParaRPr lang="en-US" altLang="zh-CN" sz="1600" b="0" i="0">
              <a:solidFill>
                <a:schemeClr val="tx1"/>
              </a:solidFill>
              <a:latin typeface="Consolas" panose="020B0609020204030204"/>
              <a:ea typeface="Consolas" panose="020B0609020204030204"/>
            </a:endParaRPr>
          </a:p>
          <a:p>
            <a:pPr marL="0" indent="0"/>
            <a:r>
              <a:rPr lang="en-US" altLang="zh-CN" sz="1600" b="0" i="0">
                <a:solidFill>
                  <a:schemeClr val="tx1"/>
                </a:solidFill>
                <a:latin typeface="Consolas" panose="020B0609020204030204"/>
                <a:ea typeface="Consolas" panose="020B0609020204030204"/>
              </a:rPr>
              <a:t>void cv::Mat::copyTo(cv::OutputArray m) const;</a:t>
            </a:r>
            <a:endParaRPr lang="en-US" altLang="zh-CN" sz="1600" b="0" i="0">
              <a:solidFill>
                <a:schemeClr val="tx1"/>
              </a:solidFill>
              <a:latin typeface="Consolas" panose="020B0609020204030204"/>
              <a:ea typeface="Consolas" panose="020B0609020204030204"/>
            </a:endParaRPr>
          </a:p>
          <a:p>
            <a:pPr marL="0" indent="0"/>
            <a:r>
              <a:rPr lang="en-US" altLang="zh-CN" sz="1600" b="0" i="0">
                <a:solidFill>
                  <a:schemeClr val="tx1"/>
                </a:solidFill>
                <a:latin typeface="Consolas" panose="020B0609020204030204"/>
                <a:ea typeface="Consolas" panose="020B0609020204030204"/>
              </a:rPr>
              <a:t>cv::Mat cv::Mat::clone() const;</a:t>
            </a:r>
            <a:endParaRPr lang="en-US" altLang="zh-CN" sz="1600" b="0" i="0">
              <a:solidFill>
                <a:schemeClr val="tx1"/>
              </a:solidFill>
              <a:latin typeface="Consolas" panose="020B0609020204030204"/>
              <a:ea typeface="Consolas" panose="020B0609020204030204"/>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rgbClr val="FFC000"/>
                </a:solidFill>
                <a:latin typeface="微软雅黑" panose="020B0503020204020204" charset="-122"/>
                <a:ea typeface="微软雅黑" panose="020B0503020204020204" charset="-122"/>
                <a:sym typeface="+mn-ea"/>
              </a:rPr>
              <a:t>OpenCV: </a:t>
            </a:r>
            <a:r>
              <a:rPr lang="zh-CN" altLang="en-US" sz="3200" b="1" dirty="0" smtClean="0">
                <a:solidFill>
                  <a:srgbClr val="FFC000"/>
                </a:solidFill>
                <a:latin typeface="微软雅黑" panose="020B0503020204020204" charset="-122"/>
                <a:ea typeface="微软雅黑" panose="020B0503020204020204" charset="-122"/>
                <a:sym typeface="+mn-ea"/>
              </a:rPr>
              <a:t>读写图像</a:t>
            </a:r>
            <a:endParaRPr lang="zh-CN" altLang="en-US" sz="3200" b="1" dirty="0" smtClean="0">
              <a:solidFill>
                <a:srgbClr val="FFC000"/>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212215" y="2545080"/>
            <a:ext cx="8621395" cy="2030095"/>
          </a:xfrm>
          <a:prstGeom prst="rect">
            <a:avLst/>
          </a:prstGeom>
          <a:noFill/>
        </p:spPr>
        <p:txBody>
          <a:bodyPr wrap="square" rtlCol="0">
            <a:spAutoFit/>
          </a:bodyPr>
          <a:p>
            <a:r>
              <a:rPr lang="zh-CN" altLang="en-US"/>
              <a:t>现在，请你使用</a:t>
            </a:r>
            <a:r>
              <a:rPr lang="en-US" altLang="zh-CN"/>
              <a:t>opencv</a:t>
            </a:r>
            <a:r>
              <a:rPr lang="zh-CN" altLang="en-US"/>
              <a:t>，进行以下基本操作</a:t>
            </a:r>
            <a:r>
              <a:rPr lang="en-US" altLang="zh-CN"/>
              <a:t>:</a:t>
            </a:r>
            <a:endParaRPr lang="en-US" altLang="zh-CN"/>
          </a:p>
          <a:p>
            <a:endParaRPr lang="en-US" altLang="zh-CN"/>
          </a:p>
          <a:p>
            <a:r>
              <a:rPr lang="en-US" altLang="zh-CN"/>
              <a:t>1.</a:t>
            </a:r>
            <a:r>
              <a:rPr lang="zh-CN" altLang="en-US"/>
              <a:t>将</a:t>
            </a:r>
            <a:r>
              <a:rPr lang="en-US" altLang="zh-CN"/>
              <a:t>.jpg/.png/.jpeg</a:t>
            </a:r>
            <a:r>
              <a:rPr lang="zh-CN" altLang="en-US"/>
              <a:t>的图像读取为</a:t>
            </a:r>
            <a:r>
              <a:rPr lang="en-US" altLang="zh-CN"/>
              <a:t>cv::Mat</a:t>
            </a:r>
            <a:r>
              <a:rPr lang="zh-CN" altLang="en-US"/>
              <a:t>格式</a:t>
            </a:r>
            <a:endParaRPr lang="zh-CN" altLang="en-US"/>
          </a:p>
          <a:p>
            <a:endParaRPr lang="en-US" altLang="zh-CN"/>
          </a:p>
          <a:p>
            <a:r>
              <a:rPr lang="en-US" altLang="zh-CN"/>
              <a:t>2.</a:t>
            </a:r>
            <a:r>
              <a:rPr lang="zh-CN" altLang="en-US"/>
              <a:t>基于</a:t>
            </a:r>
            <a:r>
              <a:rPr lang="en-US" altLang="zh-CN"/>
              <a:t>opencv</a:t>
            </a:r>
            <a:r>
              <a:rPr lang="zh-CN" altLang="en-US"/>
              <a:t>，从</a:t>
            </a:r>
            <a:r>
              <a:rPr lang="en-US" altLang="zh-CN"/>
              <a:t>cv::Mat</a:t>
            </a:r>
            <a:r>
              <a:rPr lang="zh-CN" altLang="en-US"/>
              <a:t>展示这张图像</a:t>
            </a:r>
            <a:endParaRPr lang="zh-CN" altLang="en-US"/>
          </a:p>
          <a:p>
            <a:endParaRPr lang="en-US" altLang="zh-CN"/>
          </a:p>
          <a:p>
            <a:r>
              <a:rPr lang="en-US" altLang="zh-CN"/>
              <a:t>3.(</a:t>
            </a:r>
            <a:r>
              <a:rPr lang="zh-CN" altLang="en-US"/>
              <a:t>随便做点什么操作，也可以什么都不做</a:t>
            </a:r>
            <a:r>
              <a:rPr lang="en-US" altLang="zh-CN"/>
              <a:t>) </a:t>
            </a:r>
            <a:r>
              <a:rPr lang="zh-CN" altLang="en-US"/>
              <a:t>后从</a:t>
            </a:r>
            <a:r>
              <a:rPr lang="en-US" altLang="zh-CN"/>
              <a:t>cv::Mat</a:t>
            </a:r>
            <a:r>
              <a:rPr lang="zh-CN" altLang="en-US"/>
              <a:t>保存该图像为</a:t>
            </a:r>
            <a:r>
              <a:rPr lang="en-US" altLang="zh-CN"/>
              <a:t>.jpg/.png/.jpeg</a:t>
            </a:r>
            <a:endParaRPr lang="en-US" altLang="zh-CN"/>
          </a:p>
        </p:txBody>
      </p:sp>
      <p:sp>
        <p:nvSpPr>
          <p:cNvPr id="6" name="文本框 5"/>
          <p:cNvSpPr txBox="1"/>
          <p:nvPr/>
        </p:nvSpPr>
        <p:spPr>
          <a:xfrm>
            <a:off x="1130935" y="2015490"/>
            <a:ext cx="5413375" cy="368300"/>
          </a:xfrm>
          <a:prstGeom prst="rect">
            <a:avLst/>
          </a:prstGeom>
          <a:noFill/>
        </p:spPr>
        <p:txBody>
          <a:bodyPr wrap="square" rtlCol="0">
            <a:spAutoFit/>
          </a:bodyPr>
          <a:p>
            <a:r>
              <a:rPr lang="en-US" altLang="zh-CN" b="1"/>
              <a:t>lab1_1 </a:t>
            </a:r>
            <a:r>
              <a:rPr lang="zh-CN" altLang="en-US" b="1"/>
              <a:t>使用</a:t>
            </a:r>
            <a:r>
              <a:rPr lang="en-US" altLang="zh-CN" b="1"/>
              <a:t>opencv</a:t>
            </a:r>
            <a:r>
              <a:rPr lang="zh-CN" altLang="en-US" b="1"/>
              <a:t>读取</a:t>
            </a:r>
            <a:r>
              <a:rPr lang="en-US" altLang="zh-CN" b="1"/>
              <a:t>/</a:t>
            </a:r>
            <a:r>
              <a:rPr lang="zh-CN" altLang="en-US" b="1"/>
              <a:t>展示</a:t>
            </a:r>
            <a:r>
              <a:rPr lang="en-US" altLang="zh-CN" b="1"/>
              <a:t>/</a:t>
            </a:r>
            <a:r>
              <a:rPr lang="zh-CN" altLang="en-US" b="1"/>
              <a:t>写入图像</a:t>
            </a:r>
            <a:endParaRPr lang="zh-CN" altLang="en-US" b="1"/>
          </a:p>
        </p:txBody>
      </p:sp>
      <p:sp>
        <p:nvSpPr>
          <p:cNvPr id="9" name="文本框 8"/>
          <p:cNvSpPr txBox="1"/>
          <p:nvPr/>
        </p:nvSpPr>
        <p:spPr>
          <a:xfrm>
            <a:off x="781050" y="5146675"/>
            <a:ext cx="10629265" cy="368300"/>
          </a:xfrm>
          <a:prstGeom prst="rect">
            <a:avLst/>
          </a:prstGeom>
          <a:noFill/>
        </p:spPr>
        <p:txBody>
          <a:bodyPr wrap="square" rtlCol="0">
            <a:spAutoFit/>
          </a:bodyPr>
          <a:p>
            <a:r>
              <a:rPr lang="zh-CN" altLang="en-US" b="1"/>
              <a:t>请参考</a:t>
            </a:r>
            <a:r>
              <a:rPr lang="en-US" altLang="zh-CN" b="1"/>
              <a:t> https://github.com/FirmamentumX/AirHUST_Vision_Tutorial </a:t>
            </a:r>
            <a:r>
              <a:rPr lang="zh-CN" altLang="en-US" b="1"/>
              <a:t>的</a:t>
            </a:r>
            <a:r>
              <a:rPr lang="en-US" altLang="zh-CN" b="1"/>
              <a:t>lab1_1_read_write_images</a:t>
            </a:r>
            <a:r>
              <a:rPr lang="zh-CN" altLang="en-US" b="1"/>
              <a:t>分支</a:t>
            </a:r>
            <a:endParaRPr lang="zh-CN" altLang="en-US" b="1"/>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rgbClr val="FFC000"/>
                </a:solidFill>
                <a:latin typeface="微软雅黑" panose="020B0503020204020204" charset="-122"/>
                <a:ea typeface="微软雅黑" panose="020B0503020204020204" charset="-122"/>
                <a:sym typeface="+mn-ea"/>
              </a:rPr>
              <a:t>OpenCV: </a:t>
            </a:r>
            <a:r>
              <a:rPr lang="zh-CN" altLang="en-US" sz="3200" b="1" dirty="0" smtClean="0">
                <a:solidFill>
                  <a:srgbClr val="FFC000"/>
                </a:solidFill>
                <a:latin typeface="微软雅黑" panose="020B0503020204020204" charset="-122"/>
                <a:ea typeface="微软雅黑" panose="020B0503020204020204" charset="-122"/>
                <a:sym typeface="+mn-ea"/>
              </a:rPr>
              <a:t>操纵像素</a:t>
            </a:r>
            <a:endParaRPr lang="zh-CN" altLang="en-US" sz="3200" b="1" dirty="0" smtClean="0">
              <a:solidFill>
                <a:srgbClr val="FFC000"/>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216660" y="2625725"/>
            <a:ext cx="8621395" cy="645160"/>
          </a:xfrm>
          <a:prstGeom prst="rect">
            <a:avLst/>
          </a:prstGeom>
          <a:noFill/>
        </p:spPr>
        <p:txBody>
          <a:bodyPr wrap="square" rtlCol="0">
            <a:spAutoFit/>
          </a:bodyPr>
          <a:p>
            <a:r>
              <a:rPr lang="zh-CN" altLang="en-US"/>
              <a:t>现在，你拥有从二值图、灰度图或彩色图像导出的像素值文本文件（</a:t>
            </a:r>
            <a:r>
              <a:rPr lang="en-US" altLang="zh-CN"/>
              <a:t>.txt</a:t>
            </a:r>
            <a:r>
              <a:rPr lang="zh-CN" altLang="en-US"/>
              <a:t>），请你根据这些像素值将图像恢复出来。</a:t>
            </a:r>
            <a:endParaRPr lang="zh-CN" altLang="en-US"/>
          </a:p>
        </p:txBody>
      </p:sp>
      <p:sp>
        <p:nvSpPr>
          <p:cNvPr id="6" name="文本框 5"/>
          <p:cNvSpPr txBox="1"/>
          <p:nvPr/>
        </p:nvSpPr>
        <p:spPr>
          <a:xfrm>
            <a:off x="1130935" y="2015490"/>
            <a:ext cx="5413375" cy="368300"/>
          </a:xfrm>
          <a:prstGeom prst="rect">
            <a:avLst/>
          </a:prstGeom>
          <a:noFill/>
        </p:spPr>
        <p:txBody>
          <a:bodyPr wrap="square" rtlCol="0">
            <a:spAutoFit/>
          </a:bodyPr>
          <a:p>
            <a:r>
              <a:rPr lang="en-US" altLang="zh-CN" b="1"/>
              <a:t>lab1_2 </a:t>
            </a:r>
            <a:r>
              <a:rPr lang="zh-CN" b="1"/>
              <a:t>从像素值恢复图像</a:t>
            </a:r>
            <a:endParaRPr lang="zh-CN" b="1"/>
          </a:p>
        </p:txBody>
      </p:sp>
      <p:sp>
        <p:nvSpPr>
          <p:cNvPr id="9" name="文本框 8"/>
          <p:cNvSpPr txBox="1"/>
          <p:nvPr/>
        </p:nvSpPr>
        <p:spPr>
          <a:xfrm>
            <a:off x="781050" y="3833495"/>
            <a:ext cx="10629265" cy="645160"/>
          </a:xfrm>
          <a:prstGeom prst="rect">
            <a:avLst/>
          </a:prstGeom>
          <a:noFill/>
        </p:spPr>
        <p:txBody>
          <a:bodyPr wrap="square" rtlCol="0">
            <a:spAutoFit/>
          </a:bodyPr>
          <a:p>
            <a:r>
              <a:rPr lang="zh-CN" altLang="en-US" b="1"/>
              <a:t>请参考</a:t>
            </a:r>
            <a:r>
              <a:rPr lang="en-US" altLang="zh-CN" b="1"/>
              <a:t> https://github.com/FirmamentumX/AirHUST_Vision_Tutorial </a:t>
            </a:r>
            <a:r>
              <a:rPr lang="zh-CN" altLang="en-US" b="1"/>
              <a:t>的</a:t>
            </a:r>
            <a:r>
              <a:rPr lang="en-US" altLang="zh-CN" b="1"/>
              <a:t>lab1_2_from_pixels_to_images</a:t>
            </a:r>
            <a:r>
              <a:rPr lang="zh-CN" altLang="en-US" b="1"/>
              <a:t>分支</a:t>
            </a:r>
            <a:endParaRPr lang="zh-CN" altLang="en-US" b="1"/>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rgbClr val="FFC000"/>
                </a:solidFill>
                <a:latin typeface="微软雅黑" panose="020B0503020204020204" charset="-122"/>
                <a:ea typeface="微软雅黑" panose="020B0503020204020204" charset="-122"/>
                <a:sym typeface="+mn-ea"/>
              </a:rPr>
              <a:t>OpenCV: </a:t>
            </a:r>
            <a:r>
              <a:rPr lang="zh-CN" altLang="en-US" sz="3200" b="1" dirty="0" smtClean="0">
                <a:solidFill>
                  <a:srgbClr val="FFC000"/>
                </a:solidFill>
                <a:latin typeface="微软雅黑" panose="020B0503020204020204" charset="-122"/>
                <a:ea typeface="微软雅黑" panose="020B0503020204020204" charset="-122"/>
                <a:sym typeface="+mn-ea"/>
              </a:rPr>
              <a:t>调整通道</a:t>
            </a:r>
            <a:endParaRPr lang="zh-CN" altLang="en-US" sz="3200" b="1" dirty="0" smtClean="0">
              <a:solidFill>
                <a:srgbClr val="FFC000"/>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216660" y="2625725"/>
            <a:ext cx="8621395" cy="2030095"/>
          </a:xfrm>
          <a:prstGeom prst="rect">
            <a:avLst/>
          </a:prstGeom>
          <a:noFill/>
        </p:spPr>
        <p:txBody>
          <a:bodyPr wrap="square" rtlCol="0">
            <a:spAutoFit/>
          </a:bodyPr>
          <a:p>
            <a:r>
              <a:rPr lang="zh-CN" altLang="en-US"/>
              <a:t>现在，给出一张部分区域被调换了通道顺序的彩色图像</a:t>
            </a:r>
            <a:r>
              <a:rPr lang="en-US" altLang="zh-CN"/>
              <a:t>(processed_lena.jpg)</a:t>
            </a:r>
            <a:r>
              <a:rPr lang="zh-CN" altLang="en-US"/>
              <a:t>，请你完成以下操作：</a:t>
            </a:r>
            <a:endParaRPr lang="zh-CN" altLang="en-US"/>
          </a:p>
          <a:p>
            <a:endParaRPr lang="en-US" altLang="zh-CN"/>
          </a:p>
          <a:p>
            <a:r>
              <a:rPr lang="en-US" altLang="zh-CN"/>
              <a:t>1. </a:t>
            </a:r>
            <a:r>
              <a:rPr lang="zh-CN" altLang="en-US"/>
              <a:t>读取图像并分析其异常区域</a:t>
            </a:r>
            <a:endParaRPr lang="zh-CN" altLang="en-US"/>
          </a:p>
          <a:p>
            <a:r>
              <a:rPr lang="en-US" altLang="zh-CN"/>
              <a:t>2. </a:t>
            </a:r>
            <a:r>
              <a:rPr lang="zh-CN" altLang="en-US"/>
              <a:t>识别被调换的通道顺序（如</a:t>
            </a:r>
            <a:r>
              <a:rPr lang="en-US" altLang="zh-CN"/>
              <a:t>BGR</a:t>
            </a:r>
            <a:r>
              <a:rPr lang="zh-CN" altLang="en-US"/>
              <a:t>变为</a:t>
            </a:r>
            <a:r>
              <a:rPr lang="en-US" altLang="zh-CN"/>
              <a:t>RGB</a:t>
            </a:r>
            <a:r>
              <a:rPr lang="zh-CN" altLang="en-US"/>
              <a:t>、</a:t>
            </a:r>
            <a:r>
              <a:rPr lang="en-US" altLang="zh-CN"/>
              <a:t>BRG</a:t>
            </a:r>
            <a:r>
              <a:rPr lang="zh-CN" altLang="en-US"/>
              <a:t>等）</a:t>
            </a:r>
            <a:endParaRPr lang="zh-CN" altLang="en-US"/>
          </a:p>
          <a:p>
            <a:r>
              <a:rPr lang="en-US" altLang="zh-CN"/>
              <a:t>3. </a:t>
            </a:r>
            <a:r>
              <a:rPr lang="zh-CN" altLang="en-US"/>
              <a:t>恢复异常区域的通道顺序，使整张图像恢复正常显示</a:t>
            </a:r>
            <a:endParaRPr lang="zh-CN" altLang="en-US"/>
          </a:p>
          <a:p>
            <a:r>
              <a:rPr lang="en-US" altLang="zh-CN"/>
              <a:t>4. </a:t>
            </a:r>
            <a:r>
              <a:rPr lang="zh-CN" altLang="en-US"/>
              <a:t>验证恢复效果并保存修复后的图像</a:t>
            </a:r>
            <a:endParaRPr lang="zh-CN" altLang="en-US"/>
          </a:p>
        </p:txBody>
      </p:sp>
      <p:sp>
        <p:nvSpPr>
          <p:cNvPr id="6" name="文本框 5"/>
          <p:cNvSpPr txBox="1"/>
          <p:nvPr/>
        </p:nvSpPr>
        <p:spPr>
          <a:xfrm>
            <a:off x="1130935" y="2015490"/>
            <a:ext cx="5413375" cy="368300"/>
          </a:xfrm>
          <a:prstGeom prst="rect">
            <a:avLst/>
          </a:prstGeom>
          <a:noFill/>
        </p:spPr>
        <p:txBody>
          <a:bodyPr wrap="square" rtlCol="0">
            <a:spAutoFit/>
          </a:bodyPr>
          <a:p>
            <a:r>
              <a:rPr lang="en-US" altLang="zh-CN" b="1"/>
              <a:t>lab1_3 </a:t>
            </a:r>
            <a:r>
              <a:rPr lang="zh-CN" b="1"/>
              <a:t>修正部分区域通道错配的图像</a:t>
            </a:r>
            <a:endParaRPr lang="zh-CN" b="1"/>
          </a:p>
        </p:txBody>
      </p:sp>
      <p:sp>
        <p:nvSpPr>
          <p:cNvPr id="9" name="文本框 8"/>
          <p:cNvSpPr txBox="1"/>
          <p:nvPr/>
        </p:nvSpPr>
        <p:spPr>
          <a:xfrm>
            <a:off x="637540" y="5427345"/>
            <a:ext cx="10629265" cy="368300"/>
          </a:xfrm>
          <a:prstGeom prst="rect">
            <a:avLst/>
          </a:prstGeom>
          <a:noFill/>
        </p:spPr>
        <p:txBody>
          <a:bodyPr wrap="square" rtlCol="0">
            <a:spAutoFit/>
          </a:bodyPr>
          <a:p>
            <a:r>
              <a:rPr lang="zh-CN" altLang="en-US" b="1"/>
              <a:t>请参考</a:t>
            </a:r>
            <a:r>
              <a:rPr lang="en-US" altLang="zh-CN" b="1"/>
              <a:t> https://github.com/FirmamentumX/AirHUST_Vision_Tutorial </a:t>
            </a:r>
            <a:r>
              <a:rPr lang="zh-CN" altLang="en-US" b="1"/>
              <a:t>的</a:t>
            </a:r>
            <a:r>
              <a:rPr lang="en-US" altLang="zh-CN" b="1"/>
              <a:t>lab1_3_flipping_channels</a:t>
            </a:r>
            <a:r>
              <a:rPr lang="zh-CN" altLang="en-US" b="1"/>
              <a:t>分支</a:t>
            </a:r>
            <a:endParaRPr lang="zh-CN" altLang="en-US" b="1"/>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6" name="文本框 5"/>
          <p:cNvSpPr txBox="1"/>
          <p:nvPr/>
        </p:nvSpPr>
        <p:spPr>
          <a:xfrm>
            <a:off x="637540" y="2015490"/>
            <a:ext cx="5413375" cy="368300"/>
          </a:xfrm>
          <a:prstGeom prst="rect">
            <a:avLst/>
          </a:prstGeom>
          <a:noFill/>
        </p:spPr>
        <p:txBody>
          <a:bodyPr wrap="square" rtlCol="0">
            <a:spAutoFit/>
          </a:bodyPr>
          <a:p>
            <a:r>
              <a:rPr lang="zh-CN" b="1"/>
              <a:t>旋转变换</a:t>
            </a:r>
            <a:endParaRPr lang="zh-CN" b="1"/>
          </a:p>
        </p:txBody>
      </p:sp>
      <mc:AlternateContent xmlns:mc="http://schemas.openxmlformats.org/markup-compatibility/2006">
        <mc:Choice xmlns:a14="http://schemas.microsoft.com/office/drawing/2010/main" Requires="a14">
          <p:sp>
            <p:nvSpPr>
              <p:cNvPr id="3" name="文本框 2"/>
              <p:cNvSpPr txBox="1"/>
              <p:nvPr/>
            </p:nvSpPr>
            <p:spPr>
              <a:xfrm>
                <a:off x="908685" y="2383790"/>
                <a:ext cx="6096000" cy="645160"/>
              </a:xfrm>
              <a:prstGeom prst="rect">
                <a:avLst/>
              </a:prstGeom>
              <a:noFill/>
            </p:spPr>
            <p:txBody>
              <a:bodyPr wrap="square" rtlCol="0" anchor="t">
                <a:spAutoFit/>
              </a:bodyPr>
              <a:p>
                <a:pPr eaLnBrk="1" hangingPunct="1">
                  <a:spcBef>
                    <a:spcPct val="50000"/>
                  </a:spcBef>
                </a:pPr>
                <a:r>
                  <a:rPr lang="zh-CN" sz="1800">
                    <a:sym typeface="+mn-ea"/>
                  </a:rPr>
                  <a:t>将输入图像绕笛卡尔坐标系的原点逆时针旋转</a:t>
                </a:r>
                <a14:m>
                  <m:oMath xmlns:m="http://schemas.openxmlformats.org/officeDocument/2006/math">
                    <m:r>
                      <a:rPr lang="en-US" altLang="zh-CN" i="1">
                        <a:latin typeface="Cambria Math" panose="02040503050406030204" charset="0"/>
                        <a:cs typeface="Cambria Math" panose="02040503050406030204" charset="0"/>
                        <a:sym typeface="+mn-ea"/>
                      </a:rPr>
                      <m:t>𝜃</m:t>
                    </m:r>
                  </m:oMath>
                </a14:m>
                <a:r>
                  <a:rPr lang="zh-CN" sz="1800">
                    <a:sym typeface="+mn-ea"/>
                  </a:rPr>
                  <a:t>角度，则变换后图像坐标为：</a:t>
                </a:r>
                <a:endParaRPr kumimoji="1" lang="zh-CN" altLang="en-US" sz="2400">
                  <a:latin typeface="隶书" panose="02010509060101010101" pitchFamily="49" charset="-122"/>
                  <a:ea typeface="隶书" panose="02010509060101010101" pitchFamily="49" charset="-122"/>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908685" y="2383790"/>
                <a:ext cx="6096000" cy="645160"/>
              </a:xfrm>
              <a:prstGeom prst="rect">
                <a:avLst/>
              </a:prstGeom>
              <a:blipFill rotWithShape="1">
                <a:blip r:embed="rId3"/>
                <a:stretch>
                  <a:fillRect/>
                </a:stretch>
              </a:blipFill>
            </p:spPr>
            <p:txBody>
              <a:bodyPr/>
              <a:lstStyle/>
              <a:p>
                <a:r>
                  <a:rPr lang="zh-CN" altLang="en-US">
                    <a:noFill/>
                  </a:rPr>
                  <a:t> </a:t>
                </a:r>
              </a:p>
            </p:txBody>
          </p:sp>
        </mc:Fallback>
      </mc:AlternateContent>
      <p:pic>
        <p:nvPicPr>
          <p:cNvPr id="21" name="Picture 28"/>
          <p:cNvPicPr>
            <a:picLocks noChangeAspect="1" noChangeArrowheads="1"/>
          </p:cNvPicPr>
          <p:nvPr/>
        </p:nvPicPr>
        <p:blipFill>
          <a:blip r:embed="rId4">
            <a:extLst>
              <a:ext uri="{28A0092B-C50C-407E-A947-70E740481C1C}">
                <a14:useLocalDpi xmlns:a14="http://schemas.microsoft.com/office/drawing/2010/main" val="0"/>
              </a:ext>
            </a:extLst>
          </a:blip>
          <a:srcRect l="19579" t="7972" r="19579" b="7473"/>
          <a:stretch>
            <a:fillRect/>
          </a:stretch>
        </p:blipFill>
        <p:spPr bwMode="auto">
          <a:xfrm>
            <a:off x="6548755" y="2786380"/>
            <a:ext cx="2200275" cy="226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9"/>
          <p:cNvPicPr>
            <a:picLocks noChangeAspect="1" noChangeArrowheads="1"/>
          </p:cNvPicPr>
          <p:nvPr/>
        </p:nvPicPr>
        <p:blipFill>
          <a:blip r:embed="rId5">
            <a:extLst>
              <a:ext uri="{28A0092B-C50C-407E-A947-70E740481C1C}">
                <a14:useLocalDpi xmlns:a14="http://schemas.microsoft.com/office/drawing/2010/main" val="0"/>
              </a:ext>
            </a:extLst>
          </a:blip>
          <a:srcRect l="18083" t="8619" r="17931" b="8975"/>
          <a:stretch>
            <a:fillRect/>
          </a:stretch>
        </p:blipFill>
        <p:spPr bwMode="auto">
          <a:xfrm>
            <a:off x="9545955" y="2839720"/>
            <a:ext cx="213233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31"/>
          <p:cNvSpPr txBox="1">
            <a:spLocks noChangeArrowheads="1"/>
          </p:cNvSpPr>
          <p:nvPr/>
        </p:nvSpPr>
        <p:spPr bwMode="auto">
          <a:xfrm>
            <a:off x="6800411" y="5192553"/>
            <a:ext cx="5433060" cy="368300"/>
          </a:xfrm>
          <a:prstGeom prst="rect">
            <a:avLst/>
          </a:prstGeom>
          <a:noFill/>
          <a:ln w="9525">
            <a:noFill/>
            <a:miter lim="800000"/>
          </a:ln>
          <a:effectLst/>
        </p:spPr>
        <p:txBody>
          <a:bodyPr wrap="none">
            <a:spAutoFit/>
          </a:bodyPr>
          <a:lstStyle/>
          <a:p>
            <a:pPr eaLnBrk="1" hangingPunct="1">
              <a:spcBef>
                <a:spcPct val="50000"/>
              </a:spcBef>
              <a:defRPr/>
            </a:pPr>
            <a:r>
              <a:rPr kumimoji="1" lang="en-US" altLang="zh-CN"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(a) </a:t>
            </a:r>
            <a:r>
              <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原始图像                    </a:t>
            </a:r>
            <a:r>
              <a:rPr kumimoji="1" lang="en-US" altLang="zh-CN"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(b) </a:t>
            </a:r>
            <a:r>
              <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逆时针旋转</a:t>
            </a:r>
            <a:r>
              <a:rPr kumimoji="1" lang="en-US" altLang="zh-CN"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30</a:t>
            </a:r>
            <a:r>
              <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度后的图像</a:t>
            </a:r>
            <a:endPar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4" name="文本框 3"/>
              <p:cNvSpPr txBox="1"/>
              <p:nvPr/>
            </p:nvSpPr>
            <p:spPr>
              <a:xfrm>
                <a:off x="1221740" y="3299460"/>
                <a:ext cx="3333115" cy="60134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e>
                        </m:mr>
                        <m:mr>
                          <m:e>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e>
                        </m:mr>
                      </m:m>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e/>
                            </m:mr>
                            <m:mr>
                              <m:e/>
                              <m:e/>
                            </m:mr>
                          </m:m>
                        </m:e>
                      </m:d>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𝑥</m:t>
                            </m:r>
                          </m:e>
                        </m:mr>
                        <m:mr>
                          <m:e>
                            <m:r>
                              <a:rPr lang="en-US" altLang="zh-CN" i="1">
                                <a:latin typeface="Cambria Math" panose="02040503050406030204" charset="0"/>
                                <a:cs typeface="Cambria Math" panose="02040503050406030204" charset="0"/>
                              </a:rPr>
                              <m:t>𝑦</m:t>
                            </m:r>
                          </m:e>
                        </m:mr>
                      </m:m>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1221740" y="3299460"/>
                <a:ext cx="3333115" cy="601345"/>
              </a:xfrm>
              <a:prstGeom prst="rect">
                <a:avLst/>
              </a:prstGeom>
              <a:blipFill rotWithShape="1">
                <a:blip r:embed="rId6"/>
                <a:stretch>
                  <a:fillRect/>
                </a:stretch>
              </a:blipFill>
            </p:spPr>
            <p:txBody>
              <a:bodyPr/>
              <a:lstStyle/>
              <a:p>
                <a:r>
                  <a:rPr lang="zh-CN" altLang="en-US">
                    <a:noFill/>
                  </a:rPr>
                  <a:t> </a:t>
                </a:r>
              </a:p>
            </p:txBody>
          </p:sp>
        </mc:Fallback>
      </mc:AlternateContent>
      <p:sp>
        <p:nvSpPr>
          <p:cNvPr id="9" name="文本框 8"/>
          <p:cNvSpPr txBox="1"/>
          <p:nvPr/>
        </p:nvSpPr>
        <p:spPr>
          <a:xfrm>
            <a:off x="1703070" y="4610735"/>
            <a:ext cx="4185285" cy="368300"/>
          </a:xfrm>
          <a:prstGeom prst="rect">
            <a:avLst/>
          </a:prstGeom>
          <a:noFill/>
        </p:spPr>
        <p:txBody>
          <a:bodyPr wrap="square" rtlCol="0">
            <a:spAutoFit/>
          </a:bodyPr>
          <a:p>
            <a:r>
              <a:rPr lang="zh-CN" altLang="en-US"/>
              <a:t>写出旋转变换矩阵</a:t>
            </a:r>
            <a:endParaRPr lang="zh-CN"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6" name="文本框 5"/>
          <p:cNvSpPr txBox="1"/>
          <p:nvPr/>
        </p:nvSpPr>
        <p:spPr>
          <a:xfrm>
            <a:off x="637540" y="2015490"/>
            <a:ext cx="5413375" cy="368300"/>
          </a:xfrm>
          <a:prstGeom prst="rect">
            <a:avLst/>
          </a:prstGeom>
          <a:noFill/>
        </p:spPr>
        <p:txBody>
          <a:bodyPr wrap="square" rtlCol="0">
            <a:spAutoFit/>
          </a:bodyPr>
          <a:p>
            <a:r>
              <a:rPr lang="zh-CN" b="1"/>
              <a:t>旋转变换</a:t>
            </a:r>
            <a:endParaRPr lang="zh-CN" b="1"/>
          </a:p>
        </p:txBody>
      </p:sp>
      <mc:AlternateContent xmlns:mc="http://schemas.openxmlformats.org/markup-compatibility/2006">
        <mc:Choice xmlns:a14="http://schemas.microsoft.com/office/drawing/2010/main" Requires="a14">
          <p:sp>
            <p:nvSpPr>
              <p:cNvPr id="3" name="文本框 2"/>
              <p:cNvSpPr txBox="1"/>
              <p:nvPr/>
            </p:nvSpPr>
            <p:spPr>
              <a:xfrm>
                <a:off x="908685" y="2383790"/>
                <a:ext cx="6096000" cy="645160"/>
              </a:xfrm>
              <a:prstGeom prst="rect">
                <a:avLst/>
              </a:prstGeom>
              <a:noFill/>
            </p:spPr>
            <p:txBody>
              <a:bodyPr wrap="square" rtlCol="0" anchor="t">
                <a:spAutoFit/>
              </a:bodyPr>
              <a:p>
                <a:pPr eaLnBrk="1" hangingPunct="1">
                  <a:spcBef>
                    <a:spcPct val="50000"/>
                  </a:spcBef>
                </a:pPr>
                <a:r>
                  <a:rPr lang="zh-CN" sz="1800">
                    <a:sym typeface="+mn-ea"/>
                  </a:rPr>
                  <a:t>将输入图像绕笛卡尔坐标系的原点逆时针旋转</a:t>
                </a:r>
                <a14:m>
                  <m:oMath xmlns:m="http://schemas.openxmlformats.org/officeDocument/2006/math">
                    <m:r>
                      <a:rPr lang="en-US" altLang="zh-CN" i="1">
                        <a:latin typeface="Cambria Math" panose="02040503050406030204" charset="0"/>
                        <a:cs typeface="Cambria Math" panose="02040503050406030204" charset="0"/>
                        <a:sym typeface="+mn-ea"/>
                      </a:rPr>
                      <m:t>𝜃</m:t>
                    </m:r>
                  </m:oMath>
                </a14:m>
                <a:r>
                  <a:rPr lang="zh-CN" sz="1800">
                    <a:sym typeface="+mn-ea"/>
                  </a:rPr>
                  <a:t>角度，则变换后图像坐标为：</a:t>
                </a:r>
                <a:endParaRPr kumimoji="1" lang="zh-CN" altLang="en-US" sz="2400">
                  <a:latin typeface="隶书" panose="02010509060101010101" pitchFamily="49" charset="-122"/>
                  <a:ea typeface="隶书" panose="02010509060101010101" pitchFamily="49" charset="-122"/>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908685" y="2383790"/>
                <a:ext cx="6096000" cy="645160"/>
              </a:xfrm>
              <a:prstGeom prst="rect">
                <a:avLst/>
              </a:prstGeom>
              <a:blipFill rotWithShape="1">
                <a:blip r:embed="rId3"/>
                <a:stretch>
                  <a:fillRect/>
                </a:stretch>
              </a:blipFill>
            </p:spPr>
            <p:txBody>
              <a:bodyPr/>
              <a:lstStyle/>
              <a:p>
                <a:r>
                  <a:rPr lang="zh-CN" altLang="en-US">
                    <a:noFill/>
                  </a:rPr>
                  <a:t> </a:t>
                </a:r>
              </a:p>
            </p:txBody>
          </p:sp>
        </mc:Fallback>
      </mc:AlternateContent>
      <p:graphicFrame>
        <p:nvGraphicFramePr>
          <p:cNvPr id="37913" name="Object 26"/>
          <p:cNvGraphicFramePr>
            <a:graphicFrameLocks noChangeAspect="1"/>
          </p:cNvGraphicFramePr>
          <p:nvPr/>
        </p:nvGraphicFramePr>
        <p:xfrm>
          <a:off x="2554605" y="3028950"/>
          <a:ext cx="3255645" cy="871220"/>
        </p:xfrm>
        <a:graphic>
          <a:graphicData uri="http://schemas.openxmlformats.org/presentationml/2006/ole">
            <mc:AlternateContent xmlns:mc="http://schemas.openxmlformats.org/markup-compatibility/2006">
              <mc:Choice xmlns:v="urn:schemas-microsoft-com:vml" Requires="v">
                <p:oleObj spid="_x0000_s38012" name="Equation" r:id="rId4" imgW="40538400" imgH="10972800" progId="Equation.DSMT4">
                  <p:embed/>
                </p:oleObj>
              </mc:Choice>
              <mc:Fallback>
                <p:oleObj name="Equation" r:id="rId4" imgW="40538400" imgH="10972800" progId="Equation.DSMT4">
                  <p:embed/>
                  <p:pic>
                    <p:nvPicPr>
                      <p:cNvPr id="0" name="Object 26"/>
                      <p:cNvPicPr>
                        <a:picLocks noChangeAspect="1" noChangeArrowheads="1"/>
                      </p:cNvPicPr>
                      <p:nvPr/>
                    </p:nvPicPr>
                    <p:blipFill>
                      <a:blip r:embed="rId5"/>
                      <a:srcRect/>
                      <a:stretch>
                        <a:fillRect/>
                      </a:stretch>
                    </p:blipFill>
                    <p:spPr bwMode="auto">
                      <a:xfrm>
                        <a:off x="2554605" y="3028950"/>
                        <a:ext cx="3255645" cy="871220"/>
                      </a:xfrm>
                      <a:prstGeom prst="rect">
                        <a:avLst/>
                      </a:prstGeom>
                      <a:noFill/>
                      <a:ln>
                        <a:noFill/>
                      </a:ln>
                    </p:spPr>
                  </p:pic>
                </p:oleObj>
              </mc:Fallback>
            </mc:AlternateContent>
          </a:graphicData>
        </a:graphic>
      </p:graphicFrame>
      <mc:AlternateContent xmlns:mc="http://schemas.openxmlformats.org/markup-compatibility/2006">
        <mc:Choice xmlns:a14="http://schemas.microsoft.com/office/drawing/2010/main" Requires="a14">
          <p:sp>
            <p:nvSpPr>
              <p:cNvPr id="10" name="文本框 9"/>
              <p:cNvSpPr txBox="1"/>
              <p:nvPr/>
            </p:nvSpPr>
            <p:spPr>
              <a:xfrm>
                <a:off x="1765935" y="6057900"/>
                <a:ext cx="9534525" cy="368300"/>
              </a:xfrm>
              <a:prstGeom prst="rect">
                <a:avLst/>
              </a:prstGeom>
              <a:noFill/>
            </p:spPr>
            <p:txBody>
              <a:bodyPr wrap="square" rtlCol="0">
                <a:spAutoFit/>
              </a:bodyPr>
              <a:p>
                <a:r>
                  <a:rPr lang="zh-CN" altLang="en-US" b="1">
                    <a:highlight>
                      <a:srgbClr val="FFFF00"/>
                    </a:highlight>
                  </a:rPr>
                  <a:t>为什么和上一讲中构造的逆时针旋转变换矩阵相比，</a:t>
                </a:r>
                <a14:m>
                  <m:oMath xmlns:m="http://schemas.openxmlformats.org/officeDocument/2006/math">
                    <m:r>
                      <a:rPr lang="zh-CN" altLang="en-US" b="1">
                        <a:highlight>
                          <a:srgbClr val="FFFF00"/>
                        </a:highlight>
                        <a:latin typeface="Cambria Math" panose="02040503050406030204" charset="0"/>
                        <a:sym typeface="+mn-ea"/>
                      </a:rPr>
                      <m:t>𝜃</m:t>
                    </m:r>
                  </m:oMath>
                </a14:m>
                <a:r>
                  <a:rPr lang="zh-CN" altLang="en-US" b="1">
                    <a:highlight>
                      <a:srgbClr val="FFFF00"/>
                    </a:highlight>
                    <a:sym typeface="+mn-ea"/>
                  </a:rPr>
                  <a:t>正负是反的？</a:t>
                </a:r>
                <a:endParaRPr lang="zh-CN" altLang="en-US" b="1">
                  <a:highlight>
                    <a:srgbClr val="FFFF00"/>
                  </a:highlight>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1765935" y="6057900"/>
                <a:ext cx="9534525"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637540" y="4058920"/>
                <a:ext cx="6242050" cy="837565"/>
              </a:xfrm>
              <a:prstGeom prst="rect">
                <a:avLst/>
              </a:prstGeom>
              <a:noFill/>
            </p:spPr>
            <p:txBody>
              <a:bodyPr wrap="square" rtlCol="0">
                <a:spAutoFit/>
              </a:bodyPr>
              <a:p>
                <a:r>
                  <a:rPr lang="zh-CN" altLang="en-US"/>
                  <a:t>如果写成齐次化形式，则为</a:t>
                </a:r>
                <a:r>
                  <a:rPr lang="en-US" altLang="zh-CN"/>
                  <a:t>:</a:t>
                </a:r>
                <a:endParaRPr lang="en-US" altLang="zh-CN"/>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
                              </m:e>
                              <m:e>
                                <m:r>
                                  <a:rPr lang="en-US" altLang="zh-CN" i="1">
                                    <a:latin typeface="Cambria Math" panose="02040503050406030204" charset="0"/>
                                    <a:cs typeface="Cambria Math" panose="02040503050406030204" charset="0"/>
                                  </a:rPr>
                                  <m:t>0</m:t>
                                </m:r>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sym typeface="+mn-ea"/>
                                        </a:rPr>
                                        <m:t>𝑐𝑜𝑠</m:t>
                                      </m:r>
                                      <m:r>
                                        <a:rPr lang="en-US" altLang="zh-CN" i="1">
                                          <a:latin typeface="Cambria Math" panose="02040503050406030204" charset="0"/>
                                          <a:cs typeface="Cambria Math" panose="02040503050406030204" charset="0"/>
                                          <a:sym typeface="+mn-ea"/>
                                        </a:rPr>
                                        <m:t>𝜃</m:t>
                                      </m:r>
                                    </m:e>
                                  </m:mr>
                                </m:m>
                              </m:e>
                              <m:e>
                                <m:r>
                                  <a:rPr lang="en-US" altLang="zh-CN" i="1">
                                    <a:latin typeface="Cambria Math" panose="02040503050406030204" charset="0"/>
                                    <a:cs typeface="Cambria Math" panose="02040503050406030204" charset="0"/>
                                  </a:rPr>
                                  <m:t>0</m:t>
                                </m:r>
                              </m:e>
                            </m:mr>
                          </m:m>
                        </m:e>
                      </m:d>
                    </m:oMath>
                  </m:oMathPara>
                </a14:m>
                <a:endParaRPr lang="en-US" altLang="zh-CN"/>
              </a:p>
            </p:txBody>
          </p:sp>
        </mc:Choice>
        <mc:Fallback>
          <p:sp>
            <p:nvSpPr>
              <p:cNvPr id="15" name="文本框 14"/>
              <p:cNvSpPr txBox="1">
                <a:spLocks noRot="1" noChangeAspect="1" noMove="1" noResize="1" noEditPoints="1" noAdjustHandles="1" noChangeArrowheads="1" noChangeShapeType="1" noTextEdit="1"/>
              </p:cNvSpPr>
              <p:nvPr/>
            </p:nvSpPr>
            <p:spPr>
              <a:xfrm>
                <a:off x="637540" y="4058920"/>
                <a:ext cx="6242050" cy="837565"/>
              </a:xfrm>
              <a:prstGeom prst="rect">
                <a:avLst/>
              </a:prstGeom>
              <a:blipFill rotWithShape="1">
                <a:blip r:embed="rId7"/>
                <a:stretch>
                  <a:fillRect/>
                </a:stretch>
              </a:blipFill>
            </p:spPr>
            <p:txBody>
              <a:bodyPr/>
              <a:lstStyle/>
              <a:p>
                <a:r>
                  <a:rPr lang="zh-CN" altLang="en-US">
                    <a:noFill/>
                  </a:rPr>
                  <a:t> </a:t>
                </a:r>
              </a:p>
            </p:txBody>
          </p:sp>
        </mc:Fallback>
      </mc:AlternateContent>
      <p:pic>
        <p:nvPicPr>
          <p:cNvPr id="21" name="Picture 28"/>
          <p:cNvPicPr>
            <a:picLocks noChangeAspect="1" noChangeArrowheads="1"/>
          </p:cNvPicPr>
          <p:nvPr/>
        </p:nvPicPr>
        <p:blipFill>
          <a:blip r:embed="rId8">
            <a:extLst>
              <a:ext uri="{28A0092B-C50C-407E-A947-70E740481C1C}">
                <a14:useLocalDpi xmlns:a14="http://schemas.microsoft.com/office/drawing/2010/main" val="0"/>
              </a:ext>
            </a:extLst>
          </a:blip>
          <a:srcRect l="19579" t="7972" r="19579" b="7473"/>
          <a:stretch>
            <a:fillRect/>
          </a:stretch>
        </p:blipFill>
        <p:spPr bwMode="auto">
          <a:xfrm>
            <a:off x="6548755" y="2786380"/>
            <a:ext cx="2200275" cy="226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9"/>
          <p:cNvPicPr>
            <a:picLocks noChangeAspect="1" noChangeArrowheads="1"/>
          </p:cNvPicPr>
          <p:nvPr/>
        </p:nvPicPr>
        <p:blipFill>
          <a:blip r:embed="rId9">
            <a:extLst>
              <a:ext uri="{28A0092B-C50C-407E-A947-70E740481C1C}">
                <a14:useLocalDpi xmlns:a14="http://schemas.microsoft.com/office/drawing/2010/main" val="0"/>
              </a:ext>
            </a:extLst>
          </a:blip>
          <a:srcRect l="18083" t="8619" r="17931" b="8975"/>
          <a:stretch>
            <a:fillRect/>
          </a:stretch>
        </p:blipFill>
        <p:spPr bwMode="auto">
          <a:xfrm>
            <a:off x="9545955" y="2839720"/>
            <a:ext cx="213233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31"/>
          <p:cNvSpPr txBox="1">
            <a:spLocks noChangeArrowheads="1"/>
          </p:cNvSpPr>
          <p:nvPr/>
        </p:nvSpPr>
        <p:spPr bwMode="auto">
          <a:xfrm>
            <a:off x="6800411" y="5192553"/>
            <a:ext cx="5438140" cy="368300"/>
          </a:xfrm>
          <a:prstGeom prst="rect">
            <a:avLst/>
          </a:prstGeom>
          <a:noFill/>
          <a:ln w="9525">
            <a:noFill/>
            <a:miter lim="800000"/>
          </a:ln>
          <a:effectLst/>
        </p:spPr>
        <p:txBody>
          <a:bodyPr wrap="none">
            <a:spAutoFit/>
          </a:bodyPr>
          <a:lstStyle/>
          <a:p>
            <a:pPr eaLnBrk="1" hangingPunct="1">
              <a:spcBef>
                <a:spcPct val="50000"/>
              </a:spcBef>
              <a:defRPr/>
            </a:pPr>
            <a:r>
              <a:rPr kumimoji="1" lang="en-US" altLang="zh-CN"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(a) </a:t>
            </a:r>
            <a:r>
              <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原始图像    </a:t>
            </a:r>
            <a:r>
              <a:rPr kumimoji="1" lang="en-US" altLang="zh-CN"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(b) </a:t>
            </a:r>
            <a:r>
              <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绕中心点逆时针旋转</a:t>
            </a:r>
            <a:r>
              <a:rPr kumimoji="1" lang="en-US" altLang="zh-CN"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30</a:t>
            </a:r>
            <a:r>
              <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rPr>
              <a:t>度后的图像</a:t>
            </a:r>
            <a:endParaRPr kumimoji="1" lang="zh-CN" altLang="en-US" b="1">
              <a:solidFill>
                <a:srgbClr val="0066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4" name="文本框 23"/>
          <p:cNvSpPr txBox="1"/>
          <p:nvPr/>
        </p:nvSpPr>
        <p:spPr>
          <a:xfrm>
            <a:off x="637540" y="4951730"/>
            <a:ext cx="5704205" cy="922020"/>
          </a:xfrm>
          <a:prstGeom prst="rect">
            <a:avLst/>
          </a:prstGeom>
          <a:noFill/>
        </p:spPr>
        <p:txBody>
          <a:bodyPr wrap="square" rtlCol="0">
            <a:spAutoFit/>
          </a:bodyPr>
          <a:p>
            <a:r>
              <a:rPr lang="zh-CN" altLang="en-US"/>
              <a:t>对于刚体变换，第三行必定为</a:t>
            </a:r>
            <a:r>
              <a:rPr lang="en-US" altLang="zh-CN"/>
              <a:t>0,0,1</a:t>
            </a:r>
            <a:r>
              <a:rPr lang="zh-CN" altLang="en-US"/>
              <a:t>，因此在计算机视觉领域，我们直接省略此行，这种</a:t>
            </a:r>
            <a:r>
              <a:rPr lang="en-US" altLang="zh-CN"/>
              <a:t>2*3</a:t>
            </a:r>
            <a:r>
              <a:rPr lang="zh-CN" altLang="en-US"/>
              <a:t>矩阵被称为</a:t>
            </a:r>
            <a:r>
              <a:rPr lang="zh-CN" altLang="en-US" b="1"/>
              <a:t>仿射变换矩阵</a:t>
            </a:r>
            <a:endParaRPr lang="zh-CN" altLang="en-US" b="1"/>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8298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坐标系变换</a:t>
            </a:r>
            <a:r>
              <a:rPr lang="en-US" alt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 vs. </a:t>
            </a:r>
            <a:r>
              <a:rPr lang="zh-CN" altLang="en-US"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图像旋转</a:t>
            </a:r>
            <a:endParaRPr lang="zh-CN" altLang="en-US"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084580" y="1914525"/>
            <a:ext cx="6454775" cy="922020"/>
          </a:xfrm>
          <a:prstGeom prst="rect">
            <a:avLst/>
          </a:prstGeom>
          <a:noFill/>
        </p:spPr>
        <p:txBody>
          <a:bodyPr wrap="square" rtlCol="0">
            <a:spAutoFit/>
          </a:bodyPr>
          <a:p>
            <a:r>
              <a:rPr lang="zh-CN" altLang="en-US"/>
              <a:t>两种变换的关键区别：</a:t>
            </a:r>
            <a:endParaRPr lang="zh-CN" altLang="en-US"/>
          </a:p>
          <a:p>
            <a:r>
              <a:rPr lang="zh-CN" altLang="en-US"/>
              <a:t>坐标系变换：固定点，变换坐标系</a:t>
            </a:r>
            <a:endParaRPr lang="en-US" altLang="zh-CN"/>
          </a:p>
          <a:p>
            <a:r>
              <a:rPr lang="zh-CN" altLang="en-US"/>
              <a:t>图像旋转：固定坐标系，变换点</a:t>
            </a:r>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1568450" y="2896870"/>
                <a:ext cx="9399905" cy="1104900"/>
              </a:xfrm>
              <a:prstGeom prst="rect">
                <a:avLst/>
              </a:prstGeom>
              <a:noFill/>
            </p:spPr>
            <p:txBody>
              <a:bodyPr wrap="square" rtlCol="0">
                <a:spAutoFit/>
              </a:bodyPr>
              <a:p>
                <a:r>
                  <a:rPr lang="zh-CN" altLang="en-US" b="1"/>
                  <a:t>视角</a:t>
                </a:r>
                <a:r>
                  <a:rPr lang="en-US" altLang="zh-CN" b="1"/>
                  <a:t>A</a:t>
                </a:r>
                <a:r>
                  <a:rPr lang="zh-CN" altLang="en-US" b="1"/>
                  <a:t>：点变换（正向旋转）</a:t>
                </a:r>
                <a:endParaRPr lang="zh-CN" altLang="en-US" b="1"/>
              </a:p>
              <a:p>
                <a:r>
                  <a:rPr lang="zh-CN" altLang="en-US"/>
                  <a:t>在固定坐标系中，将图像上所有点绕原点逆时针旋转</a:t>
                </a:r>
                <a:r>
                  <a:rPr lang="en-US" altLang="zh-CN"/>
                  <a:t>θ</a:t>
                </a:r>
                <a:r>
                  <a:rPr lang="zh-CN" altLang="en-US"/>
                  <a:t>：</a:t>
                </a:r>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𝑅𝑝</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mr>
                          </m:m>
                        </m:e>
                      </m:d>
                    </m:oMath>
                  </m:oMathPara>
                </a14:m>
                <a:endParaRPr lang="zh-CN" altLang="en-US"/>
              </a:p>
            </p:txBody>
          </p:sp>
        </mc:Choice>
        <mc:Fallback>
          <p:sp>
            <p:nvSpPr>
              <p:cNvPr id="9" name="文本框 8"/>
              <p:cNvSpPr txBox="1">
                <a:spLocks noRot="1" noChangeAspect="1" noMove="1" noResize="1" noEditPoints="1" noAdjustHandles="1" noChangeArrowheads="1" noChangeShapeType="1" noTextEdit="1"/>
              </p:cNvSpPr>
              <p:nvPr/>
            </p:nvSpPr>
            <p:spPr>
              <a:xfrm>
                <a:off x="1568450" y="2896870"/>
                <a:ext cx="9399905" cy="11049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656080" y="4128135"/>
                <a:ext cx="9274175" cy="2243455"/>
              </a:xfrm>
              <a:prstGeom prst="rect">
                <a:avLst/>
              </a:prstGeom>
            </p:spPr>
            <p:txBody>
              <a:bodyPr wrap="square">
                <a:spAutoFit/>
              </a:bodyPr>
              <a:p>
                <a:pPr marL="0" algn="l">
                  <a:lnSpc>
                    <a:spcPct val="100000"/>
                  </a:lnSpc>
                  <a:spcBef>
                    <a:spcPts val="2400"/>
                  </a:spcBef>
                  <a:buClrTx/>
                  <a:buSzTx/>
                  <a:buNone/>
                </a:pPr>
                <a:r>
                  <a:rPr lang="zh-CN" altLang="en-US" sz="1800" b="1"/>
                  <a:t>视角B：坐标系变换（逆向旋转）</a:t>
                </a:r>
                <a:endParaRPr lang="zh-CN" altLang="en-US" sz="1800" b="1"/>
              </a:p>
              <a:p>
                <a:pPr marL="0" algn="l">
                  <a:spcBef>
                    <a:spcPts val="1200"/>
                  </a:spcBef>
                  <a:buClrTx/>
                  <a:buSzTx/>
                  <a:buNone/>
                </a:pPr>
                <a:r>
                  <a:rPr lang="zh-CN" altLang="en-US" sz="1800" b="0" i="0"/>
                  <a:t>如果将坐标系旋转θ，那么同一个点在两个坐标系中的坐标关系为：</a:t>
                </a:r>
                <a:endParaRPr lang="zh-CN" altLang="en-US" sz="1800" b="0" i="0"/>
              </a:p>
              <a:p>
                <a:pPr marL="0" algn="l">
                  <a:spcBef>
                    <a:spcPts val="1200"/>
                  </a:spcBef>
                  <a:buClrTx/>
                  <a:buSzTx/>
                  <a:buNone/>
                </a:pPr>
                <a14:m>
                  <m:oMathPara xmlns:m="http://schemas.openxmlformats.org/officeDocument/2006/math">
                    <m:oMathParaPr>
                      <m:jc m:val="centerGroup"/>
                    </m:oMathParaPr>
                    <m:oMath xmlns:m="http://schemas.openxmlformats.org/officeDocument/2006/math">
                      <m:sSub>
                        <m:sSubPr>
                          <m:ctrlPr>
                            <a:rPr lang="en-US" altLang="zh-CN" sz="1800" b="0" i="1">
                              <a:latin typeface="Cambria Math" panose="02040503050406030204" charset="0"/>
                              <a:cs typeface="Cambria Math" panose="02040503050406030204" charset="0"/>
                            </a:rPr>
                          </m:ctrlPr>
                        </m:sSubPr>
                        <m:e>
                          <m:r>
                            <a:rPr lang="en-US" altLang="zh-CN" sz="1800" b="0" i="1">
                              <a:latin typeface="Cambria Math" panose="02040503050406030204" charset="0"/>
                              <a:cs typeface="Cambria Math" panose="02040503050406030204" charset="0"/>
                            </a:rPr>
                            <m:t>𝑝</m:t>
                          </m:r>
                        </m:e>
                        <m:sub>
                          <m:r>
                            <a:rPr lang="en-US" altLang="zh-CN" sz="1800" b="0" i="1">
                              <a:latin typeface="Cambria Math" panose="02040503050406030204" charset="0"/>
                              <a:cs typeface="Cambria Math" panose="02040503050406030204" charset="0"/>
                            </a:rPr>
                            <m:t>𝑛𝑒𝑤</m:t>
                          </m:r>
                        </m:sub>
                      </m:sSub>
                      <m:r>
                        <a:rPr lang="en-US" altLang="zh-CN" sz="1800" b="0" i="1">
                          <a:latin typeface="Cambria Math" panose="02040503050406030204" charset="0"/>
                          <a:cs typeface="Cambria Math" panose="02040503050406030204" charset="0"/>
                        </a:rPr>
                        <m:t> = </m:t>
                      </m:r>
                      <m:sSup>
                        <m:sSupPr>
                          <m:ctrlPr>
                            <a:rPr lang="en-US" altLang="zh-CN" sz="1800" b="0" i="1">
                              <a:latin typeface="Cambria Math" panose="02040503050406030204" charset="0"/>
                              <a:cs typeface="Cambria Math" panose="02040503050406030204" charset="0"/>
                            </a:rPr>
                          </m:ctrlPr>
                        </m:sSupPr>
                        <m:e>
                          <m:r>
                            <a:rPr lang="en-US" altLang="zh-CN" sz="1800" b="0" i="1">
                              <a:latin typeface="Cambria Math" panose="02040503050406030204" charset="0"/>
                              <a:cs typeface="Cambria Math" panose="02040503050406030204" charset="0"/>
                            </a:rPr>
                            <m:t>𝑅</m:t>
                          </m:r>
                        </m:e>
                        <m:sup>
                          <m:r>
                            <a:rPr lang="en-US" altLang="zh-CN" sz="1800" b="0" i="1">
                              <a:latin typeface="Cambria Math" panose="02040503050406030204" charset="0"/>
                              <a:cs typeface="Cambria Math" panose="02040503050406030204" charset="0"/>
                            </a:rPr>
                            <m:t>−</m:t>
                          </m:r>
                          <m:r>
                            <a:rPr lang="en-US" altLang="zh-CN" sz="1800" b="0" i="1">
                              <a:latin typeface="Cambria Math" panose="02040503050406030204" charset="0"/>
                              <a:cs typeface="Cambria Math" panose="02040503050406030204" charset="0"/>
                            </a:rPr>
                            <m:t>1</m:t>
                          </m:r>
                        </m:sup>
                      </m:sSup>
                      <m:sSub>
                        <m:sSubPr>
                          <m:ctrlPr>
                            <a:rPr lang="en-US" altLang="zh-CN" sz="1800" b="0" i="1">
                              <a:latin typeface="Cambria Math" panose="02040503050406030204" charset="0"/>
                              <a:cs typeface="Cambria Math" panose="02040503050406030204" charset="0"/>
                            </a:rPr>
                          </m:ctrlPr>
                        </m:sSubPr>
                        <m:e>
                          <m:r>
                            <a:rPr lang="en-US" altLang="zh-CN" sz="1800" b="0" i="1">
                              <a:latin typeface="Cambria Math" panose="02040503050406030204" charset="0"/>
                              <a:cs typeface="Cambria Math" panose="02040503050406030204" charset="0"/>
                            </a:rPr>
                            <m:t>𝑝</m:t>
                          </m:r>
                        </m:e>
                        <m:sub>
                          <m:r>
                            <a:rPr lang="en-US" altLang="zh-CN" sz="1800" b="0" i="1">
                              <a:latin typeface="Cambria Math" panose="02040503050406030204" charset="0"/>
                              <a:cs typeface="Cambria Math" panose="02040503050406030204" charset="0"/>
                            </a:rPr>
                            <m:t>𝑜𝑙𝑑</m:t>
                          </m:r>
                        </m:sub>
                      </m:sSub>
                      <m:r>
                        <a:rPr lang="en-US" altLang="zh-CN" sz="1800" b="0" i="1">
                          <a:latin typeface="Cambria Math" panose="02040503050406030204" charset="0"/>
                          <a:cs typeface="Cambria Math" panose="02040503050406030204" charset="0"/>
                        </a:rPr>
                        <m:t> , </m:t>
                      </m:r>
                      <m:sSup>
                        <m:sSupPr>
                          <m:ctrlPr>
                            <a:rPr lang="en-US" altLang="zh-CN" sz="1800" b="0" i="1">
                              <a:latin typeface="Cambria Math" panose="02040503050406030204" charset="0"/>
                              <a:cs typeface="Cambria Math" panose="02040503050406030204" charset="0"/>
                            </a:rPr>
                          </m:ctrlPr>
                        </m:sSupPr>
                        <m:e>
                          <m:r>
                            <a:rPr lang="en-US" altLang="zh-CN" sz="1800" b="0" i="1">
                              <a:latin typeface="Cambria Math" panose="02040503050406030204" charset="0"/>
                              <a:cs typeface="Cambria Math" panose="02040503050406030204" charset="0"/>
                            </a:rPr>
                            <m:t>𝑅</m:t>
                          </m:r>
                        </m:e>
                        <m:sup>
                          <m:r>
                            <a:rPr lang="en-US" altLang="zh-CN" sz="1800" b="0" i="1">
                              <a:latin typeface="Cambria Math" panose="02040503050406030204" charset="0"/>
                              <a:cs typeface="Cambria Math" panose="02040503050406030204" charset="0"/>
                            </a:rPr>
                            <m:t>−</m:t>
                          </m:r>
                          <m:r>
                            <a:rPr lang="en-US" altLang="zh-CN" sz="1800" b="0" i="1">
                              <a:latin typeface="Cambria Math" panose="02040503050406030204" charset="0"/>
                              <a:cs typeface="Cambria Math" panose="02040503050406030204" charset="0"/>
                            </a:rPr>
                            <m:t>1</m:t>
                          </m:r>
                        </m:sup>
                      </m:sSup>
                      <m:r>
                        <a:rPr lang="en-US" altLang="zh-CN" sz="1800" b="0"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mr>
                          </m:m>
                        </m:e>
                      </m:d>
                    </m:oMath>
                  </m:oMathPara>
                </a14:m>
                <a:endParaRPr lang="en-US" altLang="zh-CN" i="1">
                  <a:latin typeface="Cambria Math" panose="02040503050406030204" charset="0"/>
                  <a:cs typeface="Cambria Math" panose="02040503050406030204" charset="0"/>
                  <a:sym typeface="+mn-ea"/>
                </a:endParaRPr>
              </a:p>
              <a:p>
                <a:pPr marL="0" algn="l">
                  <a:spcBef>
                    <a:spcPts val="1200"/>
                  </a:spcBef>
                  <a:buClrTx/>
                  <a:buSzTx/>
                  <a:buNone/>
                </a:pPr>
                <a:r>
                  <a:rPr lang="zh-CN" altLang="en-US"/>
                  <a:t>因为新坐标系相对于旧坐标系逆时针旋转了</a:t>
                </a:r>
                <a:r>
                  <a:rPr lang="en-US" altLang="zh-CN"/>
                  <a:t>θ</a:t>
                </a:r>
                <a:r>
                  <a:rPr lang="zh-CN" altLang="en-US"/>
                  <a:t>，所以点在旧坐标系的坐标需要顺时针旋转</a:t>
                </a:r>
                <a:r>
                  <a:rPr lang="en-US" altLang="zh-CN"/>
                  <a:t>θ</a:t>
                </a:r>
                <a:r>
                  <a:rPr lang="zh-CN" altLang="en-US"/>
                  <a:t>才能得到新坐标系的坐标。</a:t>
                </a:r>
                <a:endParaRPr lang="zh-CN" altLang="en-US"/>
              </a:p>
              <a:p>
                <a:pPr marL="0" algn="l">
                  <a:spcBef>
                    <a:spcPts val="1200"/>
                  </a:spcBef>
                  <a:buClrTx/>
                  <a:buSzTx/>
                  <a:buNone/>
                </a:pPr>
                <a14:m>
                  <m:oMathPara xmlns:m="http://schemas.openxmlformats.org/officeDocument/2006/math">
                    <m:oMathParaPr>
                      <m:jc m:val="centerGroup"/>
                    </m:oMathParaPr>
                    <m:oMath xmlns:m="http://schemas.openxmlformats.org/officeDocument/2006/math">
                      <m:r>
                        <a:rPr lang="en-US" altLang="zh-CN" sz="1800" b="0" i="1">
                          <a:latin typeface="Cambria Math" panose="02040503050406030204" charset="0"/>
                          <a:cs typeface="Cambria Math" panose="02040503050406030204" charset="0"/>
                        </a:rPr>
                        <m:t> </m:t>
                      </m:r>
                    </m:oMath>
                  </m:oMathPara>
                </a14:m>
                <a:endParaRPr lang="en-US" altLang="zh-CN" sz="1800" b="0" i="0"/>
              </a:p>
            </p:txBody>
          </p:sp>
        </mc:Choice>
        <mc:Fallback>
          <p:sp>
            <p:nvSpPr>
              <p:cNvPr id="11" name="文本框 10"/>
              <p:cNvSpPr txBox="1">
                <a:spLocks noRot="1" noChangeAspect="1" noMove="1" noResize="1" noEditPoints="1" noAdjustHandles="1" noChangeArrowheads="1" noChangeShapeType="1" noTextEdit="1"/>
              </p:cNvSpPr>
              <p:nvPr/>
            </p:nvSpPr>
            <p:spPr>
              <a:xfrm>
                <a:off x="1656080" y="4128135"/>
                <a:ext cx="9274175" cy="2243455"/>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pSp>
        <p:nvGrpSpPr>
          <p:cNvPr id="4" name="Group 4"/>
          <p:cNvGrpSpPr/>
          <p:nvPr/>
        </p:nvGrpSpPr>
        <p:grpSpPr bwMode="auto">
          <a:xfrm>
            <a:off x="8418513" y="2836547"/>
            <a:ext cx="1154112" cy="1152525"/>
            <a:chOff x="3515" y="2296"/>
            <a:chExt cx="727" cy="726"/>
          </a:xfrm>
        </p:grpSpPr>
        <p:sp>
          <p:nvSpPr>
            <p:cNvPr id="38944" name="Rectangle 5"/>
            <p:cNvSpPr>
              <a:spLocks noChangeArrowheads="1"/>
            </p:cNvSpPr>
            <p:nvPr/>
          </p:nvSpPr>
          <p:spPr bwMode="auto">
            <a:xfrm>
              <a:off x="3696"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5" name="Rectangle 6"/>
            <p:cNvSpPr>
              <a:spLocks noChangeArrowheads="1"/>
            </p:cNvSpPr>
            <p:nvPr/>
          </p:nvSpPr>
          <p:spPr bwMode="auto">
            <a:xfrm>
              <a:off x="3515"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6" name="Rectangle 7"/>
            <p:cNvSpPr>
              <a:spLocks noChangeArrowheads="1"/>
            </p:cNvSpPr>
            <p:nvPr/>
          </p:nvSpPr>
          <p:spPr bwMode="auto">
            <a:xfrm>
              <a:off x="3877"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38947" name="Rectangle 8"/>
            <p:cNvSpPr>
              <a:spLocks noChangeArrowheads="1"/>
            </p:cNvSpPr>
            <p:nvPr/>
          </p:nvSpPr>
          <p:spPr bwMode="auto">
            <a:xfrm>
              <a:off x="3515"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8" name="Rectangle 9"/>
            <p:cNvSpPr>
              <a:spLocks noChangeArrowheads="1"/>
            </p:cNvSpPr>
            <p:nvPr/>
          </p:nvSpPr>
          <p:spPr bwMode="auto">
            <a:xfrm>
              <a:off x="3515" y="284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9" name="Rectangle 10"/>
            <p:cNvSpPr>
              <a:spLocks noChangeArrowheads="1"/>
            </p:cNvSpPr>
            <p:nvPr/>
          </p:nvSpPr>
          <p:spPr bwMode="auto">
            <a:xfrm>
              <a:off x="3878"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0" name="Rectangle 11"/>
            <p:cNvSpPr>
              <a:spLocks noChangeArrowheads="1"/>
            </p:cNvSpPr>
            <p:nvPr/>
          </p:nvSpPr>
          <p:spPr bwMode="auto">
            <a:xfrm>
              <a:off x="3696"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1" name="Rectangle 12"/>
            <p:cNvSpPr>
              <a:spLocks noChangeArrowheads="1"/>
            </p:cNvSpPr>
            <p:nvPr/>
          </p:nvSpPr>
          <p:spPr bwMode="auto">
            <a:xfrm>
              <a:off x="3697" y="284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2" name="Rectangle 13"/>
            <p:cNvSpPr>
              <a:spLocks noChangeArrowheads="1"/>
            </p:cNvSpPr>
            <p:nvPr/>
          </p:nvSpPr>
          <p:spPr bwMode="auto">
            <a:xfrm>
              <a:off x="3878" y="284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3" name="Rectangle 14"/>
            <p:cNvSpPr>
              <a:spLocks noChangeArrowheads="1"/>
            </p:cNvSpPr>
            <p:nvPr/>
          </p:nvSpPr>
          <p:spPr bwMode="auto">
            <a:xfrm>
              <a:off x="3515"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4" name="Rectangle 15"/>
            <p:cNvSpPr>
              <a:spLocks noChangeArrowheads="1"/>
            </p:cNvSpPr>
            <p:nvPr/>
          </p:nvSpPr>
          <p:spPr bwMode="auto">
            <a:xfrm>
              <a:off x="3697"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5" name="Rectangle 16"/>
            <p:cNvSpPr>
              <a:spLocks noChangeArrowheads="1"/>
            </p:cNvSpPr>
            <p:nvPr/>
          </p:nvSpPr>
          <p:spPr bwMode="auto">
            <a:xfrm>
              <a:off x="3878"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6" name="Rectangle 17"/>
            <p:cNvSpPr>
              <a:spLocks noChangeArrowheads="1"/>
            </p:cNvSpPr>
            <p:nvPr/>
          </p:nvSpPr>
          <p:spPr bwMode="auto">
            <a:xfrm>
              <a:off x="4060"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7" name="Rectangle 18"/>
            <p:cNvSpPr>
              <a:spLocks noChangeArrowheads="1"/>
            </p:cNvSpPr>
            <p:nvPr/>
          </p:nvSpPr>
          <p:spPr bwMode="auto">
            <a:xfrm>
              <a:off x="4060"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8" name="Rectangle 19"/>
            <p:cNvSpPr>
              <a:spLocks noChangeArrowheads="1"/>
            </p:cNvSpPr>
            <p:nvPr/>
          </p:nvSpPr>
          <p:spPr bwMode="auto">
            <a:xfrm>
              <a:off x="4060"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59" name="Rectangle 20"/>
            <p:cNvSpPr>
              <a:spLocks noChangeArrowheads="1"/>
            </p:cNvSpPr>
            <p:nvPr/>
          </p:nvSpPr>
          <p:spPr bwMode="auto">
            <a:xfrm>
              <a:off x="4059" y="284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205845" name="Rectangle 21"/>
          <p:cNvSpPr>
            <a:spLocks noChangeArrowheads="1"/>
          </p:cNvSpPr>
          <p:nvPr/>
        </p:nvSpPr>
        <p:spPr bwMode="auto">
          <a:xfrm>
            <a:off x="8705850" y="3125472"/>
            <a:ext cx="288925" cy="287338"/>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aphicFrame>
        <p:nvGraphicFramePr>
          <p:cNvPr id="205848" name="Object 24"/>
          <p:cNvGraphicFramePr>
            <a:graphicFrameLocks noChangeAspect="1"/>
          </p:cNvGraphicFramePr>
          <p:nvPr/>
        </p:nvGraphicFramePr>
        <p:xfrm>
          <a:off x="5313363" y="1437005"/>
          <a:ext cx="2686050" cy="912813"/>
        </p:xfrm>
        <a:graphic>
          <a:graphicData uri="http://schemas.openxmlformats.org/presentationml/2006/ole">
            <mc:AlternateContent xmlns:mc="http://schemas.openxmlformats.org/markup-compatibility/2006">
              <mc:Choice xmlns:v="urn:schemas-microsoft-com:vml" Requires="v">
                <p:oleObj spid="_x0000_s39282" name="Equation" r:id="rId3" imgW="1346200" imgH="457200" progId="Equation.DSMT4">
                  <p:embed/>
                </p:oleObj>
              </mc:Choice>
              <mc:Fallback>
                <p:oleObj name="Equation" r:id="rId3" imgW="1346200" imgH="457200" progId="Equation.DSMT4">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3363" y="1437005"/>
                        <a:ext cx="2686050" cy="9128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Group 25"/>
          <p:cNvGrpSpPr/>
          <p:nvPr/>
        </p:nvGrpSpPr>
        <p:grpSpPr bwMode="auto">
          <a:xfrm>
            <a:off x="4057650" y="2988947"/>
            <a:ext cx="865188" cy="863600"/>
            <a:chOff x="930" y="2478"/>
            <a:chExt cx="545" cy="544"/>
          </a:xfrm>
        </p:grpSpPr>
        <p:sp>
          <p:nvSpPr>
            <p:cNvPr id="38935" name="Rectangle 26"/>
            <p:cNvSpPr>
              <a:spLocks noChangeArrowheads="1"/>
            </p:cNvSpPr>
            <p:nvPr/>
          </p:nvSpPr>
          <p:spPr bwMode="auto">
            <a:xfrm>
              <a:off x="1111" y="2478"/>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36" name="Rectangle 27"/>
            <p:cNvSpPr>
              <a:spLocks noChangeArrowheads="1"/>
            </p:cNvSpPr>
            <p:nvPr/>
          </p:nvSpPr>
          <p:spPr bwMode="auto">
            <a:xfrm>
              <a:off x="930" y="2478"/>
              <a:ext cx="182" cy="181"/>
            </a:xfrm>
            <a:prstGeom prst="rect">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37" name="Rectangle 28"/>
            <p:cNvSpPr>
              <a:spLocks noChangeArrowheads="1"/>
            </p:cNvSpPr>
            <p:nvPr/>
          </p:nvSpPr>
          <p:spPr bwMode="auto">
            <a:xfrm>
              <a:off x="1292" y="2659"/>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38938" name="Rectangle 29"/>
            <p:cNvSpPr>
              <a:spLocks noChangeArrowheads="1"/>
            </p:cNvSpPr>
            <p:nvPr/>
          </p:nvSpPr>
          <p:spPr bwMode="auto">
            <a:xfrm>
              <a:off x="930" y="2659"/>
              <a:ext cx="182" cy="181"/>
            </a:xfrm>
            <a:prstGeom prst="rect">
              <a:avLst/>
            </a:prstGeom>
            <a:solidFill>
              <a:srgbClr val="CCE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39" name="Rectangle 30"/>
            <p:cNvSpPr>
              <a:spLocks noChangeArrowheads="1"/>
            </p:cNvSpPr>
            <p:nvPr/>
          </p:nvSpPr>
          <p:spPr bwMode="auto">
            <a:xfrm>
              <a:off x="930" y="2840"/>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0" name="Rectangle 31"/>
            <p:cNvSpPr>
              <a:spLocks noChangeArrowheads="1"/>
            </p:cNvSpPr>
            <p:nvPr/>
          </p:nvSpPr>
          <p:spPr bwMode="auto">
            <a:xfrm>
              <a:off x="1292" y="2478"/>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1" name="Rectangle 32"/>
            <p:cNvSpPr>
              <a:spLocks noChangeArrowheads="1"/>
            </p:cNvSpPr>
            <p:nvPr/>
          </p:nvSpPr>
          <p:spPr bwMode="auto">
            <a:xfrm>
              <a:off x="1111" y="2659"/>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2" name="Rectangle 33"/>
            <p:cNvSpPr>
              <a:spLocks noChangeArrowheads="1"/>
            </p:cNvSpPr>
            <p:nvPr/>
          </p:nvSpPr>
          <p:spPr bwMode="auto">
            <a:xfrm>
              <a:off x="1112" y="2841"/>
              <a:ext cx="182" cy="181"/>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38943" name="Rectangle 34"/>
            <p:cNvSpPr>
              <a:spLocks noChangeArrowheads="1"/>
            </p:cNvSpPr>
            <p:nvPr/>
          </p:nvSpPr>
          <p:spPr bwMode="auto">
            <a:xfrm>
              <a:off x="1293" y="2841"/>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205859" name="AutoShape 35"/>
          <p:cNvSpPr>
            <a:spLocks noChangeArrowheads="1"/>
          </p:cNvSpPr>
          <p:nvPr/>
        </p:nvSpPr>
        <p:spPr bwMode="auto">
          <a:xfrm>
            <a:off x="6323013" y="3141347"/>
            <a:ext cx="647700" cy="431800"/>
          </a:xfrm>
          <a:prstGeom prst="rightArrow">
            <a:avLst>
              <a:gd name="adj1" fmla="val 50000"/>
              <a:gd name="adj2" fmla="val 37500"/>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aphicFrame>
        <p:nvGraphicFramePr>
          <p:cNvPr id="205860" name="Object 36"/>
          <p:cNvGraphicFramePr>
            <a:graphicFrameLocks noChangeAspect="1"/>
          </p:cNvGraphicFramePr>
          <p:nvPr/>
        </p:nvGraphicFramePr>
        <p:xfrm>
          <a:off x="6115050" y="2656205"/>
          <a:ext cx="1150938" cy="412750"/>
        </p:xfrm>
        <a:graphic>
          <a:graphicData uri="http://schemas.openxmlformats.org/presentationml/2006/ole">
            <mc:AlternateContent xmlns:mc="http://schemas.openxmlformats.org/markup-compatibility/2006">
              <mc:Choice xmlns:v="urn:schemas-microsoft-com:vml" Requires="v">
                <p:oleObj spid="_x0000_s39283" name="Equation" r:id="rId5" imgW="494665" imgH="177800" progId="Equation.DSMT4">
                  <p:embed/>
                </p:oleObj>
              </mc:Choice>
              <mc:Fallback>
                <p:oleObj name="Equation" r:id="rId5" imgW="494665" imgH="177800" progId="Equation.DSMT4">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050" y="2656205"/>
                        <a:ext cx="1150938" cy="4127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861" name="Object 37"/>
          <p:cNvGraphicFramePr>
            <a:graphicFrameLocks noChangeAspect="1"/>
          </p:cNvGraphicFramePr>
          <p:nvPr/>
        </p:nvGraphicFramePr>
        <p:xfrm>
          <a:off x="4953000" y="4289110"/>
          <a:ext cx="2305050" cy="758825"/>
        </p:xfrm>
        <a:graphic>
          <a:graphicData uri="http://schemas.openxmlformats.org/presentationml/2006/ole">
            <mc:AlternateContent xmlns:mc="http://schemas.openxmlformats.org/markup-compatibility/2006">
              <mc:Choice xmlns:v="urn:schemas-microsoft-com:vml" Requires="v">
                <p:oleObj spid="_x0000_s39284" name="Equation" r:id="rId7" imgW="1244600" imgH="457200" progId="Equation.DSMT4">
                  <p:embed/>
                </p:oleObj>
              </mc:Choice>
              <mc:Fallback>
                <p:oleObj name="Equation" r:id="rId7" imgW="1244600" imgH="457200" progId="Equation.DSMT4">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4289110"/>
                        <a:ext cx="2305050" cy="7588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862" name="Object 38"/>
          <p:cNvGraphicFramePr>
            <a:graphicFrameLocks noChangeAspect="1"/>
          </p:cNvGraphicFramePr>
          <p:nvPr/>
        </p:nvGraphicFramePr>
        <p:xfrm>
          <a:off x="3756025" y="5127890"/>
          <a:ext cx="4759870" cy="391387"/>
        </p:xfrm>
        <a:graphic>
          <a:graphicData uri="http://schemas.openxmlformats.org/presentationml/2006/ole">
            <mc:AlternateContent xmlns:mc="http://schemas.openxmlformats.org/markup-compatibility/2006">
              <mc:Choice xmlns:v="urn:schemas-microsoft-com:vml" Requires="v">
                <p:oleObj spid="_x0000_s39285" name="Equation" r:id="rId9" imgW="2768600" imgH="228600" progId="Equation.DSMT4">
                  <p:embed/>
                </p:oleObj>
              </mc:Choice>
              <mc:Fallback>
                <p:oleObj name="Equation" r:id="rId9" imgW="2768600" imgH="228600" progId="Equation.DSMT4">
                  <p:embed/>
                  <p:pic>
                    <p:nvPicPr>
                      <p:cNvPr id="0" name="Object 38"/>
                      <p:cNvPicPr>
                        <a:picLocks noChangeAspect="1" noChangeArrowheads="1"/>
                      </p:cNvPicPr>
                      <p:nvPr/>
                    </p:nvPicPr>
                    <p:blipFill>
                      <a:blip r:embed="rId10"/>
                      <a:srcRect/>
                      <a:stretch>
                        <a:fillRect/>
                      </a:stretch>
                    </p:blipFill>
                    <p:spPr bwMode="auto">
                      <a:xfrm>
                        <a:off x="3756025" y="5127890"/>
                        <a:ext cx="4759870" cy="391387"/>
                      </a:xfrm>
                      <a:prstGeom prst="rect">
                        <a:avLst/>
                      </a:prstGeom>
                      <a:solidFill>
                        <a:srgbClr val="FFFF00"/>
                      </a:solidFill>
                      <a:ln>
                        <a:noFill/>
                      </a:ln>
                    </p:spPr>
                  </p:pic>
                </p:oleObj>
              </mc:Fallback>
            </mc:AlternateContent>
          </a:graphicData>
        </a:graphic>
      </p:graphicFrame>
      <p:graphicFrame>
        <p:nvGraphicFramePr>
          <p:cNvPr id="205863" name="Object 39"/>
          <p:cNvGraphicFramePr>
            <a:graphicFrameLocks noChangeAspect="1"/>
          </p:cNvGraphicFramePr>
          <p:nvPr/>
        </p:nvGraphicFramePr>
        <p:xfrm>
          <a:off x="3746500" y="5476560"/>
          <a:ext cx="4694237" cy="398462"/>
        </p:xfrm>
        <a:graphic>
          <a:graphicData uri="http://schemas.openxmlformats.org/presentationml/2006/ole">
            <mc:AlternateContent xmlns:mc="http://schemas.openxmlformats.org/markup-compatibility/2006">
              <mc:Choice xmlns:v="urn:schemas-microsoft-com:vml" Requires="v">
                <p:oleObj spid="_x0000_s39286" name="Equation" r:id="rId11" imgW="64617600" imgH="5486400" progId="Equation.DSMT4">
                  <p:embed/>
                </p:oleObj>
              </mc:Choice>
              <mc:Fallback>
                <p:oleObj name="Equation" r:id="rId11" imgW="64617600" imgH="5486400" progId="Equation.DSMT4">
                  <p:embed/>
                  <p:pic>
                    <p:nvPicPr>
                      <p:cNvPr id="0" name="Object 39"/>
                      <p:cNvPicPr>
                        <a:picLocks noChangeAspect="1" noChangeArrowheads="1"/>
                      </p:cNvPicPr>
                      <p:nvPr/>
                    </p:nvPicPr>
                    <p:blipFill>
                      <a:blip r:embed="rId12"/>
                      <a:srcRect/>
                      <a:stretch>
                        <a:fillRect/>
                      </a:stretch>
                    </p:blipFill>
                    <p:spPr bwMode="auto">
                      <a:xfrm>
                        <a:off x="3746500" y="5476560"/>
                        <a:ext cx="4694237" cy="398462"/>
                      </a:xfrm>
                      <a:prstGeom prst="rect">
                        <a:avLst/>
                      </a:prstGeom>
                      <a:solidFill>
                        <a:srgbClr val="FFFF00"/>
                      </a:solidFill>
                      <a:ln>
                        <a:noFill/>
                      </a:ln>
                    </p:spPr>
                  </p:pic>
                </p:oleObj>
              </mc:Fallback>
            </mc:AlternateContent>
          </a:graphicData>
        </a:graphic>
      </p:graphicFrame>
      <p:graphicFrame>
        <p:nvGraphicFramePr>
          <p:cNvPr id="205864" name="Object 40"/>
          <p:cNvGraphicFramePr>
            <a:graphicFrameLocks noChangeAspect="1"/>
          </p:cNvGraphicFramePr>
          <p:nvPr/>
        </p:nvGraphicFramePr>
        <p:xfrm>
          <a:off x="3746500" y="5863132"/>
          <a:ext cx="4754562" cy="380190"/>
        </p:xfrm>
        <a:graphic>
          <a:graphicData uri="http://schemas.openxmlformats.org/presentationml/2006/ole">
            <mc:AlternateContent xmlns:mc="http://schemas.openxmlformats.org/markup-compatibility/2006">
              <mc:Choice xmlns:v="urn:schemas-microsoft-com:vml" Requires="v">
                <p:oleObj spid="_x0000_s39287" name="Equation" r:id="rId13" imgW="68580000" imgH="5486400" progId="Equation.DSMT4">
                  <p:embed/>
                </p:oleObj>
              </mc:Choice>
              <mc:Fallback>
                <p:oleObj name="Equation" r:id="rId13" imgW="68580000" imgH="5486400" progId="Equation.DSMT4">
                  <p:embed/>
                  <p:pic>
                    <p:nvPicPr>
                      <p:cNvPr id="0" name="Object 40"/>
                      <p:cNvPicPr>
                        <a:picLocks noChangeAspect="1" noChangeArrowheads="1"/>
                      </p:cNvPicPr>
                      <p:nvPr/>
                    </p:nvPicPr>
                    <p:blipFill>
                      <a:blip r:embed="rId14"/>
                      <a:srcRect/>
                      <a:stretch>
                        <a:fillRect/>
                      </a:stretch>
                    </p:blipFill>
                    <p:spPr bwMode="auto">
                      <a:xfrm>
                        <a:off x="3746500" y="5863132"/>
                        <a:ext cx="4754562" cy="380190"/>
                      </a:xfrm>
                      <a:prstGeom prst="rect">
                        <a:avLst/>
                      </a:prstGeom>
                      <a:solidFill>
                        <a:srgbClr val="FFFF00"/>
                      </a:solidFill>
                      <a:ln>
                        <a:noFill/>
                      </a:ln>
                    </p:spPr>
                  </p:pic>
                </p:oleObj>
              </mc:Fallback>
            </mc:AlternateContent>
          </a:graphicData>
        </a:graphic>
      </p:graphicFrame>
      <p:graphicFrame>
        <p:nvGraphicFramePr>
          <p:cNvPr id="205865" name="Object 41"/>
          <p:cNvGraphicFramePr>
            <a:graphicFrameLocks noChangeAspect="1"/>
          </p:cNvGraphicFramePr>
          <p:nvPr/>
        </p:nvGraphicFramePr>
        <p:xfrm>
          <a:off x="3746500" y="6218877"/>
          <a:ext cx="4439071" cy="388533"/>
        </p:xfrm>
        <a:graphic>
          <a:graphicData uri="http://schemas.openxmlformats.org/presentationml/2006/ole">
            <mc:AlternateContent xmlns:mc="http://schemas.openxmlformats.org/markup-compatibility/2006">
              <mc:Choice xmlns:v="urn:schemas-microsoft-com:vml" Requires="v">
                <p:oleObj spid="_x0000_s39288" name="Equation" r:id="rId15" imgW="62788800" imgH="5486400" progId="Equation.DSMT4">
                  <p:embed/>
                </p:oleObj>
              </mc:Choice>
              <mc:Fallback>
                <p:oleObj name="Equation" r:id="rId15" imgW="62788800" imgH="5486400" progId="Equation.DSMT4">
                  <p:embed/>
                  <p:pic>
                    <p:nvPicPr>
                      <p:cNvPr id="0" name="Object 41"/>
                      <p:cNvPicPr>
                        <a:picLocks noChangeAspect="1" noChangeArrowheads="1"/>
                      </p:cNvPicPr>
                      <p:nvPr/>
                    </p:nvPicPr>
                    <p:blipFill>
                      <a:blip r:embed="rId16"/>
                      <a:srcRect/>
                      <a:stretch>
                        <a:fillRect/>
                      </a:stretch>
                    </p:blipFill>
                    <p:spPr bwMode="auto">
                      <a:xfrm>
                        <a:off x="3746500" y="6218877"/>
                        <a:ext cx="4439071" cy="388533"/>
                      </a:xfrm>
                      <a:prstGeom prst="rect">
                        <a:avLst/>
                      </a:prstGeom>
                      <a:solidFill>
                        <a:srgbClr val="FFFF00"/>
                      </a:solidFill>
                      <a:ln>
                        <a:noFill/>
                      </a:ln>
                    </p:spPr>
                  </p:pic>
                </p:oleObj>
              </mc:Fallback>
            </mc:AlternateContent>
          </a:graphicData>
        </a:graphic>
      </p:graphicFrame>
      <p:sp>
        <p:nvSpPr>
          <p:cNvPr id="205866" name="Rectangle 42"/>
          <p:cNvSpPr>
            <a:spLocks noChangeArrowheads="1"/>
          </p:cNvSpPr>
          <p:nvPr/>
        </p:nvSpPr>
        <p:spPr bwMode="auto">
          <a:xfrm>
            <a:off x="8418513" y="3125472"/>
            <a:ext cx="288925" cy="287338"/>
          </a:xfrm>
          <a:prstGeom prst="rect">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5867" name="Rectangle 43"/>
          <p:cNvSpPr>
            <a:spLocks noChangeArrowheads="1"/>
          </p:cNvSpPr>
          <p:nvPr/>
        </p:nvSpPr>
        <p:spPr bwMode="auto">
          <a:xfrm>
            <a:off x="9282113" y="3125472"/>
            <a:ext cx="288925" cy="287338"/>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205868" name="Rectangle 44"/>
          <p:cNvSpPr>
            <a:spLocks noChangeArrowheads="1"/>
          </p:cNvSpPr>
          <p:nvPr/>
        </p:nvSpPr>
        <p:spPr bwMode="auto">
          <a:xfrm>
            <a:off x="8705850" y="3700147"/>
            <a:ext cx="288925" cy="287338"/>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5869" name="Rectangle 45"/>
          <p:cNvSpPr>
            <a:spLocks noChangeArrowheads="1"/>
          </p:cNvSpPr>
          <p:nvPr/>
        </p:nvSpPr>
        <p:spPr bwMode="auto">
          <a:xfrm>
            <a:off x="8994775" y="2836547"/>
            <a:ext cx="288925" cy="287338"/>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5870" name="Rectangle 46"/>
          <p:cNvSpPr>
            <a:spLocks noChangeArrowheads="1"/>
          </p:cNvSpPr>
          <p:nvPr/>
        </p:nvSpPr>
        <p:spPr bwMode="auto">
          <a:xfrm>
            <a:off x="8994775" y="3412810"/>
            <a:ext cx="288925" cy="287337"/>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5871" name="Rectangle 47"/>
          <p:cNvSpPr>
            <a:spLocks noChangeArrowheads="1"/>
          </p:cNvSpPr>
          <p:nvPr/>
        </p:nvSpPr>
        <p:spPr bwMode="auto">
          <a:xfrm>
            <a:off x="8994775" y="3700147"/>
            <a:ext cx="288925" cy="287338"/>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5872" name="Rectangle 48"/>
          <p:cNvSpPr>
            <a:spLocks noChangeArrowheads="1"/>
          </p:cNvSpPr>
          <p:nvPr/>
        </p:nvSpPr>
        <p:spPr bwMode="auto">
          <a:xfrm>
            <a:off x="9282113" y="3412810"/>
            <a:ext cx="288925" cy="287337"/>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5873" name="Rectangle 49"/>
          <p:cNvSpPr>
            <a:spLocks noChangeArrowheads="1"/>
          </p:cNvSpPr>
          <p:nvPr/>
        </p:nvSpPr>
        <p:spPr bwMode="auto">
          <a:xfrm>
            <a:off x="8705850" y="3412810"/>
            <a:ext cx="288925" cy="287337"/>
          </a:xfrm>
          <a:prstGeom prst="rect">
            <a:avLst/>
          </a:prstGeom>
          <a:solidFill>
            <a:srgbClr val="CCE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pic>
        <p:nvPicPr>
          <p:cNvPr id="10" name="图片 9"/>
          <p:cNvPicPr>
            <a:picLocks noChangeAspect="1"/>
          </p:cNvPicPr>
          <p:nvPr/>
        </p:nvPicPr>
        <p:blipFill>
          <a:blip r:embed="rId17"/>
          <a:stretch>
            <a:fillRect/>
          </a:stretch>
        </p:blipFill>
        <p:spPr>
          <a:xfrm>
            <a:off x="8993188" y="4289110"/>
            <a:ext cx="2528732" cy="2151854"/>
          </a:xfrm>
          <a:prstGeom prst="rect">
            <a:avLst/>
          </a:prstGeom>
        </p:spPr>
      </p:pic>
      <mc:AlternateContent xmlns:mc="http://schemas.openxmlformats.org/markup-compatibility/2006">
        <mc:Choice xmlns:a14="http://schemas.microsoft.com/office/drawing/2010/main" Requires="a14">
          <p:sp>
            <p:nvSpPr>
              <p:cNvPr id="11" name="文本框 10"/>
              <p:cNvSpPr txBox="1"/>
              <p:nvPr/>
            </p:nvSpPr>
            <p:spPr>
              <a:xfrm>
                <a:off x="784225" y="2316480"/>
                <a:ext cx="2386965" cy="1753235"/>
              </a:xfrm>
              <a:prstGeom prst="rect">
                <a:avLst/>
              </a:prstGeom>
              <a:noFill/>
            </p:spPr>
            <p:txBody>
              <a:bodyPr wrap="square" rtlCol="0">
                <a:spAutoFit/>
              </a:bodyPr>
              <a:p>
                <a:r>
                  <a:rPr lang="en-US" altLang="zh-CN"/>
                  <a:t>w=h=3.0</a:t>
                </a:r>
                <a:endParaRPr lang="en-US" altLang="zh-CN"/>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𝑚𝑖𝑛</m:t>
                          </m:r>
                          <m:r>
                            <a:rPr lang="en-US" altLang="zh-CN" i="1">
                              <a:latin typeface="Cambria Math" panose="02040503050406030204" charset="0"/>
                              <a:cs typeface="Cambria Math" panose="02040503050406030204" charset="0"/>
                            </a:rPr>
                            <m:t> </m:t>
                          </m:r>
                        </m:sub>
                      </m:sSub>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5</m:t>
                      </m:r>
                    </m:oMath>
                  </m:oMathPara>
                </a14:m>
                <a:endParaRPr lang="en-US" altLang="zh-CN" i="1">
                  <a:latin typeface="Cambria Math" panose="02040503050406030204" charset="0"/>
                  <a:cs typeface="Cambria Math" panose="02040503050406030204" charset="0"/>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𝑚𝑎𝑥</m:t>
                          </m:r>
                          <m:r>
                            <a:rPr lang="en-US" altLang="zh-CN" i="1">
                              <a:latin typeface="Cambria Math" panose="02040503050406030204" charset="0"/>
                              <a:cs typeface="Cambria Math" panose="02040503050406030204" charset="0"/>
                            </a:rPr>
                            <m:t> </m:t>
                          </m:r>
                        </m:sub>
                      </m:sSub>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5</m:t>
                      </m:r>
                    </m:oMath>
                  </m:oMathPara>
                </a14:m>
                <a:endParaRPr lang="en-US" altLang="zh-CN" i="1">
                  <a:latin typeface="Cambria Math" panose="02040503050406030204" charset="0"/>
                  <a:cs typeface="Cambria Math" panose="02040503050406030204" charset="0"/>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𝑚𝑖𝑛</m:t>
                          </m:r>
                          <m:r>
                            <a:rPr lang="en-US" altLang="zh-CN" i="1">
                              <a:latin typeface="Cambria Math" panose="02040503050406030204" charset="0"/>
                              <a:cs typeface="Cambria Math" panose="02040503050406030204" charset="0"/>
                            </a:rPr>
                            <m:t> </m:t>
                          </m:r>
                        </m:sub>
                      </m:sSub>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5</m:t>
                      </m:r>
                    </m:oMath>
                  </m:oMathPara>
                </a14:m>
                <a:endParaRPr lang="en-US" altLang="zh-CN" i="1">
                  <a:latin typeface="Cambria Math" panose="02040503050406030204" charset="0"/>
                  <a:cs typeface="Cambria Math" panose="02040503050406030204" charset="0"/>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𝑚𝑎𝑥</m:t>
                          </m:r>
                          <m:r>
                            <a:rPr lang="en-US" altLang="zh-CN" i="1">
                              <a:latin typeface="Cambria Math" panose="02040503050406030204" charset="0"/>
                              <a:cs typeface="Cambria Math" panose="02040503050406030204" charset="0"/>
                            </a:rPr>
                            <m:t> </m:t>
                          </m:r>
                        </m:sub>
                      </m:sSub>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5</m:t>
                      </m:r>
                    </m:oMath>
                  </m:oMathPara>
                </a14:m>
                <a:endParaRPr lang="en-US" altLang="zh-CN" i="1">
                  <a:latin typeface="Cambria Math" panose="02040503050406030204" charset="0"/>
                  <a:cs typeface="Cambria Math" panose="02040503050406030204" charset="0"/>
                </a:endParaRPr>
              </a:p>
              <a:p>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784225" y="2316480"/>
                <a:ext cx="2386965" cy="1753235"/>
              </a:xfrm>
              <a:prstGeom prst="rect">
                <a:avLst/>
              </a:prstGeom>
              <a:blipFill rotWithShape="1">
                <a:blip r:embed="rId18"/>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861"/>
                                        </p:tgtEl>
                                        <p:attrNameLst>
                                          <p:attrName>style.visibility</p:attrName>
                                        </p:attrNameLst>
                                      </p:cBhvr>
                                      <p:to>
                                        <p:strVal val="visible"/>
                                      </p:to>
                                    </p:set>
                                    <p:animEffect transition="in" filter="fade">
                                      <p:cBhvr>
                                        <p:cTn id="7" dur="500"/>
                                        <p:tgtEl>
                                          <p:spTgt spid="205861"/>
                                        </p:tgtEl>
                                      </p:cBhvr>
                                    </p:animEffect>
                                  </p:childTnLst>
                                </p:cTn>
                              </p:par>
                              <p:par>
                                <p:cTn id="8" presetID="10" presetClass="entr" presetSubtype="0" fill="hold" nodeType="withEffect">
                                  <p:stCondLst>
                                    <p:cond delay="0"/>
                                  </p:stCondLst>
                                  <p:childTnLst>
                                    <p:set>
                                      <p:cBhvr>
                                        <p:cTn id="9" dur="1" fill="hold">
                                          <p:stCondLst>
                                            <p:cond delay="0"/>
                                          </p:stCondLst>
                                        </p:cTn>
                                        <p:tgtEl>
                                          <p:spTgt spid="205862"/>
                                        </p:tgtEl>
                                        <p:attrNameLst>
                                          <p:attrName>style.visibility</p:attrName>
                                        </p:attrNameLst>
                                      </p:cBhvr>
                                      <p:to>
                                        <p:strVal val="visible"/>
                                      </p:to>
                                    </p:set>
                                    <p:animEffect transition="in" filter="fade">
                                      <p:cBhvr>
                                        <p:cTn id="10" dur="500"/>
                                        <p:tgtEl>
                                          <p:spTgt spid="205862"/>
                                        </p:tgtEl>
                                      </p:cBhvr>
                                    </p:animEffect>
                                  </p:childTnLst>
                                </p:cTn>
                              </p:par>
                              <p:par>
                                <p:cTn id="11" presetID="10" presetClass="entr" presetSubtype="0" fill="hold" nodeType="withEffect">
                                  <p:stCondLst>
                                    <p:cond delay="0"/>
                                  </p:stCondLst>
                                  <p:childTnLst>
                                    <p:set>
                                      <p:cBhvr>
                                        <p:cTn id="12" dur="1" fill="hold">
                                          <p:stCondLst>
                                            <p:cond delay="0"/>
                                          </p:stCondLst>
                                        </p:cTn>
                                        <p:tgtEl>
                                          <p:spTgt spid="205863"/>
                                        </p:tgtEl>
                                        <p:attrNameLst>
                                          <p:attrName>style.visibility</p:attrName>
                                        </p:attrNameLst>
                                      </p:cBhvr>
                                      <p:to>
                                        <p:strVal val="visible"/>
                                      </p:to>
                                    </p:set>
                                    <p:animEffect transition="in" filter="fade">
                                      <p:cBhvr>
                                        <p:cTn id="13" dur="500"/>
                                        <p:tgtEl>
                                          <p:spTgt spid="205863"/>
                                        </p:tgtEl>
                                      </p:cBhvr>
                                    </p:animEffect>
                                  </p:childTnLst>
                                </p:cTn>
                              </p:par>
                              <p:par>
                                <p:cTn id="14" presetID="10" presetClass="entr" presetSubtype="0" fill="hold" nodeType="withEffect">
                                  <p:stCondLst>
                                    <p:cond delay="0"/>
                                  </p:stCondLst>
                                  <p:childTnLst>
                                    <p:set>
                                      <p:cBhvr>
                                        <p:cTn id="15" dur="1" fill="hold">
                                          <p:stCondLst>
                                            <p:cond delay="0"/>
                                          </p:stCondLst>
                                        </p:cTn>
                                        <p:tgtEl>
                                          <p:spTgt spid="205864"/>
                                        </p:tgtEl>
                                        <p:attrNameLst>
                                          <p:attrName>style.visibility</p:attrName>
                                        </p:attrNameLst>
                                      </p:cBhvr>
                                      <p:to>
                                        <p:strVal val="visible"/>
                                      </p:to>
                                    </p:set>
                                    <p:animEffect transition="in" filter="fade">
                                      <p:cBhvr>
                                        <p:cTn id="16" dur="500"/>
                                        <p:tgtEl>
                                          <p:spTgt spid="205864"/>
                                        </p:tgtEl>
                                      </p:cBhvr>
                                    </p:animEffect>
                                  </p:childTnLst>
                                </p:cTn>
                              </p:par>
                              <p:par>
                                <p:cTn id="17" presetID="10" presetClass="entr" presetSubtype="0" fill="hold" nodeType="withEffect">
                                  <p:stCondLst>
                                    <p:cond delay="0"/>
                                  </p:stCondLst>
                                  <p:childTnLst>
                                    <p:set>
                                      <p:cBhvr>
                                        <p:cTn id="18" dur="1" fill="hold">
                                          <p:stCondLst>
                                            <p:cond delay="0"/>
                                          </p:stCondLst>
                                        </p:cTn>
                                        <p:tgtEl>
                                          <p:spTgt spid="205865"/>
                                        </p:tgtEl>
                                        <p:attrNameLst>
                                          <p:attrName>style.visibility</p:attrName>
                                        </p:attrNameLst>
                                      </p:cBhvr>
                                      <p:to>
                                        <p:strVal val="visible"/>
                                      </p:to>
                                    </p:set>
                                    <p:animEffect transition="in" filter="fade">
                                      <p:cBhvr>
                                        <p:cTn id="19" dur="500"/>
                                        <p:tgtEl>
                                          <p:spTgt spid="205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6" name="文本框 5"/>
          <p:cNvSpPr txBox="1"/>
          <p:nvPr/>
        </p:nvSpPr>
        <p:spPr>
          <a:xfrm>
            <a:off x="637540" y="2015490"/>
            <a:ext cx="5413375" cy="368300"/>
          </a:xfrm>
          <a:prstGeom prst="rect">
            <a:avLst/>
          </a:prstGeom>
          <a:noFill/>
        </p:spPr>
        <p:txBody>
          <a:bodyPr wrap="square" rtlCol="0">
            <a:spAutoFit/>
          </a:bodyPr>
          <a:p>
            <a:r>
              <a:rPr lang="zh-CN" b="1"/>
              <a:t>旋转变换</a:t>
            </a:r>
            <a:endParaRPr lang="zh-CN" b="1"/>
          </a:p>
        </p:txBody>
      </p:sp>
      <mc:AlternateContent xmlns:mc="http://schemas.openxmlformats.org/markup-compatibility/2006">
        <mc:Choice xmlns:a14="http://schemas.microsoft.com/office/drawing/2010/main" Requires="a14">
          <p:sp>
            <p:nvSpPr>
              <p:cNvPr id="4" name="文本框 3"/>
              <p:cNvSpPr txBox="1"/>
              <p:nvPr/>
            </p:nvSpPr>
            <p:spPr>
              <a:xfrm>
                <a:off x="1296035" y="2559050"/>
                <a:ext cx="9368790" cy="1759585"/>
              </a:xfrm>
              <a:prstGeom prst="rect">
                <a:avLst/>
              </a:prstGeom>
              <a:noFill/>
            </p:spPr>
            <p:txBody>
              <a:bodyPr wrap="square" rtlCol="0">
                <a:spAutoFit/>
              </a:bodyPr>
              <a:p>
                <a:r>
                  <a:rPr lang="zh-CN" altLang="en-US"/>
                  <a:t>现在，我们已经考虑到绕像素系原点逆时针旋转</a:t>
                </a:r>
                <a14:m>
                  <m:oMath xmlns:m="http://schemas.openxmlformats.org/officeDocument/2006/math">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角度的仿射矩阵。</m:t>
                    </m:r>
                  </m:oMath>
                </a14:m>
                <a:r>
                  <a:rPr lang="zh-CN" altLang="en-US">
                    <a:latin typeface="Cambria Math" panose="02040503050406030204" charset="0"/>
                    <a:cs typeface="Cambria Math" panose="02040503050406030204" charset="0"/>
                    <a:sym typeface="+mn-ea"/>
                  </a:rPr>
                  <a:t>但实际情况下，我们往往需要绕图像中心进行旋转。</a:t>
                </a:r>
                <a:endParaRPr lang="zh-CN" altLang="en-US">
                  <a:latin typeface="Cambria Math" panose="02040503050406030204" charset="0"/>
                  <a:cs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考虑一张宽为</a:t>
                </a:r>
                <a:r>
                  <a:rPr lang="en-US" altLang="zh-CN">
                    <a:latin typeface="Cambria Math" panose="02040503050406030204" charset="0"/>
                    <a:cs typeface="Cambria Math" panose="02040503050406030204" charset="0"/>
                    <a:sym typeface="+mn-ea"/>
                  </a:rPr>
                  <a:t>w</a:t>
                </a:r>
                <a:r>
                  <a:rPr lang="zh-CN" altLang="en-US">
                    <a:latin typeface="Cambria Math" panose="02040503050406030204" charset="0"/>
                    <a:cs typeface="Cambria Math" panose="02040503050406030204" charset="0"/>
                    <a:sym typeface="+mn-ea"/>
                  </a:rPr>
                  <a:t>，高为</a:t>
                </a:r>
                <a:r>
                  <a:rPr lang="en-US" altLang="zh-CN">
                    <a:latin typeface="Cambria Math" panose="02040503050406030204" charset="0"/>
                    <a:cs typeface="Cambria Math" panose="02040503050406030204" charset="0"/>
                    <a:sym typeface="+mn-ea"/>
                  </a:rPr>
                  <a:t>h</a:t>
                </a:r>
                <a:r>
                  <a:rPr lang="zh-CN" altLang="en-US">
                    <a:latin typeface="Cambria Math" panose="02040503050406030204" charset="0"/>
                    <a:cs typeface="Cambria Math" panose="02040503050406030204" charset="0"/>
                    <a:sym typeface="+mn-ea"/>
                  </a:rPr>
                  <a:t>的图像，现在将其绕图像中心</a:t>
                </a:r>
                <a:r>
                  <a:rPr lang="en-US" altLang="zh-CN">
                    <a:latin typeface="Cambria Math" panose="02040503050406030204" charset="0"/>
                    <a:cs typeface="Cambria Math" panose="02040503050406030204" charset="0"/>
                    <a:sym typeface="+mn-ea"/>
                  </a:rPr>
                  <a:t>(w/2,h/2)</a:t>
                </a:r>
                <a:r>
                  <a:rPr lang="zh-CN" altLang="en-US">
                    <a:latin typeface="Cambria Math" panose="02040503050406030204" charset="0"/>
                    <a:cs typeface="Cambria Math" panose="02040503050406030204" charset="0"/>
                    <a:sym typeface="+mn-ea"/>
                  </a:rPr>
                  <a:t>旋转</a:t>
                </a:r>
                <a14:m>
                  <m:oMath xmlns:m="http://schemas.openxmlformats.org/officeDocument/2006/math">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角</m:t>
                    </m:r>
                  </m:oMath>
                </a14:m>
                <a:r>
                  <a:rPr lang="zh-CN" altLang="en-US">
                    <a:latin typeface="Cambria Math" panose="02040503050406030204" charset="0"/>
                    <a:cs typeface="Cambria Math" panose="02040503050406030204" charset="0"/>
                    <a:sym typeface="+mn-ea"/>
                  </a:rPr>
                  <a:t>，求正向映射的变换矩阵，使原像素坐标</a:t>
                </a:r>
                <a:r>
                  <a:rPr lang="en-US" altLang="zh-CN">
                    <a:latin typeface="Cambria Math" panose="02040503050406030204" charset="0"/>
                    <a:cs typeface="Cambria Math" panose="02040503050406030204" charset="0"/>
                    <a:sym typeface="+mn-ea"/>
                  </a:rPr>
                  <a:t>(u,v,1)^T</a:t>
                </a:r>
                <a:r>
                  <a:rPr lang="zh-CN" altLang="en-US">
                    <a:latin typeface="Cambria Math" panose="02040503050406030204" charset="0"/>
                    <a:cs typeface="Cambria Math" panose="02040503050406030204" charset="0"/>
                    <a:sym typeface="+mn-ea"/>
                  </a:rPr>
                  <a:t>左乘该变换矩阵后得到新像素坐标</a:t>
                </a:r>
                <a:r>
                  <a:rPr lang="en-US" altLang="zh-CN">
                    <a:latin typeface="Cambria Math" panose="02040503050406030204" charset="0"/>
                    <a:cs typeface="Cambria Math" panose="02040503050406030204" charset="0"/>
                    <a:sym typeface="+mn-ea"/>
                  </a:rPr>
                  <a:t>(u’,v’,1)^T</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请分两种情况讨论：</a:t>
                </a:r>
                <a:r>
                  <a:rPr lang="en-US" altLang="zh-CN">
                    <a:latin typeface="Cambria Math" panose="02040503050406030204" charset="0"/>
                    <a:cs typeface="Cambria Math" panose="02040503050406030204" charset="0"/>
                    <a:sym typeface="+mn-ea"/>
                  </a:rPr>
                  <a:t>1.</a:t>
                </a:r>
                <a:r>
                  <a:rPr lang="zh-CN" altLang="en-US">
                    <a:latin typeface="Cambria Math" panose="02040503050406030204" charset="0"/>
                    <a:cs typeface="Cambria Math" panose="02040503050406030204" charset="0"/>
                    <a:sym typeface="+mn-ea"/>
                  </a:rPr>
                  <a:t>不扩展画布；</a:t>
                </a:r>
                <a:r>
                  <a:rPr lang="en-US" altLang="zh-CN">
                    <a:latin typeface="Cambria Math" panose="02040503050406030204" charset="0"/>
                    <a:cs typeface="Cambria Math" panose="02040503050406030204" charset="0"/>
                    <a:sym typeface="+mn-ea"/>
                  </a:rPr>
                  <a:t> 2. </a:t>
                </a:r>
                <a:r>
                  <a:rPr lang="zh-CN" altLang="en-US">
                    <a:latin typeface="Cambria Math" panose="02040503050406030204" charset="0"/>
                    <a:cs typeface="Cambria Math" panose="02040503050406030204" charset="0"/>
                    <a:sym typeface="+mn-ea"/>
                  </a:rPr>
                  <a:t>扩展画布</a:t>
                </a:r>
                <a:endParaRPr lang="zh-CN" altLang="en-US">
                  <a:latin typeface="Cambria Math" panose="02040503050406030204" charset="0"/>
                  <a:cs typeface="Cambria Math" panose="02040503050406030204"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1296035" y="2559050"/>
                <a:ext cx="9368790" cy="175958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1411605" y="1948180"/>
                <a:ext cx="9368790" cy="1753235"/>
              </a:xfrm>
              <a:prstGeom prst="rect">
                <a:avLst/>
              </a:prstGeom>
              <a:noFill/>
            </p:spPr>
            <p:txBody>
              <a:bodyPr wrap="square" rtlCol="0">
                <a:spAutoFit/>
              </a:bodyPr>
              <a:p>
                <a:r>
                  <a:rPr lang="zh-CN" altLang="en-US">
                    <a:latin typeface="Cambria Math" panose="02040503050406030204" charset="0"/>
                    <a:cs typeface="Cambria Math" panose="02040503050406030204" charset="0"/>
                    <a:sym typeface="+mn-ea"/>
                  </a:rPr>
                  <a:t>源图像坐标系：原点在左上角，</a:t>
                </a:r>
                <a:r>
                  <a:rPr lang="en-US" altLang="zh-CN">
                    <a:latin typeface="Cambria Math" panose="02040503050406030204" charset="0"/>
                    <a:cs typeface="Cambria Math" panose="02040503050406030204" charset="0"/>
                    <a:sym typeface="+mn-ea"/>
                  </a:rPr>
                  <a:t>u</a:t>
                </a:r>
                <a:r>
                  <a:rPr lang="zh-CN" altLang="en-US">
                    <a:latin typeface="Cambria Math" panose="02040503050406030204" charset="0"/>
                    <a:cs typeface="Cambria Math" panose="02040503050406030204" charset="0"/>
                    <a:sym typeface="+mn-ea"/>
                  </a:rPr>
                  <a:t>轴向右，</a:t>
                </a:r>
                <a:r>
                  <a:rPr lang="en-US" altLang="zh-CN">
                    <a:latin typeface="Cambria Math" panose="02040503050406030204" charset="0"/>
                    <a:cs typeface="Cambria Math" panose="02040503050406030204" charset="0"/>
                    <a:sym typeface="+mn-ea"/>
                  </a:rPr>
                  <a:t>v</a:t>
                </a:r>
                <a:r>
                  <a:rPr lang="zh-CN" altLang="en-US">
                    <a:latin typeface="Cambria Math" panose="02040503050406030204" charset="0"/>
                    <a:cs typeface="Cambria Math" panose="02040503050406030204" charset="0"/>
                    <a:sym typeface="+mn-ea"/>
                  </a:rPr>
                  <a:t>轴向下</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旋转中心：源图像中心</a:t>
                </a:r>
                <a:r>
                  <a:rPr lang="en-US" altLang="zh-CN">
                    <a:latin typeface="Cambria Math" panose="02040503050406030204" charset="0"/>
                    <a:cs typeface="Cambria Math" panose="02040503050406030204" charset="0"/>
                    <a:sym typeface="+mn-ea"/>
                  </a:rPr>
                  <a:t> </a:t>
                </a:r>
                <a:r>
                  <a:rPr lang="zh-CN" altLang="en-US">
                    <a:latin typeface="Cambria Math" panose="02040503050406030204" charset="0"/>
                    <a:cs typeface="Cambria Math" panose="02040503050406030204" charset="0"/>
                    <a:sym typeface="+mn-ea"/>
                  </a:rPr>
                  <a:t>中心</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𝐶</m:t>
                        </m:r>
                      </m:e>
                      <m:sub>
                        <m:r>
                          <a:rPr lang="en-US" altLang="zh-CN" i="1">
                            <a:latin typeface="Cambria Math" panose="02040503050406030204" charset="0"/>
                            <a:cs typeface="Cambria Math" panose="02040503050406030204" charset="0"/>
                            <a:sym typeface="+mn-ea"/>
                          </a:rPr>
                          <m:t>𝑠</m:t>
                        </m:r>
                      </m:sub>
                    </m:sSub>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𝑐𝑥</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𝑤</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ℎ</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oMath>
                </a14:m>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旋转角度：逆时针旋转</a:t>
                </a:r>
                <a:r>
                  <a:rPr lang="en-US" altLang="zh-CN">
                    <a:latin typeface="Cambria Math" panose="02040503050406030204" charset="0"/>
                    <a:cs typeface="Cambria Math" panose="02040503050406030204" charset="0"/>
                    <a:sym typeface="+mn-ea"/>
                  </a:rPr>
                  <a:t>θ</a:t>
                </a:r>
                <a:r>
                  <a:rPr lang="zh-CN" altLang="en-US">
                    <a:latin typeface="Cambria Math" panose="02040503050406030204" charset="0"/>
                    <a:cs typeface="Cambria Math" panose="02040503050406030204" charset="0"/>
                    <a:sym typeface="+mn-ea"/>
                  </a:rPr>
                  <a:t>（正值）</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目标图像坐标系：与源图像坐标系方向相同</a:t>
                </a:r>
                <a:endParaRPr lang="zh-CN" altLang="en-US">
                  <a:latin typeface="Cambria Math" panose="02040503050406030204" charset="0"/>
                  <a:cs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目标：求正向映射（从源图像到目标图像的变换）的变换矩阵</a:t>
                </a:r>
                <a:r>
                  <a:rPr lang="en-US" altLang="zh-CN">
                    <a:latin typeface="Cambria Math" panose="02040503050406030204" charset="0"/>
                    <a:cs typeface="Cambria Math" panose="02040503050406030204" charset="0"/>
                    <a:sym typeface="+mn-ea"/>
                  </a:rPr>
                  <a:t>M,</a:t>
                </a:r>
                <a:r>
                  <a:rPr lang="zh-CN" altLang="en-US">
                    <a:latin typeface="Cambria Math" panose="02040503050406030204" charset="0"/>
                    <a:cs typeface="Cambria Math" panose="02040503050406030204" charset="0"/>
                    <a:sym typeface="+mn-ea"/>
                  </a:rPr>
                  <a:t>使</a:t>
                </a:r>
                <a:r>
                  <a:rPr lang="en-US" altLang="zh-CN">
                    <a:latin typeface="Cambria Math" panose="02040503050406030204" charset="0"/>
                    <a:cs typeface="Cambria Math" panose="02040503050406030204" charset="0"/>
                    <a:sym typeface="+mn-ea"/>
                  </a:rPr>
                  <a:t>p ′=M⋅p</a:t>
                </a:r>
                <a:endParaRPr lang="en-US" altLang="zh-CN">
                  <a:latin typeface="Cambria Math" panose="02040503050406030204" charset="0"/>
                  <a:cs typeface="Cambria Math" panose="02040503050406030204"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1411605" y="1948180"/>
                <a:ext cx="9368790" cy="175323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5356225" y="539750"/>
                <a:ext cx="9368790" cy="2030095"/>
              </a:xfrm>
              <a:prstGeom prst="rect">
                <a:avLst/>
              </a:prstGeom>
              <a:noFill/>
            </p:spPr>
            <p:txBody>
              <a:bodyPr wrap="square" rtlCol="0">
                <a:spAutoFit/>
              </a:bodyPr>
              <a:p>
                <a:r>
                  <a:rPr lang="zh-CN" altLang="en-US">
                    <a:latin typeface="Cambria Math" panose="02040503050406030204" charset="0"/>
                    <a:cs typeface="Cambria Math" panose="02040503050406030204" charset="0"/>
                    <a:sym typeface="+mn-ea"/>
                  </a:rPr>
                  <a:t>源图像坐标系：原点在左上角，</a:t>
                </a:r>
                <a:r>
                  <a:rPr lang="en-US" altLang="zh-CN">
                    <a:latin typeface="Cambria Math" panose="02040503050406030204" charset="0"/>
                    <a:cs typeface="Cambria Math" panose="02040503050406030204" charset="0"/>
                    <a:sym typeface="+mn-ea"/>
                  </a:rPr>
                  <a:t>u</a:t>
                </a:r>
                <a:r>
                  <a:rPr lang="zh-CN" altLang="en-US">
                    <a:latin typeface="Cambria Math" panose="02040503050406030204" charset="0"/>
                    <a:cs typeface="Cambria Math" panose="02040503050406030204" charset="0"/>
                    <a:sym typeface="+mn-ea"/>
                  </a:rPr>
                  <a:t>轴向右，</a:t>
                </a:r>
                <a:r>
                  <a:rPr lang="en-US" altLang="zh-CN">
                    <a:latin typeface="Cambria Math" panose="02040503050406030204" charset="0"/>
                    <a:cs typeface="Cambria Math" panose="02040503050406030204" charset="0"/>
                    <a:sym typeface="+mn-ea"/>
                  </a:rPr>
                  <a:t>v</a:t>
                </a:r>
                <a:r>
                  <a:rPr lang="zh-CN" altLang="en-US">
                    <a:latin typeface="Cambria Math" panose="02040503050406030204" charset="0"/>
                    <a:cs typeface="Cambria Math" panose="02040503050406030204" charset="0"/>
                    <a:sym typeface="+mn-ea"/>
                  </a:rPr>
                  <a:t>轴向下</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旋转中心：源图像中心</a:t>
                </a:r>
                <a:r>
                  <a:rPr lang="en-US" altLang="zh-CN">
                    <a:latin typeface="Cambria Math" panose="02040503050406030204" charset="0"/>
                    <a:cs typeface="Cambria Math" panose="02040503050406030204" charset="0"/>
                    <a:sym typeface="+mn-ea"/>
                  </a:rPr>
                  <a:t> </a:t>
                </a:r>
                <a:r>
                  <a:rPr lang="zh-CN" altLang="en-US">
                    <a:latin typeface="Cambria Math" panose="02040503050406030204" charset="0"/>
                    <a:cs typeface="Cambria Math" panose="02040503050406030204" charset="0"/>
                    <a:sym typeface="+mn-ea"/>
                  </a:rPr>
                  <a:t>中心</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𝐶</m:t>
                        </m:r>
                      </m:e>
                      <m:sub>
                        <m:r>
                          <a:rPr lang="en-US" altLang="zh-CN" i="1">
                            <a:latin typeface="Cambria Math" panose="02040503050406030204" charset="0"/>
                            <a:cs typeface="Cambria Math" panose="02040503050406030204" charset="0"/>
                            <a:sym typeface="+mn-ea"/>
                          </a:rPr>
                          <m:t>𝑠</m:t>
                        </m:r>
                      </m:sub>
                    </m:sSub>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𝑐𝑥</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𝑤</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ℎ</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oMath>
                </a14:m>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旋转角度：逆时针旋转</a:t>
                </a:r>
                <a:r>
                  <a:rPr lang="en-US" altLang="zh-CN">
                    <a:latin typeface="Cambria Math" panose="02040503050406030204" charset="0"/>
                    <a:cs typeface="Cambria Math" panose="02040503050406030204" charset="0"/>
                    <a:sym typeface="+mn-ea"/>
                  </a:rPr>
                  <a:t>θ</a:t>
                </a:r>
                <a:r>
                  <a:rPr lang="zh-CN" altLang="en-US">
                    <a:latin typeface="Cambria Math" panose="02040503050406030204" charset="0"/>
                    <a:cs typeface="Cambria Math" panose="02040503050406030204" charset="0"/>
                    <a:sym typeface="+mn-ea"/>
                  </a:rPr>
                  <a:t>（正值）</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目标图像坐标系：与源图像坐标系方向相同</a:t>
                </a:r>
                <a:endParaRPr lang="zh-CN" altLang="en-US">
                  <a:latin typeface="Cambria Math" panose="02040503050406030204" charset="0"/>
                  <a:cs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目标：求正向映射（从源图像到目标图像的变换）的变换矩阵</a:t>
                </a:r>
                <a:r>
                  <a:rPr lang="en-US" altLang="zh-CN">
                    <a:latin typeface="Cambria Math" panose="02040503050406030204" charset="0"/>
                    <a:cs typeface="Cambria Math" panose="02040503050406030204" charset="0"/>
                    <a:sym typeface="+mn-ea"/>
                  </a:rPr>
                  <a:t>M,</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使</a:t>
                </a:r>
                <a:r>
                  <a:rPr lang="en-US" altLang="zh-CN">
                    <a:latin typeface="Cambria Math" panose="02040503050406030204" charset="0"/>
                    <a:cs typeface="Cambria Math" panose="02040503050406030204" charset="0"/>
                    <a:sym typeface="+mn-ea"/>
                  </a:rPr>
                  <a:t>p ′=M⋅p</a:t>
                </a:r>
                <a:endParaRPr lang="en-US" altLang="zh-CN">
                  <a:latin typeface="Cambria Math" panose="02040503050406030204" charset="0"/>
                  <a:cs typeface="Cambria Math" panose="02040503050406030204"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5356225" y="539750"/>
                <a:ext cx="9368790" cy="203009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511300" y="2473325"/>
                <a:ext cx="7947025" cy="1344930"/>
              </a:xfrm>
              <a:prstGeom prst="rect">
                <a:avLst/>
              </a:prstGeom>
              <a:noFill/>
            </p:spPr>
            <p:txBody>
              <a:bodyPr wrap="square" rtlCol="0">
                <a:spAutoFit/>
              </a:bodyPr>
              <a:p>
                <a:r>
                  <a:rPr lang="zh-CN" altLang="en-US" b="1"/>
                  <a:t>步骤</a:t>
                </a:r>
                <a:r>
                  <a:rPr lang="en-US" altLang="zh-CN" b="1"/>
                  <a:t>1</a:t>
                </a:r>
                <a:r>
                  <a:rPr lang="zh-CN" altLang="en-US" b="1"/>
                  <a:t>：将源图像坐标平移到旋转中心</a:t>
                </a:r>
                <a:r>
                  <a:rPr lang="en-US" altLang="zh-CN" b="1"/>
                  <a:t>(</a:t>
                </a:r>
                <a:r>
                  <a:rPr lang="zh-CN" altLang="en-US" b="1"/>
                  <a:t>坐标系变换</a:t>
                </a:r>
                <a:r>
                  <a:rPr lang="en-US" altLang="zh-CN" b="1"/>
                  <a:t>)</a:t>
                </a:r>
                <a:endParaRPr lang="zh-CN" altLang="en-US" b="1"/>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1511300" y="2473325"/>
                <a:ext cx="7947025" cy="134493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511300" y="4529455"/>
                <a:ext cx="7947025" cy="1068070"/>
              </a:xfrm>
              <a:prstGeom prst="rect">
                <a:avLst/>
              </a:prstGeom>
              <a:noFill/>
            </p:spPr>
            <p:txBody>
              <a:bodyPr wrap="square" rtlCol="0">
                <a:spAutoFit/>
              </a:bodyPr>
              <a:p>
                <a:r>
                  <a:rPr lang="zh-CN" altLang="en-US" b="1"/>
                  <a:t>步骤</a:t>
                </a:r>
                <a:r>
                  <a:rPr lang="en-US" altLang="zh-CN" b="1"/>
                  <a:t>2</a:t>
                </a:r>
                <a:r>
                  <a:rPr lang="zh-CN" altLang="en-US" b="1"/>
                  <a:t>：绕原点逆时针旋转</a:t>
                </a:r>
                <a:r>
                  <a:rPr lang="en-US" altLang="zh-CN" b="1"/>
                  <a:t>θ</a:t>
                </a:r>
                <a:r>
                  <a:rPr lang="zh-CN" altLang="en-US" b="1"/>
                  <a:t>角</a:t>
                </a:r>
                <a:r>
                  <a:rPr lang="en-US" altLang="zh-CN" b="1">
                    <a:sym typeface="+mn-ea"/>
                  </a:rPr>
                  <a:t>(</a:t>
                </a:r>
                <a:r>
                  <a:rPr lang="zh-CN" altLang="en-US" b="1">
                    <a:sym typeface="+mn-ea"/>
                  </a:rPr>
                  <a:t>点</a:t>
                </a:r>
                <a:r>
                  <a:rPr lang="zh-CN" altLang="en-US" b="1">
                    <a:sym typeface="+mn-ea"/>
                  </a:rPr>
                  <a:t>变换</a:t>
                </a:r>
                <a:r>
                  <a:rPr lang="en-US" altLang="zh-CN" b="1">
                    <a:sym typeface="+mn-ea"/>
                  </a:rPr>
                  <a:t>)</a:t>
                </a:r>
                <a:endParaRPr lang="zh-CN" altLang="en-US" b="1"/>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1511300" y="4529455"/>
                <a:ext cx="7947025" cy="106807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5437505" y="539750"/>
                <a:ext cx="9368790" cy="2030095"/>
              </a:xfrm>
              <a:prstGeom prst="rect">
                <a:avLst/>
              </a:prstGeom>
              <a:noFill/>
            </p:spPr>
            <p:txBody>
              <a:bodyPr wrap="square" rtlCol="0">
                <a:spAutoFit/>
              </a:bodyPr>
              <a:p>
                <a:r>
                  <a:rPr lang="zh-CN" altLang="en-US">
                    <a:latin typeface="Cambria Math" panose="02040503050406030204" charset="0"/>
                    <a:cs typeface="Cambria Math" panose="02040503050406030204" charset="0"/>
                    <a:sym typeface="+mn-ea"/>
                  </a:rPr>
                  <a:t>源图像坐标系：原点在左上角，</a:t>
                </a:r>
                <a:r>
                  <a:rPr lang="en-US" altLang="zh-CN">
                    <a:latin typeface="Cambria Math" panose="02040503050406030204" charset="0"/>
                    <a:cs typeface="Cambria Math" panose="02040503050406030204" charset="0"/>
                    <a:sym typeface="+mn-ea"/>
                  </a:rPr>
                  <a:t>u</a:t>
                </a:r>
                <a:r>
                  <a:rPr lang="zh-CN" altLang="en-US">
                    <a:latin typeface="Cambria Math" panose="02040503050406030204" charset="0"/>
                    <a:cs typeface="Cambria Math" panose="02040503050406030204" charset="0"/>
                    <a:sym typeface="+mn-ea"/>
                  </a:rPr>
                  <a:t>轴向右，</a:t>
                </a:r>
                <a:r>
                  <a:rPr lang="en-US" altLang="zh-CN">
                    <a:latin typeface="Cambria Math" panose="02040503050406030204" charset="0"/>
                    <a:cs typeface="Cambria Math" panose="02040503050406030204" charset="0"/>
                    <a:sym typeface="+mn-ea"/>
                  </a:rPr>
                  <a:t>v</a:t>
                </a:r>
                <a:r>
                  <a:rPr lang="zh-CN" altLang="en-US">
                    <a:latin typeface="Cambria Math" panose="02040503050406030204" charset="0"/>
                    <a:cs typeface="Cambria Math" panose="02040503050406030204" charset="0"/>
                    <a:sym typeface="+mn-ea"/>
                  </a:rPr>
                  <a:t>轴向下</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旋转中心：源图像中心</a:t>
                </a:r>
                <a:r>
                  <a:rPr lang="en-US" altLang="zh-CN">
                    <a:latin typeface="Cambria Math" panose="02040503050406030204" charset="0"/>
                    <a:cs typeface="Cambria Math" panose="02040503050406030204" charset="0"/>
                    <a:sym typeface="+mn-ea"/>
                  </a:rPr>
                  <a:t> </a:t>
                </a:r>
                <a:r>
                  <a:rPr lang="zh-CN" altLang="en-US">
                    <a:latin typeface="Cambria Math" panose="02040503050406030204" charset="0"/>
                    <a:cs typeface="Cambria Math" panose="02040503050406030204" charset="0"/>
                    <a:sym typeface="+mn-ea"/>
                  </a:rPr>
                  <a:t>中心</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𝐶</m:t>
                        </m:r>
                      </m:e>
                      <m:sub>
                        <m:r>
                          <a:rPr lang="en-US" altLang="zh-CN" i="1">
                            <a:latin typeface="Cambria Math" panose="02040503050406030204" charset="0"/>
                            <a:cs typeface="Cambria Math" panose="02040503050406030204" charset="0"/>
                            <a:sym typeface="+mn-ea"/>
                          </a:rPr>
                          <m:t>𝑠</m:t>
                        </m:r>
                      </m:sub>
                    </m:sSub>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𝑐𝑥</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𝑤</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ℎ</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oMath>
                </a14:m>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旋转角度：逆时针旋转</a:t>
                </a:r>
                <a:r>
                  <a:rPr lang="en-US" altLang="zh-CN">
                    <a:latin typeface="Cambria Math" panose="02040503050406030204" charset="0"/>
                    <a:cs typeface="Cambria Math" panose="02040503050406030204" charset="0"/>
                    <a:sym typeface="+mn-ea"/>
                  </a:rPr>
                  <a:t>θ</a:t>
                </a:r>
                <a:r>
                  <a:rPr lang="zh-CN" altLang="en-US">
                    <a:latin typeface="Cambria Math" panose="02040503050406030204" charset="0"/>
                    <a:cs typeface="Cambria Math" panose="02040503050406030204" charset="0"/>
                    <a:sym typeface="+mn-ea"/>
                  </a:rPr>
                  <a:t>（正值）</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目标图像坐标系：与源图像坐标系方向相同</a:t>
                </a:r>
                <a:endParaRPr lang="zh-CN" altLang="en-US">
                  <a:latin typeface="Cambria Math" panose="02040503050406030204" charset="0"/>
                  <a:cs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目标：求正向映射（从源图像到目标图像的变换）的变换矩阵</a:t>
                </a:r>
                <a:r>
                  <a:rPr lang="en-US" altLang="zh-CN">
                    <a:latin typeface="Cambria Math" panose="02040503050406030204" charset="0"/>
                    <a:cs typeface="Cambria Math" panose="02040503050406030204" charset="0"/>
                    <a:sym typeface="+mn-ea"/>
                  </a:rPr>
                  <a:t>M,</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使</a:t>
                </a:r>
                <a:r>
                  <a:rPr lang="en-US" altLang="zh-CN">
                    <a:latin typeface="Cambria Math" panose="02040503050406030204" charset="0"/>
                    <a:cs typeface="Cambria Math" panose="02040503050406030204" charset="0"/>
                    <a:sym typeface="+mn-ea"/>
                  </a:rPr>
                  <a:t>p ′=M⋅p</a:t>
                </a:r>
                <a:endParaRPr lang="en-US" altLang="zh-CN">
                  <a:latin typeface="Cambria Math" panose="02040503050406030204" charset="0"/>
                  <a:cs typeface="Cambria Math" panose="02040503050406030204"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5437505" y="539750"/>
                <a:ext cx="9368790" cy="203009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511300" y="2473325"/>
                <a:ext cx="7947025" cy="2973070"/>
              </a:xfrm>
              <a:prstGeom prst="rect">
                <a:avLst/>
              </a:prstGeom>
              <a:noFill/>
            </p:spPr>
            <p:txBody>
              <a:bodyPr wrap="square" rtlCol="0">
                <a:noAutofit/>
              </a:bodyPr>
              <a:p>
                <a:r>
                  <a:rPr lang="zh-CN" altLang="en-US" b="1"/>
                  <a:t>步骤</a:t>
                </a:r>
                <a:r>
                  <a:rPr lang="en-US" altLang="zh-CN" b="1"/>
                  <a:t>3</a:t>
                </a:r>
                <a:r>
                  <a:rPr lang="zh-CN" altLang="en-US" b="1"/>
                  <a:t>：将坐标平移回目标图像坐标系</a:t>
                </a:r>
                <a:endParaRPr lang="zh-CN" altLang="en-US" b="1"/>
              </a:p>
              <a:p>
                <a:r>
                  <a:rPr lang="zh-CN" altLang="en-US"/>
                  <a:t>若不扩张画布，则</a:t>
                </a:r>
                <a:r>
                  <a:rPr lang="en-US" altLang="zh-CN"/>
                  <a:t>:</a:t>
                </a:r>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e>
                                  </m:mr>
                                  <m:mr>
                                    <m:e>
                                      <m:r>
                                        <a:rPr lang="en-US" altLang="zh-CN" i="1">
                                          <a:latin typeface="Cambria Math" panose="02040503050406030204" charset="0"/>
                                          <a:cs typeface="Cambria Math" panose="02040503050406030204" charset="0"/>
                                        </a:rPr>
                                        <m:t>𝑐𝑦</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0</m:t>
                                </m:r>
                              </m:e>
                            </m:mr>
                          </m:m>
                        </m:e>
                      </m:d>
                    </m:oMath>
                  </m:oMathPara>
                </a14:m>
                <a:endParaRPr lang="en-US" altLang="zh-CN" i="1">
                  <a:latin typeface="Cambria Math" panose="02040503050406030204" charset="0"/>
                  <a:cs typeface="Cambria Math" panose="02040503050406030204" charset="0"/>
                </a:endParaRPr>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mr>
                                  <m:mr>
                                    <m:e>
                                      <m:r>
                                        <a:rPr lang="en-US" altLang="zh-CN" i="1">
                                          <a:latin typeface="Cambria Math" panose="02040503050406030204" charset="0"/>
                                          <a:cs typeface="Cambria Math" panose="02040503050406030204" charset="0"/>
                                        </a:rPr>
                                        <m:t>𝑠𝑖𝑛</m:t>
                                      </m:r>
                                      <m:r>
                                        <a:rPr lang="en-US" altLang="zh-CN" i="1">
                                          <a:latin typeface="Cambria Math" panose="02040503050406030204" charset="0"/>
                                          <a:cs typeface="Cambria Math" panose="02040503050406030204" charset="0"/>
                                          <a:sym typeface="+mn-ea"/>
                                        </a:rPr>
                                        <m:t>𝜃</m:t>
                                      </m:r>
                                    </m:e>
                                    <m:e>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i="1">
                                          <a:latin typeface="Cambria Math" panose="02040503050406030204" charset="0"/>
                                          <a:cs typeface="Cambria Math" panose="02040503050406030204" charset="0"/>
                                          <a:sym typeface="+mn-ea"/>
                                        </a:rPr>
                                        <m:t>𝜃</m:t>
                                      </m:r>
                                    </m:e>
                                  </m:mr>
                                  <m:mr>
                                    <m:e>
                                      <m:r>
                                        <a:rPr lang="en-US" altLang="zh-CN" i="1">
                                          <a:latin typeface="Cambria Math" panose="02040503050406030204" charset="0"/>
                                          <a:cs typeface="Cambria Math" panose="02040503050406030204" charset="0"/>
                                        </a:rPr>
                                        <m:t>𝑐𝑦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r>
                                        <a:rPr lang="en-US" altLang="zh-CN" i="1">
                                          <a:latin typeface="Cambria Math" panose="02040503050406030204" charset="0"/>
                                          <a:cs typeface="Cambria Math" panose="02040503050406030204" charset="0"/>
                                          <a:sym typeface="+mn-ea"/>
                                        </a:rPr>
                                        <m:t>𝜃</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𝑐𝑥</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𝑠𝑖𝑛</m:t>
                                      </m:r>
                                      <m:r>
                                        <a:rPr lang="en-US" altLang="zh-CN" i="1">
                                          <a:latin typeface="Cambria Math" panose="02040503050406030204" charset="0"/>
                                          <a:cs typeface="Cambria Math" panose="02040503050406030204" charset="0"/>
                                          <a:sym typeface="+mn-ea"/>
                                        </a:rPr>
                                        <m:t>𝜃</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1</m:t>
                                </m:r>
                              </m:e>
                            </m:mr>
                          </m:m>
                        </m:e>
                      </m:d>
                    </m:oMath>
                  </m:oMathPara>
                </a14:m>
                <a:endParaRPr lang="en-US" altLang="zh-CN"/>
              </a:p>
              <a:p>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1511300" y="2473325"/>
                <a:ext cx="7947025" cy="297307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15226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图像的旋转变换</a:t>
            </a:r>
            <a:endPar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5437505" y="547370"/>
                <a:ext cx="9368790" cy="2030095"/>
              </a:xfrm>
              <a:prstGeom prst="rect">
                <a:avLst/>
              </a:prstGeom>
              <a:noFill/>
            </p:spPr>
            <p:txBody>
              <a:bodyPr wrap="square" rtlCol="0">
                <a:spAutoFit/>
              </a:bodyPr>
              <a:p>
                <a:r>
                  <a:rPr lang="zh-CN" altLang="en-US">
                    <a:latin typeface="Cambria Math" panose="02040503050406030204" charset="0"/>
                    <a:cs typeface="Cambria Math" panose="02040503050406030204" charset="0"/>
                    <a:sym typeface="+mn-ea"/>
                  </a:rPr>
                  <a:t>源图像坐标系：原点在左上角，</a:t>
                </a:r>
                <a:r>
                  <a:rPr lang="en-US" altLang="zh-CN">
                    <a:latin typeface="Cambria Math" panose="02040503050406030204" charset="0"/>
                    <a:cs typeface="Cambria Math" panose="02040503050406030204" charset="0"/>
                    <a:sym typeface="+mn-ea"/>
                  </a:rPr>
                  <a:t>u</a:t>
                </a:r>
                <a:r>
                  <a:rPr lang="zh-CN" altLang="en-US">
                    <a:latin typeface="Cambria Math" panose="02040503050406030204" charset="0"/>
                    <a:cs typeface="Cambria Math" panose="02040503050406030204" charset="0"/>
                    <a:sym typeface="+mn-ea"/>
                  </a:rPr>
                  <a:t>轴向右，</a:t>
                </a:r>
                <a:r>
                  <a:rPr lang="en-US" altLang="zh-CN">
                    <a:latin typeface="Cambria Math" panose="02040503050406030204" charset="0"/>
                    <a:cs typeface="Cambria Math" panose="02040503050406030204" charset="0"/>
                    <a:sym typeface="+mn-ea"/>
                  </a:rPr>
                  <a:t>v</a:t>
                </a:r>
                <a:r>
                  <a:rPr lang="zh-CN" altLang="en-US">
                    <a:latin typeface="Cambria Math" panose="02040503050406030204" charset="0"/>
                    <a:cs typeface="Cambria Math" panose="02040503050406030204" charset="0"/>
                    <a:sym typeface="+mn-ea"/>
                  </a:rPr>
                  <a:t>轴向下</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旋转中心：源图像中心</a:t>
                </a:r>
                <a:r>
                  <a:rPr lang="en-US" altLang="zh-CN">
                    <a:latin typeface="Cambria Math" panose="02040503050406030204" charset="0"/>
                    <a:cs typeface="Cambria Math" panose="02040503050406030204" charset="0"/>
                    <a:sym typeface="+mn-ea"/>
                  </a:rPr>
                  <a:t> </a:t>
                </a:r>
                <a:r>
                  <a:rPr lang="zh-CN" altLang="en-US">
                    <a:latin typeface="Cambria Math" panose="02040503050406030204" charset="0"/>
                    <a:cs typeface="Cambria Math" panose="02040503050406030204" charset="0"/>
                    <a:sym typeface="+mn-ea"/>
                  </a:rPr>
                  <a:t>中心</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𝐶</m:t>
                        </m:r>
                      </m:e>
                      <m:sub>
                        <m:r>
                          <a:rPr lang="en-US" altLang="zh-CN" i="1">
                            <a:latin typeface="Cambria Math" panose="02040503050406030204" charset="0"/>
                            <a:cs typeface="Cambria Math" panose="02040503050406030204" charset="0"/>
                            <a:sym typeface="+mn-ea"/>
                          </a:rPr>
                          <m:t>𝑠</m:t>
                        </m:r>
                      </m:sub>
                    </m:sSub>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𝑐𝑥</m:t>
                    </m:r>
                    <m:r>
                      <a:rPr lang="en-US" altLang="zh-CN" i="1">
                        <a:latin typeface="Cambria Math" panose="02040503050406030204" charset="0"/>
                        <a:cs typeface="Cambria Math" panose="02040503050406030204" charset="0"/>
                        <a:sym typeface="+mn-ea"/>
                      </a:rPr>
                      <m:t>, </m:t>
                    </m:r>
                    <m:r>
                      <a:rPr lang="en-US" altLang="zh-CN" i="1">
                        <a:latin typeface="Cambria Math" panose="02040503050406030204" charset="0"/>
                        <a:cs typeface="Cambria Math" panose="02040503050406030204" charset="0"/>
                        <a:sym typeface="+mn-ea"/>
                      </a:rPr>
                      <m:t>𝑐𝑦</m:t>
                    </m:r>
                    <m:r>
                      <a:rPr lang="en-US" altLang="zh-CN" i="1">
                        <a:latin typeface="Cambria Math" panose="02040503050406030204" charset="0"/>
                        <a:cs typeface="Cambria Math" panose="02040503050406030204" charset="0"/>
                        <a:sym typeface="+mn-ea"/>
                      </a:rPr>
                      <m:t>) = (</m:t>
                    </m:r>
                    <m:r>
                      <a:rPr lang="en-US" altLang="zh-CN" i="1">
                        <a:latin typeface="Cambria Math" panose="02040503050406030204" charset="0"/>
                        <a:cs typeface="Cambria Math" panose="02040503050406030204" charset="0"/>
                        <a:sym typeface="+mn-ea"/>
                      </a:rPr>
                      <m:t>𝑤</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ℎ</m:t>
                    </m:r>
                    <m:r>
                      <a:rPr lang="en-US" altLang="zh-CN"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2</m:t>
                    </m:r>
                    <m:r>
                      <a:rPr lang="en-US" altLang="zh-CN" i="1">
                        <a:latin typeface="Cambria Math" panose="02040503050406030204" charset="0"/>
                        <a:cs typeface="Cambria Math" panose="02040503050406030204" charset="0"/>
                        <a:sym typeface="+mn-ea"/>
                      </a:rPr>
                      <m:t>)</m:t>
                    </m:r>
                  </m:oMath>
                </a14:m>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旋转角度：逆时针旋转</a:t>
                </a:r>
                <a:r>
                  <a:rPr lang="en-US" altLang="zh-CN">
                    <a:latin typeface="Cambria Math" panose="02040503050406030204" charset="0"/>
                    <a:cs typeface="Cambria Math" panose="02040503050406030204" charset="0"/>
                    <a:sym typeface="+mn-ea"/>
                  </a:rPr>
                  <a:t>θ</a:t>
                </a:r>
                <a:r>
                  <a:rPr lang="zh-CN" altLang="en-US">
                    <a:latin typeface="Cambria Math" panose="02040503050406030204" charset="0"/>
                    <a:cs typeface="Cambria Math" panose="02040503050406030204" charset="0"/>
                    <a:sym typeface="+mn-ea"/>
                  </a:rPr>
                  <a:t>（正值）</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目标图像坐标系：与源图像坐标系方向相同</a:t>
                </a:r>
                <a:endParaRPr lang="zh-CN" altLang="en-US">
                  <a:latin typeface="Cambria Math" panose="02040503050406030204" charset="0"/>
                  <a:cs typeface="Cambria Math" panose="02040503050406030204" charset="0"/>
                  <a:sym typeface="+mn-ea"/>
                </a:endParaRPr>
              </a:p>
              <a:p>
                <a:endParaRPr lang="zh-CN" altLang="en-US">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目标：求正向映射（从源图像到目标图像的变换）的变换矩阵</a:t>
                </a:r>
                <a:r>
                  <a:rPr lang="en-US" altLang="zh-CN">
                    <a:latin typeface="Cambria Math" panose="02040503050406030204" charset="0"/>
                    <a:cs typeface="Cambria Math" panose="02040503050406030204" charset="0"/>
                    <a:sym typeface="+mn-ea"/>
                  </a:rPr>
                  <a:t>M,</a:t>
                </a:r>
                <a:endParaRPr lang="en-US" altLang="zh-CN">
                  <a:latin typeface="Cambria Math" panose="02040503050406030204" charset="0"/>
                  <a:cs typeface="Cambria Math" panose="02040503050406030204" charset="0"/>
                  <a:sym typeface="+mn-ea"/>
                </a:endParaRPr>
              </a:p>
              <a:p>
                <a:r>
                  <a:rPr lang="zh-CN" altLang="en-US">
                    <a:latin typeface="Cambria Math" panose="02040503050406030204" charset="0"/>
                    <a:cs typeface="Cambria Math" panose="02040503050406030204" charset="0"/>
                    <a:sym typeface="+mn-ea"/>
                  </a:rPr>
                  <a:t>使</a:t>
                </a:r>
                <a:r>
                  <a:rPr lang="en-US" altLang="zh-CN">
                    <a:latin typeface="Cambria Math" panose="02040503050406030204" charset="0"/>
                    <a:cs typeface="Cambria Math" panose="02040503050406030204" charset="0"/>
                    <a:sym typeface="+mn-ea"/>
                  </a:rPr>
                  <a:t>p ′=M⋅p</a:t>
                </a:r>
                <a:endParaRPr lang="en-US" altLang="zh-CN">
                  <a:latin typeface="Cambria Math" panose="02040503050406030204" charset="0"/>
                  <a:cs typeface="Cambria Math" panose="02040503050406030204"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5437505" y="547370"/>
                <a:ext cx="9368790" cy="203009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311275" y="2577465"/>
                <a:ext cx="10404475" cy="2973070"/>
              </a:xfrm>
              <a:prstGeom prst="rect">
                <a:avLst/>
              </a:prstGeom>
              <a:noFill/>
            </p:spPr>
            <p:txBody>
              <a:bodyPr wrap="square" rtlCol="0">
                <a:noAutofit/>
              </a:bodyPr>
              <a:p>
                <a:r>
                  <a:rPr lang="zh-CN" altLang="en-US" b="1"/>
                  <a:t>步骤</a:t>
                </a:r>
                <a:r>
                  <a:rPr lang="en-US" altLang="zh-CN" b="1"/>
                  <a:t>3</a:t>
                </a:r>
                <a:r>
                  <a:rPr lang="zh-CN" altLang="en-US" b="1"/>
                  <a:t>：将坐标平移回目标图像坐标系</a:t>
                </a:r>
                <a:endParaRPr lang="zh-CN" altLang="en-US" b="1"/>
              </a:p>
              <a:p>
                <a:r>
                  <a:rPr lang="zh-CN" altLang="en-US"/>
                  <a:t>若扩张画布，则</a:t>
                </a:r>
                <a:r>
                  <a:rPr lang="en-US" altLang="zh-CN"/>
                  <a:t>:</a:t>
                </a:r>
                <a:endParaRPr lang="en-US" altLang="zh-CN"/>
              </a:p>
              <a:p>
                <a:pPr indent="457200"/>
                <a:r>
                  <a:rPr lang="zh-CN" altLang="en-US"/>
                  <a:t>先以旋转中心为原点，计算旋转后原四角点的坐标，取出</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𝑚𝑖𝑛</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𝑚𝑎𝑥</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𝑚𝑖𝑛</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𝑚𝑎𝑥</m:t>
                        </m:r>
                      </m:sub>
                    </m:sSub>
                  </m:oMath>
                </a14:m>
                <a:r>
                  <a:rPr lang="zh-CN" altLang="en-US">
                    <a:latin typeface="Cambria Math" panose="02040503050406030204" charset="0"/>
                    <a:cs typeface="Cambria Math" panose="02040503050406030204" charset="0"/>
                  </a:rPr>
                  <a:t>，则目标图像尺寸</a:t>
                </a:r>
                <a14:m>
                  <m:oMath xmlns:m="http://schemas.openxmlformats.org/officeDocument/2006/math">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𝑚𝑎𝑥</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𝑚𝑖𝑛</m:t>
                                </m:r>
                              </m:sub>
                            </m:sSub>
                          </m:e>
                        </m:d>
                      </m:e>
                    </m:d>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𝑚𝑎𝑥</m:t>
                            </m:r>
                          </m:sub>
                        </m:sSub>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𝑚𝑖𝑛</m:t>
                                </m:r>
                              </m:sub>
                            </m:sSub>
                          </m:e>
                        </m:d>
                      </m:e>
                    </m:d>
                  </m:oMath>
                </a14:m>
                <a:endParaRPr lang="en-US" altLang="zh-CN" i="1">
                  <a:latin typeface="Cambria Math" panose="02040503050406030204" charset="0"/>
                  <a:cs typeface="Cambria Math" panose="02040503050406030204" charset="0"/>
                </a:endParaRPr>
              </a:p>
              <a:p>
                <a:pPr indent="457200"/>
                <a:r>
                  <a:rPr lang="zh-CN" altLang="en-US"/>
                  <a:t>为使旋转后图像居中，旋转中心在目标图像中的位置应为：</a:t>
                </a:r>
                <a:endParaRPr lang="zh-CN" altLang="en-US"/>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𝑐𝑥</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𝑐𝑦</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oMath>
                  </m:oMathPara>
                </a14:m>
                <a:endParaRPr lang="en-US" altLang="zh-CN" i="1">
                  <a:latin typeface="Cambria Math" panose="02040503050406030204" charset="0"/>
                  <a:cs typeface="Cambria Math" panose="02040503050406030204"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1"/>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𝑐𝑥</m:t>
                                      </m:r>
                                      <m:r>
                                        <a:rPr lang="en-US" altLang="zh-CN" i="1">
                                          <a:latin typeface="Cambria Math" panose="02040503050406030204" charset="0"/>
                                          <a:cs typeface="Cambria Math" panose="02040503050406030204" charset="0"/>
                                        </a:rPr>
                                        <m:t>’</m:t>
                                      </m:r>
                                    </m:e>
                                  </m:mr>
                                  <m:mr>
                                    <m:e>
                                      <m:r>
                                        <a:rPr lang="en-US" altLang="zh-CN" i="1">
                                          <a:latin typeface="Cambria Math" panose="02040503050406030204" charset="0"/>
                                          <a:cs typeface="Cambria Math" panose="02040503050406030204" charset="0"/>
                                        </a:rPr>
                                        <m:t>𝑐𝑦</m:t>
                                      </m:r>
                                      <m:r>
                                        <a:rPr lang="en-US" altLang="zh-CN" i="1">
                                          <a:latin typeface="Cambria Math" panose="02040503050406030204" charset="0"/>
                                          <a:cs typeface="Cambria Math" panose="02040503050406030204" charset="0"/>
                                        </a:rPr>
                                        <m:t>’</m:t>
                                      </m:r>
                                    </m:e>
                                  </m:mr>
                                </m:m>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r>
                                  <a:rPr lang="en-US" altLang="zh-CN" i="1">
                                    <a:latin typeface="Cambria Math" panose="02040503050406030204" charset="0"/>
                                    <a:cs typeface="Cambria Math" panose="02040503050406030204" charset="0"/>
                                  </a:rPr>
                                  <m:t>0</m:t>
                                </m:r>
                              </m:e>
                            </m:mr>
                          </m:m>
                        </m:e>
                      </m:d>
                    </m:oMath>
                  </m:oMathPara>
                </a14:m>
                <a:endParaRPr lang="en-US" altLang="zh-CN" i="1">
                  <a:latin typeface="Cambria Math" panose="02040503050406030204" charset="0"/>
                  <a:cs typeface="Cambria Math" panose="02040503050406030204" charset="0"/>
                </a:endParaRPr>
              </a:p>
              <a:p>
                <a:pPr indent="457200"/>
                <a:endParaRPr lang="en-US" altLang="zh-CN" i="1">
                  <a:latin typeface="Cambria Math" panose="02040503050406030204" charset="0"/>
                  <a:cs typeface="Cambria Math" panose="02040503050406030204"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oMath>
                  </m:oMathPara>
                </a14:m>
                <a:endParaRPr lang="en-US" altLang="zh-CN" i="1">
                  <a:latin typeface="Cambria Math" panose="02040503050406030204" charset="0"/>
                  <a:cs typeface="Cambria Math" panose="02040503050406030204" charset="0"/>
                </a:endParaRPr>
              </a:p>
              <a:p>
                <a:pPr indent="457200"/>
                <a:endParaRPr lang="zh-CN" altLang="en-US"/>
              </a:p>
              <a:p>
                <a:pPr indent="457200"/>
                <a:endParaRPr lang="zh-CN" altLang="en-US"/>
              </a:p>
              <a:p>
                <a:endParaRPr lang="zh-CN" altLang="en-US"/>
              </a:p>
            </p:txBody>
          </p:sp>
        </mc:Choice>
        <mc:Fallback>
          <p:sp>
            <p:nvSpPr>
              <p:cNvPr id="3" name="文本框 2"/>
              <p:cNvSpPr txBox="1">
                <a:spLocks noRot="1" noChangeAspect="1" noMove="1" noResize="1" noEditPoints="1" noAdjustHandles="1" noChangeArrowheads="1" noChangeShapeType="1" noTextEdit="1"/>
              </p:cNvSpPr>
              <p:nvPr/>
            </p:nvSpPr>
            <p:spPr>
              <a:xfrm>
                <a:off x="1311275" y="2577465"/>
                <a:ext cx="10404475" cy="2973070"/>
              </a:xfrm>
              <a:prstGeom prst="rect">
                <a:avLst/>
              </a:prstGeom>
              <a:blipFill rotWithShape="1">
                <a:blip r:embed="rId4"/>
                <a:stretch>
                  <a:fillRect b="-28065"/>
                </a:stretch>
              </a:blipFill>
            </p:spPr>
            <p:txBody>
              <a:bodyPr/>
              <a:lstStyle/>
              <a:p>
                <a:r>
                  <a:rPr lang="zh-CN" altLang="en-US">
                    <a:noFill/>
                  </a:rPr>
                  <a:t> </a:t>
                </a:r>
              </a:p>
            </p:txBody>
          </p:sp>
        </mc:Fallback>
      </mc:AlternateContent>
      <p:sp>
        <p:nvSpPr>
          <p:cNvPr id="6" name="文本框 5"/>
          <p:cNvSpPr txBox="1"/>
          <p:nvPr/>
        </p:nvSpPr>
        <p:spPr>
          <a:xfrm>
            <a:off x="1600200" y="5774690"/>
            <a:ext cx="9982200" cy="645160"/>
          </a:xfrm>
          <a:prstGeom prst="rect">
            <a:avLst/>
          </a:prstGeom>
          <a:noFill/>
        </p:spPr>
        <p:txBody>
          <a:bodyPr wrap="square" rtlCol="0">
            <a:spAutoFit/>
          </a:bodyPr>
          <a:p>
            <a:r>
              <a:rPr lang="zh-CN" altLang="en-US" u="sng"/>
              <a:t>在</a:t>
            </a:r>
            <a:r>
              <a:rPr lang="en-US" altLang="zh-CN" u="sng"/>
              <a:t>OpenCV</a:t>
            </a:r>
            <a:r>
              <a:rPr lang="zh-CN" altLang="en-US" u="sng"/>
              <a:t>的实现中，我们其实是获取逆向映射的矩阵，而后计算旋转后图像每个像素点在源图像中的位置，通过插值得到新的图像</a:t>
            </a:r>
            <a:endParaRPr lang="zh-CN" altLang="en-US" u="sng"/>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旋转</a:t>
            </a:r>
            <a:r>
              <a:rPr lang="zh-CN" sz="3200" b="1" dirty="0" smtClean="0">
                <a:solidFill>
                  <a:schemeClr val="bg1"/>
                </a:solidFill>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1029970" y="2237740"/>
            <a:ext cx="7363460" cy="368300"/>
          </a:xfrm>
          <a:prstGeom prst="rect">
            <a:avLst/>
          </a:prstGeom>
          <a:noFill/>
        </p:spPr>
        <p:txBody>
          <a:bodyPr wrap="square" rtlCol="0">
            <a:spAutoFit/>
          </a:bodyPr>
          <a:p>
            <a:pPr indent="-609600" algn="just" eaLnBrk="1" hangingPunct="1">
              <a:spcBef>
                <a:spcPct val="20000"/>
              </a:spcBef>
              <a:buClr>
                <a:schemeClr val="hlink"/>
              </a:buClr>
              <a:buSzPct val="60000"/>
              <a:buFont typeface="Wingdings" panose="05000000000000000000" pitchFamily="2" charset="2"/>
              <a:buNone/>
              <a:defRPr/>
            </a:pPr>
            <a:r>
              <a:rPr lang="zh-CN" altLang="en-US">
                <a:sym typeface="+mn-ea"/>
              </a:rPr>
              <a:t>图像简单旋转的效果</a:t>
            </a:r>
            <a:endParaRPr lang="en-US" altLang="zh-CN"/>
          </a:p>
        </p:txBody>
      </p:sp>
      <p:pic>
        <p:nvPicPr>
          <p:cNvPr id="220168" name="Picture 8" descr="peppers2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590" y="2990850"/>
            <a:ext cx="2598738"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69" name="AutoShape 9"/>
          <p:cNvSpPr>
            <a:spLocks noChangeArrowheads="1"/>
          </p:cNvSpPr>
          <p:nvPr/>
        </p:nvSpPr>
        <p:spPr bwMode="auto">
          <a:xfrm>
            <a:off x="6142990" y="4057650"/>
            <a:ext cx="685800" cy="533400"/>
          </a:xfrm>
          <a:prstGeom prst="rightArrow">
            <a:avLst>
              <a:gd name="adj1" fmla="val 50000"/>
              <a:gd name="adj2" fmla="val 32143"/>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pic>
        <p:nvPicPr>
          <p:cNvPr id="220170" name="Picture 10" descr="图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7390" y="2533650"/>
            <a:ext cx="3678238" cy="3678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旋转</a:t>
            </a:r>
            <a:r>
              <a:rPr lang="zh-CN" sz="3200" b="1" dirty="0" smtClean="0">
                <a:solidFill>
                  <a:schemeClr val="bg1"/>
                </a:solidFill>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187325" y="2237740"/>
            <a:ext cx="7363460" cy="645160"/>
          </a:xfrm>
          <a:prstGeom prst="rect">
            <a:avLst/>
          </a:prstGeom>
          <a:noFill/>
        </p:spPr>
        <p:txBody>
          <a:bodyPr wrap="square" rtlCol="0">
            <a:spAutoFit/>
          </a:bodyPr>
          <a:p>
            <a:pPr indent="-609600" algn="just" eaLnBrk="1" hangingPunct="1">
              <a:spcBef>
                <a:spcPct val="20000"/>
              </a:spcBef>
              <a:buClr>
                <a:schemeClr val="hlink"/>
              </a:buClr>
              <a:buSzPct val="60000"/>
              <a:buFont typeface="Wingdings" panose="05000000000000000000" pitchFamily="2" charset="2"/>
              <a:buNone/>
              <a:defRPr/>
            </a:pPr>
            <a:r>
              <a:rPr lang="zh-CN" altLang="en-US">
                <a:sym typeface="+mn-ea"/>
              </a:rPr>
              <a:t>数字图像旋转之后，会出现许多的空白点，对这些空白点必须进行填充处理，否则画面效果不好。称这种操作为插值处理</a:t>
            </a:r>
            <a:r>
              <a:rPr lang="zh-CN" altLang="en-US" dirty="0">
                <a:solidFill>
                  <a:schemeClr val="accent2">
                    <a:lumMod val="50000"/>
                  </a:schemeClr>
                </a:solidFill>
                <a:latin typeface="隶书" panose="02010509060101010101" pitchFamily="49" charset="-122"/>
                <a:ea typeface="隶书" panose="02010509060101010101" pitchFamily="49" charset="-122"/>
                <a:sym typeface="+mn-ea"/>
              </a:rPr>
              <a:t>。</a:t>
            </a:r>
            <a:endParaRPr lang="en-US" altLang="zh-CN"/>
          </a:p>
        </p:txBody>
      </p:sp>
      <p:grpSp>
        <p:nvGrpSpPr>
          <p:cNvPr id="3" name="Group 6"/>
          <p:cNvGrpSpPr/>
          <p:nvPr/>
        </p:nvGrpSpPr>
        <p:grpSpPr bwMode="auto">
          <a:xfrm>
            <a:off x="3435350" y="3632200"/>
            <a:ext cx="1154113" cy="1152525"/>
            <a:chOff x="3651" y="2432"/>
            <a:chExt cx="727" cy="726"/>
          </a:xfrm>
        </p:grpSpPr>
        <p:grpSp>
          <p:nvGrpSpPr>
            <p:cNvPr id="43024" name="Group 7"/>
            <p:cNvGrpSpPr/>
            <p:nvPr/>
          </p:nvGrpSpPr>
          <p:grpSpPr bwMode="auto">
            <a:xfrm>
              <a:off x="3651" y="2432"/>
              <a:ext cx="727" cy="726"/>
              <a:chOff x="3515" y="2296"/>
              <a:chExt cx="727" cy="726"/>
            </a:xfrm>
          </p:grpSpPr>
          <p:sp>
            <p:nvSpPr>
              <p:cNvPr id="43034" name="Rectangle 8"/>
              <p:cNvSpPr>
                <a:spLocks noChangeArrowheads="1"/>
              </p:cNvSpPr>
              <p:nvPr/>
            </p:nvSpPr>
            <p:spPr bwMode="auto">
              <a:xfrm>
                <a:off x="3696"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5" name="Rectangle 9"/>
              <p:cNvSpPr>
                <a:spLocks noChangeArrowheads="1"/>
              </p:cNvSpPr>
              <p:nvPr/>
            </p:nvSpPr>
            <p:spPr bwMode="auto">
              <a:xfrm>
                <a:off x="3515"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6" name="Rectangle 10"/>
              <p:cNvSpPr>
                <a:spLocks noChangeArrowheads="1"/>
              </p:cNvSpPr>
              <p:nvPr/>
            </p:nvSpPr>
            <p:spPr bwMode="auto">
              <a:xfrm>
                <a:off x="3877"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43037" name="Rectangle 11"/>
              <p:cNvSpPr>
                <a:spLocks noChangeArrowheads="1"/>
              </p:cNvSpPr>
              <p:nvPr/>
            </p:nvSpPr>
            <p:spPr bwMode="auto">
              <a:xfrm>
                <a:off x="3515"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8" name="Rectangle 12"/>
              <p:cNvSpPr>
                <a:spLocks noChangeArrowheads="1"/>
              </p:cNvSpPr>
              <p:nvPr/>
            </p:nvSpPr>
            <p:spPr bwMode="auto">
              <a:xfrm>
                <a:off x="3515" y="284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9" name="Rectangle 13"/>
              <p:cNvSpPr>
                <a:spLocks noChangeArrowheads="1"/>
              </p:cNvSpPr>
              <p:nvPr/>
            </p:nvSpPr>
            <p:spPr bwMode="auto">
              <a:xfrm>
                <a:off x="3878"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0" name="Rectangle 14"/>
              <p:cNvSpPr>
                <a:spLocks noChangeArrowheads="1"/>
              </p:cNvSpPr>
              <p:nvPr/>
            </p:nvSpPr>
            <p:spPr bwMode="auto">
              <a:xfrm>
                <a:off x="3696"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1" name="Rectangle 15"/>
              <p:cNvSpPr>
                <a:spLocks noChangeArrowheads="1"/>
              </p:cNvSpPr>
              <p:nvPr/>
            </p:nvSpPr>
            <p:spPr bwMode="auto">
              <a:xfrm>
                <a:off x="3697" y="284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2" name="Rectangle 16"/>
              <p:cNvSpPr>
                <a:spLocks noChangeArrowheads="1"/>
              </p:cNvSpPr>
              <p:nvPr/>
            </p:nvSpPr>
            <p:spPr bwMode="auto">
              <a:xfrm>
                <a:off x="3878" y="284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3" name="Rectangle 17"/>
              <p:cNvSpPr>
                <a:spLocks noChangeArrowheads="1"/>
              </p:cNvSpPr>
              <p:nvPr/>
            </p:nvSpPr>
            <p:spPr bwMode="auto">
              <a:xfrm>
                <a:off x="3515"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4" name="Rectangle 18"/>
              <p:cNvSpPr>
                <a:spLocks noChangeArrowheads="1"/>
              </p:cNvSpPr>
              <p:nvPr/>
            </p:nvSpPr>
            <p:spPr bwMode="auto">
              <a:xfrm>
                <a:off x="3697"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5" name="Rectangle 19"/>
              <p:cNvSpPr>
                <a:spLocks noChangeArrowheads="1"/>
              </p:cNvSpPr>
              <p:nvPr/>
            </p:nvSpPr>
            <p:spPr bwMode="auto">
              <a:xfrm>
                <a:off x="3878"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6" name="Rectangle 20"/>
              <p:cNvSpPr>
                <a:spLocks noChangeArrowheads="1"/>
              </p:cNvSpPr>
              <p:nvPr/>
            </p:nvSpPr>
            <p:spPr bwMode="auto">
              <a:xfrm>
                <a:off x="4060"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7" name="Rectangle 21"/>
              <p:cNvSpPr>
                <a:spLocks noChangeArrowheads="1"/>
              </p:cNvSpPr>
              <p:nvPr/>
            </p:nvSpPr>
            <p:spPr bwMode="auto">
              <a:xfrm>
                <a:off x="4060"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8" name="Rectangle 22"/>
              <p:cNvSpPr>
                <a:spLocks noChangeArrowheads="1"/>
              </p:cNvSpPr>
              <p:nvPr/>
            </p:nvSpPr>
            <p:spPr bwMode="auto">
              <a:xfrm>
                <a:off x="4060"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49" name="Rectangle 23"/>
              <p:cNvSpPr>
                <a:spLocks noChangeArrowheads="1"/>
              </p:cNvSpPr>
              <p:nvPr/>
            </p:nvSpPr>
            <p:spPr bwMode="auto">
              <a:xfrm>
                <a:off x="4059" y="284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43025" name="Rectangle 24"/>
            <p:cNvSpPr>
              <a:spLocks noChangeArrowheads="1"/>
            </p:cNvSpPr>
            <p:nvPr/>
          </p:nvSpPr>
          <p:spPr bwMode="auto">
            <a:xfrm>
              <a:off x="3832" y="2614"/>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6" name="Rectangle 25"/>
            <p:cNvSpPr>
              <a:spLocks noChangeArrowheads="1"/>
            </p:cNvSpPr>
            <p:nvPr/>
          </p:nvSpPr>
          <p:spPr bwMode="auto">
            <a:xfrm>
              <a:off x="3651" y="2614"/>
              <a:ext cx="182" cy="181"/>
            </a:xfrm>
            <a:prstGeom prst="rect">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7" name="Rectangle 26"/>
            <p:cNvSpPr>
              <a:spLocks noChangeArrowheads="1"/>
            </p:cNvSpPr>
            <p:nvPr/>
          </p:nvSpPr>
          <p:spPr bwMode="auto">
            <a:xfrm>
              <a:off x="4195" y="2614"/>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43028" name="Rectangle 27"/>
            <p:cNvSpPr>
              <a:spLocks noChangeArrowheads="1"/>
            </p:cNvSpPr>
            <p:nvPr/>
          </p:nvSpPr>
          <p:spPr bwMode="auto">
            <a:xfrm>
              <a:off x="3832" y="2976"/>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9" name="Rectangle 28"/>
            <p:cNvSpPr>
              <a:spLocks noChangeArrowheads="1"/>
            </p:cNvSpPr>
            <p:nvPr/>
          </p:nvSpPr>
          <p:spPr bwMode="auto">
            <a:xfrm>
              <a:off x="4014" y="2432"/>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0" name="Rectangle 29"/>
            <p:cNvSpPr>
              <a:spLocks noChangeArrowheads="1"/>
            </p:cNvSpPr>
            <p:nvPr/>
          </p:nvSpPr>
          <p:spPr bwMode="auto">
            <a:xfrm>
              <a:off x="4014" y="2795"/>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1" name="Rectangle 30"/>
            <p:cNvSpPr>
              <a:spLocks noChangeArrowheads="1"/>
            </p:cNvSpPr>
            <p:nvPr/>
          </p:nvSpPr>
          <p:spPr bwMode="auto">
            <a:xfrm>
              <a:off x="4014" y="2976"/>
              <a:ext cx="182" cy="181"/>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2" name="Rectangle 31"/>
            <p:cNvSpPr>
              <a:spLocks noChangeArrowheads="1"/>
            </p:cNvSpPr>
            <p:nvPr/>
          </p:nvSpPr>
          <p:spPr bwMode="auto">
            <a:xfrm>
              <a:off x="4195" y="2795"/>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33" name="Rectangle 32"/>
            <p:cNvSpPr>
              <a:spLocks noChangeArrowheads="1"/>
            </p:cNvSpPr>
            <p:nvPr/>
          </p:nvSpPr>
          <p:spPr bwMode="auto">
            <a:xfrm>
              <a:off x="3832" y="2795"/>
              <a:ext cx="182" cy="181"/>
            </a:xfrm>
            <a:prstGeom prst="rect">
              <a:avLst/>
            </a:prstGeom>
            <a:solidFill>
              <a:srgbClr val="CCE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grpSp>
        <p:nvGrpSpPr>
          <p:cNvPr id="4" name="Group 33"/>
          <p:cNvGrpSpPr/>
          <p:nvPr/>
        </p:nvGrpSpPr>
        <p:grpSpPr bwMode="auto">
          <a:xfrm>
            <a:off x="555625" y="3703638"/>
            <a:ext cx="865188" cy="863600"/>
            <a:chOff x="930" y="2478"/>
            <a:chExt cx="545" cy="544"/>
          </a:xfrm>
        </p:grpSpPr>
        <p:sp>
          <p:nvSpPr>
            <p:cNvPr id="43015" name="Rectangle 34"/>
            <p:cNvSpPr>
              <a:spLocks noChangeArrowheads="1"/>
            </p:cNvSpPr>
            <p:nvPr/>
          </p:nvSpPr>
          <p:spPr bwMode="auto">
            <a:xfrm>
              <a:off x="1111" y="2478"/>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16" name="Rectangle 35"/>
            <p:cNvSpPr>
              <a:spLocks noChangeArrowheads="1"/>
            </p:cNvSpPr>
            <p:nvPr/>
          </p:nvSpPr>
          <p:spPr bwMode="auto">
            <a:xfrm>
              <a:off x="930" y="2478"/>
              <a:ext cx="182" cy="181"/>
            </a:xfrm>
            <a:prstGeom prst="rect">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17" name="Rectangle 36"/>
            <p:cNvSpPr>
              <a:spLocks noChangeArrowheads="1"/>
            </p:cNvSpPr>
            <p:nvPr/>
          </p:nvSpPr>
          <p:spPr bwMode="auto">
            <a:xfrm>
              <a:off x="1292" y="2659"/>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43018" name="Rectangle 37"/>
            <p:cNvSpPr>
              <a:spLocks noChangeArrowheads="1"/>
            </p:cNvSpPr>
            <p:nvPr/>
          </p:nvSpPr>
          <p:spPr bwMode="auto">
            <a:xfrm>
              <a:off x="930" y="2659"/>
              <a:ext cx="182" cy="181"/>
            </a:xfrm>
            <a:prstGeom prst="rect">
              <a:avLst/>
            </a:prstGeom>
            <a:solidFill>
              <a:srgbClr val="CCE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19" name="Rectangle 38"/>
            <p:cNvSpPr>
              <a:spLocks noChangeArrowheads="1"/>
            </p:cNvSpPr>
            <p:nvPr/>
          </p:nvSpPr>
          <p:spPr bwMode="auto">
            <a:xfrm>
              <a:off x="930" y="2840"/>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0" name="Rectangle 39"/>
            <p:cNvSpPr>
              <a:spLocks noChangeArrowheads="1"/>
            </p:cNvSpPr>
            <p:nvPr/>
          </p:nvSpPr>
          <p:spPr bwMode="auto">
            <a:xfrm>
              <a:off x="1292" y="2478"/>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1" name="Rectangle 40"/>
            <p:cNvSpPr>
              <a:spLocks noChangeArrowheads="1"/>
            </p:cNvSpPr>
            <p:nvPr/>
          </p:nvSpPr>
          <p:spPr bwMode="auto">
            <a:xfrm>
              <a:off x="1111" y="2659"/>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2" name="Rectangle 41"/>
            <p:cNvSpPr>
              <a:spLocks noChangeArrowheads="1"/>
            </p:cNvSpPr>
            <p:nvPr/>
          </p:nvSpPr>
          <p:spPr bwMode="auto">
            <a:xfrm>
              <a:off x="1112" y="2841"/>
              <a:ext cx="182" cy="181"/>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3023" name="Rectangle 42"/>
            <p:cNvSpPr>
              <a:spLocks noChangeArrowheads="1"/>
            </p:cNvSpPr>
            <p:nvPr/>
          </p:nvSpPr>
          <p:spPr bwMode="auto">
            <a:xfrm>
              <a:off x="1293" y="2841"/>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206891" name="AutoShape 43"/>
          <p:cNvSpPr>
            <a:spLocks noChangeArrowheads="1"/>
          </p:cNvSpPr>
          <p:nvPr/>
        </p:nvSpPr>
        <p:spPr bwMode="auto">
          <a:xfrm>
            <a:off x="2068513" y="3848100"/>
            <a:ext cx="647700" cy="431800"/>
          </a:xfrm>
          <a:prstGeom prst="rightArrow">
            <a:avLst>
              <a:gd name="adj1" fmla="val 50000"/>
              <a:gd name="adj2" fmla="val 37500"/>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6892" name="Line 44"/>
          <p:cNvSpPr>
            <a:spLocks noChangeShapeType="1"/>
          </p:cNvSpPr>
          <p:nvPr/>
        </p:nvSpPr>
        <p:spPr bwMode="auto">
          <a:xfrm flipH="1">
            <a:off x="4156075" y="3343275"/>
            <a:ext cx="287338" cy="720725"/>
          </a:xfrm>
          <a:prstGeom prst="line">
            <a:avLst/>
          </a:prstGeom>
          <a:noFill/>
          <a:ln w="76200">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 name="Group 4"/>
          <p:cNvGrpSpPr/>
          <p:nvPr/>
        </p:nvGrpSpPr>
        <p:grpSpPr bwMode="auto">
          <a:xfrm>
            <a:off x="9600883" y="3343275"/>
            <a:ext cx="1871662" cy="1943100"/>
            <a:chOff x="2971" y="1616"/>
            <a:chExt cx="727" cy="726"/>
          </a:xfrm>
        </p:grpSpPr>
        <p:grpSp>
          <p:nvGrpSpPr>
            <p:cNvPr id="45073" name="Group 5"/>
            <p:cNvGrpSpPr/>
            <p:nvPr/>
          </p:nvGrpSpPr>
          <p:grpSpPr bwMode="auto">
            <a:xfrm>
              <a:off x="2971" y="1616"/>
              <a:ext cx="727" cy="726"/>
              <a:chOff x="3515" y="2296"/>
              <a:chExt cx="727" cy="726"/>
            </a:xfrm>
          </p:grpSpPr>
          <p:sp>
            <p:nvSpPr>
              <p:cNvPr id="45083" name="Rectangle 6"/>
              <p:cNvSpPr>
                <a:spLocks noChangeArrowheads="1"/>
              </p:cNvSpPr>
              <p:nvPr/>
            </p:nvSpPr>
            <p:spPr bwMode="auto">
              <a:xfrm>
                <a:off x="3696"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4" name="Rectangle 7"/>
              <p:cNvSpPr>
                <a:spLocks noChangeArrowheads="1"/>
              </p:cNvSpPr>
              <p:nvPr/>
            </p:nvSpPr>
            <p:spPr bwMode="auto">
              <a:xfrm>
                <a:off x="3515"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5" name="Rectangle 8"/>
              <p:cNvSpPr>
                <a:spLocks noChangeArrowheads="1"/>
              </p:cNvSpPr>
              <p:nvPr/>
            </p:nvSpPr>
            <p:spPr bwMode="auto">
              <a:xfrm>
                <a:off x="3877"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45086" name="Rectangle 9"/>
              <p:cNvSpPr>
                <a:spLocks noChangeArrowheads="1"/>
              </p:cNvSpPr>
              <p:nvPr/>
            </p:nvSpPr>
            <p:spPr bwMode="auto">
              <a:xfrm>
                <a:off x="3515"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7" name="Rectangle 10"/>
              <p:cNvSpPr>
                <a:spLocks noChangeArrowheads="1"/>
              </p:cNvSpPr>
              <p:nvPr/>
            </p:nvSpPr>
            <p:spPr bwMode="auto">
              <a:xfrm>
                <a:off x="3515" y="284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8" name="Rectangle 11"/>
              <p:cNvSpPr>
                <a:spLocks noChangeArrowheads="1"/>
              </p:cNvSpPr>
              <p:nvPr/>
            </p:nvSpPr>
            <p:spPr bwMode="auto">
              <a:xfrm>
                <a:off x="3878"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9" name="Rectangle 12"/>
              <p:cNvSpPr>
                <a:spLocks noChangeArrowheads="1"/>
              </p:cNvSpPr>
              <p:nvPr/>
            </p:nvSpPr>
            <p:spPr bwMode="auto">
              <a:xfrm>
                <a:off x="3696"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0" name="Rectangle 13"/>
              <p:cNvSpPr>
                <a:spLocks noChangeArrowheads="1"/>
              </p:cNvSpPr>
              <p:nvPr/>
            </p:nvSpPr>
            <p:spPr bwMode="auto">
              <a:xfrm>
                <a:off x="3697" y="284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1" name="Rectangle 14"/>
              <p:cNvSpPr>
                <a:spLocks noChangeArrowheads="1"/>
              </p:cNvSpPr>
              <p:nvPr/>
            </p:nvSpPr>
            <p:spPr bwMode="auto">
              <a:xfrm>
                <a:off x="3878" y="284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2" name="Rectangle 15"/>
              <p:cNvSpPr>
                <a:spLocks noChangeArrowheads="1"/>
              </p:cNvSpPr>
              <p:nvPr/>
            </p:nvSpPr>
            <p:spPr bwMode="auto">
              <a:xfrm>
                <a:off x="3515"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3" name="Rectangle 16"/>
              <p:cNvSpPr>
                <a:spLocks noChangeArrowheads="1"/>
              </p:cNvSpPr>
              <p:nvPr/>
            </p:nvSpPr>
            <p:spPr bwMode="auto">
              <a:xfrm>
                <a:off x="3697"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4" name="Rectangle 17"/>
              <p:cNvSpPr>
                <a:spLocks noChangeArrowheads="1"/>
              </p:cNvSpPr>
              <p:nvPr/>
            </p:nvSpPr>
            <p:spPr bwMode="auto">
              <a:xfrm>
                <a:off x="3878"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5" name="Rectangle 18"/>
              <p:cNvSpPr>
                <a:spLocks noChangeArrowheads="1"/>
              </p:cNvSpPr>
              <p:nvPr/>
            </p:nvSpPr>
            <p:spPr bwMode="auto">
              <a:xfrm>
                <a:off x="4060" y="2296"/>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6" name="Rectangle 19"/>
              <p:cNvSpPr>
                <a:spLocks noChangeArrowheads="1"/>
              </p:cNvSpPr>
              <p:nvPr/>
            </p:nvSpPr>
            <p:spPr bwMode="auto">
              <a:xfrm>
                <a:off x="4060" y="247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7" name="Rectangle 20"/>
              <p:cNvSpPr>
                <a:spLocks noChangeArrowheads="1"/>
              </p:cNvSpPr>
              <p:nvPr/>
            </p:nvSpPr>
            <p:spPr bwMode="auto">
              <a:xfrm>
                <a:off x="4060" y="2659"/>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98" name="Rectangle 21"/>
              <p:cNvSpPr>
                <a:spLocks noChangeArrowheads="1"/>
              </p:cNvSpPr>
              <p:nvPr/>
            </p:nvSpPr>
            <p:spPr bwMode="auto">
              <a:xfrm>
                <a:off x="4059" y="284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45074" name="Rectangle 22"/>
            <p:cNvSpPr>
              <a:spLocks noChangeArrowheads="1"/>
            </p:cNvSpPr>
            <p:nvPr/>
          </p:nvSpPr>
          <p:spPr bwMode="auto">
            <a:xfrm>
              <a:off x="3152" y="1798"/>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5" name="Rectangle 23"/>
            <p:cNvSpPr>
              <a:spLocks noChangeArrowheads="1"/>
            </p:cNvSpPr>
            <p:nvPr/>
          </p:nvSpPr>
          <p:spPr bwMode="auto">
            <a:xfrm>
              <a:off x="2971" y="1798"/>
              <a:ext cx="182" cy="181"/>
            </a:xfrm>
            <a:prstGeom prst="rect">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6" name="Rectangle 24"/>
            <p:cNvSpPr>
              <a:spLocks noChangeArrowheads="1"/>
            </p:cNvSpPr>
            <p:nvPr/>
          </p:nvSpPr>
          <p:spPr bwMode="auto">
            <a:xfrm>
              <a:off x="3515" y="1798"/>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45077" name="Rectangle 25"/>
            <p:cNvSpPr>
              <a:spLocks noChangeArrowheads="1"/>
            </p:cNvSpPr>
            <p:nvPr/>
          </p:nvSpPr>
          <p:spPr bwMode="auto">
            <a:xfrm>
              <a:off x="3152" y="2160"/>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8" name="Rectangle 26"/>
            <p:cNvSpPr>
              <a:spLocks noChangeArrowheads="1"/>
            </p:cNvSpPr>
            <p:nvPr/>
          </p:nvSpPr>
          <p:spPr bwMode="auto">
            <a:xfrm>
              <a:off x="3334" y="1616"/>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9" name="Rectangle 27"/>
            <p:cNvSpPr>
              <a:spLocks noChangeArrowheads="1"/>
            </p:cNvSpPr>
            <p:nvPr/>
          </p:nvSpPr>
          <p:spPr bwMode="auto">
            <a:xfrm>
              <a:off x="3334" y="1979"/>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0" name="Rectangle 28"/>
            <p:cNvSpPr>
              <a:spLocks noChangeArrowheads="1"/>
            </p:cNvSpPr>
            <p:nvPr/>
          </p:nvSpPr>
          <p:spPr bwMode="auto">
            <a:xfrm>
              <a:off x="3334" y="2160"/>
              <a:ext cx="182" cy="181"/>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1" name="Rectangle 29"/>
            <p:cNvSpPr>
              <a:spLocks noChangeArrowheads="1"/>
            </p:cNvSpPr>
            <p:nvPr/>
          </p:nvSpPr>
          <p:spPr bwMode="auto">
            <a:xfrm>
              <a:off x="3515" y="1979"/>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82" name="Rectangle 30"/>
            <p:cNvSpPr>
              <a:spLocks noChangeArrowheads="1"/>
            </p:cNvSpPr>
            <p:nvPr/>
          </p:nvSpPr>
          <p:spPr bwMode="auto">
            <a:xfrm>
              <a:off x="3152" y="1979"/>
              <a:ext cx="182" cy="181"/>
            </a:xfrm>
            <a:prstGeom prst="rect">
              <a:avLst/>
            </a:prstGeom>
            <a:solidFill>
              <a:srgbClr val="CCE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grpSp>
        <p:nvGrpSpPr>
          <p:cNvPr id="10" name="Group 31"/>
          <p:cNvGrpSpPr/>
          <p:nvPr/>
        </p:nvGrpSpPr>
        <p:grpSpPr bwMode="auto">
          <a:xfrm>
            <a:off x="7202170" y="3557588"/>
            <a:ext cx="1403350" cy="1455737"/>
            <a:chOff x="930" y="2478"/>
            <a:chExt cx="545" cy="544"/>
          </a:xfrm>
        </p:grpSpPr>
        <p:sp>
          <p:nvSpPr>
            <p:cNvPr id="45064" name="Rectangle 32"/>
            <p:cNvSpPr>
              <a:spLocks noChangeArrowheads="1"/>
            </p:cNvSpPr>
            <p:nvPr/>
          </p:nvSpPr>
          <p:spPr bwMode="auto">
            <a:xfrm>
              <a:off x="1111" y="2478"/>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65" name="Rectangle 33"/>
            <p:cNvSpPr>
              <a:spLocks noChangeArrowheads="1"/>
            </p:cNvSpPr>
            <p:nvPr/>
          </p:nvSpPr>
          <p:spPr bwMode="auto">
            <a:xfrm>
              <a:off x="930" y="2478"/>
              <a:ext cx="182" cy="181"/>
            </a:xfrm>
            <a:prstGeom prst="rect">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66" name="Rectangle 34"/>
            <p:cNvSpPr>
              <a:spLocks noChangeArrowheads="1"/>
            </p:cNvSpPr>
            <p:nvPr/>
          </p:nvSpPr>
          <p:spPr bwMode="auto">
            <a:xfrm>
              <a:off x="1292" y="2659"/>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45067" name="Rectangle 35"/>
            <p:cNvSpPr>
              <a:spLocks noChangeArrowheads="1"/>
            </p:cNvSpPr>
            <p:nvPr/>
          </p:nvSpPr>
          <p:spPr bwMode="auto">
            <a:xfrm>
              <a:off x="930" y="2659"/>
              <a:ext cx="182" cy="181"/>
            </a:xfrm>
            <a:prstGeom prst="rect">
              <a:avLst/>
            </a:prstGeom>
            <a:solidFill>
              <a:srgbClr val="CCE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68" name="Rectangle 36"/>
            <p:cNvSpPr>
              <a:spLocks noChangeArrowheads="1"/>
            </p:cNvSpPr>
            <p:nvPr/>
          </p:nvSpPr>
          <p:spPr bwMode="auto">
            <a:xfrm>
              <a:off x="930" y="2840"/>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69" name="Rectangle 37"/>
            <p:cNvSpPr>
              <a:spLocks noChangeArrowheads="1"/>
            </p:cNvSpPr>
            <p:nvPr/>
          </p:nvSpPr>
          <p:spPr bwMode="auto">
            <a:xfrm>
              <a:off x="1292" y="2478"/>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0" name="Rectangle 38"/>
            <p:cNvSpPr>
              <a:spLocks noChangeArrowheads="1"/>
            </p:cNvSpPr>
            <p:nvPr/>
          </p:nvSpPr>
          <p:spPr bwMode="auto">
            <a:xfrm>
              <a:off x="1111" y="2659"/>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1" name="Rectangle 39"/>
            <p:cNvSpPr>
              <a:spLocks noChangeArrowheads="1"/>
            </p:cNvSpPr>
            <p:nvPr/>
          </p:nvSpPr>
          <p:spPr bwMode="auto">
            <a:xfrm>
              <a:off x="1112" y="2841"/>
              <a:ext cx="182" cy="181"/>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5072" name="Rectangle 40"/>
            <p:cNvSpPr>
              <a:spLocks noChangeArrowheads="1"/>
            </p:cNvSpPr>
            <p:nvPr/>
          </p:nvSpPr>
          <p:spPr bwMode="auto">
            <a:xfrm>
              <a:off x="1293" y="2841"/>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209961" name="AutoShape 41"/>
          <p:cNvSpPr>
            <a:spLocks noChangeArrowheads="1"/>
          </p:cNvSpPr>
          <p:nvPr/>
        </p:nvSpPr>
        <p:spPr bwMode="auto">
          <a:xfrm>
            <a:off x="8840470" y="4070350"/>
            <a:ext cx="647700" cy="431800"/>
          </a:xfrm>
          <a:prstGeom prst="rightArrow">
            <a:avLst>
              <a:gd name="adj1" fmla="val 50000"/>
              <a:gd name="adj2" fmla="val 37500"/>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209962" name="Rectangle 42"/>
          <p:cNvSpPr>
            <a:spLocks noChangeArrowheads="1"/>
          </p:cNvSpPr>
          <p:nvPr/>
        </p:nvSpPr>
        <p:spPr bwMode="auto">
          <a:xfrm>
            <a:off x="10529570" y="3827463"/>
            <a:ext cx="469900" cy="484187"/>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42" name="Line 44"/>
          <p:cNvSpPr>
            <a:spLocks noChangeShapeType="1"/>
          </p:cNvSpPr>
          <p:nvPr/>
        </p:nvSpPr>
        <p:spPr bwMode="auto">
          <a:xfrm flipH="1">
            <a:off x="10712133" y="3019425"/>
            <a:ext cx="473075" cy="968375"/>
          </a:xfrm>
          <a:prstGeom prst="line">
            <a:avLst/>
          </a:prstGeom>
          <a:noFill/>
          <a:ln w="76200">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文本框 10"/>
          <p:cNvSpPr txBox="1"/>
          <p:nvPr/>
        </p:nvSpPr>
        <p:spPr>
          <a:xfrm>
            <a:off x="6570345" y="5449570"/>
            <a:ext cx="6096000" cy="398780"/>
          </a:xfrm>
          <a:prstGeom prst="rect">
            <a:avLst/>
          </a:prstGeom>
          <a:noFill/>
        </p:spPr>
        <p:txBody>
          <a:bodyPr wrap="square" rtlCol="0" anchor="t">
            <a:spAutoFit/>
          </a:bodyPr>
          <a:p>
            <a:pPr eaLnBrk="1" hangingPunct="1">
              <a:spcBef>
                <a:spcPct val="50000"/>
              </a:spcBef>
            </a:pPr>
            <a:r>
              <a:rPr kumimoji="1" lang="zh-CN" altLang="en-US" sz="2000">
                <a:latin typeface="微软雅黑" panose="020B0503020204020204" charset="-122"/>
                <a:ea typeface="微软雅黑" panose="020B0503020204020204" charset="-122"/>
                <a:sym typeface="+mn-ea"/>
              </a:rPr>
              <a:t>经过插值处理之后，图像效果就变得自然。</a:t>
            </a:r>
            <a:endParaRPr kumimoji="1" lang="zh-CN" altLang="en-US" sz="2000">
              <a:latin typeface="微软雅黑" panose="020B0503020204020204" charset="-122"/>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旋转</a:t>
            </a:r>
            <a:r>
              <a:rPr lang="zh-CN" sz="3200" b="1" dirty="0" smtClean="0">
                <a:solidFill>
                  <a:schemeClr val="bg1"/>
                </a:solidFill>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pic>
        <p:nvPicPr>
          <p:cNvPr id="319493" name="Picture 5" descr="peppers2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0" y="3067050"/>
            <a:ext cx="2598738"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494" name="AutoShape 6"/>
          <p:cNvSpPr>
            <a:spLocks noChangeArrowheads="1"/>
          </p:cNvSpPr>
          <p:nvPr/>
        </p:nvSpPr>
        <p:spPr bwMode="auto">
          <a:xfrm>
            <a:off x="5880100" y="4133850"/>
            <a:ext cx="685800" cy="533400"/>
          </a:xfrm>
          <a:prstGeom prst="rightArrow">
            <a:avLst>
              <a:gd name="adj1" fmla="val 50000"/>
              <a:gd name="adj2" fmla="val 32143"/>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pic>
        <p:nvPicPr>
          <p:cNvPr id="319495" name="Picture 7" descr="图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8300" y="2609850"/>
            <a:ext cx="3678238" cy="3678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19497" name="Picture 9" descr="图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2785" y="2527300"/>
            <a:ext cx="3678238" cy="3678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19498" name="AutoShape 10"/>
          <p:cNvSpPr>
            <a:spLocks noChangeArrowheads="1"/>
          </p:cNvSpPr>
          <p:nvPr/>
        </p:nvSpPr>
        <p:spPr bwMode="auto">
          <a:xfrm>
            <a:off x="5837238" y="3770313"/>
            <a:ext cx="754062" cy="1366837"/>
          </a:xfrm>
          <a:prstGeom prst="leftArrow">
            <a:avLst>
              <a:gd name="adj1" fmla="val 50000"/>
              <a:gd name="adj2" fmla="val 25000"/>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9493"/>
                                        </p:tgtEl>
                                        <p:attrNameLst>
                                          <p:attrName>style.visibility</p:attrName>
                                        </p:attrNameLst>
                                      </p:cBhvr>
                                      <p:to>
                                        <p:strVal val="visible"/>
                                      </p:to>
                                    </p:set>
                                    <p:anim calcmode="lin" valueType="num">
                                      <p:cBhvr additive="base">
                                        <p:cTn id="7" dur="500" fill="hold"/>
                                        <p:tgtEl>
                                          <p:spTgt spid="319493"/>
                                        </p:tgtEl>
                                        <p:attrNameLst>
                                          <p:attrName>ppt_x</p:attrName>
                                        </p:attrNameLst>
                                      </p:cBhvr>
                                      <p:tavLst>
                                        <p:tav tm="0">
                                          <p:val>
                                            <p:strVal val="0-#ppt_w/2"/>
                                          </p:val>
                                        </p:tav>
                                        <p:tav tm="100000">
                                          <p:val>
                                            <p:strVal val="#ppt_x"/>
                                          </p:val>
                                        </p:tav>
                                      </p:tavLst>
                                    </p:anim>
                                    <p:anim calcmode="lin" valueType="num">
                                      <p:cBhvr additive="base">
                                        <p:cTn id="8" dur="500" fill="hold"/>
                                        <p:tgtEl>
                                          <p:spTgt spid="31949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9494"/>
                                        </p:tgtEl>
                                        <p:attrNameLst>
                                          <p:attrName>style.visibility</p:attrName>
                                        </p:attrNameLst>
                                      </p:cBhvr>
                                      <p:to>
                                        <p:strVal val="visible"/>
                                      </p:to>
                                    </p:set>
                                    <p:anim calcmode="lin" valueType="num">
                                      <p:cBhvr additive="base">
                                        <p:cTn id="13" dur="500" fill="hold"/>
                                        <p:tgtEl>
                                          <p:spTgt spid="319494"/>
                                        </p:tgtEl>
                                        <p:attrNameLst>
                                          <p:attrName>ppt_x</p:attrName>
                                        </p:attrNameLst>
                                      </p:cBhvr>
                                      <p:tavLst>
                                        <p:tav tm="0">
                                          <p:val>
                                            <p:strVal val="0-#ppt_w/2"/>
                                          </p:val>
                                        </p:tav>
                                        <p:tav tm="100000">
                                          <p:val>
                                            <p:strVal val="#ppt_x"/>
                                          </p:val>
                                        </p:tav>
                                      </p:tavLst>
                                    </p:anim>
                                    <p:anim calcmode="lin" valueType="num">
                                      <p:cBhvr additive="base">
                                        <p:cTn id="14" dur="500" fill="hold"/>
                                        <p:tgtEl>
                                          <p:spTgt spid="3194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19495"/>
                                        </p:tgtEl>
                                        <p:attrNameLst>
                                          <p:attrName>style.visibility</p:attrName>
                                        </p:attrNameLst>
                                      </p:cBhvr>
                                      <p:to>
                                        <p:strVal val="visible"/>
                                      </p:to>
                                    </p:set>
                                    <p:anim calcmode="lin" valueType="num">
                                      <p:cBhvr additive="base">
                                        <p:cTn id="19" dur="500" fill="hold"/>
                                        <p:tgtEl>
                                          <p:spTgt spid="319495"/>
                                        </p:tgtEl>
                                        <p:attrNameLst>
                                          <p:attrName>ppt_x</p:attrName>
                                        </p:attrNameLst>
                                      </p:cBhvr>
                                      <p:tavLst>
                                        <p:tav tm="0">
                                          <p:val>
                                            <p:strVal val="0-#ppt_w/2"/>
                                          </p:val>
                                        </p:tav>
                                        <p:tav tm="100000">
                                          <p:val>
                                            <p:strVal val="#ppt_x"/>
                                          </p:val>
                                        </p:tav>
                                      </p:tavLst>
                                    </p:anim>
                                    <p:anim calcmode="lin" valueType="num">
                                      <p:cBhvr additive="base">
                                        <p:cTn id="20" dur="500" fill="hold"/>
                                        <p:tgtEl>
                                          <p:spTgt spid="31949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9498"/>
                                        </p:tgtEl>
                                        <p:attrNameLst>
                                          <p:attrName>style.visibility</p:attrName>
                                        </p:attrNameLst>
                                      </p:cBhvr>
                                      <p:to>
                                        <p:strVal val="visible"/>
                                      </p:to>
                                    </p:set>
                                    <p:anim calcmode="lin" valueType="num">
                                      <p:cBhvr additive="base">
                                        <p:cTn id="25" dur="500" fill="hold"/>
                                        <p:tgtEl>
                                          <p:spTgt spid="319498"/>
                                        </p:tgtEl>
                                        <p:attrNameLst>
                                          <p:attrName>ppt_x</p:attrName>
                                        </p:attrNameLst>
                                      </p:cBhvr>
                                      <p:tavLst>
                                        <p:tav tm="0">
                                          <p:val>
                                            <p:strVal val="0-#ppt_w/2"/>
                                          </p:val>
                                        </p:tav>
                                        <p:tav tm="100000">
                                          <p:val>
                                            <p:strVal val="#ppt_x"/>
                                          </p:val>
                                        </p:tav>
                                      </p:tavLst>
                                    </p:anim>
                                    <p:anim calcmode="lin" valueType="num">
                                      <p:cBhvr additive="base">
                                        <p:cTn id="26" dur="500" fill="hold"/>
                                        <p:tgtEl>
                                          <p:spTgt spid="31949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19497"/>
                                        </p:tgtEl>
                                        <p:attrNameLst>
                                          <p:attrName>style.visibility</p:attrName>
                                        </p:attrNameLst>
                                      </p:cBhvr>
                                      <p:to>
                                        <p:strVal val="visible"/>
                                      </p:to>
                                    </p:set>
                                    <p:anim calcmode="lin" valueType="num">
                                      <p:cBhvr additive="base">
                                        <p:cTn id="31" dur="500" fill="hold"/>
                                        <p:tgtEl>
                                          <p:spTgt spid="319497"/>
                                        </p:tgtEl>
                                        <p:attrNameLst>
                                          <p:attrName>ppt_x</p:attrName>
                                        </p:attrNameLst>
                                      </p:cBhvr>
                                      <p:tavLst>
                                        <p:tav tm="0">
                                          <p:val>
                                            <p:strVal val="0-#ppt_w/2"/>
                                          </p:val>
                                        </p:tav>
                                        <p:tav tm="100000">
                                          <p:val>
                                            <p:strVal val="#ppt_x"/>
                                          </p:val>
                                        </p:tav>
                                      </p:tavLst>
                                    </p:anim>
                                    <p:anim calcmode="lin" valueType="num">
                                      <p:cBhvr additive="base">
                                        <p:cTn id="32" dur="500" fill="hold"/>
                                        <p:tgtEl>
                                          <p:spTgt spid="3194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4" grpId="0" bldLvl="0" animBg="1"/>
      <p:bldP spid="319498"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尺度变换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aphicFrame>
        <p:nvGraphicFramePr>
          <p:cNvPr id="20501" name="Object 22"/>
          <p:cNvGraphicFramePr>
            <a:graphicFrameLocks noChangeAspect="1"/>
          </p:cNvGraphicFramePr>
          <p:nvPr/>
        </p:nvGraphicFramePr>
        <p:xfrm>
          <a:off x="3183890" y="3429000"/>
          <a:ext cx="3617913" cy="1476375"/>
        </p:xfrm>
        <a:graphic>
          <a:graphicData uri="http://schemas.openxmlformats.org/presentationml/2006/ole">
            <mc:AlternateContent xmlns:mc="http://schemas.openxmlformats.org/markup-compatibility/2006">
              <mc:Choice xmlns:v="urn:schemas-microsoft-com:vml" Requires="v">
                <p:oleObj spid="_x0000_s20775" name="Equation" r:id="rId3" imgW="1193800" imgH="482600" progId="Equation.DSMT4">
                  <p:embed/>
                </p:oleObj>
              </mc:Choice>
              <mc:Fallback>
                <p:oleObj name="Equation" r:id="rId3" imgW="1193800" imgH="482600" progId="Equation.DSMT4">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3890" y="3429000"/>
                        <a:ext cx="361791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p:cNvSpPr txBox="1"/>
          <p:nvPr/>
        </p:nvSpPr>
        <p:spPr>
          <a:xfrm>
            <a:off x="1410335" y="2306320"/>
            <a:ext cx="6842125" cy="829945"/>
          </a:xfrm>
          <a:prstGeom prst="rect">
            <a:avLst/>
          </a:prstGeom>
          <a:noFill/>
        </p:spPr>
        <p:txBody>
          <a:bodyPr wrap="square" rtlCol="0" anchor="t">
            <a:spAutoFit/>
          </a:bodyPr>
          <a:p>
            <a:pPr lvl="0" algn="l">
              <a:spcBef>
                <a:spcPct val="50000"/>
              </a:spcBef>
              <a:buClrTx/>
              <a:buSzTx/>
              <a:buFontTx/>
            </a:pPr>
            <a:r>
              <a:rPr kumimoji="1" lang="zh-CN" altLang="en-US" sz="2400" b="1" dirty="0">
                <a:latin typeface="等线" panose="02010600030101010101" charset="-122"/>
                <a:ea typeface="等线" panose="02010600030101010101" charset="-122"/>
                <a:cs typeface="等线" panose="02010600030101010101" charset="-122"/>
                <a:sym typeface="+mn-ea"/>
              </a:rPr>
              <a:t>若图像坐标       </a:t>
            </a:r>
            <a:r>
              <a:rPr kumimoji="1" lang="en-US" altLang="zh-CN" sz="2400" b="1" dirty="0">
                <a:latin typeface="等线" panose="02010600030101010101" charset="-122"/>
                <a:ea typeface="等线" panose="02010600030101010101" charset="-122"/>
                <a:cs typeface="等线" panose="02010600030101010101" charset="-122"/>
                <a:sym typeface="+mn-ea"/>
              </a:rPr>
              <a:t> </a:t>
            </a:r>
            <a:r>
              <a:rPr kumimoji="1" lang="zh-CN" altLang="en-US" sz="2400" b="1" dirty="0">
                <a:latin typeface="等线" panose="02010600030101010101" charset="-122"/>
                <a:ea typeface="等线" panose="02010600030101010101" charset="-122"/>
                <a:cs typeface="等线" panose="02010600030101010101" charset="-122"/>
                <a:sym typeface="+mn-ea"/>
              </a:rPr>
              <a:t> </a:t>
            </a:r>
            <a:r>
              <a:rPr kumimoji="1" lang="en-US" altLang="zh-CN" sz="2400" b="1" dirty="0">
                <a:latin typeface="等线" panose="02010600030101010101" charset="-122"/>
                <a:ea typeface="等线" panose="02010600030101010101" charset="-122"/>
                <a:cs typeface="等线" panose="02010600030101010101" charset="-122"/>
                <a:sym typeface="+mn-ea"/>
              </a:rPr>
              <a:t>  </a:t>
            </a:r>
            <a:r>
              <a:rPr kumimoji="1" lang="zh-CN" altLang="en-US" sz="2400" b="1" dirty="0">
                <a:latin typeface="等线" panose="02010600030101010101" charset="-122"/>
                <a:ea typeface="等线" panose="02010600030101010101" charset="-122"/>
                <a:cs typeface="等线" panose="02010600030101010101" charset="-122"/>
                <a:sym typeface="+mn-ea"/>
              </a:rPr>
              <a:t>缩放到</a:t>
            </a:r>
            <a:r>
              <a:rPr kumimoji="1" lang="zh-CN" altLang="en-US" sz="2400" b="1" dirty="0">
                <a:latin typeface="隶书" panose="02010509060101010101" pitchFamily="49" charset="-122"/>
                <a:ea typeface="隶书" panose="02010509060101010101" pitchFamily="49" charset="-122"/>
                <a:sym typeface="+mn-ea"/>
              </a:rPr>
              <a:t>（      </a:t>
            </a:r>
            <a:r>
              <a:rPr kumimoji="1" lang="en-US" altLang="zh-CN" sz="2400" b="1" dirty="0">
                <a:latin typeface="隶书" panose="02010509060101010101" pitchFamily="49" charset="-122"/>
                <a:ea typeface="隶书" panose="02010509060101010101" pitchFamily="49" charset="-122"/>
                <a:sym typeface="+mn-ea"/>
              </a:rPr>
              <a:t>)</a:t>
            </a:r>
            <a:r>
              <a:rPr kumimoji="1" lang="zh-CN" altLang="en-US" sz="2400" b="1" dirty="0">
                <a:latin typeface="等线" panose="02010600030101010101" charset="-122"/>
                <a:ea typeface="等线" panose="02010600030101010101" charset="-122"/>
                <a:cs typeface="等线" panose="02010600030101010101" charset="-122"/>
                <a:sym typeface="+mn-ea"/>
              </a:rPr>
              <a:t>倍，则变换函数为：</a:t>
            </a:r>
            <a:r>
              <a:rPr kumimoji="1" lang="zh-CN" altLang="en-US" sz="2400" b="1" dirty="0">
                <a:latin typeface="等线" panose="02010600030101010101" charset="-122"/>
                <a:ea typeface="等线" panose="02010600030101010101" charset="-122"/>
                <a:cs typeface="等线" panose="02010600030101010101" charset="-122"/>
                <a:sym typeface="+mn-ea"/>
              </a:rPr>
              <a:t> </a:t>
            </a:r>
            <a:endParaRPr kumimoji="1" lang="zh-CN" altLang="en-US" sz="2400" b="1" dirty="0">
              <a:latin typeface="等线" panose="02010600030101010101" charset="-122"/>
              <a:ea typeface="等线" panose="02010600030101010101" charset="-122"/>
              <a:cs typeface="等线" panose="02010600030101010101" charset="-122"/>
              <a:sym typeface="+mn-ea"/>
            </a:endParaRPr>
          </a:p>
        </p:txBody>
      </p:sp>
      <p:graphicFrame>
        <p:nvGraphicFramePr>
          <p:cNvPr id="20497" name="Object 18"/>
          <p:cNvGraphicFramePr>
            <a:graphicFrameLocks noChangeAspect="1"/>
          </p:cNvGraphicFramePr>
          <p:nvPr/>
        </p:nvGraphicFramePr>
        <p:xfrm>
          <a:off x="2964815" y="2306320"/>
          <a:ext cx="1058863" cy="471488"/>
        </p:xfrm>
        <a:graphic>
          <a:graphicData uri="http://schemas.openxmlformats.org/presentationml/2006/ole">
            <mc:AlternateContent xmlns:mc="http://schemas.openxmlformats.org/markup-compatibility/2006">
              <mc:Choice xmlns:v="urn:schemas-microsoft-com:vml" Requires="v">
                <p:oleObj spid="_x0000_s20773" name="Equation" r:id="rId5" imgW="317500" imgH="190500" progId="Equation.DSMT4">
                  <p:embed/>
                </p:oleObj>
              </mc:Choice>
              <mc:Fallback>
                <p:oleObj name="Equation" r:id="rId5" imgW="317500" imgH="1905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4815" y="2306320"/>
                        <a:ext cx="105886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99" name="Object 20"/>
          <p:cNvGraphicFramePr>
            <a:graphicFrameLocks noChangeAspect="1"/>
          </p:cNvGraphicFramePr>
          <p:nvPr/>
        </p:nvGraphicFramePr>
        <p:xfrm>
          <a:off x="5156200" y="2306320"/>
          <a:ext cx="825500" cy="577850"/>
        </p:xfrm>
        <a:graphic>
          <a:graphicData uri="http://schemas.openxmlformats.org/presentationml/2006/ole">
            <mc:AlternateContent xmlns:mc="http://schemas.openxmlformats.org/markup-compatibility/2006">
              <mc:Choice xmlns:v="urn:schemas-microsoft-com:vml" Requires="v">
                <p:oleObj spid="_x0000_s20774" name="Equation" r:id="rId7" imgW="330200" imgH="215900" progId="Equation.DSMT4">
                  <p:embed/>
                </p:oleObj>
              </mc:Choice>
              <mc:Fallback>
                <p:oleObj name="Equation" r:id="rId7" imgW="330200" imgH="215900" progId="Equation.DSMT4">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6200" y="2306320"/>
                        <a:ext cx="8255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p:cNvSpPr txBox="1"/>
          <p:nvPr/>
        </p:nvSpPr>
        <p:spPr>
          <a:xfrm>
            <a:off x="1410335" y="5256530"/>
            <a:ext cx="9273540" cy="829945"/>
          </a:xfrm>
          <a:prstGeom prst="rect">
            <a:avLst/>
          </a:prstGeom>
          <a:noFill/>
        </p:spPr>
        <p:txBody>
          <a:bodyPr wrap="square" rtlCol="0" anchor="t">
            <a:spAutoFit/>
          </a:bodyPr>
          <a:p>
            <a:r>
              <a:rPr kumimoji="1" lang="zh-CN" altLang="en-US" sz="2400" dirty="0">
                <a:latin typeface="等线" panose="02010600030101010101" charset="-122"/>
                <a:ea typeface="等线" panose="02010600030101010101" charset="-122"/>
                <a:cs typeface="等线" panose="02010600030101010101" charset="-122"/>
                <a:sym typeface="+mn-ea"/>
              </a:rPr>
              <a:t>其中,  Sx, Sy 分别为 x  和 y  坐标的缩放因子，其大于1表示放大，小于1表示缩小。这里也和前一讲中变换矩阵的求解相反</a:t>
            </a:r>
            <a:endParaRPr kumimoji="1" lang="zh-CN" altLang="en-US" sz="2400" dirty="0">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尺度变换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003300" y="1984375"/>
            <a:ext cx="6842125" cy="1938020"/>
          </a:xfrm>
          <a:prstGeom prst="rect">
            <a:avLst/>
          </a:prstGeom>
          <a:noFill/>
        </p:spPr>
        <p:txBody>
          <a:bodyPr wrap="square" rtlCol="0" anchor="t">
            <a:spAutoFit/>
          </a:bodyPr>
          <a:p>
            <a:pPr lvl="0" algn="l">
              <a:spcBef>
                <a:spcPct val="50000"/>
              </a:spcBef>
              <a:buClrTx/>
              <a:buSzTx/>
              <a:buFontTx/>
            </a:pPr>
            <a:r>
              <a:rPr kumimoji="1" lang="zh-CN" sz="2400" b="1" dirty="0">
                <a:latin typeface="等线" panose="02010600030101010101" charset="-122"/>
                <a:ea typeface="等线" panose="02010600030101010101" charset="-122"/>
                <a:cs typeface="等线" panose="02010600030101010101" charset="-122"/>
                <a:sym typeface="+mn-ea"/>
              </a:rPr>
              <a:t>若图像等比例缩小</a:t>
            </a:r>
            <a:endParaRPr kumimoji="1" lang="zh-CN" sz="2400" b="1" dirty="0">
              <a:latin typeface="等线" panose="02010600030101010101" charset="-122"/>
              <a:ea typeface="等线" panose="02010600030101010101" charset="-122"/>
              <a:cs typeface="等线" panose="02010600030101010101" charset="-122"/>
              <a:sym typeface="+mn-ea"/>
            </a:endParaRPr>
          </a:p>
          <a:p>
            <a:pPr marL="365760" indent="-283210" algn="just" eaLnBrk="1" fontAlgn="auto" hangingPunct="1">
              <a:spcAft>
                <a:spcPts val="0"/>
              </a:spcAft>
              <a:buFont typeface="Wingdings" panose="05000000000000000000" pitchFamily="2" charset="2"/>
              <a:buNone/>
              <a:defRPr/>
            </a:pPr>
            <a:r>
              <a:rPr lang="zh-CN" altLang="en-US" sz="2400" dirty="0">
                <a:latin typeface="等线" panose="02010600030101010101" charset="-122"/>
                <a:ea typeface="等线" panose="02010600030101010101" charset="-122"/>
                <a:cs typeface="等线" panose="02010600030101010101" charset="-122"/>
                <a:sym typeface="+mn-ea"/>
              </a:rPr>
              <a:t>最简单的是减小</a:t>
            </a:r>
            <a:r>
              <a:rPr lang="zh-CN" altLang="en-US" sz="2400" dirty="0" smtClean="0">
                <a:latin typeface="等线" panose="02010600030101010101" charset="-122"/>
                <a:ea typeface="等线" panose="02010600030101010101" charset="-122"/>
                <a:cs typeface="等线" panose="02010600030101010101" charset="-122"/>
                <a:sym typeface="+mn-ea"/>
              </a:rPr>
              <a:t>一半。坐标很好计算，缩小后的图像每个坐标下的灰度值如何取？</a:t>
            </a:r>
            <a:endParaRPr lang="en-US" altLang="zh-CN" sz="2400" dirty="0" smtClean="0">
              <a:latin typeface="等线" panose="02010600030101010101" charset="-122"/>
              <a:ea typeface="等线" panose="02010600030101010101" charset="-122"/>
              <a:cs typeface="等线" panose="02010600030101010101" charset="-122"/>
            </a:endParaRPr>
          </a:p>
          <a:p>
            <a:pPr marL="365760" indent="-283210" algn="just" eaLnBrk="1" fontAlgn="auto" hangingPunct="1">
              <a:spcAft>
                <a:spcPts val="0"/>
              </a:spcAft>
              <a:buFont typeface="Wingdings" panose="05000000000000000000" pitchFamily="2" charset="2"/>
              <a:buNone/>
              <a:defRPr/>
            </a:pPr>
            <a:r>
              <a:rPr lang="zh-CN" altLang="en-US" sz="2400" dirty="0" smtClean="0">
                <a:latin typeface="等线" panose="02010600030101010101" charset="-122"/>
                <a:ea typeface="等线" panose="02010600030101010101" charset="-122"/>
                <a:cs typeface="等线" panose="02010600030101010101" charset="-122"/>
                <a:sym typeface="+mn-ea"/>
              </a:rPr>
              <a:t>    最简单的做法之一：取</a:t>
            </a:r>
            <a:r>
              <a:rPr lang="zh-CN" altLang="en-US" sz="2400" dirty="0">
                <a:latin typeface="等线" panose="02010600030101010101" charset="-122"/>
                <a:ea typeface="等线" panose="02010600030101010101" charset="-122"/>
                <a:cs typeface="等线" panose="02010600030101010101" charset="-122"/>
                <a:sym typeface="+mn-ea"/>
              </a:rPr>
              <a:t>原图的偶（奇）数行和偶（奇）数列构成新的图像。</a:t>
            </a:r>
            <a:endParaRPr kumimoji="1" lang="zh-CN" sz="2400" b="1" dirty="0">
              <a:latin typeface="等线" panose="02010600030101010101" charset="-122"/>
              <a:ea typeface="等线" panose="02010600030101010101" charset="-122"/>
              <a:cs typeface="等线" panose="02010600030101010101" charset="-122"/>
              <a:sym typeface="+mn-ea"/>
            </a:endParaRPr>
          </a:p>
        </p:txBody>
      </p:sp>
      <p:graphicFrame>
        <p:nvGraphicFramePr>
          <p:cNvPr id="308229" name="Group 5"/>
          <p:cNvGraphicFramePr>
            <a:graphicFrameLocks noGrp="1"/>
          </p:cNvGraphicFramePr>
          <p:nvPr/>
        </p:nvGraphicFramePr>
        <p:xfrm>
          <a:off x="1541378" y="4200128"/>
          <a:ext cx="2057400" cy="2012952"/>
        </p:xfrm>
        <a:graphic>
          <a:graphicData uri="http://schemas.openxmlformats.org/drawingml/2006/table">
            <a:tbl>
              <a:tblPr/>
              <a:tblGrid>
                <a:gridCol w="342900"/>
                <a:gridCol w="342900"/>
                <a:gridCol w="342900"/>
                <a:gridCol w="338455"/>
                <a:gridCol w="347345"/>
                <a:gridCol w="342900"/>
              </a:tblGrid>
              <a:tr h="3354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r>
              <a:tr h="3354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r>
              <a:tr h="3354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r>
              <a:tr h="3354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r>
              <a:tr h="3354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AFC8E"/>
                    </a:solidFill>
                  </a:tcPr>
                </a:tc>
              </a:tr>
              <a:tr h="3354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EAFC8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9BFFE5"/>
                    </a:solidFill>
                  </a:tcPr>
                </a:tc>
              </a:tr>
            </a:tbl>
          </a:graphicData>
        </a:graphic>
      </p:graphicFrame>
      <p:sp>
        <p:nvSpPr>
          <p:cNvPr id="308280" name="AutoShape 56"/>
          <p:cNvSpPr>
            <a:spLocks noChangeArrowheads="1"/>
          </p:cNvSpPr>
          <p:nvPr/>
        </p:nvSpPr>
        <p:spPr bwMode="auto">
          <a:xfrm>
            <a:off x="4208378" y="5038328"/>
            <a:ext cx="685800" cy="381000"/>
          </a:xfrm>
          <a:prstGeom prst="rightArrow">
            <a:avLst>
              <a:gd name="adj1" fmla="val 50000"/>
              <a:gd name="adj2" fmla="val 45000"/>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aphicFrame>
        <p:nvGraphicFramePr>
          <p:cNvPr id="308281" name="Group 57"/>
          <p:cNvGraphicFramePr>
            <a:graphicFrameLocks noGrp="1"/>
          </p:cNvGraphicFramePr>
          <p:nvPr/>
        </p:nvGraphicFramePr>
        <p:xfrm>
          <a:off x="5503778" y="4581128"/>
          <a:ext cx="990600" cy="1098549"/>
        </p:xfrm>
        <a:graphic>
          <a:graphicData uri="http://schemas.openxmlformats.org/drawingml/2006/table">
            <a:tbl>
              <a:tblPr/>
              <a:tblGrid>
                <a:gridCol w="330200"/>
                <a:gridCol w="330200"/>
                <a:gridCol w="330200"/>
              </a:tblGrid>
              <a:tr h="36618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r>
              <a:tr h="36618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9BFFE5"/>
                    </a:solidFill>
                  </a:tcPr>
                </a:tc>
              </a:tr>
              <a:tr h="36618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9BFFE5"/>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T="45746" marB="457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9BFFE5"/>
                    </a:solidFill>
                  </a:tcPr>
                </a:tc>
              </a:tr>
            </a:tbl>
          </a:graphicData>
        </a:graphic>
      </p:graphicFrame>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尺度变换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003300" y="1984375"/>
            <a:ext cx="6842125" cy="1198880"/>
          </a:xfrm>
          <a:prstGeom prst="rect">
            <a:avLst/>
          </a:prstGeom>
          <a:noFill/>
        </p:spPr>
        <p:txBody>
          <a:bodyPr wrap="square" rtlCol="0" anchor="t">
            <a:spAutoFit/>
          </a:bodyPr>
          <a:p>
            <a:pPr lvl="0" algn="l">
              <a:spcBef>
                <a:spcPct val="50000"/>
              </a:spcBef>
              <a:buClrTx/>
              <a:buSzTx/>
              <a:buFontTx/>
            </a:pPr>
            <a:r>
              <a:rPr kumimoji="1" lang="zh-CN" sz="2400" b="1" dirty="0">
                <a:latin typeface="等线" panose="02010600030101010101" charset="-122"/>
                <a:ea typeface="等线" panose="02010600030101010101" charset="-122"/>
                <a:cs typeface="等线" panose="02010600030101010101" charset="-122"/>
                <a:sym typeface="+mn-ea"/>
              </a:rPr>
              <a:t>若图像不等比例缩小</a:t>
            </a:r>
            <a:endParaRPr kumimoji="1" lang="zh-CN" sz="2400" b="1" dirty="0">
              <a:latin typeface="等线" panose="02010600030101010101" charset="-122"/>
              <a:ea typeface="等线" panose="02010600030101010101" charset="-122"/>
              <a:cs typeface="等线" panose="02010600030101010101" charset="-122"/>
              <a:sym typeface="+mn-ea"/>
            </a:endParaRPr>
          </a:p>
          <a:p>
            <a:pPr marL="365760" indent="-283210" algn="just" eaLnBrk="1" fontAlgn="auto" hangingPunct="1">
              <a:spcAft>
                <a:spcPts val="0"/>
              </a:spcAft>
              <a:buFont typeface="Wingdings" panose="05000000000000000000" pitchFamily="2" charset="2"/>
              <a:buNone/>
              <a:defRPr/>
            </a:pPr>
            <a:r>
              <a:rPr kumimoji="1" lang="zh-CN" sz="2400" dirty="0">
                <a:latin typeface="等线" panose="02010600030101010101" charset="-122"/>
                <a:ea typeface="等线" panose="02010600030101010101" charset="-122"/>
                <a:cs typeface="等线" panose="02010600030101010101" charset="-122"/>
                <a:sym typeface="+mn-ea"/>
              </a:rPr>
              <a:t>这种操作因为在x方向和y方向的缩小比例不同，一定会带来图像的</a:t>
            </a:r>
            <a:r>
              <a:rPr kumimoji="1" lang="zh-CN" sz="2400" b="1" dirty="0">
                <a:latin typeface="等线" panose="02010600030101010101" charset="-122"/>
                <a:ea typeface="等线" panose="02010600030101010101" charset="-122"/>
                <a:cs typeface="等线" panose="02010600030101010101" charset="-122"/>
                <a:sym typeface="+mn-ea"/>
              </a:rPr>
              <a:t>几何畸变</a:t>
            </a:r>
            <a:r>
              <a:rPr kumimoji="1" lang="zh-CN" sz="2400" dirty="0">
                <a:latin typeface="等线" panose="02010600030101010101" charset="-122"/>
                <a:ea typeface="等线" panose="02010600030101010101" charset="-122"/>
                <a:cs typeface="等线" panose="02010600030101010101" charset="-122"/>
                <a:sym typeface="+mn-ea"/>
              </a:rPr>
              <a:t>。</a:t>
            </a:r>
            <a:endParaRPr kumimoji="1" lang="zh-CN" sz="2400" dirty="0">
              <a:latin typeface="等线" panose="02010600030101010101" charset="-122"/>
              <a:ea typeface="等线" panose="02010600030101010101" charset="-122"/>
              <a:cs typeface="等线" panose="02010600030101010101" charset="-122"/>
              <a:sym typeface="+mn-ea"/>
            </a:endParaRPr>
          </a:p>
        </p:txBody>
      </p:sp>
      <p:pic>
        <p:nvPicPr>
          <p:cNvPr id="315397" name="Picture 5" descr="peppers2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610" y="3252470"/>
            <a:ext cx="32512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5398" name="Picture 6" descr="图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0810" y="3709670"/>
            <a:ext cx="1270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9" name="AutoShape 7"/>
          <p:cNvSpPr>
            <a:spLocks noChangeArrowheads="1"/>
          </p:cNvSpPr>
          <p:nvPr/>
        </p:nvSpPr>
        <p:spPr bwMode="auto">
          <a:xfrm>
            <a:off x="7496810" y="4243070"/>
            <a:ext cx="1143000" cy="1066800"/>
          </a:xfrm>
          <a:prstGeom prst="rightArrow">
            <a:avLst>
              <a:gd name="adj1" fmla="val 50000"/>
              <a:gd name="adj2" fmla="val 26786"/>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尺度变换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003300" y="1984375"/>
            <a:ext cx="6842125" cy="1383665"/>
          </a:xfrm>
          <a:prstGeom prst="rect">
            <a:avLst/>
          </a:prstGeom>
          <a:noFill/>
        </p:spPr>
        <p:txBody>
          <a:bodyPr wrap="square" rtlCol="0" anchor="t">
            <a:spAutoFit/>
          </a:bodyPr>
          <a:p>
            <a:pPr lvl="0" algn="l">
              <a:spcBef>
                <a:spcPct val="50000"/>
              </a:spcBef>
              <a:buClrTx/>
              <a:buSzTx/>
              <a:buFontTx/>
            </a:pPr>
            <a:r>
              <a:rPr kumimoji="1" lang="zh-CN" sz="2400" b="1" dirty="0">
                <a:latin typeface="等线" panose="02010600030101010101" charset="-122"/>
                <a:ea typeface="等线" panose="02010600030101010101" charset="-122"/>
                <a:cs typeface="等线" panose="02010600030101010101" charset="-122"/>
                <a:sym typeface="+mn-ea"/>
              </a:rPr>
              <a:t>若图像等比例放大</a:t>
            </a:r>
            <a:endParaRPr kumimoji="1" lang="zh-CN" sz="2400" b="1" dirty="0">
              <a:latin typeface="等线" panose="02010600030101010101" charset="-122"/>
              <a:ea typeface="等线" panose="02010600030101010101" charset="-122"/>
              <a:cs typeface="等线" panose="02010600030101010101" charset="-122"/>
              <a:sym typeface="+mn-ea"/>
            </a:endParaRPr>
          </a:p>
          <a:p>
            <a:pPr lvl="0" algn="l">
              <a:spcBef>
                <a:spcPct val="50000"/>
              </a:spcBef>
              <a:buClrTx/>
              <a:buSzTx/>
              <a:buFontTx/>
            </a:pPr>
            <a:r>
              <a:rPr kumimoji="1" lang="zh-CN" sz="2400" dirty="0">
                <a:latin typeface="等线" panose="02010600030101010101" charset="-122"/>
                <a:ea typeface="等线" panose="02010600030101010101" charset="-122"/>
                <a:cs typeface="等线" panose="02010600030101010101" charset="-122"/>
                <a:sym typeface="+mn-ea"/>
              </a:rPr>
              <a:t>如果需要将原图像放大k倍，则将一个像素值添在新图像的k*k的子块中。</a:t>
            </a:r>
            <a:endParaRPr kumimoji="1" lang="zh-CN" sz="2400" dirty="0">
              <a:latin typeface="等线" panose="02010600030101010101" charset="-122"/>
              <a:ea typeface="等线" panose="02010600030101010101" charset="-122"/>
              <a:cs typeface="等线" panose="02010600030101010101" charset="-122"/>
              <a:sym typeface="+mn-ea"/>
            </a:endParaRPr>
          </a:p>
        </p:txBody>
      </p:sp>
      <p:graphicFrame>
        <p:nvGraphicFramePr>
          <p:cNvPr id="311301" name="Group 5"/>
          <p:cNvGraphicFramePr>
            <a:graphicFrameLocks noGrp="1"/>
          </p:cNvGraphicFramePr>
          <p:nvPr/>
        </p:nvGraphicFramePr>
        <p:xfrm>
          <a:off x="1744980" y="4324350"/>
          <a:ext cx="838200" cy="685800"/>
        </p:xfrm>
        <a:graphic>
          <a:graphicData uri="http://schemas.openxmlformats.org/drawingml/2006/table">
            <a:tbl>
              <a:tblPr/>
              <a:tblGrid>
                <a:gridCol w="419100"/>
                <a:gridCol w="419100"/>
              </a:tblGrid>
              <a:tr h="3429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3429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0066FF"/>
                    </a:solidFill>
                  </a:tcPr>
                </a:tc>
              </a:tr>
            </a:tbl>
          </a:graphicData>
        </a:graphic>
      </p:graphicFrame>
      <p:sp>
        <p:nvSpPr>
          <p:cNvPr id="311312" name="AutoShape 16"/>
          <p:cNvSpPr>
            <a:spLocks noChangeArrowheads="1"/>
          </p:cNvSpPr>
          <p:nvPr/>
        </p:nvSpPr>
        <p:spPr bwMode="auto">
          <a:xfrm>
            <a:off x="3203893" y="4341813"/>
            <a:ext cx="1441450" cy="533400"/>
          </a:xfrm>
          <a:prstGeom prst="rightArrow">
            <a:avLst>
              <a:gd name="adj1" fmla="val 50000"/>
              <a:gd name="adj2" fmla="val 67560"/>
            </a:avLst>
          </a:prstGeom>
          <a:solidFill>
            <a:srgbClr val="CCFF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aphicFrame>
        <p:nvGraphicFramePr>
          <p:cNvPr id="311313" name="Group 17"/>
          <p:cNvGraphicFramePr>
            <a:graphicFrameLocks noGrp="1"/>
          </p:cNvGraphicFramePr>
          <p:nvPr/>
        </p:nvGraphicFramePr>
        <p:xfrm>
          <a:off x="5173980" y="3714750"/>
          <a:ext cx="2667000" cy="2438400"/>
        </p:xfrm>
        <a:graphic>
          <a:graphicData uri="http://schemas.openxmlformats.org/drawingml/2006/table">
            <a:tbl>
              <a:tblPr/>
              <a:tblGrid>
                <a:gridCol w="266700"/>
                <a:gridCol w="266700"/>
                <a:gridCol w="266700"/>
                <a:gridCol w="254000"/>
                <a:gridCol w="279400"/>
                <a:gridCol w="266700"/>
                <a:gridCol w="266700"/>
                <a:gridCol w="266700"/>
                <a:gridCol w="266700"/>
                <a:gridCol w="266700"/>
              </a:tblGrid>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0066FF"/>
                    </a:solidFill>
                  </a:tcPr>
                </a:tc>
              </a:tr>
              <a:tr h="203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0066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1000" b="0" i="0" u="none" strike="noStrike" cap="none" normalizeH="0" baseline="0" dirty="0">
                        <a:ln>
                          <a:noFill/>
                        </a:ln>
                        <a:solidFill>
                          <a:schemeClr val="tx1"/>
                        </a:solidFill>
                        <a:effectLst>
                          <a:outerShdw blurRad="38100" dist="38100" dir="2700000" algn="tl">
                            <a:srgbClr val="00000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0066FF"/>
                    </a:solidFill>
                  </a:tcPr>
                </a:tc>
              </a:tr>
            </a:tbl>
          </a:graphicData>
        </a:graphic>
      </p:graphicFrame>
      <p:sp>
        <p:nvSpPr>
          <p:cNvPr id="311436" name="Text Box 140"/>
          <p:cNvSpPr txBox="1">
            <a:spLocks noChangeArrowheads="1"/>
          </p:cNvSpPr>
          <p:nvPr/>
        </p:nvSpPr>
        <p:spPr bwMode="auto">
          <a:xfrm>
            <a:off x="3348355" y="3910013"/>
            <a:ext cx="1152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spcBef>
                <a:spcPct val="50000"/>
              </a:spcBef>
            </a:pPr>
            <a:r>
              <a:rPr kumimoji="1" lang="zh-CN" altLang="en-US">
                <a:latin typeface="隶书" panose="02010509060101010101" pitchFamily="49" charset="-122"/>
                <a:ea typeface="隶书" panose="02010509060101010101" pitchFamily="49" charset="-122"/>
              </a:rPr>
              <a:t>放大</a:t>
            </a:r>
            <a:r>
              <a:rPr kumimoji="1" lang="en-US" altLang="zh-CN">
                <a:latin typeface="隶书" panose="02010509060101010101" pitchFamily="49" charset="-122"/>
                <a:ea typeface="隶书" panose="02010509060101010101" pitchFamily="49" charset="-122"/>
              </a:rPr>
              <a:t>5</a:t>
            </a:r>
            <a:r>
              <a:rPr kumimoji="1" lang="zh-CN" altLang="en-US">
                <a:latin typeface="隶书" panose="02010509060101010101" pitchFamily="49" charset="-122"/>
                <a:ea typeface="隶书" panose="02010509060101010101" pitchFamily="49" charset="-122"/>
              </a:rPr>
              <a:t>倍</a:t>
            </a:r>
            <a:endParaRPr kumimoji="1" lang="zh-CN" altLang="en-US">
              <a:latin typeface="隶书" panose="02010509060101010101" pitchFamily="49" charset="-122"/>
              <a:ea typeface="隶书" panose="02010509060101010101" pitchFamily="49"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尺度变换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344170" y="1925955"/>
            <a:ext cx="6842125" cy="2306955"/>
          </a:xfrm>
          <a:prstGeom prst="rect">
            <a:avLst/>
          </a:prstGeom>
          <a:noFill/>
        </p:spPr>
        <p:txBody>
          <a:bodyPr wrap="square" rtlCol="0" anchor="t">
            <a:spAutoFit/>
          </a:bodyPr>
          <a:p>
            <a:pPr lvl="0" algn="l">
              <a:spcBef>
                <a:spcPct val="50000"/>
              </a:spcBef>
              <a:buClrTx/>
              <a:buSzTx/>
              <a:buFontTx/>
            </a:pPr>
            <a:r>
              <a:rPr kumimoji="1" lang="zh-CN" sz="2400" b="1" dirty="0">
                <a:latin typeface="等线" panose="02010600030101010101" charset="-122"/>
                <a:ea typeface="等线" panose="02010600030101010101" charset="-122"/>
                <a:cs typeface="等线" panose="02010600030101010101" charset="-122"/>
                <a:sym typeface="+mn-ea"/>
              </a:rPr>
              <a:t>若图像不等比例放大</a:t>
            </a:r>
            <a:endParaRPr kumimoji="1" lang="zh-CN" sz="2400" b="1" dirty="0">
              <a:latin typeface="等线" panose="02010600030101010101" charset="-122"/>
              <a:ea typeface="等线" panose="02010600030101010101" charset="-122"/>
              <a:cs typeface="等线" panose="02010600030101010101" charset="-122"/>
              <a:sym typeface="+mn-ea"/>
            </a:endParaRPr>
          </a:p>
          <a:p>
            <a:pPr algn="just" eaLnBrk="1" hangingPunct="1">
              <a:buFont typeface="Wingdings" panose="05000000000000000000" pitchFamily="2" charset="2"/>
              <a:buNone/>
            </a:pPr>
            <a:r>
              <a:rPr lang="zh-CN" altLang="en-US" sz="2400" dirty="0" smtClean="0">
                <a:latin typeface="等线" panose="02010600030101010101" charset="-122"/>
                <a:ea typeface="等线" panose="02010600030101010101" charset="-122"/>
                <a:cs typeface="等线" panose="02010600030101010101" charset="-122"/>
                <a:sym typeface="+mn-ea"/>
              </a:rPr>
              <a:t>这种操作由于</a:t>
            </a:r>
            <a:r>
              <a:rPr lang="en-US" altLang="zh-CN" sz="2400" dirty="0" smtClean="0">
                <a:latin typeface="等线" panose="02010600030101010101" charset="-122"/>
                <a:ea typeface="等线" panose="02010600030101010101" charset="-122"/>
                <a:cs typeface="等线" panose="02010600030101010101" charset="-122"/>
                <a:sym typeface="+mn-ea"/>
              </a:rPr>
              <a:t>x</a:t>
            </a:r>
            <a:r>
              <a:rPr lang="zh-CN" altLang="en-US" sz="2400" dirty="0" smtClean="0">
                <a:latin typeface="等线" panose="02010600030101010101" charset="-122"/>
                <a:ea typeface="等线" panose="02010600030101010101" charset="-122"/>
                <a:cs typeface="等线" panose="02010600030101010101" charset="-122"/>
                <a:sym typeface="+mn-ea"/>
              </a:rPr>
              <a:t>方向和</a:t>
            </a:r>
            <a:r>
              <a:rPr lang="en-US" altLang="zh-CN" sz="2400" dirty="0" smtClean="0">
                <a:latin typeface="等线" panose="02010600030101010101" charset="-122"/>
                <a:ea typeface="等线" panose="02010600030101010101" charset="-122"/>
                <a:cs typeface="等线" panose="02010600030101010101" charset="-122"/>
                <a:sym typeface="+mn-ea"/>
              </a:rPr>
              <a:t>y</a:t>
            </a:r>
            <a:r>
              <a:rPr lang="zh-CN" altLang="en-US" sz="2400" dirty="0" smtClean="0">
                <a:latin typeface="等线" panose="02010600030101010101" charset="-122"/>
                <a:ea typeface="等线" panose="02010600030101010101" charset="-122"/>
                <a:cs typeface="等线" panose="02010600030101010101" charset="-122"/>
                <a:sym typeface="+mn-ea"/>
              </a:rPr>
              <a:t>方向的放大倍数不同，一定带来图</a:t>
            </a:r>
            <a:r>
              <a:rPr lang="zh-CN" altLang="en-US" sz="2400" dirty="0" smtClean="0">
                <a:latin typeface="等线" panose="02010600030101010101" charset="-122"/>
                <a:ea typeface="等线" panose="02010600030101010101" charset="-122"/>
                <a:cs typeface="等线" panose="02010600030101010101" charset="-122"/>
                <a:sym typeface="+mn-ea"/>
              </a:rPr>
              <a:t>像的</a:t>
            </a:r>
            <a:r>
              <a:rPr lang="zh-CN" altLang="en-US" sz="2400" b="1" dirty="0" smtClean="0">
                <a:latin typeface="等线" panose="02010600030101010101" charset="-122"/>
                <a:ea typeface="等线" panose="02010600030101010101" charset="-122"/>
                <a:cs typeface="等线" panose="02010600030101010101" charset="-122"/>
                <a:sym typeface="+mn-ea"/>
              </a:rPr>
              <a:t>几何畸变</a:t>
            </a:r>
            <a:r>
              <a:rPr lang="zh-CN" altLang="en-US" sz="2400" dirty="0" smtClean="0">
                <a:latin typeface="等线" panose="02010600030101010101" charset="-122"/>
                <a:ea typeface="等线" panose="02010600030101010101" charset="-122"/>
                <a:cs typeface="等线" panose="02010600030101010101" charset="-122"/>
                <a:sym typeface="+mn-ea"/>
              </a:rPr>
              <a:t>。</a:t>
            </a:r>
            <a:endParaRPr lang="zh-CN" altLang="en-US" sz="2400" dirty="0" smtClean="0">
              <a:latin typeface="等线" panose="02010600030101010101" charset="-122"/>
              <a:ea typeface="等线" panose="02010600030101010101" charset="-122"/>
              <a:cs typeface="等线" panose="02010600030101010101" charset="-122"/>
            </a:endParaRPr>
          </a:p>
          <a:p>
            <a:pPr algn="just" eaLnBrk="1" hangingPunct="1">
              <a:buFont typeface="Wingdings" panose="05000000000000000000" pitchFamily="2" charset="2"/>
              <a:buNone/>
            </a:pPr>
            <a:r>
              <a:rPr lang="zh-CN" altLang="en-US" sz="2400" dirty="0" smtClean="0">
                <a:latin typeface="等线" panose="02010600030101010101" charset="-122"/>
                <a:ea typeface="等线" panose="02010600030101010101" charset="-122"/>
                <a:cs typeface="等线" panose="02010600030101010101" charset="-122"/>
                <a:sym typeface="+mn-ea"/>
              </a:rPr>
              <a:t>      放大后需要做的：</a:t>
            </a:r>
            <a:endParaRPr lang="zh-CN" altLang="en-US" sz="2400" dirty="0" smtClean="0">
              <a:latin typeface="等线" panose="02010600030101010101" charset="-122"/>
              <a:ea typeface="等线" panose="02010600030101010101" charset="-122"/>
              <a:cs typeface="等线" panose="02010600030101010101" charset="-122"/>
            </a:endParaRPr>
          </a:p>
          <a:p>
            <a:pPr algn="just" eaLnBrk="1" hangingPunct="1">
              <a:buFont typeface="Wingdings" panose="05000000000000000000" pitchFamily="2" charset="2"/>
              <a:buNone/>
            </a:pPr>
            <a:r>
              <a:rPr lang="zh-CN" altLang="en-US" sz="2400" dirty="0" smtClean="0">
                <a:latin typeface="等线" panose="02010600030101010101" charset="-122"/>
                <a:ea typeface="等线" panose="02010600030101010101" charset="-122"/>
                <a:cs typeface="等线" panose="02010600030101010101" charset="-122"/>
                <a:sym typeface="+mn-ea"/>
              </a:rPr>
              <a:t>      将原图像的一个像素添到新图像的一个</a:t>
            </a:r>
            <a:r>
              <a:rPr lang="zh-CN" altLang="en-US" sz="2400" b="1" dirty="0" smtClean="0">
                <a:latin typeface="等线" panose="02010600030101010101" charset="-122"/>
                <a:ea typeface="等线" panose="02010600030101010101" charset="-122"/>
                <a:cs typeface="等线" panose="02010600030101010101" charset="-122"/>
                <a:sym typeface="+mn-ea"/>
              </a:rPr>
              <a:t>k1*k2的子块</a:t>
            </a:r>
            <a:r>
              <a:rPr lang="zh-CN" altLang="en-US" sz="2400" dirty="0" smtClean="0">
                <a:latin typeface="等线" panose="02010600030101010101" charset="-122"/>
                <a:ea typeface="等线" panose="02010600030101010101" charset="-122"/>
                <a:cs typeface="等线" panose="02010600030101010101" charset="-122"/>
                <a:sym typeface="+mn-ea"/>
              </a:rPr>
              <a:t>中去。</a:t>
            </a:r>
            <a:endParaRPr lang="zh-CN" altLang="en-US" sz="2400" dirty="0" smtClean="0">
              <a:latin typeface="等线" panose="02010600030101010101" charset="-122"/>
              <a:ea typeface="等线" panose="02010600030101010101" charset="-122"/>
              <a:cs typeface="等线" panose="02010600030101010101" charset="-122"/>
              <a:sym typeface="+mn-ea"/>
            </a:endParaRPr>
          </a:p>
        </p:txBody>
      </p:sp>
      <p:pic>
        <p:nvPicPr>
          <p:cNvPr id="317445"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2798" y="4061460"/>
            <a:ext cx="1270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46" name="Picture 6"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4135" y="4061460"/>
            <a:ext cx="38115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47" name="AutoShape 7"/>
          <p:cNvSpPr>
            <a:spLocks noChangeArrowheads="1"/>
          </p:cNvSpPr>
          <p:nvPr/>
        </p:nvSpPr>
        <p:spPr bwMode="auto">
          <a:xfrm>
            <a:off x="6312535" y="4899660"/>
            <a:ext cx="990600" cy="609600"/>
          </a:xfrm>
          <a:prstGeom prst="rightArrow">
            <a:avLst>
              <a:gd name="adj1" fmla="val 50000"/>
              <a:gd name="adj2" fmla="val 40625"/>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平移</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aphicFrame>
        <p:nvGraphicFramePr>
          <p:cNvPr id="300038" name="Object 6"/>
          <p:cNvGraphicFramePr>
            <a:graphicFrameLocks noChangeAspect="1"/>
          </p:cNvGraphicFramePr>
          <p:nvPr/>
        </p:nvGraphicFramePr>
        <p:xfrm>
          <a:off x="7898765" y="2200910"/>
          <a:ext cx="2170113" cy="1239838"/>
        </p:xfrm>
        <a:graphic>
          <a:graphicData uri="http://schemas.openxmlformats.org/presentationml/2006/ole">
            <mc:AlternateContent xmlns:mc="http://schemas.openxmlformats.org/markup-compatibility/2006">
              <mc:Choice xmlns:v="urn:schemas-microsoft-com:vml" Requires="v">
                <p:oleObj spid="_x0000_s85031" name="Equation" r:id="rId3" imgW="800100" imgH="457200" progId="Equation.DSMT4">
                  <p:embed/>
                </p:oleObj>
              </mc:Choice>
              <mc:Fallback>
                <p:oleObj name="Equation" r:id="rId3" imgW="800100" imgH="457200" progId="Equation.DSMT4">
                  <p:embed/>
                  <p:pic>
                    <p:nvPicPr>
                      <p:cNvPr id="0" name="图片 850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8765" y="2200910"/>
                        <a:ext cx="2170113" cy="12398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7"/>
          <p:cNvGrpSpPr/>
          <p:nvPr/>
        </p:nvGrpSpPr>
        <p:grpSpPr bwMode="auto">
          <a:xfrm>
            <a:off x="6887845" y="5107623"/>
            <a:ext cx="865188" cy="863600"/>
            <a:chOff x="657" y="2387"/>
            <a:chExt cx="545" cy="544"/>
          </a:xfrm>
        </p:grpSpPr>
        <p:sp>
          <p:nvSpPr>
            <p:cNvPr id="19495" name="Rectangle 8"/>
            <p:cNvSpPr>
              <a:spLocks noChangeArrowheads="1"/>
            </p:cNvSpPr>
            <p:nvPr/>
          </p:nvSpPr>
          <p:spPr bwMode="auto">
            <a:xfrm>
              <a:off x="657" y="2387"/>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96" name="Rectangle 9"/>
            <p:cNvSpPr>
              <a:spLocks noChangeArrowheads="1"/>
            </p:cNvSpPr>
            <p:nvPr/>
          </p:nvSpPr>
          <p:spPr bwMode="auto">
            <a:xfrm>
              <a:off x="839" y="2387"/>
              <a:ext cx="182" cy="181"/>
            </a:xfrm>
            <a:prstGeom prst="rect">
              <a:avLst/>
            </a:prstGeom>
            <a:solidFill>
              <a:srgbClr val="FFFF66"/>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97" name="Rectangle 10"/>
            <p:cNvSpPr>
              <a:spLocks noChangeArrowheads="1"/>
            </p:cNvSpPr>
            <p:nvPr/>
          </p:nvSpPr>
          <p:spPr bwMode="auto">
            <a:xfrm>
              <a:off x="657" y="2568"/>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19498" name="Rectangle 11"/>
            <p:cNvSpPr>
              <a:spLocks noChangeArrowheads="1"/>
            </p:cNvSpPr>
            <p:nvPr/>
          </p:nvSpPr>
          <p:spPr bwMode="auto">
            <a:xfrm>
              <a:off x="1020" y="2387"/>
              <a:ext cx="182" cy="181"/>
            </a:xfrm>
            <a:prstGeom prst="rect">
              <a:avLst/>
            </a:prstGeom>
            <a:solidFill>
              <a:schemeClr val="hlink"/>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99" name="Rectangle 12"/>
            <p:cNvSpPr>
              <a:spLocks noChangeArrowheads="1"/>
            </p:cNvSpPr>
            <p:nvPr/>
          </p:nvSpPr>
          <p:spPr bwMode="auto">
            <a:xfrm>
              <a:off x="839" y="2568"/>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500" name="Rectangle 13"/>
            <p:cNvSpPr>
              <a:spLocks noChangeArrowheads="1"/>
            </p:cNvSpPr>
            <p:nvPr/>
          </p:nvSpPr>
          <p:spPr bwMode="auto">
            <a:xfrm>
              <a:off x="1020" y="2568"/>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501" name="Rectangle 14"/>
            <p:cNvSpPr>
              <a:spLocks noChangeArrowheads="1"/>
            </p:cNvSpPr>
            <p:nvPr/>
          </p:nvSpPr>
          <p:spPr bwMode="auto">
            <a:xfrm>
              <a:off x="657" y="2750"/>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502" name="Rectangle 15"/>
            <p:cNvSpPr>
              <a:spLocks noChangeArrowheads="1"/>
            </p:cNvSpPr>
            <p:nvPr/>
          </p:nvSpPr>
          <p:spPr bwMode="auto">
            <a:xfrm>
              <a:off x="839" y="2750"/>
              <a:ext cx="182" cy="181"/>
            </a:xfrm>
            <a:prstGeom prst="rect">
              <a:avLst/>
            </a:prstGeom>
            <a:solidFill>
              <a:srgbClr val="CC99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503" name="Rectangle 16"/>
            <p:cNvSpPr>
              <a:spLocks noChangeArrowheads="1"/>
            </p:cNvSpPr>
            <p:nvPr/>
          </p:nvSpPr>
          <p:spPr bwMode="auto">
            <a:xfrm>
              <a:off x="1020" y="2750"/>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sp>
        <p:nvSpPr>
          <p:cNvPr id="300049" name="AutoShape 17"/>
          <p:cNvSpPr>
            <a:spLocks noChangeArrowheads="1"/>
          </p:cNvSpPr>
          <p:nvPr/>
        </p:nvSpPr>
        <p:spPr bwMode="auto">
          <a:xfrm>
            <a:off x="8408035" y="5355590"/>
            <a:ext cx="647700" cy="431800"/>
          </a:xfrm>
          <a:prstGeom prst="rightArrow">
            <a:avLst>
              <a:gd name="adj1" fmla="val 50000"/>
              <a:gd name="adj2" fmla="val 37500"/>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p:nvGrpSpPr>
          <p:cNvPr id="9" name="Group 29"/>
          <p:cNvGrpSpPr/>
          <p:nvPr/>
        </p:nvGrpSpPr>
        <p:grpSpPr bwMode="auto">
          <a:xfrm>
            <a:off x="9710420" y="4923155"/>
            <a:ext cx="1441450" cy="1152525"/>
            <a:chOff x="2517" y="2568"/>
            <a:chExt cx="908" cy="726"/>
          </a:xfrm>
        </p:grpSpPr>
        <p:sp>
          <p:nvSpPr>
            <p:cNvPr id="19466" name="Rectangle 30"/>
            <p:cNvSpPr>
              <a:spLocks noChangeArrowheads="1"/>
            </p:cNvSpPr>
            <p:nvPr/>
          </p:nvSpPr>
          <p:spPr bwMode="auto">
            <a:xfrm>
              <a:off x="2880" y="2750"/>
              <a:ext cx="182" cy="181"/>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67" name="Rectangle 31"/>
            <p:cNvSpPr>
              <a:spLocks noChangeArrowheads="1"/>
            </p:cNvSpPr>
            <p:nvPr/>
          </p:nvSpPr>
          <p:spPr bwMode="auto">
            <a:xfrm>
              <a:off x="3062" y="2750"/>
              <a:ext cx="182" cy="181"/>
            </a:xfrm>
            <a:prstGeom prst="rect">
              <a:avLst/>
            </a:prstGeom>
            <a:solidFill>
              <a:srgbClr val="FFFF66"/>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68" name="Rectangle 32"/>
            <p:cNvSpPr>
              <a:spLocks noChangeArrowheads="1"/>
            </p:cNvSpPr>
            <p:nvPr/>
          </p:nvSpPr>
          <p:spPr bwMode="auto">
            <a:xfrm>
              <a:off x="2880" y="2931"/>
              <a:ext cx="182" cy="181"/>
            </a:xfrm>
            <a:prstGeom prst="rect">
              <a:avLst/>
            </a:prstGeom>
            <a:solidFill>
              <a:srgbClr val="0066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eaLnBrk="1" hangingPunct="1"/>
              <a:endParaRPr kumimoji="1" lang="zh-CN" altLang="zh-CN" sz="2400">
                <a:solidFill>
                  <a:schemeClr val="folHlink"/>
                </a:solidFill>
                <a:latin typeface="Tahoma" panose="020B0604030504040204" pitchFamily="34" charset="0"/>
              </a:endParaRPr>
            </a:p>
          </p:txBody>
        </p:sp>
        <p:sp>
          <p:nvSpPr>
            <p:cNvPr id="19469" name="Rectangle 33"/>
            <p:cNvSpPr>
              <a:spLocks noChangeArrowheads="1"/>
            </p:cNvSpPr>
            <p:nvPr/>
          </p:nvSpPr>
          <p:spPr bwMode="auto">
            <a:xfrm>
              <a:off x="3243" y="2750"/>
              <a:ext cx="182" cy="181"/>
            </a:xfrm>
            <a:prstGeom prst="rect">
              <a:avLst/>
            </a:prstGeom>
            <a:solidFill>
              <a:schemeClr val="hlink"/>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0" name="Rectangle 34"/>
            <p:cNvSpPr>
              <a:spLocks noChangeArrowheads="1"/>
            </p:cNvSpPr>
            <p:nvPr/>
          </p:nvSpPr>
          <p:spPr bwMode="auto">
            <a:xfrm>
              <a:off x="3062" y="2931"/>
              <a:ext cx="182" cy="181"/>
            </a:xfrm>
            <a:prstGeom prst="rect">
              <a:avLst/>
            </a:prstGeom>
            <a:solidFill>
              <a:srgbClr val="FF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1" name="Rectangle 35"/>
            <p:cNvSpPr>
              <a:spLocks noChangeArrowheads="1"/>
            </p:cNvSpPr>
            <p:nvPr/>
          </p:nvSpPr>
          <p:spPr bwMode="auto">
            <a:xfrm>
              <a:off x="3243" y="2931"/>
              <a:ext cx="182" cy="181"/>
            </a:xfrm>
            <a:prstGeom prst="rect">
              <a:avLst/>
            </a:prstGeom>
            <a:solidFill>
              <a:srgbClr val="0080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2" name="Rectangle 36"/>
            <p:cNvSpPr>
              <a:spLocks noChangeArrowheads="1"/>
            </p:cNvSpPr>
            <p:nvPr/>
          </p:nvSpPr>
          <p:spPr bwMode="auto">
            <a:xfrm>
              <a:off x="2880" y="3113"/>
              <a:ext cx="182" cy="181"/>
            </a:xfrm>
            <a:prstGeom prst="rect">
              <a:avLst/>
            </a:prstGeom>
            <a:solidFill>
              <a:srgbClr val="66CCFF"/>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3" name="Rectangle 37"/>
            <p:cNvSpPr>
              <a:spLocks noChangeArrowheads="1"/>
            </p:cNvSpPr>
            <p:nvPr/>
          </p:nvSpPr>
          <p:spPr bwMode="auto">
            <a:xfrm>
              <a:off x="3062" y="3113"/>
              <a:ext cx="182" cy="181"/>
            </a:xfrm>
            <a:prstGeom prst="rect">
              <a:avLst/>
            </a:prstGeom>
            <a:solidFill>
              <a:srgbClr val="CC9900"/>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4" name="Rectangle 38"/>
            <p:cNvSpPr>
              <a:spLocks noChangeArrowheads="1"/>
            </p:cNvSpPr>
            <p:nvPr/>
          </p:nvSpPr>
          <p:spPr bwMode="auto">
            <a:xfrm>
              <a:off x="3243" y="3113"/>
              <a:ext cx="182" cy="181"/>
            </a:xfrm>
            <a:prstGeom prst="rect">
              <a:avLst/>
            </a:prstGeom>
            <a:solidFill>
              <a:srgbClr val="FF33CC"/>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5" name="Rectangle 39"/>
            <p:cNvSpPr>
              <a:spLocks noChangeArrowheads="1"/>
            </p:cNvSpPr>
            <p:nvPr/>
          </p:nvSpPr>
          <p:spPr bwMode="auto">
            <a:xfrm>
              <a:off x="2880" y="256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6" name="Rectangle 40"/>
            <p:cNvSpPr>
              <a:spLocks noChangeArrowheads="1"/>
            </p:cNvSpPr>
            <p:nvPr/>
          </p:nvSpPr>
          <p:spPr bwMode="auto">
            <a:xfrm>
              <a:off x="3061" y="256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7" name="Rectangle 41"/>
            <p:cNvSpPr>
              <a:spLocks noChangeArrowheads="1"/>
            </p:cNvSpPr>
            <p:nvPr/>
          </p:nvSpPr>
          <p:spPr bwMode="auto">
            <a:xfrm>
              <a:off x="3243" y="256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8" name="Rectangle 42"/>
            <p:cNvSpPr>
              <a:spLocks noChangeArrowheads="1"/>
            </p:cNvSpPr>
            <p:nvPr/>
          </p:nvSpPr>
          <p:spPr bwMode="auto">
            <a:xfrm>
              <a:off x="2699" y="256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79" name="Rectangle 43"/>
            <p:cNvSpPr>
              <a:spLocks noChangeArrowheads="1"/>
            </p:cNvSpPr>
            <p:nvPr/>
          </p:nvSpPr>
          <p:spPr bwMode="auto">
            <a:xfrm>
              <a:off x="2517" y="2568"/>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80" name="Rectangle 44"/>
            <p:cNvSpPr>
              <a:spLocks noChangeArrowheads="1"/>
            </p:cNvSpPr>
            <p:nvPr/>
          </p:nvSpPr>
          <p:spPr bwMode="auto">
            <a:xfrm>
              <a:off x="2699" y="275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81" name="Rectangle 45"/>
            <p:cNvSpPr>
              <a:spLocks noChangeArrowheads="1"/>
            </p:cNvSpPr>
            <p:nvPr/>
          </p:nvSpPr>
          <p:spPr bwMode="auto">
            <a:xfrm>
              <a:off x="2517" y="2750"/>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82" name="Rectangle 46"/>
            <p:cNvSpPr>
              <a:spLocks noChangeArrowheads="1"/>
            </p:cNvSpPr>
            <p:nvPr/>
          </p:nvSpPr>
          <p:spPr bwMode="auto">
            <a:xfrm>
              <a:off x="2517" y="293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83" name="Rectangle 47"/>
            <p:cNvSpPr>
              <a:spLocks noChangeArrowheads="1"/>
            </p:cNvSpPr>
            <p:nvPr/>
          </p:nvSpPr>
          <p:spPr bwMode="auto">
            <a:xfrm>
              <a:off x="2699" y="2931"/>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84" name="Rectangle 48"/>
            <p:cNvSpPr>
              <a:spLocks noChangeArrowheads="1"/>
            </p:cNvSpPr>
            <p:nvPr/>
          </p:nvSpPr>
          <p:spPr bwMode="auto">
            <a:xfrm>
              <a:off x="2517" y="3113"/>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sp>
          <p:nvSpPr>
            <p:cNvPr id="19485" name="Rectangle 49"/>
            <p:cNvSpPr>
              <a:spLocks noChangeArrowheads="1"/>
            </p:cNvSpPr>
            <p:nvPr/>
          </p:nvSpPr>
          <p:spPr bwMode="auto">
            <a:xfrm>
              <a:off x="2699" y="3113"/>
              <a:ext cx="182" cy="181"/>
            </a:xfrm>
            <a:prstGeom prst="rect">
              <a:avLst/>
            </a:prstGeom>
            <a:solidFill>
              <a:schemeClr val="bg1"/>
            </a:solidFill>
            <a:ln w="9525">
              <a:solidFill>
                <a:schemeClr val="tx1"/>
              </a:solidFill>
              <a:miter lim="800000"/>
            </a:ln>
          </p:spPr>
          <p:txBody>
            <a:bodyPr wrap="none" anchor="ct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endParaRPr lang="zh-CN" altLang="en-US"/>
            </a:p>
          </p:txBody>
        </p:sp>
      </p:grpSp>
      <mc:AlternateContent xmlns:mc="http://schemas.openxmlformats.org/markup-compatibility/2006">
        <mc:Choice xmlns:a14="http://schemas.microsoft.com/office/drawing/2010/main" Requires="a14">
          <p:sp>
            <p:nvSpPr>
              <p:cNvPr id="10" name="文本框 9"/>
              <p:cNvSpPr txBox="1"/>
              <p:nvPr/>
            </p:nvSpPr>
            <p:spPr>
              <a:xfrm>
                <a:off x="1163955" y="2270760"/>
                <a:ext cx="3419475" cy="1306830"/>
              </a:xfrm>
              <a:prstGeom prst="rect">
                <a:avLst/>
              </a:prstGeom>
              <a:noFill/>
            </p:spPr>
            <p:txBody>
              <a:bodyPr wrap="square" rtlCol="0">
                <a:spAutoFit/>
              </a:bodyPr>
              <a:p>
                <a:r>
                  <a:rPr lang="zh-CN" altLang="en-US" sz="2800"/>
                  <a:t>平移变换的仿射矩阵</a:t>
                </a:r>
                <a:r>
                  <a:rPr lang="en-US" altLang="zh-CN" sz="2800"/>
                  <a:t>:</a:t>
                </a:r>
                <a:endParaRPr lang="en-US" altLang="zh-CN" sz="2800"/>
              </a:p>
              <a:p>
                <a14:m>
                  <m:oMathPara xmlns:m="http://schemas.openxmlformats.org/officeDocument/2006/math">
                    <m:oMathParaPr>
                      <m:jc m:val="centerGroup"/>
                    </m:oMathParaPr>
                    <m:oMath xmlns:m="http://schemas.openxmlformats.org/officeDocument/2006/math">
                      <m:d>
                        <m:dPr>
                          <m:begChr m:val="["/>
                          <m:endChr m:val="]"/>
                          <m:ctrlPr>
                            <a:rPr lang="en-US" altLang="zh-CN" sz="2800" i="1">
                              <a:latin typeface="Cambria Math" panose="02040503050406030204" charset="0"/>
                              <a:cs typeface="Cambria Math" panose="02040503050406030204" charset="0"/>
                            </a:rPr>
                          </m:ctrlPr>
                        </m:dPr>
                        <m:e>
                          <m:m>
                            <m:mPr>
                              <m:mcs>
                                <m:mc>
                                  <m:mcPr>
                                    <m:count m:val="2"/>
                                    <m:mcJc m:val="center"/>
                                  </m:mcPr>
                                </m:mc>
                              </m:mcs>
                              <m:ctrlPr>
                                <a:rPr lang="en-US" altLang="zh-CN" sz="2800" i="1">
                                  <a:latin typeface="Cambria Math" panose="02040503050406030204" charset="0"/>
                                  <a:cs typeface="Cambria Math" panose="02040503050406030204" charset="0"/>
                                </a:rPr>
                              </m:ctrlPr>
                            </m:mPr>
                            <m:mr>
                              <m:e>
                                <m:m>
                                  <m:mPr>
                                    <m:mcs>
                                      <m:mc>
                                        <m:mcPr>
                                          <m:count m:val="2"/>
                                          <m:mcJc m:val="center"/>
                                        </m:mcPr>
                                      </m:mc>
                                    </m:mcs>
                                    <m:ctrlPr>
                                      <a:rPr lang="en-US" altLang="zh-CN" sz="2800" i="1">
                                        <a:latin typeface="Cambria Math" panose="02040503050406030204" charset="0"/>
                                        <a:cs typeface="Cambria Math" panose="02040503050406030204" charset="0"/>
                                      </a:rPr>
                                    </m:ctrlPr>
                                  </m:mPr>
                                  <m:mr>
                                    <m:e>
                                      <m:r>
                                        <a:rPr lang="en-US" altLang="zh-CN" sz="2800" i="1">
                                          <a:latin typeface="Cambria Math" panose="02040503050406030204" charset="0"/>
                                          <a:cs typeface="Cambria Math" panose="02040503050406030204" charset="0"/>
                                        </a:rPr>
                                        <m:t>1</m:t>
                                      </m:r>
                                    </m:e>
                                    <m:e>
                                      <m:r>
                                        <a:rPr lang="en-US" altLang="zh-CN" sz="2800" i="1">
                                          <a:latin typeface="Cambria Math" panose="02040503050406030204" charset="0"/>
                                          <a:cs typeface="Cambria Math" panose="02040503050406030204" charset="0"/>
                                        </a:rPr>
                                        <m:t>0</m:t>
                                      </m:r>
                                    </m:e>
                                  </m:mr>
                                </m:m>
                              </m:e>
                              <m:e>
                                <m:r>
                                  <a:rPr lang="en-US" altLang="zh-CN" sz="2800" i="1">
                                    <a:latin typeface="Cambria Math" panose="02040503050406030204" charset="0"/>
                                    <a:cs typeface="Cambria Math" panose="02040503050406030204" charset="0"/>
                                  </a:rPr>
                                  <m:t>∆</m:t>
                                </m:r>
                                <m:r>
                                  <a:rPr lang="en-US" altLang="zh-CN" sz="2800" i="1">
                                    <a:latin typeface="Cambria Math" panose="02040503050406030204" charset="0"/>
                                    <a:cs typeface="Cambria Math" panose="02040503050406030204" charset="0"/>
                                  </a:rPr>
                                  <m:t>𝑥</m:t>
                                </m:r>
                              </m:e>
                            </m:mr>
                            <m:mr>
                              <m:e>
                                <m:m>
                                  <m:mPr>
                                    <m:mcs>
                                      <m:mc>
                                        <m:mcPr>
                                          <m:count m:val="2"/>
                                          <m:mcJc m:val="center"/>
                                        </m:mcPr>
                                      </m:mc>
                                    </m:mcs>
                                    <m:ctrlPr>
                                      <a:rPr lang="en-US" altLang="zh-CN" sz="2800" i="1">
                                        <a:latin typeface="Cambria Math" panose="02040503050406030204" charset="0"/>
                                        <a:cs typeface="Cambria Math" panose="02040503050406030204" charset="0"/>
                                      </a:rPr>
                                    </m:ctrlPr>
                                  </m:mPr>
                                  <m:mr>
                                    <m:e>
                                      <m:r>
                                        <a:rPr lang="en-US" altLang="zh-CN" sz="2800" i="1">
                                          <a:latin typeface="Cambria Math" panose="02040503050406030204" charset="0"/>
                                          <a:cs typeface="Cambria Math" panose="02040503050406030204" charset="0"/>
                                        </a:rPr>
                                        <m:t>0</m:t>
                                      </m:r>
                                    </m:e>
                                    <m:e>
                                      <m:r>
                                        <a:rPr lang="en-US" altLang="zh-CN" sz="2800" i="1">
                                          <a:latin typeface="Cambria Math" panose="02040503050406030204" charset="0"/>
                                          <a:cs typeface="Cambria Math" panose="02040503050406030204" charset="0"/>
                                        </a:rPr>
                                        <m:t>1</m:t>
                                      </m:r>
                                    </m:e>
                                  </m:mr>
                                </m:m>
                              </m:e>
                              <m:e>
                                <m:r>
                                  <a:rPr lang="en-US" altLang="zh-CN" sz="2800" i="1">
                                    <a:latin typeface="Cambria Math" panose="02040503050406030204" charset="0"/>
                                    <a:cs typeface="Cambria Math" panose="02040503050406030204" charset="0"/>
                                  </a:rPr>
                                  <m:t>∆</m:t>
                                </m:r>
                                <m:r>
                                  <a:rPr lang="en-US" altLang="zh-CN" sz="2800" i="1">
                                    <a:latin typeface="Cambria Math" panose="02040503050406030204" charset="0"/>
                                    <a:cs typeface="Cambria Math" panose="02040503050406030204" charset="0"/>
                                  </a:rPr>
                                  <m:t>𝑦</m:t>
                                </m:r>
                              </m:e>
                            </m:mr>
                          </m:m>
                        </m:e>
                      </m:d>
                    </m:oMath>
                  </m:oMathPara>
                </a14:m>
                <a:endParaRPr lang="en-US" altLang="zh-CN" sz="2800"/>
              </a:p>
            </p:txBody>
          </p:sp>
        </mc:Choice>
        <mc:Fallback>
          <p:sp>
            <p:nvSpPr>
              <p:cNvPr id="10" name="文本框 9"/>
              <p:cNvSpPr txBox="1">
                <a:spLocks noRot="1" noChangeAspect="1" noMove="1" noResize="1" noEditPoints="1" noAdjustHandles="1" noChangeArrowheads="1" noChangeShapeType="1" noTextEdit="1"/>
              </p:cNvSpPr>
              <p:nvPr/>
            </p:nvSpPr>
            <p:spPr>
              <a:xfrm>
                <a:off x="1163955" y="2270760"/>
                <a:ext cx="3419475" cy="1306830"/>
              </a:xfrm>
              <a:prstGeom prst="rect">
                <a:avLst/>
              </a:prstGeom>
              <a:blipFill rotWithShape="1">
                <a:blip r:embed="rId5"/>
                <a:stretch>
                  <a:fillRect/>
                </a:stretch>
              </a:blipFill>
            </p:spPr>
            <p:txBody>
              <a:bodyPr/>
              <a:lstStyle/>
              <a:p>
                <a:r>
                  <a:rPr lang="zh-CN" altLang="en-US">
                    <a:noFill/>
                  </a:rPr>
                  <a:t> </a:t>
                </a:r>
              </a:p>
            </p:txBody>
          </p:sp>
        </mc:Fallback>
      </mc:AlternateContent>
      <p:graphicFrame>
        <p:nvGraphicFramePr>
          <p:cNvPr id="15368" name="Object 6"/>
          <p:cNvGraphicFramePr>
            <a:graphicFrameLocks noChangeAspect="1"/>
          </p:cNvGraphicFramePr>
          <p:nvPr/>
        </p:nvGraphicFramePr>
        <p:xfrm>
          <a:off x="744220" y="4399280"/>
          <a:ext cx="4615815" cy="1576070"/>
        </p:xfrm>
        <a:graphic>
          <a:graphicData uri="http://schemas.openxmlformats.org/presentationml/2006/ole">
            <mc:AlternateContent xmlns:mc="http://schemas.openxmlformats.org/markup-compatibility/2006">
              <mc:Choice xmlns:v="urn:schemas-microsoft-com:vml" Requires="v">
                <p:oleObj spid="_x0000_s15458" name="Equation" r:id="rId6" imgW="47853600" imgH="17068800" progId="Equation.DSMT4">
                  <p:embed/>
                </p:oleObj>
              </mc:Choice>
              <mc:Fallback>
                <p:oleObj name="Equation" r:id="rId6" imgW="47853600" imgH="17068800" progId="Equation.DSMT4">
                  <p:embed/>
                  <p:pic>
                    <p:nvPicPr>
                      <p:cNvPr id="0" name="Object 6"/>
                      <p:cNvPicPr>
                        <a:picLocks noChangeAspect="1" noChangeArrowheads="1"/>
                      </p:cNvPicPr>
                      <p:nvPr/>
                    </p:nvPicPr>
                    <p:blipFill>
                      <a:blip r:embed="rId7"/>
                      <a:srcRect/>
                      <a:stretch>
                        <a:fillRect/>
                      </a:stretch>
                    </p:blipFill>
                    <p:spPr bwMode="auto">
                      <a:xfrm>
                        <a:off x="744220" y="4399280"/>
                        <a:ext cx="4615815" cy="1576070"/>
                      </a:xfrm>
                      <a:prstGeom prst="rect">
                        <a:avLst/>
                      </a:prstGeom>
                      <a:solidFill>
                        <a:schemeClr val="bg1"/>
                      </a:solid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仿射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aphicFrame>
        <p:nvGraphicFramePr>
          <p:cNvPr id="48153" name="Object 26"/>
          <p:cNvGraphicFramePr>
            <a:graphicFrameLocks noChangeAspect="1"/>
          </p:cNvGraphicFramePr>
          <p:nvPr/>
        </p:nvGraphicFramePr>
        <p:xfrm>
          <a:off x="2182317" y="2124487"/>
          <a:ext cx="3687192" cy="1686030"/>
        </p:xfrm>
        <a:graphic>
          <a:graphicData uri="http://schemas.openxmlformats.org/presentationml/2006/ole">
            <mc:AlternateContent xmlns:mc="http://schemas.openxmlformats.org/markup-compatibility/2006">
              <mc:Choice xmlns:v="urn:schemas-microsoft-com:vml" Requires="v">
                <p:oleObj spid="_x0000_s48200" name="Equation" r:id="rId3" imgW="1562100" imgH="711200" progId="Equation.DSMT4">
                  <p:embed/>
                </p:oleObj>
              </mc:Choice>
              <mc:Fallback>
                <p:oleObj name="Equation" r:id="rId3" imgW="1562100" imgH="711200" progId="Equation.DSMT4">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2317" y="2124487"/>
                        <a:ext cx="3687192" cy="1686030"/>
                      </a:xfrm>
                      <a:prstGeom prst="rect">
                        <a:avLst/>
                      </a:prstGeom>
                      <a:noFill/>
                      <a:ln>
                        <a:noFill/>
                      </a:ln>
                    </p:spPr>
                  </p:pic>
                </p:oleObj>
              </mc:Fallback>
            </mc:AlternateContent>
          </a:graphicData>
        </a:graphic>
      </p:graphicFrame>
      <p:sp>
        <p:nvSpPr>
          <p:cNvPr id="4" name="文本框 3"/>
          <p:cNvSpPr txBox="1"/>
          <p:nvPr/>
        </p:nvSpPr>
        <p:spPr>
          <a:xfrm>
            <a:off x="1191260" y="4081145"/>
            <a:ext cx="9332595" cy="645160"/>
          </a:xfrm>
          <a:prstGeom prst="rect">
            <a:avLst/>
          </a:prstGeom>
          <a:noFill/>
        </p:spPr>
        <p:txBody>
          <a:bodyPr wrap="square" rtlCol="0">
            <a:spAutoFit/>
          </a:bodyPr>
          <a:p>
            <a:r>
              <a:rPr lang="zh-CN" altLang="en-US"/>
              <a:t>在计算机视觉中，对于刚性变换，如</a:t>
            </a:r>
            <a:r>
              <a:rPr lang="zh-CN" altLang="en-US" b="1"/>
              <a:t>平移、缩放和旋转变换</a:t>
            </a:r>
            <a:r>
              <a:rPr lang="zh-CN" altLang="en-US"/>
              <a:t>等，其变换矩阵的第</a:t>
            </a:r>
            <a:r>
              <a:rPr lang="en-US" altLang="zh-CN"/>
              <a:t>3</a:t>
            </a:r>
            <a:r>
              <a:rPr lang="zh-CN" altLang="en-US"/>
              <a:t>行均为</a:t>
            </a:r>
            <a:r>
              <a:rPr lang="en-US" altLang="zh-CN"/>
              <a:t>0,0,1</a:t>
            </a:r>
            <a:r>
              <a:rPr lang="zh-CN" altLang="en-US"/>
              <a:t>，因此直接省去，写作以上形式</a:t>
            </a:r>
            <a:r>
              <a:rPr lang="en-US" altLang="zh-CN"/>
              <a:t> (2*3)</a:t>
            </a:r>
            <a:endParaRPr lang="en-US" altLang="zh-CN"/>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仿射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aphicFrame>
        <p:nvGraphicFramePr>
          <p:cNvPr id="48153" name="Object 26"/>
          <p:cNvGraphicFramePr>
            <a:graphicFrameLocks noChangeAspect="1"/>
          </p:cNvGraphicFramePr>
          <p:nvPr/>
        </p:nvGraphicFramePr>
        <p:xfrm>
          <a:off x="2182317" y="2124487"/>
          <a:ext cx="3687192" cy="1686030"/>
        </p:xfrm>
        <a:graphic>
          <a:graphicData uri="http://schemas.openxmlformats.org/presentationml/2006/ole">
            <mc:AlternateContent xmlns:mc="http://schemas.openxmlformats.org/markup-compatibility/2006">
              <mc:Choice xmlns:v="urn:schemas-microsoft-com:vml" Requires="v">
                <p:oleObj spid="_x0000_s48200" name="Equation" r:id="rId3" imgW="1562100" imgH="711200" progId="Equation.DSMT4">
                  <p:embed/>
                </p:oleObj>
              </mc:Choice>
              <mc:Fallback>
                <p:oleObj name="Equation" r:id="rId3" imgW="1562100" imgH="711200" progId="Equation.DSMT4">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2317" y="2124487"/>
                        <a:ext cx="3687192" cy="1686030"/>
                      </a:xfrm>
                      <a:prstGeom prst="rect">
                        <a:avLst/>
                      </a:prstGeom>
                      <a:noFill/>
                      <a:ln>
                        <a:noFill/>
                      </a:ln>
                    </p:spPr>
                  </p:pic>
                </p:oleObj>
              </mc:Fallback>
            </mc:AlternateContent>
          </a:graphicData>
        </a:graphic>
      </p:graphicFrame>
      <p:sp>
        <p:nvSpPr>
          <p:cNvPr id="4" name="文本框 3"/>
          <p:cNvSpPr txBox="1"/>
          <p:nvPr/>
        </p:nvSpPr>
        <p:spPr>
          <a:xfrm>
            <a:off x="852805" y="3810635"/>
            <a:ext cx="9671050" cy="2574925"/>
          </a:xfrm>
          <a:prstGeom prst="rect">
            <a:avLst/>
          </a:prstGeom>
          <a:noFill/>
        </p:spPr>
        <p:txBody>
          <a:bodyPr wrap="square" rtlCol="0">
            <a:noAutofit/>
          </a:bodyPr>
          <a:p>
            <a:pPr eaLnBrk="1" hangingPunct="1">
              <a:spcBef>
                <a:spcPct val="50000"/>
              </a:spcBef>
            </a:pPr>
            <a:r>
              <a:rPr kumimoji="1" lang="zh-CN" altLang="en-US" b="1" u="sng" dirty="0">
                <a:solidFill>
                  <a:srgbClr val="D60093"/>
                </a:solidFill>
                <a:latin typeface="等线" panose="02010600030101010101" charset="-122"/>
                <a:ea typeface="等线" panose="02010600030101010101" charset="-122"/>
                <a:cs typeface="等线" panose="02010600030101010101" charset="-122"/>
                <a:sym typeface="+mn-ea"/>
              </a:rPr>
              <a:t>仿射变换具有如下性质</a:t>
            </a:r>
            <a:r>
              <a:rPr kumimoji="1" lang="zh-CN" altLang="en-US" b="1" dirty="0">
                <a:solidFill>
                  <a:srgbClr val="D60093"/>
                </a:solidFill>
                <a:latin typeface="等线" panose="02010600030101010101" charset="-122"/>
                <a:ea typeface="等线" panose="02010600030101010101" charset="-122"/>
                <a:cs typeface="等线" panose="02010600030101010101" charset="-122"/>
                <a:sym typeface="+mn-ea"/>
              </a:rPr>
              <a:t>：</a:t>
            </a:r>
            <a:endParaRPr kumimoji="1" lang="zh-CN" altLang="en-US" b="1" dirty="0">
              <a:solidFill>
                <a:srgbClr val="D60093"/>
              </a:solidFill>
              <a:latin typeface="等线" panose="02010600030101010101" charset="-122"/>
              <a:ea typeface="等线" panose="02010600030101010101" charset="-122"/>
              <a:cs typeface="等线" panose="02010600030101010101" charset="-122"/>
            </a:endParaRPr>
          </a:p>
          <a:p>
            <a:pPr algn="just" eaLnBrk="1" hangingPunct="1">
              <a:spcBef>
                <a:spcPct val="50000"/>
              </a:spcBef>
            </a:pPr>
            <a:r>
              <a:rPr kumimoji="1" lang="zh-CN" altLang="en-US" b="1" dirty="0">
                <a:latin typeface="等线" panose="02010600030101010101" charset="-122"/>
                <a:ea typeface="等线" panose="02010600030101010101" charset="-122"/>
                <a:cs typeface="等线" panose="02010600030101010101" charset="-122"/>
                <a:sym typeface="+mn-ea"/>
              </a:rPr>
              <a:t>（</a:t>
            </a:r>
            <a:r>
              <a:rPr kumimoji="1" lang="en-US" altLang="zh-CN" b="1" dirty="0">
                <a:latin typeface="等线" panose="02010600030101010101" charset="-122"/>
                <a:ea typeface="等线" panose="02010600030101010101" charset="-122"/>
                <a:cs typeface="等线" panose="02010600030101010101" charset="-122"/>
                <a:sym typeface="+mn-ea"/>
              </a:rPr>
              <a:t>1</a:t>
            </a:r>
            <a:r>
              <a:rPr kumimoji="1" lang="zh-CN" altLang="en-US" b="1" dirty="0">
                <a:latin typeface="等线" panose="02010600030101010101" charset="-122"/>
                <a:ea typeface="等线" panose="02010600030101010101" charset="-122"/>
                <a:cs typeface="等线" panose="02010600030101010101" charset="-122"/>
                <a:sym typeface="+mn-ea"/>
              </a:rPr>
              <a:t>）仿射变换有</a:t>
            </a:r>
            <a:r>
              <a:rPr kumimoji="1" lang="en-US" altLang="zh-CN" b="1" dirty="0">
                <a:solidFill>
                  <a:srgbClr val="FF0000"/>
                </a:solidFill>
                <a:latin typeface="等线" panose="02010600030101010101" charset="-122"/>
                <a:ea typeface="等线" panose="02010600030101010101" charset="-122"/>
                <a:cs typeface="等线" panose="02010600030101010101" charset="-122"/>
                <a:sym typeface="+mn-ea"/>
              </a:rPr>
              <a:t>6</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个自由度</a:t>
            </a:r>
            <a:r>
              <a:rPr kumimoji="1" lang="zh-CN" altLang="en-US" b="1" dirty="0">
                <a:latin typeface="等线" panose="02010600030101010101" charset="-122"/>
                <a:ea typeface="等线" panose="02010600030101010101" charset="-122"/>
                <a:cs typeface="等线" panose="02010600030101010101" charset="-122"/>
                <a:sym typeface="+mn-ea"/>
              </a:rPr>
              <a:t>（对应变换中的</a:t>
            </a:r>
            <a:r>
              <a:rPr kumimoji="1" lang="en-US" altLang="zh-CN" b="1" dirty="0">
                <a:latin typeface="等线" panose="02010600030101010101" charset="-122"/>
                <a:ea typeface="等线" panose="02010600030101010101" charset="-122"/>
                <a:cs typeface="等线" panose="02010600030101010101" charset="-122"/>
                <a:sym typeface="+mn-ea"/>
              </a:rPr>
              <a:t>6</a:t>
            </a:r>
            <a:r>
              <a:rPr kumimoji="1" lang="zh-CN" altLang="en-US" b="1" dirty="0">
                <a:latin typeface="等线" panose="02010600030101010101" charset="-122"/>
                <a:ea typeface="等线" panose="02010600030101010101" charset="-122"/>
                <a:cs typeface="等线" panose="02010600030101010101" charset="-122"/>
                <a:sym typeface="+mn-ea"/>
              </a:rPr>
              <a:t>个系数），因此，仿射变换后的线共点、点共线的关系</a:t>
            </a:r>
            <a:r>
              <a:rPr kumimoji="1" lang="zh-CN" altLang="en-US" b="1" dirty="0" smtClean="0">
                <a:latin typeface="等线" panose="02010600030101010101" charset="-122"/>
                <a:ea typeface="等线" panose="02010600030101010101" charset="-122"/>
                <a:cs typeface="等线" panose="02010600030101010101" charset="-122"/>
                <a:sym typeface="+mn-ea"/>
              </a:rPr>
              <a:t>不变，互相</a:t>
            </a:r>
            <a:r>
              <a:rPr kumimoji="1" lang="zh-CN" altLang="en-US" b="1" dirty="0">
                <a:latin typeface="等线" panose="02010600030101010101" charset="-122"/>
                <a:ea typeface="等线" panose="02010600030101010101" charset="-122"/>
                <a:cs typeface="等线" panose="02010600030101010101" charset="-122"/>
                <a:sym typeface="+mn-ea"/>
              </a:rPr>
              <a:t>平行直线仍然为平行直线，三角形映射后仍是三角形。</a:t>
            </a:r>
            <a:r>
              <a:rPr kumimoji="1" lang="zh-CN" altLang="en-US" b="1" dirty="0" smtClean="0">
                <a:latin typeface="等线" panose="02010600030101010101" charset="-122"/>
                <a:ea typeface="等线" panose="02010600030101010101" charset="-122"/>
                <a:cs typeface="等线" panose="02010600030101010101" charset="-122"/>
                <a:sym typeface="+mn-ea"/>
              </a:rPr>
              <a:t>但不能</a:t>
            </a:r>
            <a:r>
              <a:rPr kumimoji="1" lang="zh-CN" altLang="en-US" b="1" dirty="0">
                <a:latin typeface="等线" panose="02010600030101010101" charset="-122"/>
                <a:ea typeface="等线" panose="02010600030101010101" charset="-122"/>
                <a:cs typeface="等线" panose="02010600030101010101" charset="-122"/>
                <a:sym typeface="+mn-ea"/>
              </a:rPr>
              <a:t>保持原来的线段长度和夹角角度</a:t>
            </a:r>
            <a:r>
              <a:rPr kumimoji="1" lang="zh-CN" altLang="en-US" b="1" dirty="0" smtClean="0">
                <a:latin typeface="等线" panose="02010600030101010101" charset="-122"/>
                <a:ea typeface="等线" panose="02010600030101010101" charset="-122"/>
                <a:cs typeface="等线" panose="02010600030101010101" charset="-122"/>
                <a:sym typeface="+mn-ea"/>
              </a:rPr>
              <a:t>不变、也不能</a:t>
            </a:r>
            <a:r>
              <a:rPr kumimoji="1" lang="zh-CN" altLang="en-US" b="1" dirty="0">
                <a:latin typeface="等线" panose="02010600030101010101" charset="-122"/>
                <a:ea typeface="等线" panose="02010600030101010101" charset="-122"/>
                <a:cs typeface="等线" panose="02010600030101010101" charset="-122"/>
                <a:sym typeface="+mn-ea"/>
              </a:rPr>
              <a:t>保证将四边形以上的多边形映射为等边数的多边形。</a:t>
            </a:r>
            <a:endParaRPr kumimoji="1" lang="zh-CN" altLang="en-US" b="1" dirty="0">
              <a:latin typeface="等线" panose="02010600030101010101" charset="-122"/>
              <a:ea typeface="等线" panose="02010600030101010101" charset="-122"/>
              <a:cs typeface="等线" panose="02010600030101010101" charset="-122"/>
            </a:endParaRPr>
          </a:p>
          <a:p>
            <a:pPr algn="just" eaLnBrk="1" hangingPunct="1">
              <a:spcBef>
                <a:spcPct val="50000"/>
              </a:spcBef>
            </a:pPr>
            <a:r>
              <a:rPr kumimoji="1" lang="zh-CN" altLang="en-US" b="1" dirty="0">
                <a:latin typeface="等线" panose="02010600030101010101" charset="-122"/>
                <a:ea typeface="等线" panose="02010600030101010101" charset="-122"/>
                <a:cs typeface="等线" panose="02010600030101010101" charset="-122"/>
                <a:sym typeface="+mn-ea"/>
              </a:rPr>
              <a:t>（</a:t>
            </a:r>
            <a:r>
              <a:rPr kumimoji="1" lang="en-US" altLang="zh-CN" b="1" dirty="0">
                <a:latin typeface="等线" panose="02010600030101010101" charset="-122"/>
                <a:ea typeface="等线" panose="02010600030101010101" charset="-122"/>
                <a:cs typeface="等线" panose="02010600030101010101" charset="-122"/>
                <a:sym typeface="+mn-ea"/>
              </a:rPr>
              <a:t>2</a:t>
            </a:r>
            <a:r>
              <a:rPr kumimoji="1" lang="zh-CN" altLang="en-US" b="1" dirty="0">
                <a:latin typeface="等线" panose="02010600030101010101" charset="-122"/>
                <a:ea typeface="等线" panose="02010600030101010101" charset="-122"/>
                <a:cs typeface="等线" panose="02010600030101010101" charset="-122"/>
                <a:sym typeface="+mn-ea"/>
              </a:rPr>
              <a:t>）仿射变换的乘积和逆变换仍是仿射变换。</a:t>
            </a:r>
            <a:endParaRPr kumimoji="1" lang="zh-CN" altLang="en-US" b="1" dirty="0">
              <a:latin typeface="等线" panose="02010600030101010101" charset="-122"/>
              <a:ea typeface="等线" panose="02010600030101010101" charset="-122"/>
              <a:cs typeface="等线" panose="02010600030101010101" charset="-122"/>
            </a:endParaRPr>
          </a:p>
          <a:p>
            <a:pPr algn="just" eaLnBrk="1" hangingPunct="1">
              <a:spcBef>
                <a:spcPct val="50000"/>
              </a:spcBef>
            </a:pPr>
            <a:r>
              <a:rPr kumimoji="1" lang="zh-CN" altLang="en-US" b="1" dirty="0">
                <a:latin typeface="等线" panose="02010600030101010101" charset="-122"/>
                <a:ea typeface="等线" panose="02010600030101010101" charset="-122"/>
                <a:cs typeface="等线" panose="02010600030101010101" charset="-122"/>
                <a:sym typeface="+mn-ea"/>
              </a:rPr>
              <a:t>（</a:t>
            </a:r>
            <a:r>
              <a:rPr kumimoji="1" lang="en-US" altLang="zh-CN" b="1" dirty="0">
                <a:latin typeface="等线" panose="02010600030101010101" charset="-122"/>
                <a:ea typeface="等线" panose="02010600030101010101" charset="-122"/>
                <a:cs typeface="等线" panose="02010600030101010101" charset="-122"/>
                <a:sym typeface="+mn-ea"/>
              </a:rPr>
              <a:t>3</a:t>
            </a:r>
            <a:r>
              <a:rPr kumimoji="1" lang="zh-CN" altLang="en-US" b="1" dirty="0">
                <a:latin typeface="等线" panose="02010600030101010101" charset="-122"/>
                <a:ea typeface="等线" panose="02010600030101010101" charset="-122"/>
                <a:cs typeface="等线" panose="02010600030101010101" charset="-122"/>
                <a:sym typeface="+mn-ea"/>
              </a:rPr>
              <a:t>）仿射变换能够实现</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平移</a:t>
            </a:r>
            <a:r>
              <a:rPr kumimoji="1" lang="zh-CN" altLang="en-US" b="1" dirty="0">
                <a:latin typeface="等线" panose="02010600030101010101" charset="-122"/>
                <a:ea typeface="等线" panose="02010600030101010101" charset="-122"/>
                <a:cs typeface="等线" panose="02010600030101010101" charset="-122"/>
                <a:sym typeface="+mn-ea"/>
              </a:rPr>
              <a:t>、</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旋转</a:t>
            </a:r>
            <a:r>
              <a:rPr kumimoji="1" lang="zh-CN" altLang="en-US" b="1" dirty="0">
                <a:latin typeface="等线" panose="02010600030101010101" charset="-122"/>
                <a:ea typeface="等线" panose="02010600030101010101" charset="-122"/>
                <a:cs typeface="等线" panose="02010600030101010101" charset="-122"/>
                <a:sym typeface="+mn-ea"/>
              </a:rPr>
              <a:t>、</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缩放</a:t>
            </a:r>
            <a:r>
              <a:rPr kumimoji="1" lang="zh-CN" altLang="en-US" b="1" dirty="0">
                <a:latin typeface="等线" panose="02010600030101010101" charset="-122"/>
                <a:ea typeface="等线" panose="02010600030101010101" charset="-122"/>
                <a:cs typeface="等线" panose="02010600030101010101" charset="-122"/>
                <a:sym typeface="+mn-ea"/>
              </a:rPr>
              <a:t>等几何变换。</a:t>
            </a:r>
            <a:endParaRPr lang="en-US" altLang="zh-CN">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rgbClr val="FFC000"/>
                </a:solidFill>
                <a:latin typeface="微软雅黑" panose="020B0503020204020204" charset="-122"/>
                <a:ea typeface="微软雅黑" panose="020B0503020204020204" charset="-122"/>
                <a:sym typeface="+mn-ea"/>
              </a:rPr>
              <a:t>OpenCV: </a:t>
            </a:r>
            <a:r>
              <a:rPr lang="zh-CN" altLang="en-US" sz="3200" b="1" dirty="0" smtClean="0">
                <a:solidFill>
                  <a:srgbClr val="FFC000"/>
                </a:solidFill>
                <a:latin typeface="微软雅黑" panose="020B0503020204020204" charset="-122"/>
                <a:ea typeface="微软雅黑" panose="020B0503020204020204" charset="-122"/>
                <a:sym typeface="+mn-ea"/>
              </a:rPr>
              <a:t>转转乐</a:t>
            </a:r>
            <a:endParaRPr lang="zh-CN" altLang="en-US" sz="3200" b="1" dirty="0" smtClean="0">
              <a:solidFill>
                <a:srgbClr val="FFC000"/>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216660" y="2625725"/>
            <a:ext cx="8621395" cy="1753235"/>
          </a:xfrm>
          <a:prstGeom prst="rect">
            <a:avLst/>
          </a:prstGeom>
          <a:noFill/>
        </p:spPr>
        <p:txBody>
          <a:bodyPr wrap="square" rtlCol="0">
            <a:spAutoFit/>
          </a:bodyPr>
          <a:p>
            <a:r>
              <a:rPr lang="zh-CN" altLang="en-US"/>
              <a:t>现在，给出一张彩色图像，请你完成以下旋转操作：</a:t>
            </a:r>
            <a:endParaRPr lang="zh-CN" altLang="en-US"/>
          </a:p>
          <a:p>
            <a:endParaRPr lang="en-US" altLang="zh-CN"/>
          </a:p>
          <a:p>
            <a:r>
              <a:rPr lang="en-US" altLang="zh-CN"/>
              <a:t>1. </a:t>
            </a:r>
            <a:r>
              <a:rPr lang="zh-CN" altLang="en-US"/>
              <a:t>读取原始图像</a:t>
            </a:r>
            <a:endParaRPr lang="zh-CN" altLang="en-US"/>
          </a:p>
          <a:p>
            <a:r>
              <a:rPr lang="en-US" altLang="zh-CN"/>
              <a:t>2. </a:t>
            </a:r>
            <a:r>
              <a:rPr lang="zh-CN" altLang="en-US"/>
              <a:t>逆时针旋转</a:t>
            </a:r>
            <a:r>
              <a:rPr lang="en-US" altLang="zh-CN"/>
              <a:t>30</a:t>
            </a:r>
            <a:r>
              <a:rPr lang="zh-CN" altLang="en-US"/>
              <a:t>度，将结果保存为</a:t>
            </a:r>
            <a:r>
              <a:rPr lang="en-US" altLang="zh-CN"/>
              <a:t>pic1</a:t>
            </a:r>
            <a:endParaRPr lang="en-US" altLang="zh-CN"/>
          </a:p>
          <a:p>
            <a:r>
              <a:rPr lang="en-US" altLang="zh-CN"/>
              <a:t>3. </a:t>
            </a:r>
            <a:r>
              <a:rPr lang="zh-CN" altLang="en-US"/>
              <a:t>基于</a:t>
            </a:r>
            <a:r>
              <a:rPr lang="en-US" altLang="zh-CN"/>
              <a:t>pic1</a:t>
            </a:r>
            <a:r>
              <a:rPr lang="zh-CN" altLang="en-US"/>
              <a:t>，顺时针旋转</a:t>
            </a:r>
            <a:r>
              <a:rPr lang="en-US" altLang="zh-CN"/>
              <a:t>30</a:t>
            </a:r>
            <a:r>
              <a:rPr lang="zh-CN" altLang="en-US"/>
              <a:t>度，将结果保存为</a:t>
            </a:r>
            <a:r>
              <a:rPr lang="en-US" altLang="zh-CN"/>
              <a:t>pic2</a:t>
            </a:r>
            <a:endParaRPr lang="en-US" altLang="zh-CN"/>
          </a:p>
          <a:p>
            <a:r>
              <a:rPr lang="en-US" altLang="zh-CN"/>
              <a:t>4. </a:t>
            </a:r>
            <a:r>
              <a:rPr lang="zh-CN" altLang="en-US"/>
              <a:t>比较并验证</a:t>
            </a:r>
            <a:r>
              <a:rPr lang="en-US" altLang="zh-CN"/>
              <a:t>pic2</a:t>
            </a:r>
            <a:r>
              <a:rPr lang="zh-CN" altLang="en-US"/>
              <a:t>与原始图像的差异。如果要消除差异，应该怎么转？</a:t>
            </a:r>
            <a:endParaRPr lang="zh-CN" altLang="en-US"/>
          </a:p>
        </p:txBody>
      </p:sp>
      <p:sp>
        <p:nvSpPr>
          <p:cNvPr id="6" name="文本框 5"/>
          <p:cNvSpPr txBox="1"/>
          <p:nvPr/>
        </p:nvSpPr>
        <p:spPr>
          <a:xfrm>
            <a:off x="1130935" y="2015490"/>
            <a:ext cx="5413375" cy="368300"/>
          </a:xfrm>
          <a:prstGeom prst="rect">
            <a:avLst/>
          </a:prstGeom>
          <a:noFill/>
        </p:spPr>
        <p:txBody>
          <a:bodyPr wrap="square" rtlCol="0">
            <a:spAutoFit/>
          </a:bodyPr>
          <a:p>
            <a:r>
              <a:rPr lang="en-US" altLang="zh-CN" b="1"/>
              <a:t>lab1_4 </a:t>
            </a:r>
            <a:r>
              <a:rPr lang="zh-CN" b="1"/>
              <a:t>将图像转来转去</a:t>
            </a:r>
            <a:endParaRPr lang="zh-CN" b="1"/>
          </a:p>
        </p:txBody>
      </p:sp>
      <p:sp>
        <p:nvSpPr>
          <p:cNvPr id="9" name="文本框 8"/>
          <p:cNvSpPr txBox="1"/>
          <p:nvPr/>
        </p:nvSpPr>
        <p:spPr>
          <a:xfrm>
            <a:off x="637540" y="5427345"/>
            <a:ext cx="10629265" cy="368300"/>
          </a:xfrm>
          <a:prstGeom prst="rect">
            <a:avLst/>
          </a:prstGeom>
          <a:noFill/>
        </p:spPr>
        <p:txBody>
          <a:bodyPr wrap="square" rtlCol="0">
            <a:spAutoFit/>
          </a:bodyPr>
          <a:p>
            <a:r>
              <a:rPr lang="zh-CN" altLang="en-US" b="1"/>
              <a:t>请参考</a:t>
            </a:r>
            <a:r>
              <a:rPr lang="en-US" altLang="zh-CN" b="1"/>
              <a:t> https://github.com/FirmamentumX/AirHUST_Vision_Tutorial </a:t>
            </a:r>
            <a:r>
              <a:rPr lang="zh-CN" altLang="en-US" b="1"/>
              <a:t>的</a:t>
            </a:r>
            <a:r>
              <a:rPr lang="en-US" altLang="zh-CN" b="1"/>
              <a:t>lab1_4_spin_around</a:t>
            </a:r>
            <a:r>
              <a:rPr lang="zh-CN" altLang="en-US" b="1"/>
              <a:t>分支</a:t>
            </a:r>
            <a:endParaRPr lang="zh-CN" altLang="en-US" b="1"/>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图像的</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透视</a:t>
            </a:r>
            <a:r>
              <a:rPr lang="zh-CN" sz="3200" b="1" dirty="0" smtClean="0">
                <a:solidFill>
                  <a:schemeClr val="bg1"/>
                </a:solidFill>
                <a:highlight>
                  <a:srgbClr val="000000">
                    <a:alpha val="0"/>
                  </a:srgbClr>
                </a:highlight>
                <a:latin typeface="微软雅黑" panose="020B0503020204020204" charset="-122"/>
                <a:ea typeface="微软雅黑" panose="020B0503020204020204" charset="-122"/>
                <a:sym typeface="+mn-ea"/>
              </a:rPr>
              <a:t>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852805" y="2008505"/>
                <a:ext cx="10059035" cy="4549140"/>
              </a:xfrm>
              <a:prstGeom prst="rect">
                <a:avLst/>
              </a:prstGeom>
              <a:noFill/>
            </p:spPr>
            <p:txBody>
              <a:bodyPr wrap="square" rtlCol="0">
                <a:noAutofit/>
              </a:bodyPr>
              <a:p>
                <a:pPr eaLnBrk="1" hangingPunct="1">
                  <a:spcBef>
                    <a:spcPct val="50000"/>
                  </a:spcBef>
                </a:pPr>
                <a:r>
                  <a:rPr kumimoji="1" lang="zh-CN" altLang="en-US" b="1" dirty="0" smtClean="0">
                    <a:latin typeface="等线" panose="02010600030101010101" charset="-122"/>
                    <a:ea typeface="等线" panose="02010600030101010101" charset="-122"/>
                    <a:cs typeface="等线" panose="02010600030101010101" charset="-122"/>
                    <a:sym typeface="+mn-ea"/>
                  </a:rPr>
                  <a:t>将三维物体投影到二维图像，或将图片</a:t>
                </a:r>
                <a:r>
                  <a:rPr kumimoji="1" lang="zh-CN" altLang="en-US" b="1" dirty="0">
                    <a:latin typeface="等线" panose="02010600030101010101" charset="-122"/>
                    <a:ea typeface="等线" panose="02010600030101010101" charset="-122"/>
                    <a:cs typeface="等线" panose="02010600030101010101" charset="-122"/>
                    <a:sym typeface="+mn-ea"/>
                  </a:rPr>
                  <a:t>投影到一个新的视角或平面，称为</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透视变换</a:t>
                </a:r>
                <a:r>
                  <a:rPr kumimoji="1" lang="zh-CN" altLang="en-US" b="1" dirty="0">
                    <a:latin typeface="等线" panose="02010600030101010101" charset="-122"/>
                    <a:ea typeface="等线" panose="02010600030101010101" charset="-122"/>
                    <a:cs typeface="等线" panose="02010600030101010101" charset="-122"/>
                    <a:sym typeface="+mn-ea"/>
                  </a:rPr>
                  <a:t>，也称为</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投影映射</a:t>
                </a:r>
                <a:r>
                  <a:rPr kumimoji="1" lang="zh-CN" altLang="en-US" b="1" dirty="0">
                    <a:latin typeface="等线" panose="02010600030101010101" charset="-122"/>
                    <a:ea typeface="等线" panose="02010600030101010101" charset="-122"/>
                    <a:cs typeface="等线" panose="02010600030101010101" charset="-122"/>
                    <a:sym typeface="+mn-ea"/>
                  </a:rPr>
                  <a:t>，其表达式为</a:t>
                </a:r>
                <a:r>
                  <a:rPr kumimoji="1" lang="en-US" altLang="zh-CN" b="1" dirty="0">
                    <a:latin typeface="等线" panose="02010600030101010101" charset="-122"/>
                    <a:ea typeface="等线" panose="02010600030101010101" charset="-122"/>
                    <a:cs typeface="等线" panose="02010600030101010101" charset="-122"/>
                    <a:sym typeface="+mn-ea"/>
                  </a:rPr>
                  <a:t>:</a:t>
                </a:r>
                <a:endParaRPr kumimoji="1" lang="en-US" altLang="zh-CN" b="1" dirty="0">
                  <a:latin typeface="等线" panose="02010600030101010101" charset="-122"/>
                  <a:ea typeface="等线" panose="02010600030101010101" charset="-122"/>
                  <a:cs typeface="等线" panose="02010600030101010101" charset="-122"/>
                </a:endParaRPr>
              </a:p>
              <a:p>
                <a:pPr eaLnBrk="1" hangingPunct="1">
                  <a:spcBef>
                    <a:spcPct val="50000"/>
                  </a:spcBef>
                </a:pPr>
                <a:endParaRPr kumimoji="1" lang="en-US" altLang="zh-CN" b="1" dirty="0">
                  <a:latin typeface="等线" panose="02010600030101010101" charset="-122"/>
                  <a:ea typeface="等线" panose="02010600030101010101" charset="-122"/>
                  <a:cs typeface="等线" panose="02010600030101010101" charset="-122"/>
                </a:endParaRPr>
              </a:p>
              <a:p>
                <a:pPr eaLnBrk="1" hangingPunct="1">
                  <a:spcBef>
                    <a:spcPct val="50000"/>
                  </a:spcBef>
                </a:pPr>
                <a:endParaRPr kumimoji="1" lang="en-US" altLang="zh-CN" b="1" dirty="0">
                  <a:latin typeface="等线" panose="02010600030101010101" charset="-122"/>
                  <a:ea typeface="等线" panose="02010600030101010101" charset="-122"/>
                  <a:cs typeface="等线" panose="02010600030101010101" charset="-122"/>
                </a:endParaRPr>
              </a:p>
              <a:p>
                <a:pPr eaLnBrk="1" hangingPunct="1">
                  <a:spcBef>
                    <a:spcPct val="50000"/>
                  </a:spcBef>
                </a:pPr>
                <a:endParaRPr kumimoji="1" lang="en-US" altLang="zh-CN" b="1" dirty="0">
                  <a:latin typeface="等线" panose="02010600030101010101" charset="-122"/>
                  <a:ea typeface="等线" panose="02010600030101010101" charset="-122"/>
                  <a:cs typeface="等线" panose="02010600030101010101" charset="-122"/>
                </a:endParaRPr>
              </a:p>
              <a:p>
                <a:pPr eaLnBrk="1" hangingPunct="1">
                  <a:spcBef>
                    <a:spcPct val="50000"/>
                  </a:spcBef>
                </a:pPr>
                <a:endParaRPr kumimoji="1" lang="en-US" altLang="zh-CN" b="1" dirty="0">
                  <a:latin typeface="等线" panose="02010600030101010101" charset="-122"/>
                  <a:ea typeface="等线" panose="02010600030101010101" charset="-122"/>
                  <a:cs typeface="等线" panose="02010600030101010101" charset="-122"/>
                </a:endParaRPr>
              </a:p>
              <a:p>
                <a:pPr eaLnBrk="1" hangingPunct="1">
                  <a:spcBef>
                    <a:spcPct val="50000"/>
                  </a:spcBef>
                </a:pPr>
                <a:r>
                  <a:rPr kumimoji="1" lang="en-US" altLang="zh-CN" b="1" dirty="0">
                    <a:latin typeface="等线" panose="02010600030101010101" charset="-122"/>
                    <a:ea typeface="等线" panose="02010600030101010101" charset="-122"/>
                    <a:cs typeface="等线" panose="02010600030101010101" charset="-122"/>
                    <a:sym typeface="+mn-ea"/>
                  </a:rPr>
                  <a:t> </a:t>
                </a:r>
                <a:r>
                  <a:rPr kumimoji="1" lang="zh-CN" altLang="en-US" b="1" dirty="0">
                    <a:latin typeface="等线" panose="02010600030101010101" charset="-122"/>
                    <a:ea typeface="等线" panose="02010600030101010101" charset="-122"/>
                    <a:cs typeface="等线" panose="02010600030101010101" charset="-122"/>
                    <a:sym typeface="+mn-ea"/>
                  </a:rPr>
                  <a:t>变换后的二维坐标为：</a:t>
                </a:r>
                <a14:m>
                  <m:oMath xmlns:m="http://schemas.openxmlformats.org/officeDocument/2006/math">
                    <m:r>
                      <a:rPr kumimoji="1" lang="en-US" altLang="zh-CN" b="1" i="1" dirty="0">
                        <a:latin typeface="Cambria Math" panose="02040503050406030204" charset="0"/>
                        <a:ea typeface="等线" panose="02010600030101010101" charset="-122"/>
                        <a:cs typeface="Cambria Math" panose="02040503050406030204" charset="0"/>
                        <a:sym typeface="+mn-ea"/>
                      </a:rPr>
                      <m:t>(</m:t>
                    </m:r>
                    <m:f>
                      <m:fPr>
                        <m:ctrlPr>
                          <a:rPr kumimoji="1" lang="en-US" altLang="zh-CN" b="1" i="1" dirty="0">
                            <a:latin typeface="Cambria Math" panose="02040503050406030204" charset="0"/>
                            <a:ea typeface="等线" panose="02010600030101010101" charset="-122"/>
                            <a:cs typeface="Cambria Math" panose="02040503050406030204" charset="0"/>
                            <a:sym typeface="+mn-ea"/>
                          </a:rPr>
                        </m:ctrlPr>
                      </m:fPr>
                      <m:num>
                        <m:r>
                          <a:rPr kumimoji="1" lang="en-US" altLang="zh-CN" b="1" i="1" dirty="0">
                            <a:latin typeface="Cambria Math" panose="02040503050406030204" charset="0"/>
                            <a:ea typeface="等线" panose="02010600030101010101" charset="-122"/>
                            <a:cs typeface="Cambria Math" panose="02040503050406030204" charset="0"/>
                            <a:sym typeface="+mn-ea"/>
                          </a:rPr>
                          <m:t>𝒖</m:t>
                        </m:r>
                        <m:r>
                          <a:rPr kumimoji="1" lang="en-US" altLang="zh-CN" b="1" i="1" dirty="0">
                            <a:latin typeface="Cambria Math" panose="02040503050406030204" charset="0"/>
                            <a:ea typeface="等线" panose="02010600030101010101" charset="-122"/>
                            <a:cs typeface="Cambria Math" panose="02040503050406030204" charset="0"/>
                            <a:sym typeface="+mn-ea"/>
                          </a:rPr>
                          <m:t>’</m:t>
                        </m:r>
                      </m:num>
                      <m:den>
                        <m:r>
                          <a:rPr kumimoji="1" lang="en-US" altLang="zh-CN" b="1" i="1" dirty="0">
                            <a:latin typeface="Cambria Math" panose="02040503050406030204" charset="0"/>
                            <a:ea typeface="等线" panose="02010600030101010101" charset="-122"/>
                            <a:cs typeface="Cambria Math" panose="02040503050406030204" charset="0"/>
                            <a:sym typeface="+mn-ea"/>
                          </a:rPr>
                          <m:t>𝒘</m:t>
                        </m:r>
                        <m:r>
                          <a:rPr kumimoji="1" lang="en-US" altLang="zh-CN" b="1" i="1" dirty="0">
                            <a:latin typeface="Cambria Math" panose="02040503050406030204" charset="0"/>
                            <a:ea typeface="等线" panose="02010600030101010101" charset="-122"/>
                            <a:cs typeface="Cambria Math" panose="02040503050406030204" charset="0"/>
                            <a:sym typeface="+mn-ea"/>
                          </a:rPr>
                          <m:t>’</m:t>
                        </m:r>
                      </m:den>
                    </m:f>
                    <m:r>
                      <a:rPr kumimoji="1" lang="en-US" altLang="zh-CN" b="1" i="1" dirty="0">
                        <a:latin typeface="Cambria Math" panose="02040503050406030204" charset="0"/>
                        <a:ea typeface="等线" panose="02010600030101010101" charset="-122"/>
                        <a:cs typeface="Cambria Math" panose="02040503050406030204" charset="0"/>
                        <a:sym typeface="+mn-ea"/>
                      </a:rPr>
                      <m:t>,</m:t>
                    </m:r>
                    <m:f>
                      <m:fPr>
                        <m:ctrlPr>
                          <a:rPr kumimoji="1" lang="en-US" altLang="zh-CN" b="1" i="1" dirty="0">
                            <a:latin typeface="Cambria Math" panose="02040503050406030204" charset="0"/>
                            <a:ea typeface="等线" panose="02010600030101010101" charset="-122"/>
                            <a:cs typeface="Cambria Math" panose="02040503050406030204" charset="0"/>
                            <a:sym typeface="+mn-ea"/>
                          </a:rPr>
                        </m:ctrlPr>
                      </m:fPr>
                      <m:num>
                        <m:r>
                          <a:rPr kumimoji="1" lang="en-US" altLang="zh-CN" b="1" i="1" dirty="0">
                            <a:latin typeface="Cambria Math" panose="02040503050406030204" charset="0"/>
                            <a:ea typeface="等线" panose="02010600030101010101" charset="-122"/>
                            <a:cs typeface="Cambria Math" panose="02040503050406030204" charset="0"/>
                            <a:sym typeface="+mn-ea"/>
                          </a:rPr>
                          <m:t>𝒗</m:t>
                        </m:r>
                        <m:r>
                          <a:rPr kumimoji="1" lang="en-US" altLang="zh-CN" b="1" i="1" dirty="0">
                            <a:latin typeface="Cambria Math" panose="02040503050406030204" charset="0"/>
                            <a:ea typeface="等线" panose="02010600030101010101" charset="-122"/>
                            <a:cs typeface="Cambria Math" panose="02040503050406030204" charset="0"/>
                            <a:sym typeface="+mn-ea"/>
                          </a:rPr>
                          <m:t>’</m:t>
                        </m:r>
                      </m:num>
                      <m:den>
                        <m:r>
                          <a:rPr kumimoji="1" lang="en-US" altLang="zh-CN" b="1" i="1" dirty="0">
                            <a:latin typeface="Cambria Math" panose="02040503050406030204" charset="0"/>
                            <a:ea typeface="等线" panose="02010600030101010101" charset="-122"/>
                            <a:cs typeface="Cambria Math" panose="02040503050406030204" charset="0"/>
                            <a:sym typeface="+mn-ea"/>
                          </a:rPr>
                          <m:t>𝒘</m:t>
                        </m:r>
                        <m:r>
                          <a:rPr kumimoji="1" lang="en-US" altLang="zh-CN" b="1" i="1" dirty="0">
                            <a:latin typeface="Cambria Math" panose="02040503050406030204" charset="0"/>
                            <a:ea typeface="等线" panose="02010600030101010101" charset="-122"/>
                            <a:cs typeface="Cambria Math" panose="02040503050406030204" charset="0"/>
                            <a:sym typeface="+mn-ea"/>
                          </a:rPr>
                          <m:t>’</m:t>
                        </m:r>
                      </m:den>
                    </m:f>
                    <m:r>
                      <a:rPr kumimoji="1" lang="en-US" altLang="zh-CN" b="1" i="1" dirty="0">
                        <a:latin typeface="Cambria Math" panose="02040503050406030204" charset="0"/>
                        <a:ea typeface="等线" panose="02010600030101010101" charset="-122"/>
                        <a:cs typeface="Cambria Math" panose="02040503050406030204" charset="0"/>
                        <a:sym typeface="+mn-ea"/>
                      </a:rPr>
                      <m:t>)</m:t>
                    </m:r>
                  </m:oMath>
                </a14:m>
                <a:r>
                  <a:rPr kumimoji="1" lang="en-US" altLang="zh-CN" b="1" dirty="0">
                    <a:latin typeface="等线" panose="02010600030101010101" charset="-122"/>
                    <a:ea typeface="等线" panose="02010600030101010101" charset="-122"/>
                    <a:cs typeface="等线" panose="02010600030101010101" charset="-122"/>
                    <a:sym typeface="+mn-ea"/>
                  </a:rPr>
                  <a:t>   </a:t>
                </a:r>
                <a:r>
                  <a:rPr kumimoji="1" lang="zh-CN" altLang="en-US" b="1" dirty="0">
                    <a:latin typeface="等线" panose="02010600030101010101" charset="-122"/>
                    <a:ea typeface="等线" panose="02010600030101010101" charset="-122"/>
                    <a:cs typeface="等线" panose="02010600030101010101" charset="-122"/>
                    <a:sym typeface="+mn-ea"/>
                  </a:rPr>
                  <a:t>，其中</a:t>
                </a:r>
                <a14:m>
                  <m:oMath xmlns:m="http://schemas.openxmlformats.org/officeDocument/2006/math">
                    <m:sSub>
                      <m:sSubPr>
                        <m:ctrlPr>
                          <a:rPr kumimoji="1" lang="en-US" altLang="zh-CN" b="1" i="1" dirty="0">
                            <a:latin typeface="Cambria Math" panose="02040503050406030204" charset="0"/>
                            <a:ea typeface="等线" panose="02010600030101010101" charset="-122"/>
                            <a:cs typeface="Cambria Math" panose="02040503050406030204" charset="0"/>
                            <a:sym typeface="+mn-ea"/>
                          </a:rPr>
                        </m:ctrlPr>
                      </m:sSubPr>
                      <m:e>
                        <m:r>
                          <a:rPr kumimoji="1" lang="en-US" altLang="zh-CN" b="1" i="1" dirty="0">
                            <a:latin typeface="Cambria Math" panose="02040503050406030204" charset="0"/>
                            <a:ea typeface="等线" panose="02010600030101010101" charset="-122"/>
                            <a:cs typeface="Cambria Math" panose="02040503050406030204" charset="0"/>
                            <a:sym typeface="+mn-ea"/>
                          </a:rPr>
                          <m:t>𝒂</m:t>
                        </m:r>
                      </m:e>
                      <m:sub>
                        <m:r>
                          <a:rPr kumimoji="1" lang="en-US" altLang="zh-CN" b="1" i="1" dirty="0">
                            <a:latin typeface="Cambria Math" panose="02040503050406030204" charset="0"/>
                            <a:ea typeface="等线" panose="02010600030101010101" charset="-122"/>
                            <a:cs typeface="Cambria Math" panose="02040503050406030204" charset="0"/>
                            <a:sym typeface="+mn-ea"/>
                          </a:rPr>
                          <m:t>𝟑</m:t>
                        </m:r>
                        <m:r>
                          <a:rPr kumimoji="1" lang="en-US" altLang="zh-CN" b="1" i="1" dirty="0">
                            <a:latin typeface="Cambria Math" panose="02040503050406030204" charset="0"/>
                            <a:ea typeface="等线" panose="02010600030101010101" charset="-122"/>
                            <a:cs typeface="Cambria Math" panose="02040503050406030204" charset="0"/>
                            <a:sym typeface="+mn-ea"/>
                          </a:rPr>
                          <m:t>,</m:t>
                        </m:r>
                        <m:r>
                          <a:rPr kumimoji="1" lang="en-US" altLang="zh-CN" b="1" i="1" dirty="0">
                            <a:latin typeface="Cambria Math" panose="02040503050406030204" charset="0"/>
                            <a:ea typeface="等线" panose="02010600030101010101" charset="-122"/>
                            <a:cs typeface="Cambria Math" panose="02040503050406030204" charset="0"/>
                            <a:sym typeface="+mn-ea"/>
                          </a:rPr>
                          <m:t>𝟏</m:t>
                        </m:r>
                      </m:sub>
                    </m:sSub>
                    <m:sSub>
                      <m:sSubPr>
                        <m:ctrlPr>
                          <a:rPr kumimoji="1" lang="en-US" altLang="zh-CN" b="1" i="1" dirty="0">
                            <a:latin typeface="Cambria Math" panose="02040503050406030204" charset="0"/>
                            <a:ea typeface="等线" panose="02010600030101010101" charset="-122"/>
                            <a:cs typeface="Cambria Math" panose="02040503050406030204" charset="0"/>
                            <a:sym typeface="+mn-ea"/>
                          </a:rPr>
                        </m:ctrlPr>
                      </m:sSubPr>
                      <m:e>
                        <m:r>
                          <a:rPr kumimoji="1" lang="en-US" altLang="zh-CN" b="1" i="1" dirty="0">
                            <a:latin typeface="Cambria Math" panose="02040503050406030204" charset="0"/>
                            <a:ea typeface="等线" panose="02010600030101010101" charset="-122"/>
                            <a:cs typeface="Cambria Math" panose="02040503050406030204" charset="0"/>
                            <a:sym typeface="+mn-ea"/>
                          </a:rPr>
                          <m:t>,</m:t>
                        </m:r>
                        <m:r>
                          <a:rPr kumimoji="1" lang="en-US" altLang="zh-CN" b="1" i="1" dirty="0">
                            <a:latin typeface="Cambria Math" panose="02040503050406030204" charset="0"/>
                            <a:ea typeface="等线" panose="02010600030101010101" charset="-122"/>
                            <a:cs typeface="Cambria Math" panose="02040503050406030204" charset="0"/>
                            <a:sym typeface="+mn-ea"/>
                          </a:rPr>
                          <m:t>𝒂</m:t>
                        </m:r>
                      </m:e>
                      <m:sub>
                        <m:r>
                          <a:rPr kumimoji="1" lang="en-US" altLang="zh-CN" b="1" i="1" dirty="0">
                            <a:latin typeface="Cambria Math" panose="02040503050406030204" charset="0"/>
                            <a:ea typeface="等线" panose="02010600030101010101" charset="-122"/>
                            <a:cs typeface="Cambria Math" panose="02040503050406030204" charset="0"/>
                            <a:sym typeface="+mn-ea"/>
                          </a:rPr>
                          <m:t>𝟑</m:t>
                        </m:r>
                        <m:r>
                          <a:rPr kumimoji="1" lang="en-US" altLang="zh-CN" b="1" i="1" dirty="0">
                            <a:latin typeface="Cambria Math" panose="02040503050406030204" charset="0"/>
                            <a:ea typeface="等线" panose="02010600030101010101" charset="-122"/>
                            <a:cs typeface="Cambria Math" panose="02040503050406030204" charset="0"/>
                            <a:sym typeface="+mn-ea"/>
                          </a:rPr>
                          <m:t>,</m:t>
                        </m:r>
                        <m:r>
                          <a:rPr kumimoji="1" lang="en-US" altLang="zh-CN" b="1" i="1" dirty="0">
                            <a:latin typeface="Cambria Math" panose="02040503050406030204" charset="0"/>
                            <a:ea typeface="等线" panose="02010600030101010101" charset="-122"/>
                            <a:cs typeface="Cambria Math" panose="02040503050406030204" charset="0"/>
                            <a:sym typeface="+mn-ea"/>
                          </a:rPr>
                          <m:t>𝟐</m:t>
                        </m:r>
                      </m:sub>
                    </m:sSub>
                  </m:oMath>
                </a14:m>
                <a:r>
                  <a:rPr kumimoji="1" lang="en-US" altLang="zh-CN" b="1" dirty="0">
                    <a:latin typeface="等线" panose="02010600030101010101" charset="-122"/>
                    <a:ea typeface="等线" panose="02010600030101010101" charset="-122"/>
                    <a:cs typeface="等线" panose="02010600030101010101" charset="-122"/>
                    <a:sym typeface="+mn-ea"/>
                  </a:rPr>
                  <a:t>是关键参数</a:t>
                </a:r>
                <a:r>
                  <a:rPr kumimoji="1" lang="zh-CN" altLang="en-US" b="1" dirty="0">
                    <a:latin typeface="等线" panose="02010600030101010101" charset="-122"/>
                    <a:ea typeface="等线" panose="02010600030101010101" charset="-122"/>
                    <a:cs typeface="等线" panose="02010600030101010101" charset="-122"/>
                    <a:sym typeface="+mn-ea"/>
                  </a:rPr>
                  <a:t>，使</a:t>
                </a:r>
                <a:r>
                  <a:rPr kumimoji="1" lang="en-US" altLang="zh-CN" b="1" dirty="0">
                    <a:latin typeface="等线" panose="02010600030101010101" charset="-122"/>
                    <a:ea typeface="等线" panose="02010600030101010101" charset="-122"/>
                    <a:cs typeface="等线" panose="02010600030101010101" charset="-122"/>
                    <a:sym typeface="+mn-ea"/>
                  </a:rPr>
                  <a:t>w’</a:t>
                </a:r>
                <a:r>
                  <a:rPr kumimoji="1" lang="zh-CN" altLang="en-US" b="1" dirty="0">
                    <a:latin typeface="等线" panose="02010600030101010101" charset="-122"/>
                    <a:ea typeface="等线" panose="02010600030101010101" charset="-122"/>
                    <a:cs typeface="等线" panose="02010600030101010101" charset="-122"/>
                    <a:sym typeface="+mn-ea"/>
                  </a:rPr>
                  <a:t>依赖与</a:t>
                </a:r>
                <a:r>
                  <a:rPr kumimoji="1" lang="en-US" altLang="zh-CN" b="1" dirty="0">
                    <a:latin typeface="等线" panose="02010600030101010101" charset="-122"/>
                    <a:ea typeface="等线" panose="02010600030101010101" charset="-122"/>
                    <a:cs typeface="等线" panose="02010600030101010101" charset="-122"/>
                    <a:sym typeface="+mn-ea"/>
                  </a:rPr>
                  <a:t>x,y</a:t>
                </a:r>
                <a:r>
                  <a:rPr kumimoji="1" lang="zh-CN" altLang="en-US" b="1" dirty="0">
                    <a:latin typeface="等线" panose="02010600030101010101" charset="-122"/>
                    <a:ea typeface="等线" panose="02010600030101010101" charset="-122"/>
                    <a:cs typeface="等线" panose="02010600030101010101" charset="-122"/>
                    <a:sym typeface="+mn-ea"/>
                  </a:rPr>
                  <a:t>从而引入非线性的透视效应</a:t>
                </a:r>
                <a:endParaRPr kumimoji="1" lang="en-US" altLang="zh-CN" b="1" dirty="0">
                  <a:latin typeface="等线" panose="02010600030101010101" charset="-122"/>
                  <a:ea typeface="等线" panose="02010600030101010101" charset="-122"/>
                  <a:cs typeface="等线" panose="02010600030101010101" charset="-122"/>
                  <a:sym typeface="+mn-ea"/>
                </a:endParaRPr>
              </a:p>
              <a:p>
                <a:pPr eaLnBrk="1" hangingPunct="1">
                  <a:spcBef>
                    <a:spcPct val="50000"/>
                  </a:spcBef>
                </a:pPr>
                <a:r>
                  <a:rPr kumimoji="1" lang="zh-CN" altLang="en-US" b="1" dirty="0">
                    <a:latin typeface="等线" panose="02010600030101010101" charset="-122"/>
                    <a:ea typeface="等线" panose="02010600030101010101" charset="-122"/>
                    <a:cs typeface="等线" panose="02010600030101010101" charset="-122"/>
                    <a:sym typeface="+mn-ea"/>
                  </a:rPr>
                  <a:t>透视变换也是一种平面映射，并且可以保证任意方向上的直线经过透视变换后仍然保持是直线。</a:t>
                </a:r>
                <a:endParaRPr kumimoji="1" lang="zh-CN" altLang="en-US" b="1" dirty="0">
                  <a:latin typeface="等线" panose="02010600030101010101" charset="-122"/>
                  <a:ea typeface="等线" panose="02010600030101010101" charset="-122"/>
                  <a:cs typeface="等线" panose="02010600030101010101" charset="-122"/>
                </a:endParaRPr>
              </a:p>
              <a:p>
                <a:pPr eaLnBrk="1" hangingPunct="1">
                  <a:spcBef>
                    <a:spcPct val="50000"/>
                  </a:spcBef>
                </a:pPr>
                <a:r>
                  <a:rPr kumimoji="1" lang="zh-CN" altLang="en-US" b="1" dirty="0">
                    <a:latin typeface="等线" panose="02010600030101010101" charset="-122"/>
                    <a:ea typeface="等线" panose="02010600030101010101" charset="-122"/>
                    <a:cs typeface="等线" panose="02010600030101010101" charset="-122"/>
                    <a:sym typeface="+mn-ea"/>
                  </a:rPr>
                  <a:t>    透视变换具有</a:t>
                </a:r>
                <a:r>
                  <a:rPr kumimoji="1" lang="en-US" altLang="zh-CN" b="1" dirty="0">
                    <a:solidFill>
                      <a:srgbClr val="FF0000"/>
                    </a:solidFill>
                    <a:latin typeface="等线" panose="02010600030101010101" charset="-122"/>
                    <a:ea typeface="等线" panose="02010600030101010101" charset="-122"/>
                    <a:cs typeface="等线" panose="02010600030101010101" charset="-122"/>
                    <a:sym typeface="+mn-ea"/>
                  </a:rPr>
                  <a:t>9</a:t>
                </a:r>
                <a:r>
                  <a:rPr kumimoji="1" lang="zh-CN" altLang="en-US" b="1" dirty="0">
                    <a:solidFill>
                      <a:srgbClr val="FF0000"/>
                    </a:solidFill>
                    <a:latin typeface="等线" panose="02010600030101010101" charset="-122"/>
                    <a:ea typeface="等线" panose="02010600030101010101" charset="-122"/>
                    <a:cs typeface="等线" panose="02010600030101010101" charset="-122"/>
                    <a:sym typeface="+mn-ea"/>
                  </a:rPr>
                  <a:t>个自由度</a:t>
                </a:r>
                <a:r>
                  <a:rPr kumimoji="1" lang="zh-CN" altLang="en-US" b="1" dirty="0">
                    <a:latin typeface="等线" panose="02010600030101010101" charset="-122"/>
                    <a:ea typeface="等线" panose="02010600030101010101" charset="-122"/>
                    <a:cs typeface="等线" panose="02010600030101010101" charset="-122"/>
                    <a:sym typeface="+mn-ea"/>
                  </a:rPr>
                  <a:t>（其变换系数为</a:t>
                </a:r>
                <a:r>
                  <a:rPr kumimoji="1" lang="en-US" altLang="zh-CN" b="1" dirty="0">
                    <a:latin typeface="等线" panose="02010600030101010101" charset="-122"/>
                    <a:ea typeface="等线" panose="02010600030101010101" charset="-122"/>
                    <a:cs typeface="等线" panose="02010600030101010101" charset="-122"/>
                    <a:sym typeface="+mn-ea"/>
                  </a:rPr>
                  <a:t>9</a:t>
                </a:r>
                <a:r>
                  <a:rPr kumimoji="1" lang="zh-CN" altLang="en-US" b="1" dirty="0">
                    <a:latin typeface="等线" panose="02010600030101010101" charset="-122"/>
                    <a:ea typeface="等线" panose="02010600030101010101" charset="-122"/>
                    <a:cs typeface="等线" panose="02010600030101010101" charset="-122"/>
                    <a:sym typeface="+mn-ea"/>
                  </a:rPr>
                  <a:t>个</a:t>
                </a:r>
                <a:r>
                  <a:rPr kumimoji="1" lang="zh-CN" altLang="en-US" b="1" dirty="0" smtClean="0">
                    <a:latin typeface="等线" panose="02010600030101010101" charset="-122"/>
                    <a:ea typeface="等线" panose="02010600030101010101" charset="-122"/>
                    <a:cs typeface="等线" panose="02010600030101010101" charset="-122"/>
                    <a:sym typeface="+mn-ea"/>
                  </a:rPr>
                  <a:t>）</a:t>
                </a:r>
                <a:endParaRPr kumimoji="1" lang="en-US" altLang="zh-CN" b="1" dirty="0" smtClean="0">
                  <a:latin typeface="等线" panose="02010600030101010101" charset="-122"/>
                  <a:ea typeface="等线" panose="02010600030101010101" charset="-122"/>
                  <a:cs typeface="等线" panose="02010600030101010101" charset="-122"/>
                </a:endParaRPr>
              </a:p>
              <a:p>
                <a:pPr eaLnBrk="1" hangingPunct="1">
                  <a:spcBef>
                    <a:spcPct val="50000"/>
                  </a:spcBef>
                </a:pPr>
                <a:r>
                  <a:rPr kumimoji="1" lang="zh-CN" altLang="en-US" b="1" dirty="0">
                    <a:latin typeface="等线" panose="02010600030101010101" charset="-122"/>
                    <a:ea typeface="等线" panose="02010600030101010101" charset="-122"/>
                    <a:cs typeface="等线" panose="02010600030101010101" charset="-122"/>
                    <a:sym typeface="+mn-ea"/>
                  </a:rPr>
                  <a:t>两条平行的线在经过仿射变换之后依然保持平行，但透视变换并不保证这一点</a:t>
                </a:r>
                <a:r>
                  <a:rPr kumimoji="1" lang="zh-CN" altLang="en-US" b="1" dirty="0" smtClean="0">
                    <a:latin typeface="等线" panose="02010600030101010101" charset="-122"/>
                    <a:ea typeface="等线" panose="02010600030101010101" charset="-122"/>
                    <a:cs typeface="等线" panose="02010600030101010101" charset="-122"/>
                    <a:sym typeface="+mn-ea"/>
                  </a:rPr>
                  <a:t>。</a:t>
                </a:r>
                <a:r>
                  <a:rPr kumimoji="1" lang="en-US" altLang="zh-CN" b="1" dirty="0" smtClean="0">
                    <a:latin typeface="等线" panose="02010600030101010101" charset="-122"/>
                    <a:ea typeface="等线" panose="02010600030101010101" charset="-122"/>
                    <a:cs typeface="等线" panose="02010600030101010101" charset="-122"/>
                    <a:sym typeface="+mn-ea"/>
                  </a:rPr>
                  <a:t> </a:t>
                </a:r>
                <a:r>
                  <a:rPr lang="zh-CN" altLang="en-US">
                    <a:sym typeface="+mn-ea"/>
                  </a:rPr>
                  <a:t>🤔</a:t>
                </a:r>
                <a:r>
                  <a:rPr lang="en-US" altLang="zh-CN">
                    <a:sym typeface="+mn-ea"/>
                  </a:rPr>
                  <a:t>  </a:t>
                </a:r>
                <a:r>
                  <a:rPr kumimoji="1" lang="zh-CN" altLang="en-US" b="1" dirty="0" smtClean="0">
                    <a:latin typeface="等线" panose="02010600030101010101" charset="-122"/>
                    <a:ea typeface="等线" panose="02010600030101010101" charset="-122"/>
                    <a:cs typeface="等线" panose="02010600030101010101" charset="-122"/>
                    <a:sym typeface="+mn-ea"/>
                  </a:rPr>
                  <a:t>为什么？</a:t>
                </a:r>
                <a:endParaRPr lang="en-US" altLang="zh-CN">
                  <a:latin typeface="等线" panose="02010600030101010101" charset="-122"/>
                  <a:ea typeface="等线" panose="02010600030101010101" charset="-122"/>
                  <a:cs typeface="等线" panose="0201060003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852805" y="2008505"/>
                <a:ext cx="10059035" cy="4549140"/>
              </a:xfrm>
              <a:prstGeom prst="rect">
                <a:avLst/>
              </a:prstGeom>
              <a:blipFill rotWithShape="1">
                <a:blip r:embed="rId3"/>
                <a:stretch>
                  <a:fillRect/>
                </a:stretch>
              </a:blipFill>
            </p:spPr>
            <p:txBody>
              <a:bodyPr/>
              <a:lstStyle/>
              <a:p>
                <a:r>
                  <a:rPr lang="zh-CN" altLang="en-US">
                    <a:noFill/>
                  </a:rPr>
                  <a:t> </a:t>
                </a:r>
              </a:p>
            </p:txBody>
          </p:sp>
        </mc:Fallback>
      </mc:AlternateContent>
      <p:graphicFrame>
        <p:nvGraphicFramePr>
          <p:cNvPr id="50199" name="Object 24"/>
          <p:cNvGraphicFramePr>
            <a:graphicFrameLocks noChangeAspect="1"/>
          </p:cNvGraphicFramePr>
          <p:nvPr/>
        </p:nvGraphicFramePr>
        <p:xfrm>
          <a:off x="3057525" y="2794318"/>
          <a:ext cx="3400425" cy="1400175"/>
        </p:xfrm>
        <a:graphic>
          <a:graphicData uri="http://schemas.openxmlformats.org/presentationml/2006/ole">
            <mc:AlternateContent xmlns:mc="http://schemas.openxmlformats.org/markup-compatibility/2006">
              <mc:Choice xmlns:v="urn:schemas-microsoft-com:vml" Requires="v">
                <p:oleObj spid="_x0000_s88082" name="Equation" r:id="rId4" imgW="1460500" imgH="596900" progId="Equation.DSMT4">
                  <p:embed/>
                </p:oleObj>
              </mc:Choice>
              <mc:Fallback>
                <p:oleObj name="Equation" r:id="rId4" imgW="1460500" imgH="596900" progId="Equation.DSMT4">
                  <p:embed/>
                  <p:pic>
                    <p:nvPicPr>
                      <p:cNvPr id="0" name="图片 880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7525" y="2794318"/>
                        <a:ext cx="340042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12520" y="1854200"/>
            <a:ext cx="9418320" cy="737235"/>
          </a:xfrm>
          <a:prstGeom prst="rect">
            <a:avLst/>
          </a:prstGeom>
        </p:spPr>
        <p:txBody>
          <a:bodyPr wrap="square">
            <a:spAutoFit/>
          </a:bodyPr>
          <a:p>
            <a:pPr marL="0" indent="0"/>
            <a:r>
              <a:rPr lang="zh-CN" altLang="en-US" sz="2100" b="0" i="0">
                <a:solidFill>
                  <a:srgbClr val="0F1115"/>
                </a:solidFill>
                <a:latin typeface="quote-cjk-patch"/>
                <a:ea typeface="quote-cjk-patch"/>
              </a:rPr>
              <a:t>在标准欧氏平面</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 </a:t>
            </a:r>
            <a:r>
              <a:rPr lang="zh-CN" altLang="en-US" sz="2100" b="0" i="0">
                <a:solidFill>
                  <a:srgbClr val="0F1115"/>
                </a:solidFill>
                <a:latin typeface="quote-cjk-patch"/>
                <a:ea typeface="quote-cjk-patch"/>
              </a:rPr>
              <a:t>中，两条平行线永不相交。数学家为了统一</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相交</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与</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平行</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这两种情况，扩展了欧氏平面，创造了射影平面。</a:t>
            </a:r>
            <a:endParaRPr lang="zh-CN" altLang="en-US" sz="2100" b="0" i="0">
              <a:solidFill>
                <a:srgbClr val="0F1115"/>
              </a:solidFill>
              <a:latin typeface="quote-cjk-patch"/>
              <a:ea typeface="quote-cjk-patch"/>
            </a:endParaRPr>
          </a:p>
        </p:txBody>
      </p:sp>
      <p:sp>
        <p:nvSpPr>
          <p:cNvPr id="6" name="文本框 5"/>
          <p:cNvSpPr txBox="1"/>
          <p:nvPr/>
        </p:nvSpPr>
        <p:spPr>
          <a:xfrm>
            <a:off x="1113155" y="2934970"/>
            <a:ext cx="9586595" cy="414020"/>
          </a:xfrm>
          <a:prstGeom prst="rect">
            <a:avLst/>
          </a:prstGeom>
        </p:spPr>
        <p:txBody>
          <a:bodyPr wrap="square">
            <a:spAutoFit/>
          </a:bodyPr>
          <a:p>
            <a:pPr marL="0" indent="0"/>
            <a:r>
              <a:rPr lang="zh-CN" altLang="en-US" sz="2100" b="0" i="0">
                <a:solidFill>
                  <a:srgbClr val="0F1115"/>
                </a:solidFill>
                <a:latin typeface="quote-cjk-patch"/>
                <a:ea typeface="quote-cjk-patch"/>
              </a:rPr>
              <a:t>现在我们将二维点</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用三维齐次坐标</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 w)</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表示，并引入一个关键规则：</a:t>
            </a:r>
            <a:endParaRPr lang="zh-CN" altLang="en-US" sz="2100" b="0" i="0">
              <a:solidFill>
                <a:srgbClr val="0F1115"/>
              </a:solidFill>
              <a:latin typeface="quote-cjk-patch"/>
              <a:ea typeface="quote-cjk-patch"/>
            </a:endParaRPr>
          </a:p>
        </p:txBody>
      </p:sp>
      <p:sp>
        <p:nvSpPr>
          <p:cNvPr id="9" name="文本框 8"/>
          <p:cNvSpPr txBox="1"/>
          <p:nvPr/>
        </p:nvSpPr>
        <p:spPr>
          <a:xfrm>
            <a:off x="1307465" y="3692525"/>
            <a:ext cx="8403590" cy="1383665"/>
          </a:xfrm>
          <a:prstGeom prst="rect">
            <a:avLst/>
          </a:prstGeom>
        </p:spPr>
        <p:txBody>
          <a:bodyPr wrap="square">
            <a:spAutoFit/>
          </a:bodyPr>
          <a:p>
            <a:pPr marL="0" indent="0">
              <a:spcBef>
                <a:spcPct val="0"/>
              </a:spcBef>
              <a:spcAft>
                <a:spcPct val="0"/>
              </a:spcAft>
              <a:buFont typeface="Arial" panose="020B0604020202020204"/>
              <a:buChar char="•"/>
            </a:pPr>
            <a:r>
              <a:rPr lang="zh-CN" altLang="en-US" sz="2100" b="1" i="0">
                <a:solidFill>
                  <a:srgbClr val="0F1115"/>
                </a:solidFill>
                <a:latin typeface="quote-cjk-patch"/>
                <a:ea typeface="quote-cjk-patch"/>
              </a:rPr>
              <a:t>所有非零的倍数</a:t>
            </a:r>
            <a:r>
              <a:rPr lang="en-US" altLang="zh-CN" sz="2100" b="1" i="0">
                <a:solidFill>
                  <a:srgbClr val="0F1115"/>
                </a:solidFill>
                <a:latin typeface="quote-cjk-patch"/>
                <a:ea typeface="quote-cjk-patch"/>
              </a:rPr>
              <a:t> </a:t>
            </a:r>
            <a:r>
              <a:rPr lang="en-US" altLang="zh-CN" sz="1600" b="1" i="0">
                <a:solidFill>
                  <a:srgbClr val="0F1115"/>
                </a:solidFill>
                <a:latin typeface="Menlo"/>
                <a:ea typeface="Menlo"/>
              </a:rPr>
              <a:t>(kx, ky, kw)</a:t>
            </a:r>
            <a:r>
              <a:rPr lang="zh-CN" altLang="en-US" sz="2100" b="1" i="0">
                <a:solidFill>
                  <a:srgbClr val="0F1115"/>
                </a:solidFill>
                <a:latin typeface="quote-cjk-patch"/>
                <a:ea typeface="quote-cjk-patch"/>
              </a:rPr>
              <a:t>（其中</a:t>
            </a:r>
            <a:r>
              <a:rPr lang="en-US" altLang="zh-CN" sz="2100" b="1" i="0">
                <a:solidFill>
                  <a:srgbClr val="0F1115"/>
                </a:solidFill>
                <a:latin typeface="quote-cjk-patch"/>
                <a:ea typeface="quote-cjk-patch"/>
              </a:rPr>
              <a:t> </a:t>
            </a:r>
            <a:r>
              <a:rPr lang="en-US" altLang="zh-CN" sz="1600" b="1" i="0">
                <a:solidFill>
                  <a:srgbClr val="0F1115"/>
                </a:solidFill>
                <a:latin typeface="Menlo"/>
                <a:ea typeface="Menlo"/>
              </a:rPr>
              <a:t>k ≠ 0</a:t>
            </a:r>
            <a:r>
              <a:rPr lang="zh-CN" altLang="en-US" sz="2100" b="1" i="0">
                <a:solidFill>
                  <a:srgbClr val="0F1115"/>
                </a:solidFill>
                <a:latin typeface="quote-cjk-patch"/>
                <a:ea typeface="quote-cjk-patch"/>
              </a:rPr>
              <a:t>）代表同一个点。这称为“</a:t>
            </a:r>
            <a:r>
              <a:rPr lang="zh-CN" altLang="en-US" sz="2100" b="1" i="0">
                <a:solidFill>
                  <a:srgbClr val="FF0000"/>
                </a:solidFill>
                <a:latin typeface="quote-cjk-patch"/>
                <a:ea typeface="quote-cjk-patch"/>
              </a:rPr>
              <a:t>尺度等价性</a:t>
            </a:r>
            <a:r>
              <a:rPr lang="zh-CN" altLang="en-US" sz="2100" b="1" i="0">
                <a:solidFill>
                  <a:srgbClr val="0F1115"/>
                </a:solidFill>
                <a:latin typeface="quote-cjk-patch"/>
                <a:ea typeface="quote-cjk-patch"/>
              </a:rPr>
              <a:t>”。</a:t>
            </a:r>
            <a:endParaRPr lang="zh-CN" altLang="en-US" sz="2100" b="1"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100" b="1" i="0">
                <a:solidFill>
                  <a:srgbClr val="0F1115"/>
                </a:solidFill>
                <a:latin typeface="quote-cjk-patch"/>
                <a:ea typeface="quote-cjk-patch"/>
              </a:rPr>
              <a:t>二维射影平面</a:t>
            </a:r>
            <a:r>
              <a:rPr lang="en-US" altLang="zh-CN" sz="2100" b="1" i="0">
                <a:solidFill>
                  <a:srgbClr val="0F1115"/>
                </a:solidFill>
                <a:latin typeface="quote-cjk-patch"/>
                <a:ea typeface="quote-cjk-patch"/>
              </a:rPr>
              <a:t> </a:t>
            </a:r>
            <a:r>
              <a:rPr lang="zh-CN" altLang="en-US" sz="2100" b="1" i="0">
                <a:solidFill>
                  <a:srgbClr val="0F1115"/>
                </a:solidFill>
                <a:latin typeface="quote-cjk-patch"/>
                <a:ea typeface="quote-cjk-patch"/>
              </a:rPr>
              <a:t>就定义为所有这样的三维齐次向量（零向量除外）的集合，再模除以这个等价关系。</a:t>
            </a:r>
            <a:endParaRPr lang="zh-CN" altLang="en-US" sz="2100" b="1" i="0">
              <a:solidFill>
                <a:srgbClr val="0F1115"/>
              </a:solidFill>
              <a:latin typeface="quote-cjk-patch"/>
              <a:ea typeface="quote-cjk-patch"/>
            </a:endParaRPr>
          </a:p>
        </p:txBody>
      </p:sp>
      <p:sp>
        <p:nvSpPr>
          <p:cNvPr id="10" name="文本框 9"/>
          <p:cNvSpPr txBox="1"/>
          <p:nvPr/>
        </p:nvSpPr>
        <p:spPr>
          <a:xfrm>
            <a:off x="1307465" y="5150485"/>
            <a:ext cx="8973185" cy="1537970"/>
          </a:xfrm>
          <a:prstGeom prst="rect">
            <a:avLst/>
          </a:prstGeom>
        </p:spPr>
        <p:txBody>
          <a:bodyPr wrap="square">
            <a:spAutoFit/>
          </a:bodyPr>
          <a:p>
            <a:pPr marL="0" indent="0">
              <a:spcBef>
                <a:spcPts val="1200"/>
              </a:spcBef>
              <a:spcAft>
                <a:spcPts val="1200"/>
              </a:spcAft>
            </a:pPr>
            <a:r>
              <a:rPr lang="zh-CN" altLang="en-US" sz="2100" b="0" i="0">
                <a:solidFill>
                  <a:srgbClr val="0F1115"/>
                </a:solidFill>
                <a:latin typeface="quote-cjk-patch"/>
                <a:ea typeface="quote-cjk-patch"/>
              </a:rPr>
              <a:t>在这个新平面中，点分为两类：</a:t>
            </a:r>
            <a:endParaRPr lang="zh-CN" altLang="en-US" sz="21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100" b="0" i="0">
                <a:solidFill>
                  <a:srgbClr val="0F1115"/>
                </a:solidFill>
                <a:latin typeface="quote-cjk-patch"/>
                <a:ea typeface="quote-cjk-patch"/>
              </a:rPr>
              <a:t>普通点：</a:t>
            </a:r>
            <a:r>
              <a:rPr lang="en-US" altLang="zh-CN" sz="1600" b="0" i="0">
                <a:solidFill>
                  <a:srgbClr val="0F1115"/>
                </a:solidFill>
                <a:latin typeface="Menlo"/>
                <a:ea typeface="Menlo"/>
              </a:rPr>
              <a:t>w ≠ 0</a:t>
            </a:r>
            <a:r>
              <a:rPr lang="zh-CN" altLang="en-US" sz="2100" b="0" i="0">
                <a:solidFill>
                  <a:srgbClr val="0F1115"/>
                </a:solidFill>
                <a:latin typeface="quote-cjk-patch"/>
                <a:ea typeface="quote-cjk-patch"/>
              </a:rPr>
              <a:t>。对应回欧氏平面就是</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(x/w, y/w)</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100" b="0" i="0">
                <a:solidFill>
                  <a:srgbClr val="0F1115"/>
                </a:solidFill>
                <a:latin typeface="quote-cjk-patch"/>
                <a:ea typeface="quote-cjk-patch"/>
              </a:rPr>
              <a:t>无穷远点（理想点）：</a:t>
            </a:r>
            <a:r>
              <a:rPr lang="en-US" altLang="zh-CN" sz="1600" b="0" i="0">
                <a:solidFill>
                  <a:srgbClr val="0F1115"/>
                </a:solidFill>
                <a:latin typeface="Menlo"/>
                <a:ea typeface="Menlo"/>
              </a:rPr>
              <a:t>w = 0</a:t>
            </a:r>
            <a:r>
              <a:rPr lang="zh-CN" altLang="en-US" sz="2100" b="0" i="0">
                <a:solidFill>
                  <a:srgbClr val="0F1115"/>
                </a:solidFill>
                <a:latin typeface="quote-cjk-patch"/>
                <a:ea typeface="quote-cjk-patch"/>
              </a:rPr>
              <a:t>。它的坐标形如</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 0)</a:t>
            </a:r>
            <a:r>
              <a:rPr lang="zh-CN" altLang="en-US" sz="2100" b="0" i="0">
                <a:solidFill>
                  <a:srgbClr val="0F1115"/>
                </a:solidFill>
                <a:latin typeface="quote-cjk-patch"/>
                <a:ea typeface="quote-cjk-patch"/>
              </a:rPr>
              <a:t>。这类点不在欧氏平面内，是射影平面新增的。</a:t>
            </a:r>
            <a:endParaRPr lang="zh-CN" altLang="en-US" sz="2100" b="0" i="0">
              <a:solidFill>
                <a:srgbClr val="0F1115"/>
              </a:solidFill>
              <a:latin typeface="quote-cjk-patch"/>
              <a:ea typeface="quote-cjk-patch"/>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12520" y="1854200"/>
            <a:ext cx="9418320" cy="737235"/>
          </a:xfrm>
          <a:prstGeom prst="rect">
            <a:avLst/>
          </a:prstGeom>
        </p:spPr>
        <p:txBody>
          <a:bodyPr wrap="square">
            <a:spAutoFit/>
          </a:bodyPr>
          <a:p>
            <a:pPr marL="0" indent="0"/>
            <a:r>
              <a:rPr lang="zh-CN" altLang="en-US" sz="2100" b="0" i="0">
                <a:solidFill>
                  <a:srgbClr val="0F1115"/>
                </a:solidFill>
                <a:latin typeface="quote-cjk-patch"/>
                <a:ea typeface="quote-cjk-patch"/>
              </a:rPr>
              <a:t>在标准欧氏平面</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 </a:t>
            </a:r>
            <a:r>
              <a:rPr lang="zh-CN" altLang="en-US" sz="2100" b="0" i="0">
                <a:solidFill>
                  <a:srgbClr val="0F1115"/>
                </a:solidFill>
                <a:latin typeface="quote-cjk-patch"/>
                <a:ea typeface="quote-cjk-patch"/>
              </a:rPr>
              <a:t>中，两条平行线永不相交。数学家为了统一</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相交</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与</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平行</a:t>
            </a:r>
            <a:r>
              <a:rPr lang="en-US" altLang="zh-CN" sz="2100" b="0" i="0">
                <a:solidFill>
                  <a:srgbClr val="0F1115"/>
                </a:solidFill>
                <a:latin typeface="quote-cjk-patch"/>
                <a:ea typeface="quote-cjk-patch"/>
              </a:rPr>
              <a:t>”</a:t>
            </a:r>
            <a:r>
              <a:rPr lang="zh-CN" altLang="en-US" sz="2100" b="0" i="0">
                <a:solidFill>
                  <a:srgbClr val="0F1115"/>
                </a:solidFill>
                <a:latin typeface="quote-cjk-patch"/>
                <a:ea typeface="quote-cjk-patch"/>
              </a:rPr>
              <a:t>这两种情况，扩展了欧氏平面，创造了射影平面。</a:t>
            </a:r>
            <a:endParaRPr lang="zh-CN" altLang="en-US" sz="2100" b="0" i="0">
              <a:solidFill>
                <a:srgbClr val="0F1115"/>
              </a:solidFill>
              <a:latin typeface="quote-cjk-patch"/>
              <a:ea typeface="quote-cjk-patch"/>
            </a:endParaRPr>
          </a:p>
        </p:txBody>
      </p:sp>
      <p:sp>
        <p:nvSpPr>
          <p:cNvPr id="6" name="文本框 5"/>
          <p:cNvSpPr txBox="1"/>
          <p:nvPr/>
        </p:nvSpPr>
        <p:spPr>
          <a:xfrm>
            <a:off x="1113155" y="2591435"/>
            <a:ext cx="9586595" cy="414020"/>
          </a:xfrm>
          <a:prstGeom prst="rect">
            <a:avLst/>
          </a:prstGeom>
        </p:spPr>
        <p:txBody>
          <a:bodyPr wrap="square">
            <a:spAutoFit/>
          </a:bodyPr>
          <a:p>
            <a:pPr marL="0" indent="0"/>
            <a:r>
              <a:rPr lang="zh-CN" altLang="en-US" sz="2100" b="0" i="0">
                <a:solidFill>
                  <a:srgbClr val="0F1115"/>
                </a:solidFill>
                <a:latin typeface="quote-cjk-patch"/>
                <a:ea typeface="quote-cjk-patch"/>
              </a:rPr>
              <a:t>现在我们将二维点</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用三维齐次坐标</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 w)</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表示，并引入一个关键规则：</a:t>
            </a:r>
            <a:endParaRPr lang="zh-CN" altLang="en-US" sz="2100" b="0" i="0">
              <a:solidFill>
                <a:srgbClr val="0F1115"/>
              </a:solidFill>
              <a:latin typeface="quote-cjk-patch"/>
              <a:ea typeface="quote-cjk-patch"/>
            </a:endParaRPr>
          </a:p>
        </p:txBody>
      </p:sp>
      <p:sp>
        <p:nvSpPr>
          <p:cNvPr id="9" name="文本框 8"/>
          <p:cNvSpPr txBox="1"/>
          <p:nvPr/>
        </p:nvSpPr>
        <p:spPr>
          <a:xfrm>
            <a:off x="1307465" y="3063240"/>
            <a:ext cx="8403590" cy="2030095"/>
          </a:xfrm>
          <a:prstGeom prst="rect">
            <a:avLst/>
          </a:prstGeom>
        </p:spPr>
        <p:txBody>
          <a:bodyPr wrap="square">
            <a:spAutoFit/>
          </a:bodyPr>
          <a:p>
            <a:pPr marL="0" indent="0">
              <a:spcBef>
                <a:spcPct val="0"/>
              </a:spcBef>
              <a:spcAft>
                <a:spcPct val="0"/>
              </a:spcAft>
              <a:buFont typeface="Arial" panose="020B0604020202020204"/>
              <a:buChar char="•"/>
            </a:pPr>
            <a:r>
              <a:rPr lang="zh-CN" altLang="en-US" sz="2100" b="1" i="0">
                <a:solidFill>
                  <a:srgbClr val="0F1115"/>
                </a:solidFill>
                <a:latin typeface="quote-cjk-patch"/>
                <a:ea typeface="quote-cjk-patch"/>
              </a:rPr>
              <a:t>所有非零的倍数</a:t>
            </a:r>
            <a:r>
              <a:rPr lang="en-US" altLang="zh-CN" sz="2100" b="1" i="0">
                <a:solidFill>
                  <a:srgbClr val="0F1115"/>
                </a:solidFill>
                <a:latin typeface="quote-cjk-patch"/>
                <a:ea typeface="quote-cjk-patch"/>
              </a:rPr>
              <a:t> </a:t>
            </a:r>
            <a:r>
              <a:rPr lang="en-US" altLang="zh-CN" sz="1600" b="1" i="0">
                <a:solidFill>
                  <a:srgbClr val="0F1115"/>
                </a:solidFill>
                <a:latin typeface="Menlo"/>
                <a:ea typeface="Menlo"/>
              </a:rPr>
              <a:t>(kx, ky, kw)</a:t>
            </a:r>
            <a:r>
              <a:rPr lang="zh-CN" altLang="en-US" sz="2100" b="1" i="0">
                <a:solidFill>
                  <a:srgbClr val="0F1115"/>
                </a:solidFill>
                <a:latin typeface="quote-cjk-patch"/>
                <a:ea typeface="quote-cjk-patch"/>
              </a:rPr>
              <a:t>（其中</a:t>
            </a:r>
            <a:r>
              <a:rPr lang="en-US" altLang="zh-CN" sz="2100" b="1" i="0">
                <a:solidFill>
                  <a:srgbClr val="0F1115"/>
                </a:solidFill>
                <a:latin typeface="quote-cjk-patch"/>
                <a:ea typeface="quote-cjk-patch"/>
              </a:rPr>
              <a:t> </a:t>
            </a:r>
            <a:r>
              <a:rPr lang="en-US" altLang="zh-CN" sz="1600" b="1" i="0">
                <a:solidFill>
                  <a:srgbClr val="0F1115"/>
                </a:solidFill>
                <a:latin typeface="Menlo"/>
                <a:ea typeface="Menlo"/>
              </a:rPr>
              <a:t>k ≠ 0</a:t>
            </a:r>
            <a:r>
              <a:rPr lang="zh-CN" altLang="en-US" sz="2100" b="1" i="0">
                <a:solidFill>
                  <a:srgbClr val="0F1115"/>
                </a:solidFill>
                <a:latin typeface="quote-cjk-patch"/>
                <a:ea typeface="quote-cjk-patch"/>
              </a:rPr>
              <a:t>）代表同一个点。这称为“</a:t>
            </a:r>
            <a:r>
              <a:rPr lang="zh-CN" altLang="en-US" sz="2100" b="1" i="0">
                <a:solidFill>
                  <a:srgbClr val="FF0000"/>
                </a:solidFill>
                <a:latin typeface="quote-cjk-patch"/>
                <a:ea typeface="quote-cjk-patch"/>
              </a:rPr>
              <a:t>尺度等价性</a:t>
            </a:r>
            <a:r>
              <a:rPr lang="zh-CN" altLang="en-US" sz="2100" b="1" i="0">
                <a:solidFill>
                  <a:srgbClr val="0F1115"/>
                </a:solidFill>
                <a:latin typeface="quote-cjk-patch"/>
                <a:ea typeface="quote-cjk-patch"/>
              </a:rPr>
              <a:t>”。</a:t>
            </a:r>
            <a:endParaRPr lang="zh-CN" altLang="en-US" sz="2100" b="1" i="0">
              <a:solidFill>
                <a:srgbClr val="0F1115"/>
              </a:solidFill>
              <a:latin typeface="quote-cjk-patch"/>
              <a:ea typeface="quote-cjk-patch"/>
            </a:endParaRPr>
          </a:p>
          <a:p>
            <a:pPr marL="0" indent="0">
              <a:spcBef>
                <a:spcPct val="0"/>
              </a:spcBef>
              <a:spcAft>
                <a:spcPct val="0"/>
              </a:spcAft>
              <a:buFont typeface="Arial" panose="020B0604020202020204"/>
              <a:buChar char="•"/>
            </a:pPr>
            <a:r>
              <a:rPr lang="en-US" altLang="zh-CN" sz="2100" b="1" i="0">
                <a:solidFill>
                  <a:srgbClr val="0F1115"/>
                </a:solidFill>
                <a:latin typeface="quote-cjk-patch"/>
                <a:ea typeface="quote-cjk-patch"/>
              </a:rPr>
              <a:t>“</a:t>
            </a:r>
            <a:r>
              <a:rPr lang="zh-CN" altLang="en-US" sz="2100" b="1" i="0">
                <a:solidFill>
                  <a:srgbClr val="0F1115"/>
                </a:solidFill>
                <a:latin typeface="quote-cjk-patch"/>
                <a:ea typeface="quote-cjk-patch"/>
              </a:rPr>
              <a:t>二维射影平面，就是由所有非零的三维齐次向量构成的集合，在这个集合中，我们规定：所有只差一个非零常数倍数的向量都被视为是同一个东西（即一个点）。我们最终研究的对象，就是这些</a:t>
            </a:r>
            <a:r>
              <a:rPr lang="en-US" altLang="zh-CN" sz="2100" b="1" i="0">
                <a:solidFill>
                  <a:srgbClr val="0F1115"/>
                </a:solidFill>
                <a:latin typeface="quote-cjk-patch"/>
                <a:ea typeface="quote-cjk-patch"/>
              </a:rPr>
              <a:t>‘</a:t>
            </a:r>
            <a:r>
              <a:rPr lang="zh-CN" altLang="en-US" sz="2100" b="1" i="0">
                <a:solidFill>
                  <a:srgbClr val="0F1115"/>
                </a:solidFill>
                <a:latin typeface="quote-cjk-patch"/>
                <a:ea typeface="quote-cjk-patch"/>
              </a:rPr>
              <a:t>等价类</a:t>
            </a:r>
            <a:r>
              <a:rPr lang="en-US" altLang="zh-CN" sz="2100" b="1" i="0">
                <a:solidFill>
                  <a:srgbClr val="0F1115"/>
                </a:solidFill>
                <a:latin typeface="quote-cjk-patch"/>
                <a:ea typeface="quote-cjk-patch"/>
              </a:rPr>
              <a:t>’</a:t>
            </a:r>
            <a:r>
              <a:rPr lang="zh-CN" altLang="en-US" sz="2100" b="1" i="0">
                <a:solidFill>
                  <a:srgbClr val="0F1115"/>
                </a:solidFill>
                <a:latin typeface="quote-cjk-patch"/>
                <a:ea typeface="quote-cjk-patch"/>
              </a:rPr>
              <a:t>的集合。</a:t>
            </a:r>
            <a:r>
              <a:rPr lang="en-US" altLang="zh-CN" sz="2100" b="1" i="0">
                <a:solidFill>
                  <a:srgbClr val="0F1115"/>
                </a:solidFill>
                <a:latin typeface="quote-cjk-patch"/>
                <a:ea typeface="quote-cjk-patch"/>
              </a:rPr>
              <a:t>”</a:t>
            </a:r>
            <a:endParaRPr lang="en-US" altLang="zh-CN" sz="2100" b="1" i="0">
              <a:solidFill>
                <a:srgbClr val="0F1115"/>
              </a:solidFill>
              <a:latin typeface="quote-cjk-patch"/>
              <a:ea typeface="quote-cjk-patch"/>
            </a:endParaRPr>
          </a:p>
        </p:txBody>
      </p:sp>
      <p:sp>
        <p:nvSpPr>
          <p:cNvPr id="10" name="文本框 9"/>
          <p:cNvSpPr txBox="1"/>
          <p:nvPr/>
        </p:nvSpPr>
        <p:spPr>
          <a:xfrm>
            <a:off x="1307465" y="5102225"/>
            <a:ext cx="8973185" cy="1537970"/>
          </a:xfrm>
          <a:prstGeom prst="rect">
            <a:avLst/>
          </a:prstGeom>
        </p:spPr>
        <p:txBody>
          <a:bodyPr wrap="square">
            <a:spAutoFit/>
          </a:bodyPr>
          <a:p>
            <a:pPr marL="0" indent="0">
              <a:spcBef>
                <a:spcPts val="1200"/>
              </a:spcBef>
              <a:spcAft>
                <a:spcPts val="1200"/>
              </a:spcAft>
            </a:pPr>
            <a:r>
              <a:rPr lang="zh-CN" altLang="en-US" sz="2100" b="0" i="0">
                <a:solidFill>
                  <a:srgbClr val="0F1115"/>
                </a:solidFill>
                <a:latin typeface="quote-cjk-patch"/>
                <a:ea typeface="quote-cjk-patch"/>
              </a:rPr>
              <a:t>在这个新平面中，点分为两类：</a:t>
            </a:r>
            <a:endParaRPr lang="zh-CN" altLang="en-US" sz="21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100" b="0" i="0">
                <a:solidFill>
                  <a:srgbClr val="0F1115"/>
                </a:solidFill>
                <a:latin typeface="quote-cjk-patch"/>
                <a:ea typeface="quote-cjk-patch"/>
              </a:rPr>
              <a:t>普通点：</a:t>
            </a:r>
            <a:r>
              <a:rPr lang="en-US" altLang="zh-CN" sz="1600" b="0" i="0">
                <a:solidFill>
                  <a:srgbClr val="0F1115"/>
                </a:solidFill>
                <a:latin typeface="Menlo"/>
                <a:ea typeface="Menlo"/>
              </a:rPr>
              <a:t>w ≠ 0</a:t>
            </a:r>
            <a:r>
              <a:rPr lang="zh-CN" altLang="en-US" sz="2100" b="0" i="0">
                <a:solidFill>
                  <a:srgbClr val="0F1115"/>
                </a:solidFill>
                <a:latin typeface="quote-cjk-patch"/>
                <a:ea typeface="quote-cjk-patch"/>
              </a:rPr>
              <a:t>。对应回欧氏平面就是</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(x/w, y/w)</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100" b="0" i="0">
                <a:solidFill>
                  <a:srgbClr val="0F1115"/>
                </a:solidFill>
                <a:latin typeface="quote-cjk-patch"/>
                <a:ea typeface="quote-cjk-patch"/>
              </a:rPr>
              <a:t>无穷远点（理想点）：</a:t>
            </a:r>
            <a:r>
              <a:rPr lang="en-US" altLang="zh-CN" sz="1600" b="0" i="0">
                <a:solidFill>
                  <a:srgbClr val="0F1115"/>
                </a:solidFill>
                <a:latin typeface="Menlo"/>
                <a:ea typeface="Menlo"/>
              </a:rPr>
              <a:t>w = 0</a:t>
            </a:r>
            <a:r>
              <a:rPr lang="zh-CN" altLang="en-US" sz="2100" b="0" i="0">
                <a:solidFill>
                  <a:srgbClr val="0F1115"/>
                </a:solidFill>
                <a:latin typeface="quote-cjk-patch"/>
                <a:ea typeface="quote-cjk-patch"/>
              </a:rPr>
              <a:t>。它的坐标形如</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(X, Y, 0)</a:t>
            </a:r>
            <a:r>
              <a:rPr lang="zh-CN" altLang="en-US" sz="2100" b="0" i="0">
                <a:solidFill>
                  <a:srgbClr val="0F1115"/>
                </a:solidFill>
                <a:latin typeface="quote-cjk-patch"/>
                <a:ea typeface="quote-cjk-patch"/>
              </a:rPr>
              <a:t>。这类点不在欧氏平面内，是射影平面新增的。</a:t>
            </a:r>
            <a:endParaRPr lang="zh-CN" altLang="en-US" sz="2100" b="0" i="0">
              <a:solidFill>
                <a:srgbClr val="0F1115"/>
              </a:solidFill>
              <a:latin typeface="quote-cjk-patch"/>
              <a:ea typeface="quote-cjk-patch"/>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12520" y="1854200"/>
            <a:ext cx="9418320" cy="414020"/>
          </a:xfrm>
          <a:prstGeom prst="rect">
            <a:avLst/>
          </a:prstGeom>
        </p:spPr>
        <p:txBody>
          <a:bodyPr wrap="square">
            <a:spAutoFit/>
          </a:bodyPr>
          <a:p>
            <a:pPr marL="0" indent="0">
              <a:spcBef>
                <a:spcPts val="1200"/>
              </a:spcBef>
              <a:spcAft>
                <a:spcPts val="1200"/>
              </a:spcAft>
            </a:pPr>
            <a:r>
              <a:rPr lang="zh-CN" altLang="en-US" sz="2100">
                <a:solidFill>
                  <a:srgbClr val="0F1115"/>
                </a:solidFill>
                <a:latin typeface="quote-cjk-patch"/>
                <a:ea typeface="quote-cjk-patch"/>
                <a:sym typeface="+mn-ea"/>
              </a:rPr>
              <a:t>为什么三维向量空间的纯方向向量对应二维射影平面中的无穷远点</a:t>
            </a:r>
            <a:r>
              <a:rPr lang="en-US" altLang="zh-CN" sz="2100">
                <a:solidFill>
                  <a:srgbClr val="0F1115"/>
                </a:solidFill>
                <a:latin typeface="quote-cjk-patch"/>
                <a:ea typeface="quote-cjk-patch"/>
                <a:sym typeface="+mn-ea"/>
              </a:rPr>
              <a:t>?</a:t>
            </a:r>
            <a:endParaRPr lang="en-US" altLang="zh-CN" sz="2100" b="0" i="0">
              <a:solidFill>
                <a:srgbClr val="0F1115"/>
              </a:solidFill>
              <a:latin typeface="quote-cjk-patch"/>
              <a:ea typeface="quote-cjk-patch"/>
              <a:sym typeface="+mn-ea"/>
            </a:endParaRPr>
          </a:p>
        </p:txBody>
      </p:sp>
      <p:sp>
        <p:nvSpPr>
          <p:cNvPr id="4" name="文本框 3"/>
          <p:cNvSpPr txBox="1"/>
          <p:nvPr/>
        </p:nvSpPr>
        <p:spPr>
          <a:xfrm>
            <a:off x="1160145" y="2585720"/>
            <a:ext cx="9370695" cy="414020"/>
          </a:xfrm>
          <a:prstGeom prst="rect">
            <a:avLst/>
          </a:prstGeom>
        </p:spPr>
        <p:txBody>
          <a:bodyPr wrap="square">
            <a:spAutoFit/>
          </a:bodyPr>
          <a:p>
            <a:pPr marL="0" indent="0">
              <a:spcBef>
                <a:spcPts val="1200"/>
              </a:spcBef>
              <a:spcAft>
                <a:spcPts val="1200"/>
              </a:spcAft>
            </a:pPr>
            <a:r>
              <a:rPr lang="zh-CN" altLang="en-US" sz="2100" b="0" i="0">
                <a:solidFill>
                  <a:srgbClr val="0F1115"/>
                </a:solidFill>
                <a:latin typeface="quote-cjk-patch"/>
                <a:ea typeface="宋体" panose="02010600030101010101" pitchFamily="2" charset="-122"/>
              </a:rPr>
              <a:t>你能从参数方程和极限思想导出吗？</a:t>
            </a:r>
            <a:endParaRPr lang="zh-CN" altLang="en-US" sz="2100" b="0" i="0">
              <a:solidFill>
                <a:srgbClr val="0F1115"/>
              </a:solidFill>
              <a:latin typeface="quote-cjk-patch"/>
              <a:ea typeface="宋体" panose="02010600030101010101" pitchFamily="2" charset="-122"/>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12520" y="1854200"/>
            <a:ext cx="9418320" cy="414020"/>
          </a:xfrm>
          <a:prstGeom prst="rect">
            <a:avLst/>
          </a:prstGeom>
        </p:spPr>
        <p:txBody>
          <a:bodyPr wrap="square">
            <a:spAutoFit/>
          </a:bodyPr>
          <a:p>
            <a:pPr marL="0" indent="0">
              <a:spcBef>
                <a:spcPts val="1200"/>
              </a:spcBef>
              <a:spcAft>
                <a:spcPts val="1200"/>
              </a:spcAft>
            </a:pPr>
            <a:r>
              <a:rPr lang="zh-CN" altLang="en-US" sz="2100">
                <a:solidFill>
                  <a:srgbClr val="0F1115"/>
                </a:solidFill>
                <a:latin typeface="quote-cjk-patch"/>
                <a:ea typeface="quote-cjk-patch"/>
                <a:sym typeface="+mn-ea"/>
              </a:rPr>
              <a:t>为什么三维向量空间的纯方向向量对应二维射影平面中的无穷远点</a:t>
            </a:r>
            <a:r>
              <a:rPr lang="en-US" altLang="zh-CN" sz="2100">
                <a:solidFill>
                  <a:srgbClr val="0F1115"/>
                </a:solidFill>
                <a:latin typeface="quote-cjk-patch"/>
                <a:ea typeface="quote-cjk-patch"/>
                <a:sym typeface="+mn-ea"/>
              </a:rPr>
              <a:t>?</a:t>
            </a:r>
            <a:endParaRPr lang="en-US" altLang="zh-CN" sz="2100" b="0" i="0">
              <a:solidFill>
                <a:srgbClr val="0F1115"/>
              </a:solidFill>
              <a:latin typeface="quote-cjk-patch"/>
              <a:ea typeface="quote-cjk-patch"/>
              <a:sym typeface="+mn-ea"/>
            </a:endParaRPr>
          </a:p>
        </p:txBody>
      </p:sp>
      <p:sp>
        <p:nvSpPr>
          <p:cNvPr id="4" name="文本框 3"/>
          <p:cNvSpPr txBox="1"/>
          <p:nvPr/>
        </p:nvSpPr>
        <p:spPr>
          <a:xfrm>
            <a:off x="1160145" y="2585720"/>
            <a:ext cx="9370695" cy="414020"/>
          </a:xfrm>
          <a:prstGeom prst="rect">
            <a:avLst/>
          </a:prstGeom>
        </p:spPr>
        <p:txBody>
          <a:bodyPr wrap="square">
            <a:spAutoFit/>
          </a:bodyPr>
          <a:p>
            <a:pPr marL="0" indent="0">
              <a:spcBef>
                <a:spcPts val="1200"/>
              </a:spcBef>
              <a:spcAft>
                <a:spcPts val="1200"/>
              </a:spcAft>
            </a:pPr>
            <a:r>
              <a:rPr lang="zh-CN" altLang="en-US" sz="2100" b="0" i="0">
                <a:solidFill>
                  <a:srgbClr val="0F1115"/>
                </a:solidFill>
                <a:latin typeface="quote-cjk-patch"/>
                <a:ea typeface="宋体" panose="02010600030101010101" pitchFamily="2" charset="-122"/>
              </a:rPr>
              <a:t>你能从参数方程和极限思想导出吗？</a:t>
            </a:r>
            <a:endParaRPr lang="zh-CN" altLang="en-US" sz="2100" b="0" i="0">
              <a:solidFill>
                <a:srgbClr val="0F1115"/>
              </a:solidFill>
              <a:latin typeface="quote-cjk-patch"/>
              <a:ea typeface="宋体" panose="02010600030101010101" pitchFamily="2" charset="-122"/>
            </a:endParaRPr>
          </a:p>
        </p:txBody>
      </p:sp>
      <p:sp>
        <p:nvSpPr>
          <p:cNvPr id="6" name="文本框 5"/>
          <p:cNvSpPr txBox="1"/>
          <p:nvPr/>
        </p:nvSpPr>
        <p:spPr>
          <a:xfrm>
            <a:off x="1159510" y="3429000"/>
            <a:ext cx="9377680" cy="737235"/>
          </a:xfrm>
          <a:prstGeom prst="rect">
            <a:avLst/>
          </a:prstGeom>
          <a:noFill/>
        </p:spPr>
        <p:txBody>
          <a:bodyPr wrap="square" rtlCol="0" anchor="t">
            <a:spAutoFit/>
          </a:bodyPr>
          <a:p>
            <a:pPr marL="0" indent="0">
              <a:spcBef>
                <a:spcPts val="1200"/>
              </a:spcBef>
              <a:spcAft>
                <a:spcPts val="1200"/>
              </a:spcAft>
            </a:pPr>
            <a:r>
              <a:rPr lang="zh-CN" altLang="en-US" sz="2100">
                <a:solidFill>
                  <a:srgbClr val="0F1115"/>
                </a:solidFill>
                <a:latin typeface="quote-cjk-patch"/>
                <a:ea typeface="quote-cjk-patch"/>
                <a:sym typeface="+mn-ea"/>
              </a:rPr>
              <a:t>比如考虑一条穿过原点、方向为</a:t>
            </a:r>
            <a:r>
              <a:rPr lang="en-US" altLang="zh-CN" sz="2100">
                <a:solidFill>
                  <a:srgbClr val="0F1115"/>
                </a:solidFill>
                <a:latin typeface="quote-cjk-patch"/>
                <a:ea typeface="quote-cjk-patch"/>
                <a:sym typeface="+mn-ea"/>
              </a:rPr>
              <a:t> </a:t>
            </a:r>
            <a:r>
              <a:rPr lang="en-US" altLang="zh-CN" sz="1600">
                <a:solidFill>
                  <a:srgbClr val="0F1115"/>
                </a:solidFill>
                <a:latin typeface="Menlo"/>
                <a:ea typeface="Menlo"/>
                <a:sym typeface="+mn-ea"/>
              </a:rPr>
              <a:t>(d_x, d_y)</a:t>
            </a:r>
            <a:r>
              <a:rPr lang="en-US" altLang="zh-CN" sz="2100">
                <a:solidFill>
                  <a:srgbClr val="0F1115"/>
                </a:solidFill>
                <a:latin typeface="quote-cjk-patch"/>
                <a:ea typeface="quote-cjk-patch"/>
                <a:sym typeface="+mn-ea"/>
              </a:rPr>
              <a:t> </a:t>
            </a:r>
            <a:r>
              <a:rPr lang="zh-CN" altLang="en-US" sz="2100">
                <a:solidFill>
                  <a:srgbClr val="0F1115"/>
                </a:solidFill>
                <a:latin typeface="quote-cjk-patch"/>
                <a:ea typeface="quote-cjk-patch"/>
                <a:sym typeface="+mn-ea"/>
              </a:rPr>
              <a:t>的直线。它的参数方程是</a:t>
            </a:r>
            <a:r>
              <a:rPr lang="en-US" altLang="zh-CN" sz="2100">
                <a:solidFill>
                  <a:srgbClr val="0F1115"/>
                </a:solidFill>
                <a:latin typeface="quote-cjk-patch"/>
                <a:ea typeface="quote-cjk-patch"/>
                <a:sym typeface="+mn-ea"/>
              </a:rPr>
              <a:t> </a:t>
            </a:r>
            <a:r>
              <a:rPr lang="en-US" altLang="zh-CN" sz="1600">
                <a:solidFill>
                  <a:srgbClr val="0F1115"/>
                </a:solidFill>
                <a:latin typeface="Menlo"/>
                <a:ea typeface="Menlo"/>
                <a:sym typeface="+mn-ea"/>
              </a:rPr>
              <a:t>(t*d_x, t*d_y)</a:t>
            </a:r>
            <a:r>
              <a:rPr lang="zh-CN" altLang="en-US" sz="2100">
                <a:solidFill>
                  <a:srgbClr val="0F1115"/>
                </a:solidFill>
                <a:latin typeface="quote-cjk-patch"/>
                <a:ea typeface="quote-cjk-patch"/>
                <a:sym typeface="+mn-ea"/>
              </a:rPr>
              <a:t>，其中</a:t>
            </a:r>
            <a:r>
              <a:rPr lang="en-US" altLang="zh-CN" sz="2100">
                <a:solidFill>
                  <a:srgbClr val="0F1115"/>
                </a:solidFill>
                <a:latin typeface="quote-cjk-patch"/>
                <a:ea typeface="quote-cjk-patch"/>
                <a:sym typeface="+mn-ea"/>
              </a:rPr>
              <a:t> </a:t>
            </a:r>
            <a:r>
              <a:rPr lang="en-US" altLang="zh-CN" sz="1600">
                <a:solidFill>
                  <a:srgbClr val="0F1115"/>
                </a:solidFill>
                <a:latin typeface="Menlo"/>
                <a:ea typeface="Menlo"/>
                <a:sym typeface="+mn-ea"/>
              </a:rPr>
              <a:t>t</a:t>
            </a:r>
            <a:r>
              <a:rPr lang="en-US" altLang="zh-CN" sz="2100">
                <a:solidFill>
                  <a:srgbClr val="0F1115"/>
                </a:solidFill>
                <a:latin typeface="quote-cjk-patch"/>
                <a:ea typeface="quote-cjk-patch"/>
                <a:sym typeface="+mn-ea"/>
              </a:rPr>
              <a:t> </a:t>
            </a:r>
            <a:r>
              <a:rPr lang="zh-CN" altLang="en-US" sz="2100">
                <a:solidFill>
                  <a:srgbClr val="0F1115"/>
                </a:solidFill>
                <a:latin typeface="quote-cjk-patch"/>
                <a:ea typeface="quote-cjk-patch"/>
                <a:sym typeface="+mn-ea"/>
              </a:rPr>
              <a:t>是实数？</a:t>
            </a:r>
            <a:endParaRPr lang="en-US" altLang="zh-CN" sz="2100">
              <a:solidFill>
                <a:srgbClr val="0F1115"/>
              </a:solidFill>
              <a:latin typeface="quote-cjk-patch"/>
              <a:ea typeface="quote-cjk-patch"/>
              <a:sym typeface="+mn-ea"/>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12520" y="1854200"/>
            <a:ext cx="9418320" cy="414020"/>
          </a:xfrm>
          <a:prstGeom prst="rect">
            <a:avLst/>
          </a:prstGeom>
        </p:spPr>
        <p:txBody>
          <a:bodyPr wrap="square">
            <a:spAutoFit/>
          </a:bodyPr>
          <a:p>
            <a:pPr marL="0" indent="0">
              <a:spcBef>
                <a:spcPts val="1200"/>
              </a:spcBef>
              <a:spcAft>
                <a:spcPts val="1200"/>
              </a:spcAft>
            </a:pPr>
            <a:r>
              <a:rPr lang="zh-CN" altLang="en-US" sz="2100">
                <a:solidFill>
                  <a:srgbClr val="0F1115"/>
                </a:solidFill>
                <a:latin typeface="quote-cjk-patch"/>
                <a:ea typeface="quote-cjk-patch"/>
                <a:sym typeface="+mn-ea"/>
              </a:rPr>
              <a:t>为什么三维向量空间的纯方向向量对应二维射影平面中的无穷远点</a:t>
            </a:r>
            <a:r>
              <a:rPr lang="en-US" altLang="zh-CN" sz="2100">
                <a:solidFill>
                  <a:srgbClr val="0F1115"/>
                </a:solidFill>
                <a:latin typeface="quote-cjk-patch"/>
                <a:ea typeface="quote-cjk-patch"/>
                <a:sym typeface="+mn-ea"/>
              </a:rPr>
              <a:t>?</a:t>
            </a:r>
            <a:endParaRPr lang="en-US" altLang="zh-CN" sz="2100" b="0" i="0">
              <a:solidFill>
                <a:srgbClr val="0F1115"/>
              </a:solidFill>
              <a:latin typeface="quote-cjk-patch"/>
              <a:ea typeface="quote-cjk-patch"/>
              <a:sym typeface="+mn-ea"/>
            </a:endParaRPr>
          </a:p>
        </p:txBody>
      </p:sp>
      <p:sp>
        <p:nvSpPr>
          <p:cNvPr id="4" name="文本框 3"/>
          <p:cNvSpPr txBox="1"/>
          <p:nvPr/>
        </p:nvSpPr>
        <p:spPr>
          <a:xfrm>
            <a:off x="1112520" y="2740660"/>
            <a:ext cx="9370695" cy="3061335"/>
          </a:xfrm>
          <a:prstGeom prst="rect">
            <a:avLst/>
          </a:prstGeom>
        </p:spPr>
        <p:txBody>
          <a:bodyPr wrap="square">
            <a:spAutoFit/>
          </a:bodyPr>
          <a:p>
            <a:pPr marL="0" indent="0">
              <a:spcBef>
                <a:spcPts val="1200"/>
              </a:spcBef>
              <a:spcAft>
                <a:spcPts val="1200"/>
              </a:spcAft>
            </a:pPr>
            <a:r>
              <a:rPr lang="zh-CN" altLang="en-US" sz="2100" b="0" i="0">
                <a:solidFill>
                  <a:srgbClr val="0F1115"/>
                </a:solidFill>
                <a:latin typeface="quote-cjk-patch"/>
                <a:ea typeface="quote-cjk-patch"/>
              </a:rPr>
              <a:t>考虑一条穿过原点、方向为</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(d_x, d_y)</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的直线。它的参数方程是</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(t*d_x, t*d_y)</a:t>
            </a:r>
            <a:r>
              <a:rPr lang="zh-CN" altLang="en-US" sz="2100" b="0" i="0">
                <a:solidFill>
                  <a:srgbClr val="0F1115"/>
                </a:solidFill>
                <a:latin typeface="quote-cjk-patch"/>
                <a:ea typeface="quote-cjk-patch"/>
              </a:rPr>
              <a:t>，其中</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t</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是实数。</a:t>
            </a:r>
            <a:endParaRPr lang="zh-CN" altLang="en-US" sz="21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100" b="0" i="0">
                <a:solidFill>
                  <a:srgbClr val="0F1115"/>
                </a:solidFill>
                <a:latin typeface="quote-cjk-patch"/>
                <a:ea typeface="quote-cjk-patch"/>
              </a:rPr>
              <a:t>当</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t</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有限时，对应普通点。</a:t>
            </a:r>
            <a:endParaRPr lang="zh-CN" altLang="en-US" sz="2100" b="0" i="0">
              <a:solidFill>
                <a:srgbClr val="0F1115"/>
              </a:solidFill>
              <a:latin typeface="quote-cjk-patch"/>
              <a:ea typeface="quote-cjk-patch"/>
            </a:endParaRPr>
          </a:p>
          <a:p>
            <a:pPr marL="0" indent="0">
              <a:spcBef>
                <a:spcPct val="0"/>
              </a:spcBef>
              <a:spcAft>
                <a:spcPts val="600"/>
              </a:spcAft>
              <a:buFont typeface="Arial" panose="020B0604020202020204"/>
              <a:buChar char="•"/>
            </a:pPr>
            <a:r>
              <a:rPr lang="zh-CN" altLang="en-US" sz="2100" b="0" i="0">
                <a:solidFill>
                  <a:srgbClr val="0F1115"/>
                </a:solidFill>
                <a:latin typeface="quote-cjk-patch"/>
                <a:ea typeface="quote-cjk-patch"/>
              </a:rPr>
              <a:t>当</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t → ∞</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时，点在“无穷远处”。为了捕捉这个极限点，我们将其齐次化：</a:t>
            </a:r>
            <a:endParaRPr lang="zh-CN" altLang="en-US" sz="2100" b="0" i="0">
              <a:solidFill>
                <a:srgbClr val="0F1115"/>
              </a:solidFill>
              <a:latin typeface="quote-cjk-patch"/>
              <a:ea typeface="quote-cjk-patch"/>
            </a:endParaRPr>
          </a:p>
          <a:p>
            <a:pPr marL="0" lvl="1" indent="0">
              <a:spcBef>
                <a:spcPct val="0"/>
              </a:spcBef>
              <a:spcAft>
                <a:spcPct val="0"/>
              </a:spcAft>
              <a:buFont typeface="Arial" panose="020B0604020202020204"/>
              <a:buChar char="◦"/>
            </a:pPr>
            <a:r>
              <a:rPr lang="zh-CN" altLang="en-US" sz="2100" b="0" i="0">
                <a:solidFill>
                  <a:srgbClr val="0F1115"/>
                </a:solidFill>
                <a:latin typeface="quote-cjk-patch"/>
                <a:ea typeface="quote-cjk-patch"/>
              </a:rPr>
              <a:t>普通点的齐次表示为</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(t*d_x, t*d_y, 1)</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a:p>
            <a:pPr marL="0" lvl="1" indent="0">
              <a:spcBef>
                <a:spcPct val="0"/>
              </a:spcBef>
              <a:spcAft>
                <a:spcPct val="0"/>
              </a:spcAft>
              <a:buFont typeface="Arial" panose="020B0604020202020204"/>
              <a:buChar char="◦"/>
            </a:pPr>
            <a:r>
              <a:rPr lang="zh-CN" altLang="en-US" sz="2100" b="0" i="0">
                <a:solidFill>
                  <a:srgbClr val="0F1115"/>
                </a:solidFill>
                <a:latin typeface="quote-cjk-patch"/>
                <a:ea typeface="quote-cjk-patch"/>
              </a:rPr>
              <a:t>这等价于</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(d_x, d_y, 1/t)</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a:p>
            <a:pPr marL="0" lvl="1" indent="0">
              <a:spcBef>
                <a:spcPct val="0"/>
              </a:spcBef>
              <a:spcAft>
                <a:spcPct val="0"/>
              </a:spcAft>
              <a:buFont typeface="Arial" panose="020B0604020202020204"/>
              <a:buChar char="◦"/>
            </a:pPr>
            <a:r>
              <a:rPr lang="zh-CN" altLang="en-US" sz="2100" b="0" i="0">
                <a:solidFill>
                  <a:srgbClr val="0F1115"/>
                </a:solidFill>
                <a:latin typeface="quote-cjk-patch"/>
                <a:ea typeface="quote-cjk-patch"/>
              </a:rPr>
              <a:t>取极限</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t → ∞</a:t>
            </a:r>
            <a:r>
              <a:rPr lang="zh-CN" altLang="en-US" sz="2100" b="0" i="0">
                <a:solidFill>
                  <a:srgbClr val="0F1115"/>
                </a:solidFill>
                <a:latin typeface="quote-cjk-patch"/>
                <a:ea typeface="quote-cjk-patch"/>
              </a:rPr>
              <a:t>，得到</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(d_x, d_y, 0)</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a:p>
            <a:pPr marL="0" indent="0">
              <a:spcBef>
                <a:spcPts val="1200"/>
              </a:spcBef>
              <a:spcAft>
                <a:spcPts val="1200"/>
              </a:spcAft>
            </a:pPr>
            <a:r>
              <a:rPr lang="zh-CN" altLang="en-US" sz="2100" b="0" i="0">
                <a:solidFill>
                  <a:srgbClr val="0F1115"/>
                </a:solidFill>
                <a:latin typeface="quote-cjk-patch"/>
                <a:ea typeface="quote-cjk-patch"/>
              </a:rPr>
              <a:t>结论：方向向量</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(d_x, d_y)</a:t>
            </a:r>
            <a:r>
              <a:rPr lang="en-US" altLang="zh-CN" sz="2100" b="0" i="0">
                <a:solidFill>
                  <a:srgbClr val="0F1115"/>
                </a:solidFill>
                <a:latin typeface="quote-cjk-patch"/>
                <a:ea typeface="quote-cjk-patch"/>
              </a:rPr>
              <a:t> </a:t>
            </a:r>
            <a:r>
              <a:rPr lang="zh-CN" altLang="en-US" sz="2100" b="0" i="0">
                <a:solidFill>
                  <a:srgbClr val="0F1115"/>
                </a:solidFill>
                <a:latin typeface="quote-cjk-patch"/>
                <a:ea typeface="quote-cjk-patch"/>
              </a:rPr>
              <a:t>在射影平面中对应的无穷远点就是</a:t>
            </a:r>
            <a:r>
              <a:rPr lang="en-US" altLang="zh-CN" sz="2100" b="0" i="0">
                <a:solidFill>
                  <a:srgbClr val="0F1115"/>
                </a:solidFill>
                <a:latin typeface="quote-cjk-patch"/>
                <a:ea typeface="quote-cjk-patch"/>
              </a:rPr>
              <a:t> </a:t>
            </a:r>
            <a:r>
              <a:rPr lang="en-US" altLang="zh-CN" sz="1600" b="0" i="0">
                <a:solidFill>
                  <a:srgbClr val="0F1115"/>
                </a:solidFill>
                <a:latin typeface="Menlo"/>
                <a:ea typeface="Menlo"/>
              </a:rPr>
              <a:t>(d_x, d_y, 0)</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112520" y="1854200"/>
            <a:ext cx="9418320" cy="414020"/>
          </a:xfrm>
          <a:prstGeom prst="rect">
            <a:avLst/>
          </a:prstGeom>
        </p:spPr>
        <p:txBody>
          <a:bodyPr wrap="square">
            <a:spAutoFit/>
          </a:bodyPr>
          <a:p>
            <a:pPr marL="0" indent="0">
              <a:spcBef>
                <a:spcPts val="1200"/>
              </a:spcBef>
              <a:spcAft>
                <a:spcPts val="1200"/>
              </a:spcAft>
            </a:pPr>
            <a:r>
              <a:rPr lang="zh-CN" sz="2100">
                <a:solidFill>
                  <a:srgbClr val="0F1115"/>
                </a:solidFill>
                <a:latin typeface="quote-cjk-patch"/>
                <a:ea typeface="宋体" panose="02010600030101010101" pitchFamily="2" charset="-122"/>
                <a:sym typeface="+mn-ea"/>
              </a:rPr>
              <a:t>平行线如何在射影平面上相交？</a:t>
            </a:r>
            <a:endParaRPr lang="zh-CN" sz="2100" b="0" i="0">
              <a:solidFill>
                <a:srgbClr val="0F1115"/>
              </a:solidFill>
              <a:latin typeface="quote-cjk-patch"/>
              <a:ea typeface="宋体" panose="02010600030101010101" pitchFamily="2" charset="-122"/>
              <a:sym typeface="+mn-ea"/>
            </a:endParaRPr>
          </a:p>
        </p:txBody>
      </p:sp>
      <p:sp>
        <p:nvSpPr>
          <p:cNvPr id="4" name="文本框 3"/>
          <p:cNvSpPr txBox="1"/>
          <p:nvPr/>
        </p:nvSpPr>
        <p:spPr>
          <a:xfrm>
            <a:off x="1112520" y="2482850"/>
            <a:ext cx="9370695" cy="1706880"/>
          </a:xfrm>
          <a:prstGeom prst="rect">
            <a:avLst/>
          </a:prstGeom>
        </p:spPr>
        <p:txBody>
          <a:bodyPr wrap="square">
            <a:spAutoFit/>
          </a:bodyPr>
          <a:p>
            <a:pPr indent="0" algn="l" fontAlgn="auto">
              <a:spcBef>
                <a:spcPts val="0"/>
              </a:spcBef>
              <a:spcAft>
                <a:spcPts val="0"/>
              </a:spcAft>
              <a:buClrTx/>
              <a:buSzTx/>
              <a:buFontTx/>
            </a:pPr>
            <a:r>
              <a:rPr lang="zh-CN" altLang="en-US" sz="2100" b="0" i="0">
                <a:solidFill>
                  <a:srgbClr val="0F1115"/>
                </a:solidFill>
                <a:latin typeface="quote-cjk-patch"/>
                <a:ea typeface="quote-cjk-patch"/>
              </a:rPr>
              <a:t>现在考虑</a:t>
            </a:r>
            <a:r>
              <a:rPr lang="zh-CN" altLang="en-US" sz="2100">
                <a:solidFill>
                  <a:srgbClr val="0F1115"/>
                </a:solidFill>
                <a:latin typeface="quote-cjk-patch"/>
                <a:ea typeface="quote-cjk-patch"/>
                <a:sym typeface="+mn-ea"/>
              </a:rPr>
              <a:t>欧氏平面中的</a:t>
            </a:r>
            <a:r>
              <a:rPr lang="zh-CN" altLang="en-US" sz="2100" b="0" i="0">
                <a:solidFill>
                  <a:srgbClr val="0F1115"/>
                </a:solidFill>
                <a:latin typeface="quote-cjk-patch"/>
                <a:ea typeface="quote-cjk-patch"/>
              </a:rPr>
              <a:t>两条平行线：</a:t>
            </a:r>
            <a:endParaRPr lang="zh-CN" altLang="en-US" sz="2100" b="0" i="0">
              <a:solidFill>
                <a:srgbClr val="0F1115"/>
              </a:solidFill>
              <a:latin typeface="quote-cjk-patch"/>
              <a:ea typeface="quote-cjk-patch"/>
            </a:endParaRPr>
          </a:p>
          <a:p>
            <a:pPr indent="0" algn="l" fontAlgn="auto">
              <a:spcBef>
                <a:spcPts val="0"/>
              </a:spcBef>
              <a:spcAft>
                <a:spcPts val="0"/>
              </a:spcAft>
              <a:buClrTx/>
              <a:buSzTx/>
              <a:buFontTx/>
            </a:pPr>
            <a:r>
              <a:rPr lang="zh-CN" altLang="en-US" sz="2100" b="0" i="0">
                <a:solidFill>
                  <a:srgbClr val="0F1115"/>
                </a:solidFill>
                <a:latin typeface="quote-cjk-patch"/>
                <a:ea typeface="quote-cjk-patch"/>
              </a:rPr>
              <a:t>线 </a:t>
            </a:r>
            <a:r>
              <a:rPr lang="zh-CN" altLang="en-US" sz="2100" b="0" i="0">
                <a:solidFill>
                  <a:srgbClr val="0F1115"/>
                </a:solidFill>
                <a:latin typeface="Arial" panose="020B0604020202020204" pitchFamily="34" charset="0"/>
                <a:ea typeface="quote-cjk-patch"/>
                <a:cs typeface="Arial" panose="020B0604020202020204" pitchFamily="34" charset="0"/>
              </a:rPr>
              <a:t>A：</a:t>
            </a:r>
            <a:r>
              <a:rPr lang="zh-CN" altLang="en-US" sz="2100" b="0" i="0">
                <a:solidFill>
                  <a:srgbClr val="0F1115"/>
                </a:solidFill>
                <a:latin typeface="quote-cjk-patch"/>
                <a:ea typeface="quote-cjk-patch"/>
              </a:rPr>
              <a:t> </a:t>
            </a:r>
            <a:r>
              <a:rPr lang="zh-CN" altLang="en-US" sz="2100" b="0" i="0">
                <a:solidFill>
                  <a:srgbClr val="0F1115"/>
                </a:solidFill>
                <a:latin typeface="Arial" panose="020B0604020202020204" pitchFamily="34" charset="0"/>
                <a:ea typeface="quote-cjk-patch"/>
                <a:cs typeface="Arial" panose="020B0604020202020204" pitchFamily="34" charset="0"/>
              </a:rPr>
              <a:t>a*x + b*y + c1 = 0</a:t>
            </a:r>
            <a:endParaRPr lang="zh-CN" altLang="en-US" sz="2100" b="0" i="0">
              <a:solidFill>
                <a:srgbClr val="0F1115"/>
              </a:solidFill>
              <a:latin typeface="Arial" panose="020B0604020202020204" pitchFamily="34" charset="0"/>
              <a:ea typeface="quote-cjk-patch"/>
              <a:cs typeface="Arial" panose="020B0604020202020204" pitchFamily="34" charset="0"/>
            </a:endParaRPr>
          </a:p>
          <a:p>
            <a:pPr indent="0" algn="l" fontAlgn="auto">
              <a:spcBef>
                <a:spcPts val="0"/>
              </a:spcBef>
              <a:spcAft>
                <a:spcPts val="0"/>
              </a:spcAft>
              <a:buClrTx/>
              <a:buSzTx/>
              <a:buFontTx/>
            </a:pPr>
            <a:r>
              <a:rPr lang="zh-CN" altLang="en-US" sz="2100" b="0" i="0">
                <a:solidFill>
                  <a:srgbClr val="0F1115"/>
                </a:solidFill>
                <a:latin typeface="quote-cjk-patch"/>
                <a:ea typeface="quote-cjk-patch"/>
              </a:rPr>
              <a:t>线 </a:t>
            </a:r>
            <a:r>
              <a:rPr lang="zh-CN" altLang="en-US" sz="2100" b="0" i="0">
                <a:solidFill>
                  <a:srgbClr val="0F1115"/>
                </a:solidFill>
                <a:latin typeface="Arial" panose="020B0604020202020204" pitchFamily="34" charset="0"/>
                <a:ea typeface="quote-cjk-patch"/>
                <a:cs typeface="Arial" panose="020B0604020202020204" pitchFamily="34" charset="0"/>
              </a:rPr>
              <a:t>B：</a:t>
            </a:r>
            <a:r>
              <a:rPr lang="zh-CN" altLang="en-US" sz="2100" b="0" i="0">
                <a:solidFill>
                  <a:srgbClr val="0F1115"/>
                </a:solidFill>
                <a:latin typeface="quote-cjk-patch"/>
                <a:ea typeface="quote-cjk-patch"/>
              </a:rPr>
              <a:t> </a:t>
            </a:r>
            <a:r>
              <a:rPr lang="zh-CN" altLang="en-US" sz="2100" b="0" i="0">
                <a:solidFill>
                  <a:srgbClr val="0F1115"/>
                </a:solidFill>
                <a:latin typeface="Arial" panose="020B0604020202020204" pitchFamily="34" charset="0"/>
                <a:ea typeface="quote-cjk-patch"/>
                <a:cs typeface="Arial" panose="020B0604020202020204" pitchFamily="34" charset="0"/>
              </a:rPr>
              <a:t>a*x + b*y + c2 = 0</a:t>
            </a:r>
            <a:r>
              <a:rPr lang="zh-CN" altLang="en-US" sz="2100" b="0" i="0">
                <a:solidFill>
                  <a:srgbClr val="0F1115"/>
                </a:solidFill>
                <a:latin typeface="quote-cjk-patch"/>
                <a:ea typeface="quote-cjk-patch"/>
              </a:rPr>
              <a:t> </a:t>
            </a:r>
            <a:endParaRPr lang="zh-CN" altLang="en-US" sz="2100" b="0" i="0">
              <a:solidFill>
                <a:srgbClr val="0F1115"/>
              </a:solidFill>
              <a:latin typeface="quote-cjk-patch"/>
              <a:ea typeface="quote-cjk-patch"/>
            </a:endParaRPr>
          </a:p>
          <a:p>
            <a:pPr indent="0" algn="l" fontAlgn="auto">
              <a:spcBef>
                <a:spcPts val="0"/>
              </a:spcBef>
              <a:spcAft>
                <a:spcPts val="0"/>
              </a:spcAft>
              <a:buClrTx/>
              <a:buSzTx/>
              <a:buFontTx/>
            </a:pPr>
            <a:endParaRPr lang="en-US" altLang="zh-CN" sz="2100" b="0" i="0">
              <a:solidFill>
                <a:srgbClr val="0F1115"/>
              </a:solidFill>
              <a:latin typeface="quote-cjk-patch"/>
              <a:ea typeface="quote-cjk-patch"/>
            </a:endParaRPr>
          </a:p>
          <a:p>
            <a:pPr indent="0" fontAlgn="auto">
              <a:spcBef>
                <a:spcPts val="0"/>
              </a:spcBef>
              <a:spcAft>
                <a:spcPts val="0"/>
              </a:spcAft>
            </a:pPr>
            <a:r>
              <a:rPr lang="zh-CN" altLang="en-US" sz="2100" b="0" i="0">
                <a:solidFill>
                  <a:srgbClr val="0F1115"/>
                </a:solidFill>
                <a:latin typeface="quote-cjk-patch"/>
                <a:ea typeface="quote-cjk-patch"/>
              </a:rPr>
              <a:t>它们相交于哪个点</a:t>
            </a:r>
            <a:r>
              <a:rPr lang="en-US" altLang="zh-CN" sz="2100" b="0" i="0">
                <a:solidFill>
                  <a:srgbClr val="0F1115"/>
                </a:solidFill>
                <a:latin typeface="quote-cjk-patch"/>
                <a:ea typeface="quote-cjk-patch"/>
              </a:rPr>
              <a:t>?</a:t>
            </a:r>
            <a:endParaRPr lang="en-US" altLang="zh-CN" sz="2100" b="0" i="0">
              <a:solidFill>
                <a:srgbClr val="0F1115"/>
              </a:solidFill>
              <a:latin typeface="quote-cjk-patch"/>
              <a:ea typeface="quote-cjk-patch"/>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720217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齐次坐标幕后：从欧式几何到射影几何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223645" y="1932305"/>
            <a:ext cx="9370695" cy="4292600"/>
          </a:xfrm>
          <a:prstGeom prst="rect">
            <a:avLst/>
          </a:prstGeom>
        </p:spPr>
        <p:txBody>
          <a:bodyPr wrap="square">
            <a:spAutoFit/>
          </a:bodyPr>
          <a:p>
            <a:pPr algn="l" fontAlgn="auto">
              <a:spcBef>
                <a:spcPts val="0"/>
              </a:spcBef>
              <a:spcAft>
                <a:spcPts val="0"/>
              </a:spcAft>
              <a:buClrTx/>
              <a:buSzTx/>
              <a:buFontTx/>
            </a:pPr>
            <a:r>
              <a:rPr lang="zh-CN" altLang="en-US" sz="2100" b="0" i="0">
                <a:solidFill>
                  <a:srgbClr val="0F1115"/>
                </a:solidFill>
                <a:latin typeface="quote-cjk-patch"/>
                <a:ea typeface="quote-cjk-patch"/>
              </a:rPr>
              <a:t>它们的齐次方程分别为：</a:t>
            </a:r>
            <a:endParaRPr lang="zh-CN" altLang="en-US" sz="2100" b="0" i="0">
              <a:solidFill>
                <a:srgbClr val="0F1115"/>
              </a:solidFill>
              <a:latin typeface="quote-cjk-patch"/>
              <a:ea typeface="quote-cjk-patch"/>
            </a:endParaRPr>
          </a:p>
          <a:p>
            <a:pPr algn="l" fontAlgn="auto">
              <a:spcBef>
                <a:spcPts val="0"/>
              </a:spcBef>
              <a:spcAft>
                <a:spcPts val="0"/>
              </a:spcAft>
              <a:buClrTx/>
              <a:buSzTx/>
              <a:buFontTx/>
            </a:pPr>
            <a:r>
              <a:rPr lang="zh-CN" altLang="en-US" sz="2100" b="0" i="0">
                <a:solidFill>
                  <a:srgbClr val="0F1115"/>
                </a:solidFill>
                <a:latin typeface="Arial" panose="020B0604020202020204" pitchFamily="34" charset="0"/>
                <a:ea typeface="quote-cjk-patch"/>
                <a:cs typeface="Arial" panose="020B0604020202020204" pitchFamily="34" charset="0"/>
              </a:rPr>
              <a:t>a*X + b*Y + c1*W = 0</a:t>
            </a:r>
            <a:endParaRPr lang="zh-CN" altLang="en-US" sz="2100" b="0" i="0">
              <a:solidFill>
                <a:srgbClr val="0F1115"/>
              </a:solidFill>
              <a:latin typeface="Arial" panose="020B0604020202020204" pitchFamily="34" charset="0"/>
              <a:ea typeface="quote-cjk-patch"/>
              <a:cs typeface="Arial" panose="020B0604020202020204" pitchFamily="34" charset="0"/>
            </a:endParaRPr>
          </a:p>
          <a:p>
            <a:pPr algn="l" fontAlgn="auto">
              <a:spcBef>
                <a:spcPts val="0"/>
              </a:spcBef>
              <a:spcAft>
                <a:spcPts val="0"/>
              </a:spcAft>
              <a:buClrTx/>
              <a:buSzTx/>
              <a:buFontTx/>
            </a:pPr>
            <a:r>
              <a:rPr lang="zh-CN" altLang="en-US" sz="2100" b="0" i="0">
                <a:solidFill>
                  <a:srgbClr val="0F1115"/>
                </a:solidFill>
                <a:latin typeface="Arial" panose="020B0604020202020204" pitchFamily="34" charset="0"/>
                <a:ea typeface="quote-cjk-patch"/>
                <a:cs typeface="Arial" panose="020B0604020202020204" pitchFamily="34" charset="0"/>
              </a:rPr>
              <a:t>a*X + b*Y + c2*W = 0 （X = x, Y = y, W = 1 </a:t>
            </a:r>
            <a:r>
              <a:rPr lang="zh-CN" altLang="en-US" sz="2100" b="0" i="0">
                <a:solidFill>
                  <a:srgbClr val="0F1115"/>
                </a:solidFill>
                <a:latin typeface="quote-cjk-patch"/>
                <a:ea typeface="quote-cjk-patch"/>
              </a:rPr>
              <a:t>对应普通点）</a:t>
            </a:r>
            <a:endParaRPr lang="zh-CN" altLang="en-US" sz="2100" b="0" i="0">
              <a:solidFill>
                <a:srgbClr val="0F1115"/>
              </a:solidFill>
              <a:latin typeface="quote-cjk-patch"/>
              <a:ea typeface="quote-cjk-patch"/>
            </a:endParaRPr>
          </a:p>
          <a:p>
            <a:pPr algn="l" fontAlgn="auto">
              <a:spcBef>
                <a:spcPts val="0"/>
              </a:spcBef>
              <a:spcAft>
                <a:spcPts val="0"/>
              </a:spcAft>
              <a:buClrTx/>
              <a:buSzTx/>
              <a:buFontTx/>
            </a:pPr>
            <a:r>
              <a:rPr lang="zh-CN" altLang="en-US" sz="2100" b="0" i="0">
                <a:solidFill>
                  <a:srgbClr val="0F1115"/>
                </a:solidFill>
                <a:latin typeface="quote-cjk-patch"/>
                <a:ea typeface="quote-cjk-patch"/>
              </a:rPr>
              <a:t>为了求交点，我们联立这两个方程。显然，当 </a:t>
            </a:r>
            <a:r>
              <a:rPr lang="zh-CN" altLang="en-US" sz="2100" b="0" i="0">
                <a:solidFill>
                  <a:srgbClr val="0F1115"/>
                </a:solidFill>
                <a:latin typeface="Arial" panose="020B0604020202020204" pitchFamily="34" charset="0"/>
                <a:ea typeface="quote-cjk-patch"/>
                <a:cs typeface="Arial" panose="020B0604020202020204" pitchFamily="34" charset="0"/>
              </a:rPr>
              <a:t>W ≠ 0 </a:t>
            </a:r>
            <a:r>
              <a:rPr lang="zh-CN" altLang="en-US" sz="2100" b="0" i="0">
                <a:solidFill>
                  <a:srgbClr val="0F1115"/>
                </a:solidFill>
                <a:latin typeface="quote-cjk-patch"/>
                <a:ea typeface="quote-cjk-patch"/>
              </a:rPr>
              <a:t>时无解（欧式几何）。</a:t>
            </a:r>
            <a:endParaRPr lang="zh-CN" altLang="en-US" sz="2100" b="0" i="0">
              <a:solidFill>
                <a:srgbClr val="0F1115"/>
              </a:solidFill>
              <a:latin typeface="quote-cjk-patch"/>
              <a:ea typeface="quote-cjk-patch"/>
            </a:endParaRPr>
          </a:p>
          <a:p>
            <a:pPr algn="l" fontAlgn="auto">
              <a:spcBef>
                <a:spcPts val="0"/>
              </a:spcBef>
              <a:spcAft>
                <a:spcPts val="0"/>
              </a:spcAft>
              <a:buClrTx/>
              <a:buSzTx/>
              <a:buFontTx/>
            </a:pPr>
            <a:r>
              <a:rPr lang="zh-CN" altLang="en-US" sz="2100" b="0" i="0">
                <a:solidFill>
                  <a:srgbClr val="0F1115"/>
                </a:solidFill>
                <a:latin typeface="quote-cjk-patch"/>
                <a:ea typeface="quote-cjk-patch"/>
              </a:rPr>
              <a:t>但如果我们允许 </a:t>
            </a:r>
            <a:r>
              <a:rPr lang="zh-CN" altLang="en-US" sz="2100" b="0" i="0">
                <a:solidFill>
                  <a:srgbClr val="0F1115"/>
                </a:solidFill>
                <a:latin typeface="Arial" panose="020B0604020202020204" pitchFamily="34" charset="0"/>
                <a:ea typeface="quote-cjk-patch"/>
                <a:cs typeface="Arial" panose="020B0604020202020204" pitchFamily="34" charset="0"/>
              </a:rPr>
              <a:t>W = 0</a:t>
            </a:r>
            <a:r>
              <a:rPr lang="zh-CN" altLang="en-US" sz="2100" b="0" i="0">
                <a:solidFill>
                  <a:srgbClr val="0F1115"/>
                </a:solidFill>
                <a:latin typeface="quote-cjk-patch"/>
                <a:ea typeface="quote-cjk-patch"/>
              </a:rPr>
              <a:t>，则方程变为：</a:t>
            </a:r>
            <a:endParaRPr lang="zh-CN" altLang="en-US" sz="2100" b="0" i="0">
              <a:solidFill>
                <a:srgbClr val="0F1115"/>
              </a:solidFill>
              <a:latin typeface="quote-cjk-patch"/>
              <a:ea typeface="quote-cjk-patch"/>
            </a:endParaRPr>
          </a:p>
          <a:p>
            <a:pPr algn="l" fontAlgn="auto">
              <a:spcBef>
                <a:spcPts val="0"/>
              </a:spcBef>
              <a:spcAft>
                <a:spcPts val="0"/>
              </a:spcAft>
              <a:buClrTx/>
              <a:buSzTx/>
              <a:buFontTx/>
            </a:pPr>
            <a:r>
              <a:rPr lang="zh-CN" altLang="en-US" sz="2100" b="0" i="0">
                <a:solidFill>
                  <a:srgbClr val="0F1115"/>
                </a:solidFill>
                <a:latin typeface="Arial" panose="020B0604020202020204" pitchFamily="34" charset="0"/>
                <a:ea typeface="quote-cjk-patch"/>
                <a:cs typeface="Arial" panose="020B0604020202020204" pitchFamily="34" charset="0"/>
              </a:rPr>
              <a:t>a*X + b*Y = 0</a:t>
            </a:r>
            <a:endParaRPr lang="zh-CN" altLang="en-US" sz="2100" b="0" i="0">
              <a:solidFill>
                <a:srgbClr val="0F1115"/>
              </a:solidFill>
              <a:latin typeface="Arial" panose="020B0604020202020204" pitchFamily="34" charset="0"/>
              <a:ea typeface="quote-cjk-patch"/>
              <a:cs typeface="Arial" panose="020B0604020202020204" pitchFamily="34" charset="0"/>
            </a:endParaRPr>
          </a:p>
          <a:p>
            <a:pPr algn="l" fontAlgn="auto">
              <a:spcBef>
                <a:spcPts val="0"/>
              </a:spcBef>
              <a:spcAft>
                <a:spcPts val="0"/>
              </a:spcAft>
              <a:buClrTx/>
              <a:buSzTx/>
              <a:buFontTx/>
            </a:pPr>
            <a:r>
              <a:rPr lang="zh-CN" altLang="en-US" sz="2100" b="0" i="0">
                <a:solidFill>
                  <a:srgbClr val="0F1115"/>
                </a:solidFill>
                <a:latin typeface="Arial" panose="020B0604020202020204" pitchFamily="34" charset="0"/>
                <a:ea typeface="quote-cjk-patch"/>
                <a:cs typeface="Arial" panose="020B0604020202020204" pitchFamily="34" charset="0"/>
              </a:rPr>
              <a:t>a*X + b*Y = 0 </a:t>
            </a:r>
            <a:r>
              <a:rPr lang="zh-CN" altLang="en-US" sz="2100" b="0" i="0">
                <a:solidFill>
                  <a:srgbClr val="0F1115"/>
                </a:solidFill>
                <a:latin typeface="quote-cjk-patch"/>
                <a:ea typeface="quote-cjk-patch"/>
              </a:rPr>
              <a:t>（两个方程完全相同）</a:t>
            </a:r>
            <a:endParaRPr lang="zh-CN" altLang="en-US" sz="2100" b="0" i="0">
              <a:solidFill>
                <a:srgbClr val="0F1115"/>
              </a:solidFill>
              <a:latin typeface="quote-cjk-patch"/>
              <a:ea typeface="quote-cjk-patch"/>
            </a:endParaRPr>
          </a:p>
          <a:p>
            <a:pPr algn="l" fontAlgn="auto">
              <a:spcBef>
                <a:spcPts val="0"/>
              </a:spcBef>
              <a:spcAft>
                <a:spcPts val="0"/>
              </a:spcAft>
              <a:buClrTx/>
              <a:buSzTx/>
              <a:buFontTx/>
            </a:pPr>
            <a:r>
              <a:rPr lang="zh-CN" altLang="en-US" sz="2100" b="0" i="0">
                <a:solidFill>
                  <a:srgbClr val="0F1115"/>
                </a:solidFill>
                <a:latin typeface="quote-cjk-patch"/>
                <a:ea typeface="quote-cjk-patch"/>
              </a:rPr>
              <a:t>这意味着任何满足 </a:t>
            </a:r>
            <a:r>
              <a:rPr lang="zh-CN" altLang="en-US" sz="2100" b="0" i="0">
                <a:solidFill>
                  <a:srgbClr val="0F1115"/>
                </a:solidFill>
                <a:latin typeface="Arial" panose="020B0604020202020204" pitchFamily="34" charset="0"/>
                <a:ea typeface="quote-cjk-patch"/>
                <a:cs typeface="Arial" panose="020B0604020202020204" pitchFamily="34" charset="0"/>
              </a:rPr>
              <a:t>a*X + b*Y = 0 且 W=0 </a:t>
            </a:r>
            <a:r>
              <a:rPr lang="zh-CN" altLang="en-US" sz="2100" b="0" i="0">
                <a:solidFill>
                  <a:srgbClr val="0F1115"/>
                </a:solidFill>
                <a:latin typeface="quote-cjk-patch"/>
                <a:ea typeface="quote-cjk-patch"/>
              </a:rPr>
              <a:t>的点都是解。注意到 </a:t>
            </a:r>
            <a:r>
              <a:rPr lang="zh-CN" altLang="en-US" sz="2100" b="0" i="0">
                <a:solidFill>
                  <a:srgbClr val="0F1115"/>
                </a:solidFill>
                <a:latin typeface="Arial" panose="020B0604020202020204" pitchFamily="34" charset="0"/>
                <a:ea typeface="quote-cjk-patch"/>
                <a:cs typeface="Arial" panose="020B0604020202020204" pitchFamily="34" charset="0"/>
              </a:rPr>
              <a:t>(b, -a, 0) </a:t>
            </a:r>
            <a:r>
              <a:rPr lang="zh-CN" altLang="en-US" sz="2100" b="0" i="0">
                <a:solidFill>
                  <a:srgbClr val="0F1115"/>
                </a:solidFill>
                <a:latin typeface="quote-cjk-patch"/>
                <a:ea typeface="quote-cjk-patch"/>
              </a:rPr>
              <a:t>就是一个解（因为 </a:t>
            </a:r>
            <a:r>
              <a:rPr lang="zh-CN" altLang="en-US" sz="2100" b="0" i="0">
                <a:solidFill>
                  <a:srgbClr val="0F1115"/>
                </a:solidFill>
                <a:latin typeface="Arial" panose="020B0604020202020204" pitchFamily="34" charset="0"/>
                <a:ea typeface="quote-cjk-patch"/>
                <a:cs typeface="Arial" panose="020B0604020202020204" pitchFamily="34" charset="0"/>
              </a:rPr>
              <a:t>a*b + b*(-a) = 0）</a:t>
            </a:r>
            <a:r>
              <a:rPr lang="zh-CN" altLang="en-US" sz="2100" b="0" i="0">
                <a:solidFill>
                  <a:srgbClr val="0F1115"/>
                </a:solidFill>
                <a:latin typeface="quote-cjk-patch"/>
                <a:ea typeface="quote-cjk-patch"/>
              </a:rPr>
              <a:t>。</a:t>
            </a:r>
            <a:endParaRPr lang="zh-CN" altLang="en-US" sz="2100" b="0" i="0">
              <a:solidFill>
                <a:srgbClr val="0F1115"/>
              </a:solidFill>
              <a:latin typeface="quote-cjk-patch"/>
              <a:ea typeface="quote-cjk-patch"/>
            </a:endParaRPr>
          </a:p>
          <a:p>
            <a:pPr algn="l" fontAlgn="auto">
              <a:spcBef>
                <a:spcPts val="0"/>
              </a:spcBef>
              <a:spcAft>
                <a:spcPts val="0"/>
              </a:spcAft>
              <a:buClrTx/>
              <a:buSzTx/>
              <a:buFontTx/>
            </a:pPr>
            <a:r>
              <a:rPr lang="zh-CN" altLang="en-US" sz="2100" b="0" i="0">
                <a:solidFill>
                  <a:srgbClr val="0F1115"/>
                </a:solidFill>
                <a:latin typeface="quote-cjk-patch"/>
                <a:ea typeface="quote-cjk-patch"/>
              </a:rPr>
              <a:t>而 </a:t>
            </a:r>
            <a:r>
              <a:rPr lang="zh-CN" altLang="en-US" sz="2100" b="0" i="0">
                <a:solidFill>
                  <a:srgbClr val="0F1115"/>
                </a:solidFill>
                <a:latin typeface="Arial" panose="020B0604020202020204" pitchFamily="34" charset="0"/>
                <a:ea typeface="quote-cjk-patch"/>
                <a:cs typeface="Arial" panose="020B0604020202020204" pitchFamily="34" charset="0"/>
              </a:rPr>
              <a:t>(b, -a) </a:t>
            </a:r>
            <a:r>
              <a:rPr lang="zh-CN" altLang="en-US" sz="2100" b="0" i="0">
                <a:solidFill>
                  <a:srgbClr val="0F1115"/>
                </a:solidFill>
                <a:latin typeface="quote-cjk-patch"/>
                <a:ea typeface="quote-cjk-patch"/>
              </a:rPr>
              <a:t>恰好是直线方向</a:t>
            </a:r>
            <a:r>
              <a:rPr lang="zh-CN" altLang="en-US" sz="2100" b="0" i="0">
                <a:solidFill>
                  <a:srgbClr val="0F1115"/>
                </a:solidFill>
                <a:latin typeface="Arial" panose="020B0604020202020204" pitchFamily="34" charset="0"/>
                <a:ea typeface="quote-cjk-patch"/>
                <a:cs typeface="Arial" panose="020B0604020202020204" pitchFamily="34" charset="0"/>
              </a:rPr>
              <a:t> (a, b) </a:t>
            </a:r>
            <a:r>
              <a:rPr lang="zh-CN" altLang="en-US" sz="2100" b="0" i="0">
                <a:solidFill>
                  <a:srgbClr val="0F1115"/>
                </a:solidFill>
                <a:latin typeface="quote-cjk-patch"/>
                <a:ea typeface="quote-cjk-patch"/>
              </a:rPr>
              <a:t>的垂直向量，即平行线的方向。</a:t>
            </a:r>
            <a:endParaRPr lang="zh-CN" altLang="en-US" sz="2100" b="0" i="0">
              <a:solidFill>
                <a:srgbClr val="0F1115"/>
              </a:solidFill>
              <a:latin typeface="quote-cjk-patch"/>
              <a:ea typeface="quote-cjk-patch"/>
            </a:endParaRPr>
          </a:p>
          <a:p>
            <a:pPr indent="0" algn="l" fontAlgn="auto">
              <a:spcBef>
                <a:spcPts val="0"/>
              </a:spcBef>
              <a:spcAft>
                <a:spcPts val="0"/>
              </a:spcAft>
              <a:buClrTx/>
              <a:buSzTx/>
              <a:buFontTx/>
            </a:pPr>
            <a:endParaRPr lang="zh-CN" altLang="en-US" sz="2100" b="0" i="0">
              <a:solidFill>
                <a:srgbClr val="0F1115"/>
              </a:solidFill>
              <a:latin typeface="quote-cjk-patch"/>
              <a:ea typeface="quote-cjk-patch"/>
            </a:endParaRPr>
          </a:p>
          <a:p>
            <a:pPr indent="0" algn="l" fontAlgn="auto">
              <a:spcBef>
                <a:spcPts val="0"/>
              </a:spcBef>
              <a:spcAft>
                <a:spcPts val="0"/>
              </a:spcAft>
              <a:buClrTx/>
              <a:buSzTx/>
              <a:buFontTx/>
            </a:pPr>
            <a:r>
              <a:rPr lang="zh-CN" altLang="en-US" sz="2100" b="0" i="0">
                <a:solidFill>
                  <a:srgbClr val="0F1115"/>
                </a:solidFill>
                <a:latin typeface="quote-cjk-patch"/>
                <a:ea typeface="quote-cjk-patch"/>
              </a:rPr>
              <a:t>所以，在射影平面中，两条平行线相交于唯一的无穷远点</a:t>
            </a:r>
            <a:r>
              <a:rPr lang="zh-CN" altLang="en-US" sz="2100" b="0" i="0">
                <a:solidFill>
                  <a:srgbClr val="0F1115"/>
                </a:solidFill>
                <a:latin typeface="Arial" panose="020B0604020202020204" pitchFamily="34" charset="0"/>
                <a:ea typeface="quote-cjk-patch"/>
                <a:cs typeface="Arial" panose="020B0604020202020204" pitchFamily="34" charset="0"/>
              </a:rPr>
              <a:t> (b, -a, 0)</a:t>
            </a:r>
            <a:r>
              <a:rPr lang="zh-CN" altLang="en-US" sz="2100" b="0" i="0">
                <a:solidFill>
                  <a:srgbClr val="0F1115"/>
                </a:solidFill>
                <a:latin typeface="quote-cjk-patch"/>
                <a:ea typeface="quote-cjk-patch"/>
              </a:rPr>
              <a:t>（或其等价形式 </a:t>
            </a:r>
            <a:r>
              <a:rPr lang="zh-CN" altLang="en-US" sz="2100" b="0" i="0">
                <a:solidFill>
                  <a:srgbClr val="0F1115"/>
                </a:solidFill>
                <a:latin typeface="Arial" panose="020B0604020202020204" pitchFamily="34" charset="0"/>
                <a:ea typeface="quote-cjk-patch"/>
                <a:cs typeface="Arial" panose="020B0604020202020204" pitchFamily="34" charset="0"/>
              </a:rPr>
              <a:t>(d_x, d_y, 0)</a:t>
            </a:r>
            <a:r>
              <a:rPr lang="zh-CN" altLang="en-US" sz="2100" b="0" i="0">
                <a:solidFill>
                  <a:srgbClr val="0F1115"/>
                </a:solidFill>
                <a:latin typeface="quote-cjk-patch"/>
                <a:ea typeface="quote-cjk-patch"/>
              </a:rPr>
              <a:t>，其中 </a:t>
            </a:r>
            <a:r>
              <a:rPr lang="zh-CN" altLang="en-US" sz="2100" b="0" i="0">
                <a:solidFill>
                  <a:srgbClr val="0F1115"/>
                </a:solidFill>
                <a:latin typeface="Arial" panose="020B0604020202020204" pitchFamily="34" charset="0"/>
                <a:ea typeface="quote-cjk-patch"/>
                <a:cs typeface="Arial" panose="020B0604020202020204" pitchFamily="34" charset="0"/>
              </a:rPr>
              <a:t>(d_x, d_y)</a:t>
            </a:r>
            <a:r>
              <a:rPr lang="zh-CN" altLang="en-US" sz="2100" b="0" i="0">
                <a:solidFill>
                  <a:srgbClr val="0F1115"/>
                </a:solidFill>
                <a:latin typeface="quote-cjk-patch"/>
                <a:ea typeface="quote-cjk-patch"/>
              </a:rPr>
              <a:t> 是直线方向）。</a:t>
            </a:r>
            <a:endParaRPr lang="zh-CN" altLang="en-US" sz="2100" b="0" i="0">
              <a:solidFill>
                <a:srgbClr val="0F1115"/>
              </a:solidFill>
              <a:latin typeface="quote-cjk-patch"/>
              <a:ea typeface="quote-cjk-patch"/>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037590" y="1270635"/>
            <a:ext cx="29267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透视变换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aphicFrame>
        <p:nvGraphicFramePr>
          <p:cNvPr id="50199" name="Object 24"/>
          <p:cNvGraphicFramePr>
            <a:graphicFrameLocks noChangeAspect="1"/>
          </p:cNvGraphicFramePr>
          <p:nvPr/>
        </p:nvGraphicFramePr>
        <p:xfrm>
          <a:off x="5201285" y="338138"/>
          <a:ext cx="3400425" cy="1400175"/>
        </p:xfrm>
        <a:graphic>
          <a:graphicData uri="http://schemas.openxmlformats.org/presentationml/2006/ole">
            <mc:AlternateContent xmlns:mc="http://schemas.openxmlformats.org/markup-compatibility/2006">
              <mc:Choice xmlns:v="urn:schemas-microsoft-com:vml" Requires="v">
                <p:oleObj spid="_x0000_s88082" name="Equation" r:id="rId3" imgW="1460500" imgH="596900" progId="Equation.DSMT4">
                  <p:embed/>
                </p:oleObj>
              </mc:Choice>
              <mc:Fallback>
                <p:oleObj name="Equation" r:id="rId3" imgW="1460500" imgH="596900" progId="Equation.DSMT4">
                  <p:embed/>
                  <p:pic>
                    <p:nvPicPr>
                      <p:cNvPr id="0" name="图片 880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1285" y="338138"/>
                        <a:ext cx="340042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9" name="文本框 8"/>
              <p:cNvSpPr txBox="1"/>
              <p:nvPr/>
            </p:nvSpPr>
            <p:spPr>
              <a:xfrm>
                <a:off x="1037590" y="2240915"/>
                <a:ext cx="8686165" cy="1393825"/>
              </a:xfrm>
              <a:prstGeom prst="rect">
                <a:avLst/>
              </a:prstGeom>
              <a:noFill/>
            </p:spPr>
            <p:txBody>
              <a:bodyPr wrap="square" rtlCol="0">
                <a:spAutoFit/>
              </a:bodyPr>
              <a:p>
                <a:r>
                  <a:rPr lang="zh-CN" altLang="en-US"/>
                  <a:t>将无穷远点</a:t>
                </a:r>
                <a:r>
                  <a:rPr lang="en-US" altLang="zh-CN"/>
                  <a:t> [X,Y,0]^T </a:t>
                </a:r>
                <a:r>
                  <a:rPr lang="zh-CN" altLang="en-US"/>
                  <a:t>进行透视变换，得到</a:t>
                </a:r>
                <a:endParaRPr lang="zh-CN" altLang="en-US"/>
              </a:p>
              <a:p>
                <a:pPr marL="914400" lvl="2" indent="457200"/>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oMath>
                </a14:m>
                <a:r>
                  <a:rPr lang="en-US" altLang="zh-CN"/>
                  <a:t>]^T</a:t>
                </a:r>
                <a:endParaRPr lang="en-US" altLang="zh-CN"/>
              </a:p>
              <a:p>
                <a:pPr marL="914400" lvl="2" indent="457200"/>
                <a:r>
                  <a:rPr lang="zh-CN" altLang="en-US"/>
                  <a:t>若</a:t>
                </a:r>
                <a14:m>
                  <m:oMath xmlns:m="http://schemas.openxmlformats.org/officeDocument/2006/math">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a14:m>
                <a:r>
                  <a:rPr lang="en-US" altLang="zh-CN"/>
                  <a:t>, </a:t>
                </a:r>
                <a:r>
                  <a:rPr lang="zh-CN" altLang="en-US"/>
                  <a:t>则在欧式平面上映射为有限点</a:t>
                </a:r>
                <a:r>
                  <a:rPr lang="en-US" altLang="zh-CN"/>
                  <a:t>[</a:t>
                </a:r>
                <a14:m>
                  <m:oMath xmlns:m="http://schemas.openxmlformats.org/officeDocument/2006/math">
                    <m:f>
                      <m:fPr>
                        <m:ctrlPr>
                          <a:rPr lang="en-US" altLang="zh-CN" i="1">
                            <a:latin typeface="Cambria Math" panose="02040503050406030204" charset="0"/>
                            <a:cs typeface="Cambria Math" panose="02040503050406030204" charset="0"/>
                          </a:rPr>
                        </m:ctrlPr>
                      </m:fPr>
                      <m:nu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num>
                      <m:den>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den>
                    </m:f>
                  </m:oMath>
                </a14:m>
                <a:r>
                  <a:rPr lang="en-US" altLang="zh-CN"/>
                  <a:t>,</a:t>
                </a:r>
                <a14:m>
                  <m:oMath xmlns:m="http://schemas.openxmlformats.org/officeDocument/2006/math">
                    <m:f>
                      <m:fPr>
                        <m:ctrlPr>
                          <a:rPr lang="en-US" altLang="zh-CN" i="1">
                            <a:latin typeface="Cambria Math" panose="02040503050406030204" charset="0"/>
                            <a:cs typeface="Cambria Math" panose="02040503050406030204" charset="0"/>
                          </a:rPr>
                        </m:ctrlPr>
                      </m:fPr>
                      <m:nu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num>
                      <m:den>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𝑌</m:t>
                        </m:r>
                      </m:den>
                    </m:f>
                  </m:oMath>
                </a14:m>
                <a:r>
                  <a:rPr lang="en-US" altLang="zh-CN"/>
                  <a:t>]</a:t>
                </a:r>
                <a:endParaRPr lang="en-US" altLang="zh-CN"/>
              </a:p>
              <a:p>
                <a:pPr marL="914400" lvl="2" indent="457200"/>
                <a:r>
                  <a:rPr lang="zh-CN" altLang="en-US"/>
                  <a:t>即有无限远点被映射为有限点</a:t>
                </a:r>
                <a:r>
                  <a:rPr lang="en-US" altLang="zh-CN"/>
                  <a:t>(</a:t>
                </a:r>
                <a:r>
                  <a:rPr lang="zh-CN" altLang="en-US"/>
                  <a:t>即消失点</a:t>
                </a:r>
                <a:r>
                  <a:rPr lang="en-US" altLang="zh-CN"/>
                  <a:t>)</a:t>
                </a:r>
                <a:endParaRPr lang="en-US" altLang="zh-CN"/>
              </a:p>
            </p:txBody>
          </p:sp>
        </mc:Choice>
        <mc:Fallback>
          <p:sp>
            <p:nvSpPr>
              <p:cNvPr id="9" name="文本框 8"/>
              <p:cNvSpPr txBox="1">
                <a:spLocks noRot="1" noChangeAspect="1" noMove="1" noResize="1" noEditPoints="1" noAdjustHandles="1" noChangeArrowheads="1" noChangeShapeType="1" noTextEdit="1"/>
              </p:cNvSpPr>
              <p:nvPr/>
            </p:nvSpPr>
            <p:spPr>
              <a:xfrm>
                <a:off x="1037590" y="2240915"/>
                <a:ext cx="8686165" cy="1393825"/>
              </a:xfrm>
              <a:prstGeom prst="rect">
                <a:avLst/>
              </a:prstGeom>
              <a:blipFill rotWithShape="1">
                <a:blip r:embed="rId5"/>
                <a:stretch>
                  <a:fillRect/>
                </a:stretch>
              </a:blipFill>
            </p:spPr>
            <p:txBody>
              <a:bodyPr/>
              <a:lstStyle/>
              <a:p>
                <a:r>
                  <a:rPr lang="zh-CN" altLang="en-US">
                    <a:noFill/>
                  </a:rPr>
                  <a:t> </a:t>
                </a:r>
              </a:p>
            </p:txBody>
          </p:sp>
        </mc:Fallback>
      </mc:AlternateContent>
      <p:sp>
        <p:nvSpPr>
          <p:cNvPr id="10" name="文本框 9"/>
          <p:cNvSpPr txBox="1"/>
          <p:nvPr/>
        </p:nvSpPr>
        <p:spPr>
          <a:xfrm>
            <a:off x="3556000" y="-65068450"/>
            <a:ext cx="5080000" cy="2676525"/>
          </a:xfrm>
          <a:prstGeom prst="rect">
            <a:avLst/>
          </a:prstGeom>
        </p:spPr>
        <p:txBody>
          <a:bodyPr>
            <a:spAutoFit/>
          </a:bodyPr>
          <a:p>
            <a:pPr marL="0" indent="0">
              <a:spcBef>
                <a:spcPct val="0"/>
              </a:spcBef>
              <a:spcAft>
                <a:spcPct val="0"/>
              </a:spcAft>
              <a:buFont typeface="Arial" panose="020B0604020202020204"/>
              <a:buChar char="•"/>
            </a:pPr>
            <a:r>
              <a:rPr lang="zh-CN" altLang="en-US" sz="2400" b="0" i="0">
                <a:solidFill>
                  <a:srgbClr val="0F1115"/>
                </a:solidFill>
                <a:latin typeface="quote-cjk-patch"/>
                <a:ea typeface="quote-cjk-patch"/>
              </a:rPr>
              <a:t>相当于在三维空间中观察二维平面时，引入了深度感知：远离视点的线段会被缩短，平行线会向“远处”汇聚。</a:t>
            </a:r>
            <a:endParaRPr lang="zh-CN" altLang="en-US" sz="24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400" b="0" i="0">
                <a:solidFill>
                  <a:srgbClr val="0F1115"/>
                </a:solidFill>
                <a:latin typeface="quote-cjk-patch"/>
                <a:ea typeface="quote-cjk-patch"/>
              </a:rPr>
              <a:t>调整</a:t>
            </a:r>
            <a:r>
              <a:rPr lang="en-US" altLang="zh-CN" sz="2400" b="0" i="0">
                <a:solidFill>
                  <a:srgbClr val="0F1115"/>
                </a:solidFill>
                <a:latin typeface="quote-cjk-patch"/>
                <a:ea typeface="quote-cjk-patch"/>
              </a:rPr>
              <a:t> </a:t>
            </a:r>
            <a:r>
              <a:rPr lang="en-US" altLang="zh-CN" sz="2400" b="0" i="0">
                <a:solidFill>
                  <a:srgbClr val="0F1115"/>
                </a:solidFill>
                <a:latin typeface="KaTeX_Main"/>
                <a:ea typeface="KaTeX_Main"/>
              </a:rPr>
              <a:t>h31</a:t>
            </a:r>
            <a:r>
              <a:rPr lang="en-US" altLang="zh-CN" sz="2400" b="0" i="1">
                <a:solidFill>
                  <a:srgbClr val="0F1115"/>
                </a:solidFill>
                <a:latin typeface="KaTeX_Math"/>
                <a:ea typeface="KaTeX_Math"/>
              </a:rPr>
              <a:t>h</a:t>
            </a:r>
            <a:r>
              <a:rPr lang="en-US" altLang="zh-CN" sz="2400" b="0" i="0">
                <a:solidFill>
                  <a:srgbClr val="0F1115"/>
                </a:solidFill>
                <a:latin typeface="KaTeX_Main"/>
                <a:ea typeface="KaTeX_Main"/>
              </a:rPr>
              <a:t>31​</a:t>
            </a:r>
            <a:r>
              <a:rPr lang="en-US" altLang="zh-CN" sz="2400" b="0" i="0">
                <a:solidFill>
                  <a:srgbClr val="0F1115"/>
                </a:solidFill>
                <a:latin typeface="quote-cjk-patch"/>
                <a:ea typeface="quote-cjk-patch"/>
              </a:rPr>
              <a:t> </a:t>
            </a:r>
            <a:r>
              <a:rPr lang="zh-CN" altLang="en-US" sz="2400" b="0" i="0">
                <a:solidFill>
                  <a:srgbClr val="0F1115"/>
                </a:solidFill>
                <a:latin typeface="quote-cjk-patch"/>
                <a:ea typeface="quote-cjk-patch"/>
              </a:rPr>
              <a:t>和</a:t>
            </a:r>
            <a:r>
              <a:rPr lang="en-US" altLang="zh-CN" sz="2400" b="0" i="0">
                <a:solidFill>
                  <a:srgbClr val="0F1115"/>
                </a:solidFill>
                <a:latin typeface="quote-cjk-patch"/>
                <a:ea typeface="quote-cjk-patch"/>
              </a:rPr>
              <a:t> </a:t>
            </a:r>
            <a:r>
              <a:rPr lang="en-US" altLang="zh-CN" sz="2400" b="0" i="0">
                <a:solidFill>
                  <a:srgbClr val="0F1115"/>
                </a:solidFill>
                <a:latin typeface="KaTeX_Main"/>
                <a:ea typeface="KaTeX_Main"/>
              </a:rPr>
              <a:t>h32</a:t>
            </a:r>
            <a:r>
              <a:rPr lang="en-US" altLang="zh-CN" sz="2400" b="0" i="1">
                <a:solidFill>
                  <a:srgbClr val="0F1115"/>
                </a:solidFill>
                <a:latin typeface="KaTeX_Math"/>
                <a:ea typeface="KaTeX_Math"/>
              </a:rPr>
              <a:t>h</a:t>
            </a:r>
            <a:r>
              <a:rPr lang="en-US" altLang="zh-CN" sz="2400" b="0" i="0">
                <a:solidFill>
                  <a:srgbClr val="0F1115"/>
                </a:solidFill>
                <a:latin typeface="KaTeX_Main"/>
                <a:ea typeface="KaTeX_Main"/>
              </a:rPr>
              <a:t>32​</a:t>
            </a:r>
            <a:r>
              <a:rPr lang="en-US" altLang="zh-CN" sz="2400" b="0" i="0">
                <a:solidFill>
                  <a:srgbClr val="0F1115"/>
                </a:solidFill>
                <a:latin typeface="quote-cjk-patch"/>
                <a:ea typeface="quote-cjk-patch"/>
              </a:rPr>
              <a:t> </a:t>
            </a:r>
            <a:r>
              <a:rPr lang="zh-CN" altLang="en-US" sz="2400" b="0" i="0">
                <a:solidFill>
                  <a:srgbClr val="0F1115"/>
                </a:solidFill>
                <a:latin typeface="quote-cjk-patch"/>
                <a:ea typeface="quote-cjk-patch"/>
              </a:rPr>
              <a:t>相当于改变视点的方位和俯仰角，从而改变消失点的位置。</a:t>
            </a:r>
            <a:endParaRPr lang="zh-CN" altLang="en-US" sz="2400" b="0" i="0">
              <a:solidFill>
                <a:srgbClr val="0F1115"/>
              </a:solidFill>
              <a:latin typeface="quote-cjk-patch"/>
              <a:ea typeface="quote-cjk-patch"/>
            </a:endParaRPr>
          </a:p>
        </p:txBody>
      </p:sp>
      <mc:AlternateContent xmlns:mc="http://schemas.openxmlformats.org/markup-compatibility/2006">
        <mc:Choice xmlns:a14="http://schemas.microsoft.com/office/drawing/2010/main" Requires="a14">
          <p:sp>
            <p:nvSpPr>
              <p:cNvPr id="11" name="文本框 10"/>
              <p:cNvSpPr txBox="1"/>
              <p:nvPr/>
            </p:nvSpPr>
            <p:spPr>
              <a:xfrm>
                <a:off x="956945" y="3696970"/>
                <a:ext cx="10572115" cy="2654300"/>
              </a:xfrm>
              <a:prstGeom prst="rect">
                <a:avLst/>
              </a:prstGeom>
              <a:noFill/>
            </p:spPr>
            <p:txBody>
              <a:bodyPr wrap="square" rtlCol="0">
                <a:spAutoFit/>
              </a:bodyPr>
              <a:p>
                <a:r>
                  <a:rPr lang="zh-CN" altLang="en-US"/>
                  <a:t>相当于在三维空间中观察二维平面时，引入了深度感知：远离视点的线段会被缩短，平行线会向</a:t>
                </a:r>
                <a:r>
                  <a:rPr lang="en-US" altLang="zh-CN"/>
                  <a:t>“</a:t>
                </a:r>
                <a:r>
                  <a:rPr lang="zh-CN" altLang="en-US"/>
                  <a:t>远处</a:t>
                </a:r>
                <a:r>
                  <a:rPr lang="en-US" altLang="zh-CN"/>
                  <a:t>”</a:t>
                </a:r>
                <a:r>
                  <a:rPr lang="zh-CN" altLang="en-US"/>
                  <a:t>汇聚。</a:t>
                </a:r>
                <a:endParaRPr lang="zh-CN" altLang="en-US"/>
              </a:p>
              <a:p>
                <a:endParaRPr lang="en-US" altLang="zh-CN"/>
              </a:p>
              <a:p>
                <a:r>
                  <a:rPr lang="zh-CN" altLang="en-US"/>
                  <a:t>调整</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zh-CN" altLang="en-US">
                    <a:latin typeface="Cambria Math" panose="02040503050406030204" charset="0"/>
                    <a:cs typeface="Cambria Math" panose="02040503050406030204" charset="0"/>
                  </a:rPr>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oMath>
                </a14:m>
                <a:r>
                  <a:rPr lang="en-US" altLang="zh-CN"/>
                  <a:t>  </a:t>
                </a:r>
                <a:r>
                  <a:rPr lang="zh-CN" altLang="en-US"/>
                  <a:t>相当于改变视点的方位和俯仰角，从而改变消失点的位置。</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sub>
                    </m:sSub>
                    <m:r>
                      <a:rPr lang="en-US" altLang="zh-CN" i="1">
                        <a:latin typeface="Cambria Math" panose="02040503050406030204" charset="0"/>
                        <a:cs typeface="Cambria Math" panose="02040503050406030204" charset="0"/>
                      </a:rPr>
                      <m:t>影响尺度，由于射影几何的尺度不变性，因此我们一般设定为</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，这样透视矩阵一共</m:t>
                    </m:r>
                  </m:oMath>
                </a14:m>
                <a:r>
                  <a:rPr lang="zh-CN" altLang="en-US">
                    <a:latin typeface="Cambria Math" panose="02040503050406030204" charset="0"/>
                    <a:cs typeface="Cambria Math" panose="02040503050406030204" charset="0"/>
                  </a:rPr>
                  <a:t>有</a:t>
                </a:r>
                <a:r>
                  <a:rPr lang="en-US" altLang="zh-CN">
                    <a:latin typeface="Cambria Math" panose="02040503050406030204" charset="0"/>
                    <a:cs typeface="Cambria Math" panose="02040503050406030204" charset="0"/>
                  </a:rPr>
                  <a:t>8</a:t>
                </a:r>
                <a:r>
                  <a:rPr lang="zh-CN" altLang="en-US">
                    <a:latin typeface="Cambria Math" panose="02040503050406030204" charset="0"/>
                    <a:cs typeface="Cambria Math" panose="02040503050406030204" charset="0"/>
                  </a:rPr>
                  <a:t>个自由度，可以有四对二维点对使用高斯消元法求解。</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在</a:t>
                </a:r>
                <a:r>
                  <a:rPr lang="en-US" altLang="zh-CN">
                    <a:latin typeface="Cambria Math" panose="02040503050406030204" charset="0"/>
                    <a:cs typeface="Cambria Math" panose="02040503050406030204" charset="0"/>
                  </a:rPr>
                  <a:t>OpenCV</a:t>
                </a:r>
                <a:r>
                  <a:rPr lang="zh-CN" altLang="en-US">
                    <a:latin typeface="Cambria Math" panose="02040503050406030204" charset="0"/>
                    <a:cs typeface="Cambria Math" panose="02040503050406030204" charset="0"/>
                  </a:rPr>
                  <a:t>中，</a:t>
                </a:r>
                <a:r>
                  <a:rPr lang="en-US" altLang="zh-CN">
                    <a:latin typeface="Cambria Math" panose="02040503050406030204" charset="0"/>
                    <a:cs typeface="Cambria Math" panose="02040503050406030204" charset="0"/>
                  </a:rPr>
                  <a:t>getPerspectiveTransform</a:t>
                </a:r>
                <a:r>
                  <a:rPr lang="zh-CN" altLang="en-US">
                    <a:latin typeface="Cambria Math" panose="02040503050406030204" charset="0"/>
                    <a:cs typeface="Cambria Math" panose="02040503050406030204" charset="0"/>
                  </a:rPr>
                  <a:t>函数可以通过四对二维点对求解</a:t>
                </a:r>
                <a14:m>
                  <m:oMath xmlns:m="http://schemas.openxmlformats.org/officeDocument/2006/math">
                    <m:r>
                      <a:rPr lang="en-US" altLang="zh-CN" i="1">
                        <a:latin typeface="Cambria Math" panose="02040503050406030204" charset="0"/>
                        <a:cs typeface="Cambria Math" panose="02040503050406030204" charset="0"/>
                      </a:rPr>
                      <m:t>透视矩阵</m:t>
                    </m:r>
                  </m:oMath>
                </a14:m>
                <a:r>
                  <a:rPr lang="zh-CN" altLang="en-US">
                    <a:latin typeface="Cambria Math" panose="02040503050406030204" charset="0"/>
                    <a:cs typeface="Cambria Math" panose="02040503050406030204" charset="0"/>
                  </a:rPr>
                  <a:t>；而</a:t>
                </a:r>
                <a:r>
                  <a:rPr lang="en-US" altLang="zh-CN">
                    <a:latin typeface="Cambria Math" panose="02040503050406030204" charset="0"/>
                    <a:cs typeface="Cambria Math" panose="02040503050406030204" charset="0"/>
                  </a:rPr>
                  <a:t>findHomography</a:t>
                </a:r>
                <a:r>
                  <a:rPr lang="zh-CN" altLang="en-US">
                    <a:latin typeface="Cambria Math" panose="02040503050406030204" charset="0"/>
                    <a:cs typeface="Cambria Math" panose="02040503050406030204" charset="0"/>
                  </a:rPr>
                  <a:t>能通过大于四个点对得到最优单应性矩阵。</a:t>
                </a:r>
                <a:endParaRPr lang="zh-CN" altLang="en-US">
                  <a:latin typeface="Cambria Math" panose="02040503050406030204" charset="0"/>
                  <a:cs typeface="Cambria Math" panose="02040503050406030204"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956945" y="3696970"/>
                <a:ext cx="10572115" cy="265430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1037590" y="1270635"/>
            <a:ext cx="29267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透视变换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10" name="文本框 9"/>
          <p:cNvSpPr txBox="1"/>
          <p:nvPr/>
        </p:nvSpPr>
        <p:spPr>
          <a:xfrm>
            <a:off x="3556000" y="-65068450"/>
            <a:ext cx="5080000" cy="2676525"/>
          </a:xfrm>
          <a:prstGeom prst="rect">
            <a:avLst/>
          </a:prstGeom>
        </p:spPr>
        <p:txBody>
          <a:bodyPr>
            <a:spAutoFit/>
          </a:bodyPr>
          <a:p>
            <a:pPr marL="0" indent="0">
              <a:spcBef>
                <a:spcPct val="0"/>
              </a:spcBef>
              <a:spcAft>
                <a:spcPct val="0"/>
              </a:spcAft>
              <a:buFont typeface="Arial" panose="020B0604020202020204"/>
              <a:buChar char="•"/>
            </a:pPr>
            <a:r>
              <a:rPr lang="zh-CN" altLang="en-US" sz="2400" b="0" i="0">
                <a:solidFill>
                  <a:srgbClr val="0F1115"/>
                </a:solidFill>
                <a:latin typeface="quote-cjk-patch"/>
                <a:ea typeface="quote-cjk-patch"/>
              </a:rPr>
              <a:t>相当于在三维空间中观察二维平面时，引入了深度感知：远离视点的线段会被缩短，平行线会向“远处”汇聚。</a:t>
            </a:r>
            <a:endParaRPr lang="zh-CN" altLang="en-US" sz="2400" b="0" i="0">
              <a:solidFill>
                <a:srgbClr val="0F1115"/>
              </a:solidFill>
              <a:latin typeface="quote-cjk-patch"/>
              <a:ea typeface="quote-cjk-patch"/>
            </a:endParaRPr>
          </a:p>
          <a:p>
            <a:pPr marL="0" indent="0">
              <a:spcBef>
                <a:spcPct val="0"/>
              </a:spcBef>
              <a:spcAft>
                <a:spcPct val="0"/>
              </a:spcAft>
              <a:buFont typeface="Arial" panose="020B0604020202020204"/>
              <a:buChar char="•"/>
            </a:pPr>
            <a:r>
              <a:rPr lang="zh-CN" altLang="en-US" sz="2400" b="0" i="0">
                <a:solidFill>
                  <a:srgbClr val="0F1115"/>
                </a:solidFill>
                <a:latin typeface="quote-cjk-patch"/>
                <a:ea typeface="quote-cjk-patch"/>
              </a:rPr>
              <a:t>调整</a:t>
            </a:r>
            <a:r>
              <a:rPr lang="en-US" altLang="zh-CN" sz="2400" b="0" i="0">
                <a:solidFill>
                  <a:srgbClr val="0F1115"/>
                </a:solidFill>
                <a:latin typeface="quote-cjk-patch"/>
                <a:ea typeface="quote-cjk-patch"/>
              </a:rPr>
              <a:t> </a:t>
            </a:r>
            <a:r>
              <a:rPr lang="en-US" altLang="zh-CN" sz="2400" b="0" i="0">
                <a:solidFill>
                  <a:srgbClr val="0F1115"/>
                </a:solidFill>
                <a:latin typeface="KaTeX_Main"/>
                <a:ea typeface="KaTeX_Main"/>
              </a:rPr>
              <a:t>h31</a:t>
            </a:r>
            <a:r>
              <a:rPr lang="en-US" altLang="zh-CN" sz="2400" b="0" i="1">
                <a:solidFill>
                  <a:srgbClr val="0F1115"/>
                </a:solidFill>
                <a:latin typeface="KaTeX_Math"/>
                <a:ea typeface="KaTeX_Math"/>
              </a:rPr>
              <a:t>h</a:t>
            </a:r>
            <a:r>
              <a:rPr lang="en-US" altLang="zh-CN" sz="2400" b="0" i="0">
                <a:solidFill>
                  <a:srgbClr val="0F1115"/>
                </a:solidFill>
                <a:latin typeface="KaTeX_Main"/>
                <a:ea typeface="KaTeX_Main"/>
              </a:rPr>
              <a:t>31​</a:t>
            </a:r>
            <a:r>
              <a:rPr lang="en-US" altLang="zh-CN" sz="2400" b="0" i="0">
                <a:solidFill>
                  <a:srgbClr val="0F1115"/>
                </a:solidFill>
                <a:latin typeface="quote-cjk-patch"/>
                <a:ea typeface="quote-cjk-patch"/>
              </a:rPr>
              <a:t> </a:t>
            </a:r>
            <a:r>
              <a:rPr lang="zh-CN" altLang="en-US" sz="2400" b="0" i="0">
                <a:solidFill>
                  <a:srgbClr val="0F1115"/>
                </a:solidFill>
                <a:latin typeface="quote-cjk-patch"/>
                <a:ea typeface="quote-cjk-patch"/>
              </a:rPr>
              <a:t>和</a:t>
            </a:r>
            <a:r>
              <a:rPr lang="en-US" altLang="zh-CN" sz="2400" b="0" i="0">
                <a:solidFill>
                  <a:srgbClr val="0F1115"/>
                </a:solidFill>
                <a:latin typeface="quote-cjk-patch"/>
                <a:ea typeface="quote-cjk-patch"/>
              </a:rPr>
              <a:t> </a:t>
            </a:r>
            <a:r>
              <a:rPr lang="en-US" altLang="zh-CN" sz="2400" b="0" i="0">
                <a:solidFill>
                  <a:srgbClr val="0F1115"/>
                </a:solidFill>
                <a:latin typeface="KaTeX_Main"/>
                <a:ea typeface="KaTeX_Main"/>
              </a:rPr>
              <a:t>h32</a:t>
            </a:r>
            <a:r>
              <a:rPr lang="en-US" altLang="zh-CN" sz="2400" b="0" i="1">
                <a:solidFill>
                  <a:srgbClr val="0F1115"/>
                </a:solidFill>
                <a:latin typeface="KaTeX_Math"/>
                <a:ea typeface="KaTeX_Math"/>
              </a:rPr>
              <a:t>h</a:t>
            </a:r>
            <a:r>
              <a:rPr lang="en-US" altLang="zh-CN" sz="2400" b="0" i="0">
                <a:solidFill>
                  <a:srgbClr val="0F1115"/>
                </a:solidFill>
                <a:latin typeface="KaTeX_Main"/>
                <a:ea typeface="KaTeX_Main"/>
              </a:rPr>
              <a:t>32​</a:t>
            </a:r>
            <a:r>
              <a:rPr lang="en-US" altLang="zh-CN" sz="2400" b="0" i="0">
                <a:solidFill>
                  <a:srgbClr val="0F1115"/>
                </a:solidFill>
                <a:latin typeface="quote-cjk-patch"/>
                <a:ea typeface="quote-cjk-patch"/>
              </a:rPr>
              <a:t> </a:t>
            </a:r>
            <a:r>
              <a:rPr lang="zh-CN" altLang="en-US" sz="2400" b="0" i="0">
                <a:solidFill>
                  <a:srgbClr val="0F1115"/>
                </a:solidFill>
                <a:latin typeface="quote-cjk-patch"/>
                <a:ea typeface="quote-cjk-patch"/>
              </a:rPr>
              <a:t>相当于改变视点的方位和俯仰角，从而改变消失点的位置。</a:t>
            </a:r>
            <a:endParaRPr lang="zh-CN" altLang="en-US" sz="2400" b="0" i="0">
              <a:solidFill>
                <a:srgbClr val="0F1115"/>
              </a:solidFill>
              <a:latin typeface="quote-cjk-patch"/>
              <a:ea typeface="quote-cjk-patch"/>
            </a:endParaRPr>
          </a:p>
        </p:txBody>
      </p:sp>
      <p:pic>
        <p:nvPicPr>
          <p:cNvPr id="12" name="图片 11" descr="Figure_1"/>
          <p:cNvPicPr>
            <a:picLocks noChangeAspect="1"/>
          </p:cNvPicPr>
          <p:nvPr/>
        </p:nvPicPr>
        <p:blipFill>
          <a:blip r:embed="rId3"/>
          <a:srcRect l="-312" t="15914" r="313" b="14761"/>
          <a:stretch>
            <a:fillRect/>
          </a:stretch>
        </p:blipFill>
        <p:spPr>
          <a:xfrm>
            <a:off x="0" y="2240280"/>
            <a:ext cx="12192000" cy="4276725"/>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4662170" y="1000125"/>
                <a:ext cx="3973830" cy="842010"/>
              </a:xfrm>
              <a:prstGeom prst="rect">
                <a:avLst/>
              </a:prstGeom>
              <a:noFill/>
            </p:spPr>
            <p:txBody>
              <a:bodyPr wrap="square" rtlCol="0">
                <a:spAutoFit/>
              </a:bodyPr>
              <a:p>
                <a:r>
                  <a:rPr lang="zh-CN" altLang="en-US"/>
                  <a:t>仿射变换矩阵</a:t>
                </a:r>
                <a:r>
                  <a:rPr lang="en-US" altLang="zh-CN"/>
                  <a:t>:</a:t>
                </a:r>
                <a:endParaRPr lang="en-US" altLang="zh-CN"/>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8</m:t>
                                      </m:r>
                                    </m:e>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e>
                                  </m:mr>
                                </m:m>
                              </m:e>
                              <m:e>
                                <m:r>
                                  <a:rPr lang="en-US" altLang="zh-CN" i="1">
                                    <a:latin typeface="Cambria Math" panose="02040503050406030204" charset="0"/>
                                    <a:cs typeface="Cambria Math" panose="02040503050406030204" charset="0"/>
                                  </a:rPr>
                                  <m:t>50</m:t>
                                </m:r>
                              </m:e>
                            </m:mr>
                            <m:m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9</m:t>
                                      </m:r>
                                    </m:e>
                                  </m:mr>
                                </m:m>
                              </m:e>
                              <m:e>
                                <m:r>
                                  <a:rPr lang="en-US" altLang="zh-CN" i="1">
                                    <a:latin typeface="Cambria Math" panose="02040503050406030204" charset="0"/>
                                    <a:cs typeface="Cambria Math" panose="02040503050406030204" charset="0"/>
                                  </a:rPr>
                                  <m:t>20</m:t>
                                </m:r>
                              </m:e>
                            </m:mr>
                          </m:m>
                        </m:e>
                      </m:d>
                    </m:oMath>
                  </m:oMathPara>
                </a14:m>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4662170" y="1000125"/>
                <a:ext cx="3973830" cy="84201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rgbClr val="FFC000"/>
                </a:solidFill>
                <a:latin typeface="微软雅黑" panose="020B0503020204020204" charset="-122"/>
                <a:ea typeface="微软雅黑" panose="020B0503020204020204" charset="-122"/>
                <a:sym typeface="+mn-ea"/>
              </a:rPr>
              <a:t>OpenCV: </a:t>
            </a:r>
            <a:r>
              <a:rPr lang="zh-CN" altLang="en-US" sz="3200" b="1" dirty="0" smtClean="0">
                <a:solidFill>
                  <a:srgbClr val="FFC000"/>
                </a:solidFill>
                <a:latin typeface="微软雅黑" panose="020B0503020204020204" charset="-122"/>
                <a:ea typeface="微软雅黑" panose="020B0503020204020204" charset="-122"/>
                <a:sym typeface="+mn-ea"/>
              </a:rPr>
              <a:t>透视变换</a:t>
            </a:r>
            <a:endParaRPr lang="zh-CN" altLang="en-US" sz="3200" b="1" dirty="0" smtClean="0">
              <a:solidFill>
                <a:srgbClr val="FFC000"/>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216660" y="2625725"/>
            <a:ext cx="8621395" cy="645160"/>
          </a:xfrm>
          <a:prstGeom prst="rect">
            <a:avLst/>
          </a:prstGeom>
          <a:noFill/>
        </p:spPr>
        <p:txBody>
          <a:bodyPr wrap="square" rtlCol="0">
            <a:spAutoFit/>
          </a:bodyPr>
          <a:p>
            <a:r>
              <a:rPr lang="zh-CN" altLang="en-US"/>
              <a:t>现提供若干格线图及棋盘格图，请你使用透视变换，从原图任意选择一个四边形区域，变换为新图中的一个矩形区域</a:t>
            </a:r>
            <a:r>
              <a:rPr lang="en-US" altLang="zh-CN"/>
              <a:t>,</a:t>
            </a:r>
            <a:r>
              <a:rPr lang="zh-CN" altLang="en-US"/>
              <a:t>然后再由新图变换回来。</a:t>
            </a:r>
            <a:endParaRPr lang="zh-CN" altLang="en-US"/>
          </a:p>
        </p:txBody>
      </p:sp>
      <p:sp>
        <p:nvSpPr>
          <p:cNvPr id="6" name="文本框 5"/>
          <p:cNvSpPr txBox="1"/>
          <p:nvPr/>
        </p:nvSpPr>
        <p:spPr>
          <a:xfrm>
            <a:off x="1130935" y="2015490"/>
            <a:ext cx="5413375" cy="368300"/>
          </a:xfrm>
          <a:prstGeom prst="rect">
            <a:avLst/>
          </a:prstGeom>
          <a:noFill/>
        </p:spPr>
        <p:txBody>
          <a:bodyPr wrap="square" rtlCol="0">
            <a:spAutoFit/>
          </a:bodyPr>
          <a:p>
            <a:r>
              <a:rPr lang="en-US" altLang="zh-CN" b="1"/>
              <a:t>lab1_5 </a:t>
            </a:r>
            <a:r>
              <a:rPr lang="zh-CN" b="1"/>
              <a:t>透视变换</a:t>
            </a:r>
            <a:endParaRPr lang="zh-CN" b="1"/>
          </a:p>
        </p:txBody>
      </p:sp>
      <p:sp>
        <p:nvSpPr>
          <p:cNvPr id="9" name="文本框 8"/>
          <p:cNvSpPr txBox="1"/>
          <p:nvPr/>
        </p:nvSpPr>
        <p:spPr>
          <a:xfrm>
            <a:off x="637540" y="5427345"/>
            <a:ext cx="10629265" cy="645160"/>
          </a:xfrm>
          <a:prstGeom prst="rect">
            <a:avLst/>
          </a:prstGeom>
          <a:noFill/>
        </p:spPr>
        <p:txBody>
          <a:bodyPr wrap="square" rtlCol="0">
            <a:spAutoFit/>
          </a:bodyPr>
          <a:p>
            <a:r>
              <a:rPr lang="zh-CN" altLang="en-US" b="1"/>
              <a:t>请参考</a:t>
            </a:r>
            <a:r>
              <a:rPr lang="en-US" altLang="zh-CN" b="1"/>
              <a:t> https://github.com/FirmamentumX/AirHUST_Vision_Tutorial </a:t>
            </a:r>
            <a:r>
              <a:rPr lang="zh-CN" altLang="en-US" b="1"/>
              <a:t>的</a:t>
            </a:r>
            <a:r>
              <a:rPr lang="en-US" altLang="zh-CN" b="1"/>
              <a:t>lab1_5_perspective_transform</a:t>
            </a:r>
            <a:r>
              <a:rPr lang="zh-CN" altLang="en-US" b="1"/>
              <a:t>分支</a:t>
            </a:r>
            <a:endParaRPr lang="zh-CN" altLang="en-US" b="1"/>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18389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灰度插值法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6" name="文本框 5"/>
          <p:cNvSpPr txBox="1"/>
          <p:nvPr/>
        </p:nvSpPr>
        <p:spPr>
          <a:xfrm>
            <a:off x="1562100" y="1972310"/>
            <a:ext cx="9295765" cy="2861310"/>
          </a:xfrm>
          <a:prstGeom prst="rect">
            <a:avLst/>
          </a:prstGeom>
          <a:noFill/>
        </p:spPr>
        <p:txBody>
          <a:bodyPr wrap="square" rtlCol="0" anchor="t">
            <a:spAutoFit/>
          </a:bodyPr>
          <a:p>
            <a:pPr eaLnBrk="1" hangingPunct="1"/>
            <a:r>
              <a:rPr lang="zh-CN" altLang="en-US" sz="2000" dirty="0">
                <a:latin typeface="微软雅黑" panose="020B0503020204020204" charset="-122"/>
                <a:ea typeface="微软雅黑" panose="020B0503020204020204" charset="-122"/>
                <a:cs typeface="微软雅黑" panose="020B0503020204020204" charset="-122"/>
                <a:sym typeface="+mn-ea"/>
              </a:rPr>
              <a:t>数字图像处理只能对坐标网格点（离散点）的值进行变换。</a:t>
            </a:r>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eaLnBrk="1" hangingPunct="1"/>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eaLnBrk="1" hangingPunct="1"/>
            <a:r>
              <a:rPr lang="zh-CN" altLang="en-US" sz="2000" dirty="0">
                <a:latin typeface="微软雅黑" panose="020B0503020204020204" charset="-122"/>
                <a:ea typeface="微软雅黑" panose="020B0503020204020204" charset="-122"/>
                <a:cs typeface="微软雅黑" panose="020B0503020204020204" charset="-122"/>
                <a:sym typeface="+mn-ea"/>
              </a:rPr>
              <a:t>对于变换后的图像，其</a:t>
            </a:r>
            <a:r>
              <a:rPr lang="zh-CN" altLang="en-US" sz="2000" dirty="0">
                <a:latin typeface="微软雅黑" panose="020B0503020204020204" charset="-122"/>
                <a:ea typeface="微软雅黑" panose="020B0503020204020204" charset="-122"/>
                <a:cs typeface="微软雅黑" panose="020B0503020204020204" charset="-122"/>
                <a:sym typeface="+mn-ea"/>
              </a:rPr>
              <a:t>逆向映射</a:t>
            </a:r>
            <a:r>
              <a:rPr lang="zh-CN" altLang="en-US" sz="2000" dirty="0">
                <a:latin typeface="微软雅黑" panose="020B0503020204020204" charset="-122"/>
                <a:ea typeface="微软雅黑" panose="020B0503020204020204" charset="-122"/>
                <a:cs typeface="微软雅黑" panose="020B0503020204020204" charset="-122"/>
                <a:sym typeface="+mn-ea"/>
              </a:rPr>
              <a:t>后产生的坐标值同原图网格点值往往不重合，因此需要通过内插的方法将非网格点的灰度值变换成网格点的灰度值，这种算法称为灰度内插。 </a:t>
            </a:r>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eaLnBrk="1" hangingPunct="1"/>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eaLnBrk="1" hangingPunct="1"/>
            <a:r>
              <a:rPr lang="zh-CN" altLang="en-US" sz="2000" dirty="0">
                <a:latin typeface="微软雅黑" panose="020B0503020204020204" charset="-122"/>
                <a:ea typeface="微软雅黑" panose="020B0503020204020204" charset="-122"/>
                <a:cs typeface="微软雅黑" panose="020B0503020204020204" charset="-122"/>
                <a:sym typeface="+mn-ea"/>
              </a:rPr>
              <a:t>主要有：最近邻插值，双线性插值，以及最强大的</a:t>
            </a:r>
            <a:r>
              <a:rPr lang="en-US" altLang="zh-CN" sz="2000" dirty="0">
                <a:latin typeface="微软雅黑" panose="020B0503020204020204" charset="-122"/>
                <a:ea typeface="微软雅黑" panose="020B0503020204020204" charset="-122"/>
                <a:cs typeface="微软雅黑" panose="020B0503020204020204" charset="-122"/>
                <a:sym typeface="+mn-ea"/>
              </a:rPr>
              <a:t>Lanczos</a:t>
            </a:r>
            <a:r>
              <a:rPr lang="zh-CN" altLang="en-US" sz="2000" dirty="0">
                <a:latin typeface="微软雅黑" panose="020B0503020204020204" charset="-122"/>
                <a:ea typeface="微软雅黑" panose="020B0503020204020204" charset="-122"/>
                <a:cs typeface="微软雅黑" panose="020B0503020204020204" charset="-122"/>
                <a:sym typeface="+mn-ea"/>
              </a:rPr>
              <a:t>插值算法（此处略过）</a:t>
            </a:r>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eaLnBrk="1" hangingPunct="1"/>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eaLnBrk="1" hangingPunct="1"/>
            <a:endParaRPr lang="zh-CN" altLang="en-US" sz="200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18389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灰度插值法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1247775" y="2023745"/>
            <a:ext cx="8343900" cy="2245360"/>
          </a:xfrm>
          <a:prstGeom prst="rect">
            <a:avLst/>
          </a:prstGeom>
          <a:noFill/>
        </p:spPr>
        <p:txBody>
          <a:bodyPr wrap="square" rtlCol="0" anchor="t">
            <a:spAutoFit/>
          </a:bodyPr>
          <a:p>
            <a:pPr eaLnBrk="1" hangingPunct="1">
              <a:spcBef>
                <a:spcPct val="50000"/>
              </a:spcBef>
            </a:pPr>
            <a:r>
              <a:rPr kumimoji="1" lang="en-US" altLang="zh-CN" sz="2400" b="1" u="sng" dirty="0">
                <a:solidFill>
                  <a:srgbClr val="D60093"/>
                </a:solidFill>
                <a:latin typeface="等线" panose="02010600030101010101" charset="-122"/>
                <a:ea typeface="等线" panose="02010600030101010101" charset="-122"/>
                <a:cs typeface="等线" panose="02010600030101010101" charset="-122"/>
                <a:sym typeface="+mn-ea"/>
              </a:rPr>
              <a:t>(1) </a:t>
            </a:r>
            <a:r>
              <a:rPr kumimoji="1" lang="zh-CN" altLang="en-US" sz="2400" b="1" u="sng" dirty="0">
                <a:solidFill>
                  <a:srgbClr val="D60093"/>
                </a:solidFill>
                <a:latin typeface="等线" panose="02010600030101010101" charset="-122"/>
                <a:ea typeface="等线" panose="02010600030101010101" charset="-122"/>
                <a:cs typeface="等线" panose="02010600030101010101" charset="-122"/>
                <a:sym typeface="+mn-ea"/>
              </a:rPr>
              <a:t>最近邻插值法：</a:t>
            </a:r>
            <a:r>
              <a:rPr kumimoji="1" lang="zh-CN" altLang="en-US" sz="2400" b="1" dirty="0">
                <a:latin typeface="等线" panose="02010600030101010101" charset="-122"/>
                <a:ea typeface="等线" panose="02010600030101010101" charset="-122"/>
                <a:cs typeface="等线" panose="02010600030101010101" charset="-122"/>
                <a:sym typeface="+mn-ea"/>
              </a:rPr>
              <a:t>也称作零阶插值，就是令变换后像素的灰度值等于距它最近的输入像素的灰度值。</a:t>
            </a:r>
            <a:r>
              <a:rPr kumimoji="1" lang="zh-CN" altLang="en-US" sz="2400" dirty="0">
                <a:latin typeface="等线" panose="02010600030101010101" charset="-122"/>
                <a:ea typeface="等线" panose="02010600030101010101" charset="-122"/>
                <a:cs typeface="等线" panose="02010600030101010101" charset="-122"/>
                <a:sym typeface="+mn-ea"/>
              </a:rPr>
              <a:t> </a:t>
            </a:r>
            <a:endParaRPr kumimoji="1" lang="zh-CN" altLang="en-US" sz="2400" dirty="0">
              <a:latin typeface="等线" panose="02010600030101010101" charset="-122"/>
              <a:ea typeface="等线" panose="02010600030101010101" charset="-122"/>
              <a:cs typeface="等线" panose="02010600030101010101" charset="-122"/>
            </a:endParaRPr>
          </a:p>
          <a:p>
            <a:pPr eaLnBrk="1" hangingPunct="1">
              <a:spcBef>
                <a:spcPct val="50000"/>
              </a:spcBef>
            </a:pPr>
            <a:r>
              <a:rPr kumimoji="1" lang="zh-CN" altLang="en-US" sz="2400" dirty="0">
                <a:latin typeface="等线" panose="02010600030101010101" charset="-122"/>
                <a:ea typeface="等线" panose="02010600030101010101" charset="-122"/>
                <a:cs typeface="等线" panose="02010600030101010101" charset="-122"/>
                <a:sym typeface="+mn-ea"/>
              </a:rPr>
              <a:t>    </a:t>
            </a:r>
            <a:r>
              <a:rPr kumimoji="1" lang="zh-CN" altLang="en-US" sz="2000" b="1" dirty="0">
                <a:solidFill>
                  <a:srgbClr val="0099CC"/>
                </a:solidFill>
                <a:latin typeface="等线" panose="02010600030101010101" charset="-122"/>
                <a:ea typeface="等线" panose="02010600030101010101" charset="-122"/>
                <a:cs typeface="等线" panose="02010600030101010101" charset="-122"/>
                <a:sym typeface="+mn-ea"/>
              </a:rPr>
              <a:t>特点：造成的空间偏移误差为     像素单位，计算简单。但当图像中的像素灰度级有细微变化时，该方法会在图像中产生人工的痕迹。</a:t>
            </a:r>
            <a:endParaRPr kumimoji="1" lang="zh-CN" altLang="en-US" sz="2000" b="1" dirty="0">
              <a:solidFill>
                <a:srgbClr val="0099CC"/>
              </a:solidFill>
              <a:latin typeface="等线" panose="02010600030101010101" charset="-122"/>
              <a:ea typeface="等线" panose="02010600030101010101" charset="-122"/>
              <a:cs typeface="等线" panose="02010600030101010101" charset="-122"/>
            </a:endParaRPr>
          </a:p>
          <a:p>
            <a:pPr eaLnBrk="1" hangingPunct="1">
              <a:spcBef>
                <a:spcPct val="50000"/>
              </a:spcBef>
            </a:pPr>
            <a:endParaRPr kumimoji="1" lang="zh-CN" altLang="en-US" sz="2400" dirty="0">
              <a:latin typeface="隶书" panose="02010509060101010101" pitchFamily="49" charset="-122"/>
              <a:ea typeface="隶书" panose="02010509060101010101" pitchFamily="49" charset="-122"/>
              <a:sym typeface="+mn-ea"/>
            </a:endParaRPr>
          </a:p>
        </p:txBody>
      </p:sp>
      <p:pic>
        <p:nvPicPr>
          <p:cNvPr id="58370" name="Picture 4"/>
          <p:cNvPicPr>
            <a:picLocks noChangeAspect="1" noChangeArrowheads="1"/>
          </p:cNvPicPr>
          <p:nvPr/>
        </p:nvPicPr>
        <p:blipFill>
          <a:blip r:embed="rId3">
            <a:extLst>
              <a:ext uri="{28A0092B-C50C-407E-A947-70E740481C1C}">
                <a14:useLocalDpi xmlns:a14="http://schemas.microsoft.com/office/drawing/2010/main" val="0"/>
              </a:ext>
            </a:extLst>
          </a:blip>
          <a:srcRect b="12097"/>
          <a:stretch>
            <a:fillRect/>
          </a:stretch>
        </p:blipFill>
        <p:spPr bwMode="auto">
          <a:xfrm>
            <a:off x="1375668" y="3743722"/>
            <a:ext cx="8364753" cy="287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637540" y="1270635"/>
            <a:ext cx="318389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灰度插值法</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1390650" y="1854200"/>
            <a:ext cx="8648065" cy="2338070"/>
          </a:xfrm>
          <a:prstGeom prst="rect">
            <a:avLst/>
          </a:prstGeom>
          <a:noFill/>
        </p:spPr>
        <p:txBody>
          <a:bodyPr wrap="square" rtlCol="0" anchor="t">
            <a:spAutoFit/>
          </a:bodyPr>
          <a:p>
            <a:pPr eaLnBrk="1" hangingPunct="1">
              <a:spcBef>
                <a:spcPct val="50000"/>
              </a:spcBef>
            </a:pPr>
            <a:r>
              <a:rPr kumimoji="1" lang="en-US" altLang="zh-CN" sz="2400" b="1" u="sng" dirty="0">
                <a:solidFill>
                  <a:srgbClr val="D60093"/>
                </a:solidFill>
                <a:latin typeface="等线" panose="02010600030101010101" charset="-122"/>
                <a:ea typeface="等线" panose="02010600030101010101" charset="-122"/>
                <a:cs typeface="等线" panose="02010600030101010101" charset="-122"/>
                <a:sym typeface="+mn-ea"/>
              </a:rPr>
              <a:t>(2)</a:t>
            </a:r>
            <a:r>
              <a:rPr kumimoji="1" lang="zh-CN" altLang="en-US" sz="2400" b="1" u="sng" dirty="0">
                <a:solidFill>
                  <a:srgbClr val="D60093"/>
                </a:solidFill>
                <a:latin typeface="等线" panose="02010600030101010101" charset="-122"/>
                <a:ea typeface="等线" panose="02010600030101010101" charset="-122"/>
                <a:cs typeface="等线" panose="02010600030101010101" charset="-122"/>
                <a:sym typeface="+mn-ea"/>
              </a:rPr>
              <a:t>双线性插值</a:t>
            </a:r>
            <a:r>
              <a:rPr kumimoji="1" lang="en-US" altLang="zh-CN" sz="2400" b="1" u="sng" dirty="0">
                <a:solidFill>
                  <a:srgbClr val="D60093"/>
                </a:solidFill>
                <a:latin typeface="等线" panose="02010600030101010101" charset="-122"/>
                <a:ea typeface="等线" panose="02010600030101010101" charset="-122"/>
                <a:cs typeface="等线" panose="02010600030101010101" charset="-122"/>
                <a:sym typeface="+mn-ea"/>
              </a:rPr>
              <a:t>: </a:t>
            </a:r>
            <a:r>
              <a:rPr kumimoji="1" lang="zh-CN" altLang="en-US" sz="2400" b="1" dirty="0">
                <a:latin typeface="等线" panose="02010600030101010101" charset="-122"/>
                <a:ea typeface="等线" panose="02010600030101010101" charset="-122"/>
                <a:cs typeface="等线" panose="02010600030101010101" charset="-122"/>
                <a:sym typeface="+mn-ea"/>
              </a:rPr>
              <a:t>也称作一阶插值</a:t>
            </a:r>
            <a:r>
              <a:rPr kumimoji="1" lang="en-US" altLang="zh-CN" sz="2400" b="1" dirty="0">
                <a:latin typeface="等线" panose="02010600030101010101" charset="-122"/>
                <a:ea typeface="等线" panose="02010600030101010101" charset="-122"/>
                <a:cs typeface="等线" panose="02010600030101010101" charset="-122"/>
                <a:sym typeface="+mn-ea"/>
              </a:rPr>
              <a:t>,</a:t>
            </a:r>
            <a:r>
              <a:rPr kumimoji="1" lang="zh-CN" altLang="en-US" sz="2400" b="1" dirty="0">
                <a:latin typeface="等线" panose="02010600030101010101" charset="-122"/>
                <a:ea typeface="等线" panose="02010600030101010101" charset="-122"/>
                <a:cs typeface="等线" panose="02010600030101010101" charset="-122"/>
                <a:sym typeface="+mn-ea"/>
              </a:rPr>
              <a:t>该方法通常是沿图像矩阵的每一列（行）进行插值，然后对插值后所得到的矩阵再沿着行（列）方向进行线性插值。</a:t>
            </a:r>
            <a:endParaRPr kumimoji="1" lang="zh-CN" altLang="en-US" sz="2400" b="1" dirty="0">
              <a:latin typeface="等线" panose="02010600030101010101" charset="-122"/>
              <a:ea typeface="等线" panose="02010600030101010101" charset="-122"/>
              <a:cs typeface="等线" panose="02010600030101010101" charset="-122"/>
            </a:endParaRPr>
          </a:p>
          <a:p>
            <a:pPr eaLnBrk="1" hangingPunct="1">
              <a:spcBef>
                <a:spcPct val="50000"/>
              </a:spcBef>
            </a:pPr>
            <a:r>
              <a:rPr kumimoji="1" lang="zh-CN" altLang="en-US" sz="2000" b="1" dirty="0">
                <a:solidFill>
                  <a:srgbClr val="0099CC"/>
                </a:solidFill>
                <a:latin typeface="等线" panose="02010600030101010101" charset="-122"/>
                <a:ea typeface="等线" panose="02010600030101010101" charset="-122"/>
                <a:cs typeface="等线" panose="02010600030101010101" charset="-122"/>
                <a:sym typeface="+mn-ea"/>
              </a:rPr>
              <a:t>     特点</a:t>
            </a:r>
            <a:r>
              <a:rPr kumimoji="1" lang="en-US" altLang="zh-CN" sz="2000" b="1" dirty="0">
                <a:solidFill>
                  <a:srgbClr val="0099CC"/>
                </a:solidFill>
                <a:latin typeface="等线" panose="02010600030101010101" charset="-122"/>
                <a:ea typeface="等线" panose="02010600030101010101" charset="-122"/>
                <a:cs typeface="等线" panose="02010600030101010101" charset="-122"/>
                <a:sym typeface="+mn-ea"/>
              </a:rPr>
              <a:t>:</a:t>
            </a:r>
            <a:r>
              <a:rPr kumimoji="1" lang="zh-CN" altLang="en-US" sz="2000" b="1" dirty="0">
                <a:solidFill>
                  <a:srgbClr val="0099CC"/>
                </a:solidFill>
                <a:latin typeface="等线" panose="02010600030101010101" charset="-122"/>
                <a:ea typeface="等线" panose="02010600030101010101" charset="-122"/>
                <a:cs typeface="等线" panose="02010600030101010101" charset="-122"/>
                <a:sym typeface="+mn-ea"/>
              </a:rPr>
              <a:t>当对相邻四个像素点采用双线性插值时，所得表面在邻域处是吻合的，但斜率不吻合。并且双线性灰度插值的平滑作用可能使得图像的细节产生退化，这种现象在进行图像放大时尤其明显。</a:t>
            </a:r>
            <a:r>
              <a:rPr kumimoji="1" lang="zh-CN" altLang="en-US" sz="2400" dirty="0">
                <a:latin typeface="隶书" panose="02010509060101010101" pitchFamily="49" charset="-122"/>
                <a:ea typeface="隶书" panose="02010509060101010101" pitchFamily="49" charset="-122"/>
                <a:sym typeface="+mn-ea"/>
              </a:rPr>
              <a:t> </a:t>
            </a:r>
            <a:endParaRPr kumimoji="1" lang="zh-CN" altLang="en-US" sz="2400" dirty="0">
              <a:latin typeface="隶书" panose="02010509060101010101" pitchFamily="49" charset="-122"/>
              <a:ea typeface="隶书" panose="02010509060101010101" pitchFamily="49" charset="-122"/>
              <a:sym typeface="+mn-ea"/>
            </a:endParaRPr>
          </a:p>
        </p:txBody>
      </p:sp>
      <p:pic>
        <p:nvPicPr>
          <p:cNvPr id="614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9770" y="3780155"/>
            <a:ext cx="4752975" cy="2715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lg"/>
              </a14:hiddenLine>
            </a:ext>
          </a:ex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06489" y="1720372"/>
            <a:ext cx="3117231" cy="52322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3701415" y="2689225"/>
            <a:ext cx="4706620" cy="2861310"/>
          </a:xfrm>
          <a:prstGeom prst="rect">
            <a:avLst/>
          </a:prstGeom>
          <a:noFill/>
        </p:spPr>
        <p:txBody>
          <a:bodyPr wrap="square" rtlCol="0">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marL="457200" lvl="1">
              <a:lnSpc>
                <a:spcPct val="150000"/>
              </a:lnSpc>
            </a:pPr>
            <a:r>
              <a:rPr lang="zh-CN" altLang="en-US" sz="2400" strike="sngStrike" dirty="0" smtClean="0">
                <a:solidFill>
                  <a:srgbClr val="065980"/>
                </a:solidFill>
                <a:latin typeface="微软雅黑" panose="020B0503020204020204" charset="-122"/>
                <a:ea typeface="微软雅黑" panose="020B0503020204020204" charset="-122"/>
              </a:rPr>
              <a:t>01、相机原理和变换矩阵</a:t>
            </a:r>
            <a:endParaRPr lang="zh-CN" altLang="en-US" sz="2400" strike="sngStrike"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FF0000"/>
                </a:solidFill>
                <a:latin typeface="微软雅黑" panose="020B0503020204020204" charset="-122"/>
                <a:ea typeface="微软雅黑" panose="020B0503020204020204" charset="-122"/>
              </a:rPr>
              <a:t>02</a:t>
            </a:r>
            <a:r>
              <a:rPr lang="zh-CN" altLang="en-US" sz="2400" i="1" dirty="0" smtClean="0">
                <a:solidFill>
                  <a:srgbClr val="FF0000"/>
                </a:solidFill>
                <a:latin typeface="微软雅黑" panose="020B0503020204020204" charset="-122"/>
                <a:ea typeface="微软雅黑" panose="020B0503020204020204" charset="-122"/>
              </a:rPr>
              <a:t>、</a:t>
            </a:r>
            <a:r>
              <a:rPr lang="zh-CN" altLang="en-US" sz="2400" dirty="0" smtClean="0">
                <a:solidFill>
                  <a:srgbClr val="FF0000"/>
                </a:solidFill>
                <a:latin typeface="微软雅黑" panose="020B0503020204020204" charset="-122"/>
                <a:ea typeface="微软雅黑" panose="020B0503020204020204" charset="-122"/>
              </a:rPr>
              <a:t>图像原理和</a:t>
            </a:r>
            <a:r>
              <a:rPr lang="en-US" altLang="zh-CN" sz="2400" dirty="0" smtClean="0">
                <a:solidFill>
                  <a:srgbClr val="FF0000"/>
                </a:solidFill>
                <a:latin typeface="微软雅黑" panose="020B0503020204020204" charset="-122"/>
                <a:ea typeface="微软雅黑" panose="020B0503020204020204" charset="-122"/>
              </a:rPr>
              <a:t>OpenCV</a:t>
            </a:r>
            <a:r>
              <a:rPr lang="zh-CN" altLang="en-US" sz="2400" dirty="0" smtClean="0">
                <a:solidFill>
                  <a:srgbClr val="FF0000"/>
                </a:solidFill>
                <a:latin typeface="微软雅黑" panose="020B0503020204020204" charset="-122"/>
                <a:ea typeface="微软雅黑" panose="020B0503020204020204" charset="-122"/>
              </a:rPr>
              <a:t>基础</a:t>
            </a:r>
            <a:endParaRPr lang="zh-CN" altLang="en-US" sz="2400" dirty="0" smtClean="0">
              <a:solidFill>
                <a:srgbClr val="065980"/>
              </a:solidFill>
              <a:latin typeface="微软雅黑" panose="020B0503020204020204" charset="-122"/>
              <a:ea typeface="微软雅黑" panose="020B0503020204020204" charset="-122"/>
            </a:endParaRPr>
          </a:p>
          <a:p>
            <a:pPr marL="457200" lvl="1" indent="457200">
              <a:lnSpc>
                <a:spcPct val="150000"/>
              </a:lnSpc>
            </a:pPr>
            <a:r>
              <a:rPr lang="en-US" altLang="zh-CN" sz="2400" dirty="0" smtClean="0">
                <a:solidFill>
                  <a:srgbClr val="FF0000"/>
                </a:solidFill>
                <a:latin typeface="微软雅黑" panose="020B0503020204020204" charset="-122"/>
                <a:ea typeface="微软雅黑" panose="020B0503020204020204" charset="-122"/>
              </a:rPr>
              <a:t>→</a:t>
            </a:r>
            <a:r>
              <a:rPr lang="zh-CN" altLang="en-US" sz="2400" dirty="0" smtClean="0">
                <a:solidFill>
                  <a:srgbClr val="FF0000"/>
                </a:solidFill>
                <a:latin typeface="微软雅黑" panose="020B0503020204020204" charset="-122"/>
                <a:ea typeface="微软雅黑" panose="020B0503020204020204" charset="-122"/>
              </a:rPr>
              <a:t>简单视觉工程</a:t>
            </a:r>
            <a:endParaRPr lang="en-US" altLang="zh-CN" sz="2400" dirty="0" smtClean="0">
              <a:solidFill>
                <a:srgbClr val="FF000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03</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深度学习和目标检测</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04</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视觉</a:t>
            </a:r>
            <a:r>
              <a:rPr lang="en-US" altLang="zh-CN" sz="2400" i="1" dirty="0" smtClean="0">
                <a:solidFill>
                  <a:srgbClr val="065980"/>
                </a:solidFill>
                <a:latin typeface="微软雅黑" panose="020B0503020204020204" charset="-122"/>
                <a:ea typeface="微软雅黑" panose="020B0503020204020204" charset="-122"/>
                <a:sym typeface="+mn-ea"/>
              </a:rPr>
              <a:t> + ROS</a:t>
            </a:r>
            <a:endParaRPr lang="en-US" altLang="zh-CN" sz="2400" i="1" dirty="0" smtClean="0">
              <a:solidFill>
                <a:srgbClr val="065980"/>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计算机视觉工程的目的</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562100" y="2030095"/>
            <a:ext cx="7267575" cy="368300"/>
          </a:xfrm>
          <a:prstGeom prst="rect">
            <a:avLst/>
          </a:prstGeom>
          <a:noFill/>
        </p:spPr>
        <p:txBody>
          <a:bodyPr wrap="square" rtlCol="0">
            <a:spAutoFit/>
          </a:bodyPr>
          <a:p>
            <a:r>
              <a:rPr lang="zh-CN" altLang="en-US"/>
              <a:t>当我们说要做</a:t>
            </a:r>
            <a:r>
              <a:rPr lang="en-US" altLang="zh-CN"/>
              <a:t>“</a:t>
            </a:r>
            <a:r>
              <a:rPr lang="zh-CN" altLang="en-US"/>
              <a:t>计算机视觉工程</a:t>
            </a:r>
            <a:r>
              <a:rPr lang="en-US" altLang="zh-CN"/>
              <a:t>”</a:t>
            </a:r>
            <a:r>
              <a:rPr lang="zh-CN" altLang="en-US"/>
              <a:t>时，我们到底要做什么？</a:t>
            </a:r>
            <a:endParaRPr lang="zh-CN" altLang="en-US"/>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计算机视觉工程的目的</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685165" y="1980565"/>
            <a:ext cx="7267575" cy="368300"/>
          </a:xfrm>
          <a:prstGeom prst="rect">
            <a:avLst/>
          </a:prstGeom>
          <a:noFill/>
        </p:spPr>
        <p:txBody>
          <a:bodyPr wrap="square" rtlCol="0">
            <a:spAutoFit/>
          </a:bodyPr>
          <a:p>
            <a:r>
              <a:rPr lang="zh-CN" altLang="en-US"/>
              <a:t>当我们说要做</a:t>
            </a:r>
            <a:r>
              <a:rPr lang="en-US" altLang="zh-CN"/>
              <a:t>“</a:t>
            </a:r>
            <a:r>
              <a:rPr lang="zh-CN" altLang="en-US"/>
              <a:t>计算机视觉工程</a:t>
            </a:r>
            <a:r>
              <a:rPr lang="en-US" altLang="zh-CN"/>
              <a:t>”</a:t>
            </a:r>
            <a:r>
              <a:rPr lang="zh-CN" altLang="en-US"/>
              <a:t>时，我们到底要做什么？</a:t>
            </a:r>
            <a:endParaRPr lang="zh-CN" altLang="en-US"/>
          </a:p>
        </p:txBody>
      </p:sp>
      <p:sp>
        <p:nvSpPr>
          <p:cNvPr id="7" name="文本框 6"/>
          <p:cNvSpPr txBox="1"/>
          <p:nvPr/>
        </p:nvSpPr>
        <p:spPr>
          <a:xfrm>
            <a:off x="847725" y="2348865"/>
            <a:ext cx="5162550" cy="645160"/>
          </a:xfrm>
          <a:prstGeom prst="rect">
            <a:avLst/>
          </a:prstGeom>
          <a:noFill/>
        </p:spPr>
        <p:txBody>
          <a:bodyPr wrap="square" rtlCol="0">
            <a:spAutoFit/>
          </a:bodyPr>
          <a:p>
            <a:r>
              <a:rPr lang="zh-CN" altLang="en-US" b="1"/>
              <a:t>目标检测与识别</a:t>
            </a:r>
            <a:r>
              <a:rPr lang="en-US" altLang="zh-CN"/>
              <a:t>:</a:t>
            </a:r>
            <a:endParaRPr lang="en-US" altLang="zh-CN"/>
          </a:p>
          <a:p>
            <a:endParaRPr lang="en-US" altLang="zh-CN"/>
          </a:p>
        </p:txBody>
      </p:sp>
      <p:pic>
        <p:nvPicPr>
          <p:cNvPr id="11" name="图片 10" descr="ed_ellipse_canny"/>
          <p:cNvPicPr>
            <a:picLocks noChangeAspect="1"/>
          </p:cNvPicPr>
          <p:nvPr/>
        </p:nvPicPr>
        <p:blipFill>
          <a:blip r:embed="rId3"/>
          <a:stretch>
            <a:fillRect/>
          </a:stretch>
        </p:blipFill>
        <p:spPr>
          <a:xfrm>
            <a:off x="342900" y="3243580"/>
            <a:ext cx="3799840" cy="2849880"/>
          </a:xfrm>
          <a:prstGeom prst="rect">
            <a:avLst/>
          </a:prstGeom>
        </p:spPr>
      </p:pic>
      <p:pic>
        <p:nvPicPr>
          <p:cNvPr id="12" name="图片 11" descr="ed_ellipse_detected"/>
          <p:cNvPicPr>
            <a:picLocks noChangeAspect="1"/>
          </p:cNvPicPr>
          <p:nvPr/>
        </p:nvPicPr>
        <p:blipFill>
          <a:blip r:embed="rId4"/>
          <a:stretch>
            <a:fillRect/>
          </a:stretch>
        </p:blipFill>
        <p:spPr>
          <a:xfrm>
            <a:off x="7952740" y="3238500"/>
            <a:ext cx="3780155" cy="2835910"/>
          </a:xfrm>
          <a:prstGeom prst="rect">
            <a:avLst/>
          </a:prstGeom>
        </p:spPr>
      </p:pic>
      <p:pic>
        <p:nvPicPr>
          <p:cNvPr id="13" name="图片 12" descr="ed_ellipse_edges"/>
          <p:cNvPicPr>
            <a:picLocks noChangeAspect="1"/>
          </p:cNvPicPr>
          <p:nvPr/>
        </p:nvPicPr>
        <p:blipFill>
          <a:blip r:embed="rId5"/>
          <a:stretch>
            <a:fillRect/>
          </a:stretch>
        </p:blipFill>
        <p:spPr>
          <a:xfrm>
            <a:off x="4158615" y="3238500"/>
            <a:ext cx="3777615" cy="2833370"/>
          </a:xfrm>
          <a:prstGeom prst="rect">
            <a:avLst/>
          </a:prstGeom>
        </p:spPr>
      </p:pic>
      <p:pic>
        <p:nvPicPr>
          <p:cNvPr id="10" name="图片 9"/>
          <p:cNvPicPr>
            <a:picLocks noChangeAspect="1"/>
          </p:cNvPicPr>
          <p:nvPr/>
        </p:nvPicPr>
        <p:blipFill>
          <a:blip r:embed="rId6"/>
          <a:stretch>
            <a:fillRect/>
          </a:stretch>
        </p:blipFill>
        <p:spPr>
          <a:xfrm>
            <a:off x="8160385" y="149860"/>
            <a:ext cx="3572510" cy="2844165"/>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计算机视觉工程的目的</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685165" y="1980565"/>
            <a:ext cx="7267575" cy="645160"/>
          </a:xfrm>
          <a:prstGeom prst="rect">
            <a:avLst/>
          </a:prstGeom>
          <a:noFill/>
        </p:spPr>
        <p:txBody>
          <a:bodyPr wrap="square" rtlCol="0">
            <a:spAutoFit/>
          </a:bodyPr>
          <a:p>
            <a:r>
              <a:rPr lang="zh-CN" altLang="en-US"/>
              <a:t>当我们说要做</a:t>
            </a:r>
            <a:r>
              <a:rPr lang="en-US" altLang="zh-CN"/>
              <a:t>“</a:t>
            </a:r>
            <a:r>
              <a:rPr lang="zh-CN" altLang="en-US"/>
              <a:t>计算机视觉工程</a:t>
            </a:r>
            <a:r>
              <a:rPr lang="en-US" altLang="zh-CN"/>
              <a:t>”</a:t>
            </a:r>
            <a:r>
              <a:rPr lang="zh-CN" altLang="en-US"/>
              <a:t>时，</a:t>
            </a:r>
            <a:endParaRPr lang="zh-CN" altLang="en-US"/>
          </a:p>
          <a:p>
            <a:r>
              <a:rPr lang="zh-CN" altLang="en-US"/>
              <a:t>我们到底要做什么？</a:t>
            </a:r>
            <a:endParaRPr lang="zh-CN" altLang="en-US"/>
          </a:p>
        </p:txBody>
      </p:sp>
      <p:sp>
        <p:nvSpPr>
          <p:cNvPr id="7" name="文本框 6"/>
          <p:cNvSpPr txBox="1"/>
          <p:nvPr/>
        </p:nvSpPr>
        <p:spPr>
          <a:xfrm>
            <a:off x="685165" y="2705735"/>
            <a:ext cx="5162550" cy="645160"/>
          </a:xfrm>
          <a:prstGeom prst="rect">
            <a:avLst/>
          </a:prstGeom>
          <a:noFill/>
        </p:spPr>
        <p:txBody>
          <a:bodyPr wrap="square" rtlCol="0">
            <a:spAutoFit/>
          </a:bodyPr>
          <a:p>
            <a:r>
              <a:rPr lang="zh-CN" altLang="en-US" b="1"/>
              <a:t>特征拟合与修正</a:t>
            </a:r>
            <a:r>
              <a:rPr lang="en-US" altLang="zh-CN"/>
              <a:t>:</a:t>
            </a:r>
            <a:endParaRPr lang="en-US" altLang="zh-CN"/>
          </a:p>
          <a:p>
            <a:endParaRPr lang="en-US" altLang="zh-CN"/>
          </a:p>
        </p:txBody>
      </p:sp>
      <p:pic>
        <p:nvPicPr>
          <p:cNvPr id="16" name="图片 15"/>
          <p:cNvPicPr/>
          <p:nvPr/>
        </p:nvPicPr>
        <p:blipFill>
          <a:blip r:embed="rId3"/>
          <a:stretch>
            <a:fillRect/>
          </a:stretch>
        </p:blipFill>
        <p:spPr>
          <a:xfrm>
            <a:off x="347345" y="3430905"/>
            <a:ext cx="4344035" cy="2743835"/>
          </a:xfrm>
          <a:prstGeom prst="rect">
            <a:avLst/>
          </a:prstGeom>
        </p:spPr>
      </p:pic>
      <p:pic>
        <p:nvPicPr>
          <p:cNvPr id="17" name="图片 16"/>
          <p:cNvPicPr/>
          <p:nvPr/>
        </p:nvPicPr>
        <p:blipFill>
          <a:blip r:embed="rId4"/>
          <a:stretch>
            <a:fillRect/>
          </a:stretch>
        </p:blipFill>
        <p:spPr>
          <a:xfrm>
            <a:off x="5076190" y="3383280"/>
            <a:ext cx="6877685" cy="2916555"/>
          </a:xfrm>
          <a:prstGeom prst="rect">
            <a:avLst/>
          </a:prstGeom>
        </p:spPr>
      </p:pic>
      <p:pic>
        <p:nvPicPr>
          <p:cNvPr id="18" name="图片 17"/>
          <p:cNvPicPr/>
          <p:nvPr/>
        </p:nvPicPr>
        <p:blipFill>
          <a:blip r:embed="rId5"/>
          <a:stretch>
            <a:fillRect/>
          </a:stretch>
        </p:blipFill>
        <p:spPr>
          <a:xfrm>
            <a:off x="5815965" y="389890"/>
            <a:ext cx="5986780" cy="260477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计算机视觉工程的目的</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489585" y="1963420"/>
            <a:ext cx="7267575" cy="368300"/>
          </a:xfrm>
          <a:prstGeom prst="rect">
            <a:avLst/>
          </a:prstGeom>
          <a:noFill/>
        </p:spPr>
        <p:txBody>
          <a:bodyPr wrap="square" rtlCol="0">
            <a:spAutoFit/>
          </a:bodyPr>
          <a:p>
            <a:r>
              <a:rPr lang="zh-CN" altLang="en-US"/>
              <a:t>当我们说要做</a:t>
            </a:r>
            <a:r>
              <a:rPr lang="en-US" altLang="zh-CN"/>
              <a:t>“</a:t>
            </a:r>
            <a:r>
              <a:rPr lang="zh-CN" altLang="en-US"/>
              <a:t>计算机视觉工程</a:t>
            </a:r>
            <a:r>
              <a:rPr lang="en-US" altLang="zh-CN"/>
              <a:t>”</a:t>
            </a:r>
            <a:r>
              <a:rPr lang="zh-CN" altLang="en-US"/>
              <a:t>时，我们到底要做什么？</a:t>
            </a:r>
            <a:endParaRPr lang="zh-CN" altLang="en-US"/>
          </a:p>
        </p:txBody>
      </p:sp>
      <p:sp>
        <p:nvSpPr>
          <p:cNvPr id="7" name="文本框 6"/>
          <p:cNvSpPr txBox="1"/>
          <p:nvPr/>
        </p:nvSpPr>
        <p:spPr>
          <a:xfrm>
            <a:off x="800100" y="2534920"/>
            <a:ext cx="5162550" cy="922020"/>
          </a:xfrm>
          <a:prstGeom prst="rect">
            <a:avLst/>
          </a:prstGeom>
          <a:noFill/>
        </p:spPr>
        <p:txBody>
          <a:bodyPr wrap="square" rtlCol="0">
            <a:spAutoFit/>
          </a:bodyPr>
          <a:p>
            <a:r>
              <a:rPr lang="zh-CN" altLang="en-US" b="1"/>
              <a:t>基于检测</a:t>
            </a:r>
            <a:r>
              <a:rPr lang="en-US" altLang="zh-CN" b="1"/>
              <a:t>/</a:t>
            </a:r>
            <a:r>
              <a:rPr lang="zh-CN" altLang="en-US" b="1"/>
              <a:t>识别进一步指导设备的行为</a:t>
            </a:r>
            <a:r>
              <a:rPr lang="en-US" altLang="zh-CN" b="1"/>
              <a:t>(</a:t>
            </a:r>
            <a:r>
              <a:rPr lang="zh-CN" altLang="en-US" b="1"/>
              <a:t>例如解算位姿</a:t>
            </a:r>
            <a:r>
              <a:rPr lang="en-US" altLang="zh-CN" b="1"/>
              <a:t>)</a:t>
            </a:r>
            <a:r>
              <a:rPr lang="en-US" altLang="zh-CN"/>
              <a:t>:</a:t>
            </a:r>
            <a:endParaRPr lang="en-US" altLang="zh-CN"/>
          </a:p>
          <a:p>
            <a:endParaRPr lang="en-US" altLang="zh-CN"/>
          </a:p>
        </p:txBody>
      </p:sp>
      <p:pic>
        <p:nvPicPr>
          <p:cNvPr id="11" name="图片 10"/>
          <p:cNvPicPr/>
          <p:nvPr/>
        </p:nvPicPr>
        <p:blipFill>
          <a:blip r:embed="rId3"/>
          <a:stretch>
            <a:fillRect/>
          </a:stretch>
        </p:blipFill>
        <p:spPr>
          <a:xfrm>
            <a:off x="5854700" y="3456940"/>
            <a:ext cx="5283200" cy="2984500"/>
          </a:xfrm>
          <a:prstGeom prst="rect">
            <a:avLst/>
          </a:prstGeom>
        </p:spPr>
      </p:pic>
      <p:pic>
        <p:nvPicPr>
          <p:cNvPr id="12" name="图片 11"/>
          <p:cNvPicPr/>
          <p:nvPr/>
        </p:nvPicPr>
        <p:blipFill>
          <a:blip r:embed="rId4"/>
          <a:stretch>
            <a:fillRect/>
          </a:stretch>
        </p:blipFill>
        <p:spPr>
          <a:xfrm>
            <a:off x="489585" y="3495040"/>
            <a:ext cx="5283200" cy="2768600"/>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计算机视觉工程的目的</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562100" y="2030095"/>
            <a:ext cx="9334500" cy="922020"/>
          </a:xfrm>
          <a:prstGeom prst="rect">
            <a:avLst/>
          </a:prstGeom>
          <a:noFill/>
        </p:spPr>
        <p:txBody>
          <a:bodyPr wrap="square" rtlCol="0">
            <a:spAutoFit/>
          </a:bodyPr>
          <a:p>
            <a:r>
              <a:rPr lang="zh-CN"/>
              <a:t>我们所关心的东西是：现在图像上面有部分我感兴趣的区域</a:t>
            </a:r>
            <a:r>
              <a:rPr lang="en-US" altLang="zh-CN" b="1"/>
              <a:t>(ROI)</a:t>
            </a:r>
            <a:r>
              <a:rPr lang="zh-CN"/>
              <a:t>，这个区域我可能要识别是什么东西。因此，我需要将灰度图或者彩色图化为二值图，这里白色的部分就是我更需要的部分。</a:t>
            </a:r>
            <a:endParaRPr lang="zh-CN"/>
          </a:p>
        </p:txBody>
      </p:sp>
      <p:sp>
        <p:nvSpPr>
          <p:cNvPr id="7" name="文本框 6"/>
          <p:cNvSpPr txBox="1"/>
          <p:nvPr/>
        </p:nvSpPr>
        <p:spPr>
          <a:xfrm>
            <a:off x="1933575" y="2536190"/>
            <a:ext cx="5162550" cy="645160"/>
          </a:xfrm>
          <a:prstGeom prst="rect">
            <a:avLst/>
          </a:prstGeom>
          <a:noFill/>
        </p:spPr>
        <p:txBody>
          <a:bodyPr wrap="square" rtlCol="0">
            <a:spAutoFit/>
          </a:bodyPr>
          <a:p>
            <a:r>
              <a:rPr lang="en-US" altLang="zh-CN"/>
              <a:t>:</a:t>
            </a:r>
            <a:endParaRPr lang="en-US" altLang="zh-CN"/>
          </a:p>
          <a:p>
            <a:endParaRPr lang="en-US" altLang="zh-CN"/>
          </a:p>
        </p:txBody>
      </p:sp>
      <p:sp>
        <p:nvSpPr>
          <p:cNvPr id="9" name="文本框 8"/>
          <p:cNvSpPr txBox="1"/>
          <p:nvPr/>
        </p:nvSpPr>
        <p:spPr>
          <a:xfrm>
            <a:off x="1619250" y="3574415"/>
            <a:ext cx="5923915" cy="368300"/>
          </a:xfrm>
          <a:prstGeom prst="rect">
            <a:avLst/>
          </a:prstGeom>
          <a:noFill/>
        </p:spPr>
        <p:txBody>
          <a:bodyPr wrap="square" rtlCol="0">
            <a:spAutoFit/>
          </a:bodyPr>
          <a:p>
            <a:r>
              <a:rPr lang="zh-CN" altLang="en-US"/>
              <a:t>我们要如何获取</a:t>
            </a:r>
            <a:r>
              <a:rPr lang="en-US" altLang="zh-CN"/>
              <a:t>ROI</a:t>
            </a:r>
            <a:r>
              <a:rPr lang="zh-CN" altLang="en-US"/>
              <a:t>，将灰度图</a:t>
            </a:r>
            <a:r>
              <a:rPr lang="en-US" altLang="zh-CN"/>
              <a:t>/</a:t>
            </a:r>
            <a:r>
              <a:rPr lang="zh-CN" altLang="en-US"/>
              <a:t>彩色图进行二值化？</a:t>
            </a:r>
            <a:endParaRPr lang="zh-CN" altLang="en-US"/>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极速视觉</a:t>
            </a:r>
            <a:r>
              <a:rPr lang="en-US" altLang="zh-CN" sz="3200" b="1" dirty="0" smtClean="0">
                <a:solidFill>
                  <a:schemeClr val="bg1"/>
                </a:solidFill>
                <a:latin typeface="微软雅黑" panose="020B0503020204020204" charset="-122"/>
                <a:ea typeface="微软雅黑" panose="020B0503020204020204" charset="-122"/>
              </a:rPr>
              <a:t>: </a:t>
            </a:r>
            <a:r>
              <a:rPr lang="zh-CN" altLang="en-US" sz="3200" b="1" dirty="0" smtClean="0">
                <a:solidFill>
                  <a:schemeClr val="bg1"/>
                </a:solidFill>
                <a:latin typeface="微软雅黑" panose="020B0503020204020204" charset="-122"/>
                <a:ea typeface="微软雅黑" panose="020B0503020204020204" charset="-122"/>
              </a:rPr>
              <a:t>阈值分割</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800100" y="1892300"/>
            <a:ext cx="5923915" cy="368300"/>
          </a:xfrm>
          <a:prstGeom prst="rect">
            <a:avLst/>
          </a:prstGeom>
          <a:noFill/>
        </p:spPr>
        <p:txBody>
          <a:bodyPr wrap="square" rtlCol="0">
            <a:spAutoFit/>
          </a:bodyPr>
          <a:p>
            <a:r>
              <a:rPr lang="zh-CN" b="1"/>
              <a:t>现在，我们特别关注颜色特征，因此选择阈值分割</a:t>
            </a:r>
            <a:endParaRPr lang="zh-CN" b="1"/>
          </a:p>
        </p:txBody>
      </p:sp>
      <p:sp>
        <p:nvSpPr>
          <p:cNvPr id="10" name="文本框 9"/>
          <p:cNvSpPr txBox="1"/>
          <p:nvPr/>
        </p:nvSpPr>
        <p:spPr>
          <a:xfrm>
            <a:off x="1276350" y="2342515"/>
            <a:ext cx="8219440" cy="1198880"/>
          </a:xfrm>
          <a:prstGeom prst="rect">
            <a:avLst/>
          </a:prstGeom>
          <a:noFill/>
        </p:spPr>
        <p:txBody>
          <a:bodyPr wrap="square" rtlCol="0" anchor="t">
            <a:spAutoFit/>
          </a:bodyPr>
          <a:p>
            <a:pPr algn="just" eaLnBrk="1" hangingPunct="1">
              <a:lnSpc>
                <a:spcPct val="120000"/>
              </a:lnSpc>
            </a:pPr>
            <a:r>
              <a:rPr kumimoji="1" lang="zh-CN" altLang="en-US" sz="2000" b="1" dirty="0">
                <a:solidFill>
                  <a:srgbClr val="3366CC"/>
                </a:solidFill>
                <a:latin typeface="Times New Roman" panose="02020603050405020304" pitchFamily="18" charset="0"/>
                <a:ea typeface="宋体" panose="02010600030101010101" pitchFamily="2" charset="-122"/>
                <a:sym typeface="+mn-ea"/>
              </a:rPr>
              <a:t>取阈值是一种广泛使用的图像分割技术，通过对灰度取阈值后得到的图像，各个区域可以分离开，但要将</a:t>
            </a:r>
            <a:r>
              <a:rPr kumimoji="1" lang="zh-CN" altLang="en-US" sz="2000" b="1" dirty="0" smtClean="0">
                <a:solidFill>
                  <a:srgbClr val="3366CC"/>
                </a:solidFill>
                <a:latin typeface="Times New Roman" panose="02020603050405020304" pitchFamily="18" charset="0"/>
                <a:ea typeface="宋体" panose="02010600030101010101" pitchFamily="2" charset="-122"/>
                <a:sym typeface="+mn-ea"/>
              </a:rPr>
              <a:t>目标</a:t>
            </a:r>
            <a:r>
              <a:rPr kumimoji="1" lang="zh-CN" altLang="en-US" sz="2000" b="1" dirty="0">
                <a:solidFill>
                  <a:srgbClr val="3366CC"/>
                </a:solidFill>
                <a:latin typeface="Times New Roman" panose="02020603050405020304" pitchFamily="18" charset="0"/>
                <a:ea typeface="宋体" panose="02010600030101010101" pitchFamily="2" charset="-122"/>
                <a:sym typeface="+mn-ea"/>
              </a:rPr>
              <a:t>分别</a:t>
            </a:r>
            <a:r>
              <a:rPr kumimoji="1" lang="zh-CN" altLang="en-US" sz="2000" b="1" dirty="0" smtClean="0">
                <a:solidFill>
                  <a:srgbClr val="3366CC"/>
                </a:solidFill>
                <a:latin typeface="Times New Roman" panose="02020603050405020304" pitchFamily="18" charset="0"/>
                <a:ea typeface="宋体" panose="02010600030101010101" pitchFamily="2" charset="-122"/>
                <a:sym typeface="+mn-ea"/>
              </a:rPr>
              <a:t>提取</a:t>
            </a:r>
            <a:r>
              <a:rPr kumimoji="1" lang="zh-CN" altLang="en-US" sz="2000" b="1" dirty="0">
                <a:solidFill>
                  <a:srgbClr val="3366CC"/>
                </a:solidFill>
                <a:latin typeface="Times New Roman" panose="02020603050405020304" pitchFamily="18" charset="0"/>
                <a:ea typeface="宋体" panose="02010600030101010101" pitchFamily="2" charset="-122"/>
                <a:sym typeface="+mn-ea"/>
              </a:rPr>
              <a:t>出来，还需要将各区域识别标记。</a:t>
            </a:r>
            <a:endParaRPr kumimoji="1" lang="zh-CN" altLang="en-US" sz="2000" b="1" dirty="0">
              <a:solidFill>
                <a:srgbClr val="3366CC"/>
              </a:solidFill>
              <a:latin typeface="Times New Roman" panose="02020603050405020304" pitchFamily="18" charset="0"/>
              <a:ea typeface="宋体" panose="02010600030101010101" pitchFamily="2" charset="-122"/>
              <a:sym typeface="+mn-ea"/>
            </a:endParaRPr>
          </a:p>
        </p:txBody>
      </p:sp>
      <p:pic>
        <p:nvPicPr>
          <p:cNvPr id="11" name="图片 10"/>
          <p:cNvPicPr>
            <a:picLocks noChangeAspect="1"/>
          </p:cNvPicPr>
          <p:nvPr/>
        </p:nvPicPr>
        <p:blipFill>
          <a:blip r:embed="rId3"/>
          <a:stretch>
            <a:fillRect/>
          </a:stretch>
        </p:blipFill>
        <p:spPr>
          <a:xfrm>
            <a:off x="3975026" y="3316487"/>
            <a:ext cx="7128792" cy="3168352"/>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44170" y="1066800"/>
            <a:ext cx="2926080" cy="922655"/>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极速视觉</a:t>
            </a:r>
            <a:r>
              <a:rPr lang="en-US" altLang="zh-CN" sz="3200" b="1" dirty="0" smtClean="0">
                <a:solidFill>
                  <a:schemeClr val="bg1"/>
                </a:solidFill>
                <a:latin typeface="微软雅黑" panose="020B0503020204020204" charset="-122"/>
                <a:ea typeface="微软雅黑" panose="020B0503020204020204" charset="-122"/>
              </a:rPr>
              <a:t>: </a:t>
            </a:r>
            <a:endParaRPr lang="en-US" altLang="zh-CN" sz="3200" b="1" dirty="0" smtClean="0">
              <a:solidFill>
                <a:schemeClr val="bg1"/>
              </a:solidFill>
              <a:latin typeface="微软雅黑" panose="020B0503020204020204" charset="-122"/>
              <a:ea typeface="微软雅黑" panose="020B0503020204020204" charset="-122"/>
            </a:endParaRPr>
          </a:p>
          <a:p>
            <a:pPr algn="ctr"/>
            <a:r>
              <a:rPr lang="zh-CN" altLang="en-US" sz="3200" b="1" dirty="0" smtClean="0">
                <a:solidFill>
                  <a:schemeClr val="bg1"/>
                </a:solidFill>
                <a:latin typeface="微软雅黑" panose="020B0503020204020204" charset="-122"/>
                <a:ea typeface="微软雅黑" panose="020B0503020204020204" charset="-122"/>
              </a:rPr>
              <a:t>边缘提取</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238125" y="2319020"/>
            <a:ext cx="3408045" cy="645160"/>
          </a:xfrm>
          <a:prstGeom prst="rect">
            <a:avLst/>
          </a:prstGeom>
          <a:noFill/>
        </p:spPr>
        <p:txBody>
          <a:bodyPr wrap="square" rtlCol="0">
            <a:spAutoFit/>
          </a:bodyPr>
          <a:p>
            <a:r>
              <a:rPr lang="zh-CN" b="1"/>
              <a:t>现在，我们特别关注边缘特征，</a:t>
            </a:r>
            <a:endParaRPr lang="zh-CN" b="1"/>
          </a:p>
          <a:p>
            <a:r>
              <a:rPr lang="zh-CN" b="1"/>
              <a:t>因此选择边缘提取</a:t>
            </a:r>
            <a:endParaRPr lang="zh-CN" b="1"/>
          </a:p>
        </p:txBody>
      </p:sp>
      <p:grpSp>
        <p:nvGrpSpPr>
          <p:cNvPr id="7" name="Group 4"/>
          <p:cNvGrpSpPr/>
          <p:nvPr/>
        </p:nvGrpSpPr>
        <p:grpSpPr bwMode="auto">
          <a:xfrm>
            <a:off x="9285288" y="3686177"/>
            <a:ext cx="2697162" cy="3098801"/>
            <a:chOff x="4135" y="2415"/>
            <a:chExt cx="1699" cy="1952"/>
          </a:xfrm>
        </p:grpSpPr>
        <p:pic>
          <p:nvPicPr>
            <p:cNvPr id="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5" y="2415"/>
              <a:ext cx="1699" cy="1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6"/>
            <p:cNvSpPr>
              <a:spLocks noChangeArrowheads="1"/>
            </p:cNvSpPr>
            <p:nvPr/>
          </p:nvSpPr>
          <p:spPr bwMode="auto">
            <a:xfrm>
              <a:off x="4743" y="4076"/>
              <a:ext cx="6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a:r>
                <a:rPr lang="en-US" altLang="zh-CN" sz="2400" dirty="0" smtClean="0">
                  <a:solidFill>
                    <a:schemeClr val="accent2"/>
                  </a:solidFill>
                  <a:latin typeface="Times New Roman" panose="02020603050405020304" pitchFamily="18" charset="0"/>
                  <a:ea typeface="宋体" panose="02010600030101010101" pitchFamily="2" charset="-122"/>
                </a:rPr>
                <a:t>Canny</a:t>
              </a:r>
              <a:endParaRPr lang="zh-CN" altLang="en-US" sz="2400" dirty="0">
                <a:solidFill>
                  <a:schemeClr val="accent2"/>
                </a:solidFill>
                <a:latin typeface="Times New Roman" panose="02020603050405020304" pitchFamily="18" charset="0"/>
                <a:ea typeface="宋体" panose="02010600030101010101" pitchFamily="2" charset="-122"/>
              </a:endParaRPr>
            </a:p>
          </p:txBody>
        </p:sp>
      </p:grpSp>
      <p:grpSp>
        <p:nvGrpSpPr>
          <p:cNvPr id="14" name="Group 7"/>
          <p:cNvGrpSpPr/>
          <p:nvPr/>
        </p:nvGrpSpPr>
        <p:grpSpPr bwMode="auto">
          <a:xfrm>
            <a:off x="6400800" y="612775"/>
            <a:ext cx="2705100" cy="3095626"/>
            <a:chOff x="1939" y="462"/>
            <a:chExt cx="1704" cy="1950"/>
          </a:xfrm>
        </p:grpSpPr>
        <p:pic>
          <p:nvPicPr>
            <p:cNvPr id="1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9" y="462"/>
              <a:ext cx="1704" cy="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9"/>
            <p:cNvSpPr>
              <a:spLocks noChangeArrowheads="1"/>
            </p:cNvSpPr>
            <p:nvPr/>
          </p:nvSpPr>
          <p:spPr bwMode="auto">
            <a:xfrm>
              <a:off x="2557" y="2121"/>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a:r>
                <a:rPr lang="en-US" altLang="zh-CN" sz="2400" dirty="0" err="1" smtClean="0">
                  <a:solidFill>
                    <a:schemeClr val="accent2"/>
                  </a:solidFill>
                  <a:latin typeface="Times New Roman" panose="02020603050405020304" pitchFamily="18" charset="0"/>
                  <a:ea typeface="宋体" panose="02010600030101010101" pitchFamily="2" charset="-122"/>
                </a:rPr>
                <a:t>Sobel</a:t>
              </a:r>
              <a:endParaRPr lang="zh-CN" altLang="en-US" sz="2400" dirty="0">
                <a:solidFill>
                  <a:schemeClr val="accent2"/>
                </a:solidFill>
                <a:latin typeface="Times New Roman" panose="02020603050405020304" pitchFamily="18" charset="0"/>
                <a:ea typeface="宋体" panose="02010600030101010101" pitchFamily="2" charset="-122"/>
              </a:endParaRPr>
            </a:p>
          </p:txBody>
        </p:sp>
      </p:grpSp>
      <p:grpSp>
        <p:nvGrpSpPr>
          <p:cNvPr id="17" name="Group 10"/>
          <p:cNvGrpSpPr/>
          <p:nvPr/>
        </p:nvGrpSpPr>
        <p:grpSpPr bwMode="auto">
          <a:xfrm>
            <a:off x="9285288" y="631825"/>
            <a:ext cx="2693987" cy="3076576"/>
            <a:chOff x="3761" y="465"/>
            <a:chExt cx="1697" cy="1938"/>
          </a:xfrm>
        </p:grpSpPr>
        <p:pic>
          <p:nvPicPr>
            <p:cNvPr id="18"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1" y="465"/>
              <a:ext cx="1697" cy="1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p:cNvSpPr>
              <a:spLocks noChangeArrowheads="1"/>
            </p:cNvSpPr>
            <p:nvPr/>
          </p:nvSpPr>
          <p:spPr bwMode="auto">
            <a:xfrm>
              <a:off x="4247" y="2112"/>
              <a:ext cx="6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a:r>
                <a:rPr lang="en-US" altLang="zh-CN" sz="2400" dirty="0" smtClean="0">
                  <a:solidFill>
                    <a:schemeClr val="accent2"/>
                  </a:solidFill>
                  <a:latin typeface="Times New Roman" panose="02020603050405020304" pitchFamily="18" charset="0"/>
                  <a:ea typeface="宋体" panose="02010600030101010101" pitchFamily="2" charset="-122"/>
                </a:rPr>
                <a:t>Prewitt</a:t>
              </a:r>
              <a:endParaRPr lang="zh-CN" altLang="en-US" sz="2400" dirty="0">
                <a:solidFill>
                  <a:schemeClr val="accent2"/>
                </a:solidFill>
                <a:latin typeface="Times New Roman" panose="02020603050405020304" pitchFamily="18" charset="0"/>
                <a:ea typeface="宋体" panose="02010600030101010101" pitchFamily="2" charset="-122"/>
              </a:endParaRPr>
            </a:p>
          </p:txBody>
        </p:sp>
      </p:grpSp>
      <p:grpSp>
        <p:nvGrpSpPr>
          <p:cNvPr id="20" name="Group 13"/>
          <p:cNvGrpSpPr/>
          <p:nvPr/>
        </p:nvGrpSpPr>
        <p:grpSpPr bwMode="auto">
          <a:xfrm>
            <a:off x="3549650" y="619125"/>
            <a:ext cx="2709863" cy="3135313"/>
            <a:chOff x="150" y="521"/>
            <a:chExt cx="1707" cy="1975"/>
          </a:xfrm>
        </p:grpSpPr>
        <p:pic>
          <p:nvPicPr>
            <p:cNvPr id="21"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 y="521"/>
              <a:ext cx="1707" cy="1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5"/>
            <p:cNvSpPr>
              <a:spLocks noChangeArrowheads="1"/>
            </p:cNvSpPr>
            <p:nvPr/>
          </p:nvSpPr>
          <p:spPr bwMode="auto">
            <a:xfrm>
              <a:off x="564" y="2205"/>
              <a:ext cx="7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a:r>
                <a:rPr lang="en-US" altLang="zh-CN" sz="2400" dirty="0" smtClean="0">
                  <a:solidFill>
                    <a:schemeClr val="accent2"/>
                  </a:solidFill>
                  <a:latin typeface="Times New Roman" panose="02020603050405020304" pitchFamily="18" charset="0"/>
                  <a:ea typeface="宋体" panose="02010600030101010101" pitchFamily="2" charset="-122"/>
                </a:rPr>
                <a:t>Roberts</a:t>
              </a:r>
              <a:endParaRPr lang="zh-CN" altLang="en-US" sz="2400" dirty="0">
                <a:solidFill>
                  <a:schemeClr val="accent2"/>
                </a:solidFill>
                <a:latin typeface="Times New Roman" panose="02020603050405020304" pitchFamily="18" charset="0"/>
                <a:ea typeface="宋体" panose="02010600030101010101" pitchFamily="2" charset="-122"/>
              </a:endParaRPr>
            </a:p>
          </p:txBody>
        </p:sp>
      </p:grpSp>
      <p:grpSp>
        <p:nvGrpSpPr>
          <p:cNvPr id="23" name="Group 16"/>
          <p:cNvGrpSpPr/>
          <p:nvPr/>
        </p:nvGrpSpPr>
        <p:grpSpPr bwMode="auto">
          <a:xfrm>
            <a:off x="6421438" y="3652837"/>
            <a:ext cx="2709862" cy="3133724"/>
            <a:chOff x="1987" y="2386"/>
            <a:chExt cx="1707" cy="1974"/>
          </a:xfrm>
        </p:grpSpPr>
        <p:pic>
          <p:nvPicPr>
            <p:cNvPr id="24"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7" y="2386"/>
              <a:ext cx="1707" cy="1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angle 18"/>
            <p:cNvSpPr>
              <a:spLocks noChangeArrowheads="1"/>
            </p:cNvSpPr>
            <p:nvPr/>
          </p:nvSpPr>
          <p:spPr bwMode="auto">
            <a:xfrm>
              <a:off x="2570" y="4069"/>
              <a:ext cx="4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algn="ctr"/>
              <a:r>
                <a:rPr lang="en-US" altLang="zh-CN" sz="2400" dirty="0" err="1" smtClean="0">
                  <a:solidFill>
                    <a:schemeClr val="accent2"/>
                  </a:solidFill>
                  <a:latin typeface="Times New Roman" panose="02020603050405020304" pitchFamily="18" charset="0"/>
                  <a:ea typeface="宋体" panose="02010600030101010101" pitchFamily="2" charset="-122"/>
                </a:rPr>
                <a:t>LoG</a:t>
              </a:r>
              <a:endParaRPr lang="zh-CN" altLang="en-US" sz="2400" dirty="0">
                <a:solidFill>
                  <a:schemeClr val="accent2"/>
                </a:solidFill>
                <a:latin typeface="Times New Roman" panose="02020603050405020304" pitchFamily="18" charset="0"/>
                <a:ea typeface="宋体" panose="02010600030101010101" pitchFamily="2" charset="-122"/>
              </a:endParaRPr>
            </a:p>
          </p:txBody>
        </p:sp>
      </p:grpSp>
      <p:pic>
        <p:nvPicPr>
          <p:cNvPr id="26"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700" y="3673475"/>
            <a:ext cx="2690813"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灯片编号占位符 26"/>
          <p:cNvSpPr>
            <a:spLocks noGrp="1"/>
          </p:cNvSpPr>
          <p:nvPr>
            <p:ph type="sldNum" sz="quarter" idx="10"/>
          </p:nvPr>
        </p:nvSpPr>
        <p:spPr>
          <a:xfrm>
            <a:off x="4038600" y="6470650"/>
            <a:ext cx="2743200" cy="365125"/>
          </a:xfrm>
        </p:spPr>
        <p:txBody>
          <a:bodyPr/>
          <a:lstStyle/>
          <a:p>
            <a:fld id="{E18FA7CF-91C4-4AF9-A436-A0A4D2608F8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极速视觉</a:t>
            </a:r>
            <a:r>
              <a:rPr lang="en-US" altLang="zh-CN" sz="3200" b="1" dirty="0" smtClean="0">
                <a:solidFill>
                  <a:schemeClr val="bg1"/>
                </a:solidFill>
                <a:latin typeface="微软雅黑" panose="020B0503020204020204" charset="-122"/>
                <a:ea typeface="微软雅黑" panose="020B0503020204020204" charset="-122"/>
              </a:rPr>
              <a:t>: </a:t>
            </a:r>
            <a:r>
              <a:rPr lang="zh-CN" altLang="en-US" sz="3200" b="1" dirty="0" smtClean="0">
                <a:solidFill>
                  <a:schemeClr val="bg1"/>
                </a:solidFill>
                <a:latin typeface="微软雅黑" panose="020B0503020204020204" charset="-122"/>
                <a:ea typeface="微软雅黑" panose="020B0503020204020204" charset="-122"/>
              </a:rPr>
              <a:t>线圆提取</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800100" y="1892300"/>
            <a:ext cx="5923915" cy="368300"/>
          </a:xfrm>
          <a:prstGeom prst="rect">
            <a:avLst/>
          </a:prstGeom>
          <a:noFill/>
        </p:spPr>
        <p:txBody>
          <a:bodyPr wrap="square" rtlCol="0">
            <a:spAutoFit/>
          </a:bodyPr>
          <a:p>
            <a:r>
              <a:rPr lang="zh-CN" b="1"/>
              <a:t>现在，我们特别关注线</a:t>
            </a:r>
            <a:r>
              <a:rPr lang="en-US" altLang="zh-CN" b="1"/>
              <a:t>/</a:t>
            </a:r>
            <a:r>
              <a:rPr lang="zh-CN" altLang="en-US" b="1"/>
              <a:t>圆</a:t>
            </a:r>
            <a:r>
              <a:rPr lang="zh-CN" b="1"/>
              <a:t>特征，因此选择霍夫变换</a:t>
            </a:r>
            <a:endParaRPr lang="zh-CN" b="1"/>
          </a:p>
        </p:txBody>
      </p:sp>
      <p:pic>
        <p:nvPicPr>
          <p:cNvPr id="3" name="图片 2"/>
          <p:cNvPicPr>
            <a:picLocks noChangeAspect="1"/>
          </p:cNvPicPr>
          <p:nvPr/>
        </p:nvPicPr>
        <p:blipFill>
          <a:blip r:embed="rId3"/>
          <a:stretch>
            <a:fillRect/>
          </a:stretch>
        </p:blipFill>
        <p:spPr>
          <a:xfrm>
            <a:off x="0" y="2260600"/>
            <a:ext cx="6707505" cy="2439035"/>
          </a:xfrm>
          <a:prstGeom prst="rect">
            <a:avLst/>
          </a:prstGeom>
        </p:spPr>
      </p:pic>
      <p:pic>
        <p:nvPicPr>
          <p:cNvPr id="12" name="图片 11" descr="ed_ellipse_detected_simple"/>
          <p:cNvPicPr>
            <a:picLocks noChangeAspect="1"/>
          </p:cNvPicPr>
          <p:nvPr/>
        </p:nvPicPr>
        <p:blipFill>
          <a:blip r:embed="rId4"/>
          <a:stretch>
            <a:fillRect/>
          </a:stretch>
        </p:blipFill>
        <p:spPr>
          <a:xfrm>
            <a:off x="7009765" y="1000125"/>
            <a:ext cx="5010785" cy="375793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极速视觉</a:t>
            </a:r>
            <a:r>
              <a:rPr lang="en-US" altLang="zh-CN" sz="3200" b="1" dirty="0" smtClean="0">
                <a:solidFill>
                  <a:schemeClr val="bg1"/>
                </a:solidFill>
                <a:latin typeface="微软雅黑" panose="020B0503020204020204" charset="-122"/>
                <a:ea typeface="微软雅黑" panose="020B0503020204020204" charset="-122"/>
              </a:rPr>
              <a:t>: </a:t>
            </a:r>
            <a:r>
              <a:rPr lang="zh-CN" altLang="en-US" sz="3200" b="1" dirty="0" smtClean="0">
                <a:solidFill>
                  <a:schemeClr val="bg1"/>
                </a:solidFill>
                <a:latin typeface="微软雅黑" panose="020B0503020204020204" charset="-122"/>
                <a:ea typeface="微软雅黑" panose="020B0503020204020204" charset="-122"/>
              </a:rPr>
              <a:t>形态学操作</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800100" y="1892300"/>
            <a:ext cx="5923915" cy="645160"/>
          </a:xfrm>
          <a:prstGeom prst="rect">
            <a:avLst/>
          </a:prstGeom>
          <a:noFill/>
        </p:spPr>
        <p:txBody>
          <a:bodyPr wrap="square" rtlCol="0">
            <a:spAutoFit/>
          </a:bodyPr>
          <a:p>
            <a:r>
              <a:rPr lang="zh-CN" b="1"/>
              <a:t>现在，我们对于初步得到的二值图，可以进行膨胀</a:t>
            </a:r>
            <a:r>
              <a:rPr lang="en-US" altLang="zh-CN" b="1"/>
              <a:t>/</a:t>
            </a:r>
            <a:r>
              <a:rPr lang="zh-CN" altLang="en-US" b="1"/>
              <a:t>腐蚀</a:t>
            </a:r>
            <a:r>
              <a:rPr lang="en-US" altLang="zh-CN" b="1"/>
              <a:t>/</a:t>
            </a:r>
            <a:r>
              <a:rPr lang="zh-CN" altLang="en-US" b="1"/>
              <a:t>开闭运算，从而得到我们更希望的</a:t>
            </a:r>
            <a:r>
              <a:rPr lang="en-US" altLang="zh-CN" b="1"/>
              <a:t>ROI</a:t>
            </a:r>
            <a:endParaRPr lang="en-US" altLang="zh-CN" b="1"/>
          </a:p>
        </p:txBody>
      </p:sp>
      <p:pic>
        <p:nvPicPr>
          <p:cNvPr id="23554" name="Picture 4" descr="yu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15" y="3271520"/>
            <a:ext cx="1610995"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5" descr="yua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7800" y="3325495"/>
            <a:ext cx="151447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7" name="Rectangle 17"/>
          <p:cNvSpPr>
            <a:spLocks noChangeArrowheads="1"/>
          </p:cNvSpPr>
          <p:nvPr/>
        </p:nvSpPr>
        <p:spPr bwMode="auto">
          <a:xfrm>
            <a:off x="1191895" y="5121275"/>
            <a:ext cx="58674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r>
              <a:rPr kumimoji="1" lang="zh-CN" altLang="en-US" sz="2000">
                <a:solidFill>
                  <a:srgbClr val="000066"/>
                </a:solidFill>
                <a:latin typeface="黑体" panose="02010609060101010101" pitchFamily="49" charset="-122"/>
                <a:ea typeface="黑体" panose="02010609060101010101" pitchFamily="49" charset="-122"/>
              </a:rPr>
              <a:t>利用腐蚀算法消除物体之间的粘连示例 </a:t>
            </a:r>
            <a:endParaRPr kumimoji="1" lang="zh-CN" altLang="en-US" sz="2000">
              <a:solidFill>
                <a:srgbClr val="000066"/>
              </a:solidFill>
              <a:latin typeface="黑体" panose="02010609060101010101" pitchFamily="49" charset="-122"/>
              <a:ea typeface="黑体" panose="02010609060101010101" pitchFamily="49" charset="-122"/>
            </a:endParaRPr>
          </a:p>
        </p:txBody>
      </p:sp>
      <p:pic>
        <p:nvPicPr>
          <p:cNvPr id="33794" name="Picture 4" descr="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9325" y="3186430"/>
            <a:ext cx="14763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5" descr="ic膨胀图像"/>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20225" y="3186430"/>
            <a:ext cx="15621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Rectangle 17"/>
          <p:cNvSpPr>
            <a:spLocks noChangeArrowheads="1"/>
          </p:cNvSpPr>
          <p:nvPr/>
        </p:nvSpPr>
        <p:spPr bwMode="auto">
          <a:xfrm>
            <a:off x="6489700" y="5121275"/>
            <a:ext cx="57912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r>
              <a:rPr kumimoji="1" lang="zh-CN" altLang="en-US" sz="2000">
                <a:solidFill>
                  <a:srgbClr val="000066"/>
                </a:solidFill>
                <a:latin typeface="黑体" panose="02010609060101010101" pitchFamily="49" charset="-122"/>
                <a:ea typeface="黑体" panose="02010609060101010101" pitchFamily="49" charset="-122"/>
              </a:rPr>
              <a:t>利用膨胀运算填充目标区域中的小孔 </a:t>
            </a:r>
            <a:endParaRPr kumimoji="1" lang="zh-CN" altLang="en-US" sz="2000">
              <a:solidFill>
                <a:srgbClr val="000066"/>
              </a:solidFill>
              <a:latin typeface="黑体" panose="02010609060101010101" pitchFamily="49" charset="-122"/>
              <a:ea typeface="黑体" panose="02010609060101010101" pitchFamily="49" charset="-122"/>
            </a:endParaRPr>
          </a:p>
        </p:txBody>
      </p:sp>
      <p:sp>
        <p:nvSpPr>
          <p:cNvPr id="6" name="右箭头 5"/>
          <p:cNvSpPr/>
          <p:nvPr/>
        </p:nvSpPr>
        <p:spPr>
          <a:xfrm>
            <a:off x="2477770" y="3783965"/>
            <a:ext cx="1085850" cy="4191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右箭头 6"/>
          <p:cNvSpPr/>
          <p:nvPr/>
        </p:nvSpPr>
        <p:spPr>
          <a:xfrm>
            <a:off x="7624445" y="3783965"/>
            <a:ext cx="1085850" cy="4191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极速视觉</a:t>
            </a:r>
            <a:r>
              <a:rPr lang="en-US" altLang="zh-CN" sz="3200" b="1" dirty="0" smtClean="0">
                <a:solidFill>
                  <a:schemeClr val="bg1"/>
                </a:solidFill>
                <a:latin typeface="微软雅黑" panose="020B0503020204020204" charset="-122"/>
                <a:ea typeface="微软雅黑" panose="020B0503020204020204" charset="-122"/>
              </a:rPr>
              <a:t>: </a:t>
            </a:r>
            <a:r>
              <a:rPr lang="zh-CN" altLang="en-US" sz="3200" b="1" dirty="0" smtClean="0">
                <a:solidFill>
                  <a:schemeClr val="bg1"/>
                </a:solidFill>
                <a:latin typeface="微软雅黑" panose="020B0503020204020204" charset="-122"/>
                <a:ea typeface="微软雅黑" panose="020B0503020204020204" charset="-122"/>
              </a:rPr>
              <a:t>三维位姿估计</a:t>
            </a:r>
            <a:endParaRPr lang="zh-CN" altLang="en-US"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800100" y="1892300"/>
            <a:ext cx="6009640" cy="645160"/>
          </a:xfrm>
          <a:prstGeom prst="rect">
            <a:avLst/>
          </a:prstGeom>
          <a:noFill/>
        </p:spPr>
        <p:txBody>
          <a:bodyPr wrap="square" rtlCol="0">
            <a:spAutoFit/>
          </a:bodyPr>
          <a:p>
            <a:r>
              <a:rPr lang="zh-CN" b="1"/>
              <a:t>现在，我们根据图像，找到了</a:t>
            </a:r>
            <a:r>
              <a:rPr lang="zh-CN" altLang="en-US" b="1"/>
              <a:t>大于等于</a:t>
            </a:r>
            <a:r>
              <a:rPr lang="en-US" altLang="zh-CN" b="1"/>
              <a:t>3</a:t>
            </a:r>
            <a:r>
              <a:rPr lang="zh-CN" altLang="en-US" b="1"/>
              <a:t>对的</a:t>
            </a:r>
            <a:r>
              <a:rPr lang="en-US" altLang="zh-CN" b="1"/>
              <a:t>2D-3D</a:t>
            </a:r>
            <a:r>
              <a:rPr lang="zh-CN" altLang="en-US" b="1"/>
              <a:t>点对，我们便能计算出相机系</a:t>
            </a:r>
            <a:r>
              <a:rPr lang="en-US" altLang="zh-CN" b="1"/>
              <a:t>-&gt;3D</a:t>
            </a:r>
            <a:r>
              <a:rPr lang="zh-CN" altLang="en-US" b="1"/>
              <a:t>系的变换矩阵</a:t>
            </a:r>
            <a:endParaRPr lang="zh-CN" altLang="en-US" b="1"/>
          </a:p>
        </p:txBody>
      </p:sp>
      <p:pic>
        <p:nvPicPr>
          <p:cNvPr id="10" name="图片 9"/>
          <p:cNvPicPr/>
          <p:nvPr/>
        </p:nvPicPr>
        <p:blipFill>
          <a:blip r:embed="rId3"/>
          <a:stretch>
            <a:fillRect/>
          </a:stretch>
        </p:blipFill>
        <p:spPr>
          <a:xfrm>
            <a:off x="6000750" y="2423160"/>
            <a:ext cx="5486400" cy="3840480"/>
          </a:xfrm>
          <a:prstGeom prst="rect">
            <a:avLst/>
          </a:prstGeom>
        </p:spPr>
      </p:pic>
      <p:sp>
        <p:nvSpPr>
          <p:cNvPr id="11" name="文本框 10"/>
          <p:cNvSpPr txBox="1"/>
          <p:nvPr/>
        </p:nvSpPr>
        <p:spPr>
          <a:xfrm>
            <a:off x="660400" y="2730183"/>
            <a:ext cx="5080000" cy="337185"/>
          </a:xfrm>
          <a:prstGeom prst="rect">
            <a:avLst/>
          </a:prstGeom>
        </p:spPr>
        <p:txBody>
          <a:bodyPr>
            <a:spAutoFit/>
          </a:bodyPr>
          <a:p>
            <a:r>
              <a:rPr lang="en-US" altLang="zh-CN" sz="1600">
                <a:hlinkClick r:id="rId4"/>
              </a:rPr>
              <a:t>OpenCV: Perspective-n-Point (PnP) pose computation</a:t>
            </a:r>
            <a:endParaRPr lang="en-US" altLang="zh-CN" sz="1600">
              <a:hlinkClick r:id="rId4"/>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7215" y="1310640"/>
            <a:ext cx="5012055" cy="52324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微软雅黑" panose="020B0503020204020204" charset="-122"/>
                <a:ea typeface="微软雅黑" panose="020B0503020204020204" charset="-122"/>
              </a:rPr>
              <a:t>极速视觉</a:t>
            </a:r>
            <a:r>
              <a:rPr lang="en-US" altLang="zh-CN" sz="3200" b="1" dirty="0" smtClean="0">
                <a:solidFill>
                  <a:schemeClr val="bg1"/>
                </a:solidFill>
                <a:latin typeface="微软雅黑" panose="020B0503020204020204" charset="-122"/>
                <a:ea typeface="微软雅黑" panose="020B0503020204020204" charset="-122"/>
              </a:rPr>
              <a:t>: YOLO</a:t>
            </a:r>
            <a:endParaRPr lang="en-US" altLang="zh-CN" sz="3200" b="1" dirty="0" smtClean="0">
              <a:solidFill>
                <a:schemeClr val="bg1"/>
              </a:solidFill>
              <a:latin typeface="微软雅黑" panose="020B0503020204020204" charset="-122"/>
              <a:ea typeface="微软雅黑" panose="020B0503020204020204" charset="-122"/>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
        <p:nvSpPr>
          <p:cNvPr id="9" name="文本框 8"/>
          <p:cNvSpPr txBox="1"/>
          <p:nvPr/>
        </p:nvSpPr>
        <p:spPr>
          <a:xfrm>
            <a:off x="800100" y="1892300"/>
            <a:ext cx="6009640" cy="368300"/>
          </a:xfrm>
          <a:prstGeom prst="rect">
            <a:avLst/>
          </a:prstGeom>
          <a:noFill/>
        </p:spPr>
        <p:txBody>
          <a:bodyPr wrap="square" rtlCol="0">
            <a:spAutoFit/>
          </a:bodyPr>
          <a:p>
            <a:r>
              <a:rPr lang="zh-CN" b="1"/>
              <a:t>通过深度学习的方法，直接提取出目标所在的检测框</a:t>
            </a:r>
            <a:endParaRPr lang="zh-CN" b="1"/>
          </a:p>
        </p:txBody>
      </p:sp>
      <p:pic>
        <p:nvPicPr>
          <p:cNvPr id="3" name="图片 2"/>
          <p:cNvPicPr>
            <a:picLocks noChangeAspect="1"/>
          </p:cNvPicPr>
          <p:nvPr/>
        </p:nvPicPr>
        <p:blipFill>
          <a:blip r:embed="rId3"/>
          <a:stretch>
            <a:fillRect/>
          </a:stretch>
        </p:blipFill>
        <p:spPr>
          <a:xfrm>
            <a:off x="858520" y="2871470"/>
            <a:ext cx="4449445" cy="3028950"/>
          </a:xfrm>
          <a:prstGeom prst="rect">
            <a:avLst/>
          </a:prstGeom>
        </p:spPr>
      </p:pic>
      <p:pic>
        <p:nvPicPr>
          <p:cNvPr id="6" name="图片 5"/>
          <p:cNvPicPr>
            <a:picLocks noChangeAspect="1"/>
          </p:cNvPicPr>
          <p:nvPr/>
        </p:nvPicPr>
        <p:blipFill>
          <a:blip r:embed="rId4"/>
          <a:stretch>
            <a:fillRect/>
          </a:stretch>
        </p:blipFill>
        <p:spPr>
          <a:xfrm>
            <a:off x="7081520" y="1614170"/>
            <a:ext cx="4295775" cy="4286250"/>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28675" y="1270635"/>
            <a:ext cx="22517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更多</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571625" y="2589530"/>
            <a:ext cx="8105775" cy="2338070"/>
          </a:xfrm>
          <a:prstGeom prst="rect">
            <a:avLst/>
          </a:prstGeom>
          <a:noFill/>
        </p:spPr>
        <p:txBody>
          <a:bodyPr wrap="square" rtlCol="0">
            <a:spAutoFit/>
          </a:bodyPr>
          <a:p>
            <a:r>
              <a:rPr lang="zh-CN" altLang="en-US" b="1"/>
              <a:t>阈值分割</a:t>
            </a:r>
            <a:r>
              <a:rPr lang="en-US" altLang="zh-CN" b="1"/>
              <a:t>...</a:t>
            </a:r>
            <a:endParaRPr lang="zh-CN" altLang="en-US" b="1"/>
          </a:p>
          <a:p>
            <a:r>
              <a:rPr lang="zh-CN" altLang="en-US" b="1">
                <a:sym typeface="+mn-ea"/>
              </a:rPr>
              <a:t>形态学操作</a:t>
            </a:r>
            <a:r>
              <a:rPr lang="en-US" altLang="zh-CN" b="1">
                <a:sym typeface="+mn-ea"/>
              </a:rPr>
              <a:t>...</a:t>
            </a:r>
            <a:endParaRPr lang="zh-CN" altLang="en-US" b="1"/>
          </a:p>
          <a:p>
            <a:endParaRPr lang="zh-CN" altLang="en-US" b="1"/>
          </a:p>
          <a:p>
            <a:r>
              <a:rPr lang="zh-CN" altLang="en-US" b="1"/>
              <a:t>边缘提取</a:t>
            </a:r>
            <a:r>
              <a:rPr lang="en-US" altLang="zh-CN" b="1"/>
              <a:t>...</a:t>
            </a:r>
            <a:endParaRPr lang="zh-CN" altLang="en-US" b="1"/>
          </a:p>
          <a:p>
            <a:r>
              <a:rPr lang="zh-CN" altLang="en-US" b="1"/>
              <a:t>模式识别</a:t>
            </a:r>
            <a:r>
              <a:rPr lang="en-US" altLang="zh-CN" b="1"/>
              <a:t>...</a:t>
            </a:r>
            <a:endParaRPr lang="en-US" altLang="zh-CN" b="1"/>
          </a:p>
          <a:p>
            <a:endParaRPr lang="en-US" altLang="zh-CN" b="1"/>
          </a:p>
          <a:p>
            <a:r>
              <a:rPr lang="zh-CN" altLang="en-US" b="1"/>
              <a:t>以及贯穿计算机视觉的另一方数学原理</a:t>
            </a:r>
            <a:r>
              <a:rPr lang="en-US" altLang="zh-CN" b="1"/>
              <a:t>--</a:t>
            </a:r>
            <a:r>
              <a:rPr lang="zh-CN" altLang="en-US" sz="2000" b="1">
                <a:solidFill>
                  <a:srgbClr val="FF0000"/>
                </a:solidFill>
                <a:effectLst/>
              </a:rPr>
              <a:t>卷积</a:t>
            </a:r>
            <a:r>
              <a:rPr lang="zh-CN" altLang="en-US" b="1"/>
              <a:t>，并由此导出机器学习和深度学习的基本原理</a:t>
            </a:r>
            <a:endParaRPr lang="zh-CN" altLang="en-US" b="1"/>
          </a:p>
        </p:txBody>
      </p:sp>
      <p:sp>
        <p:nvSpPr>
          <p:cNvPr id="4" name="文本框 3"/>
          <p:cNvSpPr txBox="1"/>
          <p:nvPr/>
        </p:nvSpPr>
        <p:spPr>
          <a:xfrm>
            <a:off x="1028700" y="2005965"/>
            <a:ext cx="7762240" cy="583565"/>
          </a:xfrm>
          <a:prstGeom prst="rect">
            <a:avLst/>
          </a:prstGeom>
          <a:noFill/>
        </p:spPr>
        <p:txBody>
          <a:bodyPr wrap="square" rtlCol="0" anchor="t">
            <a:spAutoFit/>
          </a:bodyPr>
          <a:p>
            <a:pPr lvl="0" algn="ctr">
              <a:lnSpc>
                <a:spcPct val="100000"/>
              </a:lnSpc>
              <a:spcBef>
                <a:spcPts val="0"/>
              </a:spcBef>
              <a:spcAft>
                <a:spcPts val="0"/>
              </a:spcAft>
              <a:defRPr/>
            </a:pPr>
            <a:r>
              <a:rPr lang="zh-CN" altLang="en-US" sz="3200" b="1" dirty="0" smtClean="0">
                <a:solidFill>
                  <a:schemeClr val="tx1"/>
                </a:solidFill>
                <a:latin typeface="微软雅黑" panose="020B0503020204020204" charset="-122"/>
                <a:ea typeface="微软雅黑" panose="020B0503020204020204" charset="-122"/>
                <a:sym typeface="+mn-ea"/>
              </a:rPr>
              <a:t>关于视觉，</a:t>
            </a:r>
            <a:r>
              <a:rPr lang="zh-CN" sz="3200" b="1" dirty="0" smtClean="0">
                <a:solidFill>
                  <a:schemeClr val="tx1"/>
                </a:solidFill>
                <a:latin typeface="微软雅黑" panose="020B0503020204020204" charset="-122"/>
                <a:ea typeface="微软雅黑" panose="020B0503020204020204" charset="-122"/>
                <a:sym typeface="+mn-ea"/>
              </a:rPr>
              <a:t>剩下的这节课是讲不完了</a:t>
            </a:r>
            <a:endParaRPr lang="zh-CN" altLang="en-US" sz="3200" b="1" dirty="0" smtClean="0">
              <a:solidFill>
                <a:schemeClr val="tx1"/>
              </a:solidFill>
              <a:latin typeface="微软雅黑" panose="020B0503020204020204" charset="-122"/>
              <a:ea typeface="微软雅黑" panose="020B0503020204020204" charset="-122"/>
              <a:sym typeface="+mn-ea"/>
            </a:endParaRPr>
          </a:p>
        </p:txBody>
      </p:sp>
      <p:sp>
        <p:nvSpPr>
          <p:cNvPr id="6" name="文本框 5"/>
          <p:cNvSpPr txBox="1"/>
          <p:nvPr/>
        </p:nvSpPr>
        <p:spPr>
          <a:xfrm>
            <a:off x="1714500" y="5041265"/>
            <a:ext cx="6238875" cy="645160"/>
          </a:xfrm>
          <a:prstGeom prst="rect">
            <a:avLst/>
          </a:prstGeom>
          <a:noFill/>
        </p:spPr>
        <p:txBody>
          <a:bodyPr wrap="square" rtlCol="0">
            <a:spAutoFit/>
          </a:bodyPr>
          <a:p>
            <a:r>
              <a:rPr lang="zh-CN" altLang="en-US"/>
              <a:t>因此，我们可能在下学期或在视觉实训</a:t>
            </a:r>
            <a:r>
              <a:rPr lang="en-US" altLang="zh-CN"/>
              <a:t>(</a:t>
            </a:r>
            <a:r>
              <a:rPr lang="zh-CN" altLang="en-US"/>
              <a:t>以及寒假任务中</a:t>
            </a:r>
            <a:r>
              <a:rPr lang="en-US" altLang="zh-CN"/>
              <a:t>)</a:t>
            </a:r>
            <a:r>
              <a:rPr lang="zh-CN" altLang="en-US"/>
              <a:t>涉及这些部分的内容</a:t>
            </a:r>
            <a:endParaRPr lang="zh-CN" alt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28675" y="1270635"/>
            <a:ext cx="22517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视觉实训</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609725" y="2821940"/>
            <a:ext cx="5676900" cy="368300"/>
          </a:xfrm>
          <a:prstGeom prst="rect">
            <a:avLst/>
          </a:prstGeom>
          <a:noFill/>
        </p:spPr>
        <p:txBody>
          <a:bodyPr wrap="square" rtlCol="0" anchor="t">
            <a:spAutoFit/>
          </a:bodyPr>
          <a:p>
            <a:pPr lvl="0" algn="ctr">
              <a:lnSpc>
                <a:spcPct val="100000"/>
              </a:lnSpc>
              <a:spcBef>
                <a:spcPts val="0"/>
              </a:spcBef>
              <a:spcAft>
                <a:spcPts val="0"/>
              </a:spcAft>
              <a:defRPr/>
            </a:pPr>
            <a:r>
              <a:rPr lang="zh-CN" altLang="en-US" sz="1800" b="1">
                <a:solidFill>
                  <a:schemeClr val="tx1"/>
                </a:solidFill>
                <a:sym typeface="+mn-ea"/>
              </a:rPr>
              <a:t>目前已发出5项(lab1_1~lab1_5)</a:t>
            </a:r>
            <a:r>
              <a:rPr lang="en-US" altLang="zh-CN" sz="1800" b="1">
                <a:solidFill>
                  <a:schemeClr val="tx1"/>
                </a:solidFill>
                <a:sym typeface="+mn-ea"/>
              </a:rPr>
              <a:t>,</a:t>
            </a:r>
            <a:r>
              <a:rPr lang="zh-CN" altLang="en-US" sz="1800" b="1">
                <a:solidFill>
                  <a:schemeClr val="tx1"/>
                </a:solidFill>
                <a:sym typeface="+mn-ea"/>
              </a:rPr>
              <a:t>更多的在路上</a:t>
            </a:r>
            <a:endParaRPr lang="zh-CN" altLang="en-US" sz="1800" b="1" dirty="0" smtClean="0">
              <a:solidFill>
                <a:schemeClr val="tx1"/>
              </a:solidFill>
              <a:latin typeface="微软雅黑" panose="020B0503020204020204" charset="-122"/>
              <a:ea typeface="微软雅黑" panose="020B0503020204020204" charset="-122"/>
              <a:sym typeface="+mn-ea"/>
            </a:endParaRPr>
          </a:p>
        </p:txBody>
      </p:sp>
      <p:sp>
        <p:nvSpPr>
          <p:cNvPr id="9" name="文本框 8"/>
          <p:cNvSpPr txBox="1"/>
          <p:nvPr/>
        </p:nvSpPr>
        <p:spPr>
          <a:xfrm>
            <a:off x="2000250" y="2211070"/>
            <a:ext cx="7371715" cy="368300"/>
          </a:xfrm>
          <a:prstGeom prst="rect">
            <a:avLst/>
          </a:prstGeom>
          <a:noFill/>
        </p:spPr>
        <p:txBody>
          <a:bodyPr wrap="square" rtlCol="0" anchor="t">
            <a:spAutoFit/>
          </a:bodyPr>
          <a:p>
            <a:r>
              <a:rPr lang="en-US" altLang="zh-CN" b="1">
                <a:sym typeface="+mn-ea"/>
              </a:rPr>
              <a:t>https://github.com/FirmamentumX/AirHUST_Vision_Tutorial</a:t>
            </a:r>
            <a:endParaRPr lang="en-US" altLang="zh-CN" b="1">
              <a:sym typeface="+mn-ea"/>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690" y="1270635"/>
            <a:ext cx="40424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形态学图像处理</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929765" y="2124710"/>
            <a:ext cx="6853555" cy="368300"/>
          </a:xfrm>
          <a:prstGeom prst="rect">
            <a:avLst/>
          </a:prstGeom>
          <a:noFill/>
        </p:spPr>
        <p:txBody>
          <a:bodyPr wrap="square" rtlCol="0">
            <a:spAutoFit/>
          </a:bodyPr>
          <a:p>
            <a:r>
              <a:rPr lang="zh-CN" altLang="en-US"/>
              <a:t>如何从数字图像中提取出感兴趣的形状？</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2656141" y="3931221"/>
                <a:ext cx="1322070" cy="8178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m:t>
                                </m:r>
                              </m:e>
                              <m:e>
                                <m:r>
                                  <a:rPr lang="en-US" altLang="zh-CN" i="1">
                                    <a:latin typeface="Cambria Math" panose="02040503050406030204" charset="0"/>
                                    <a:cs typeface="Cambria Math" panose="02040503050406030204" charset="0"/>
                                  </a:rPr>
                                  <m:t>⋱</m:t>
                                </m:r>
                              </m:e>
                              <m:e>
                                <m:r>
                                  <a:rPr lang="en-US" altLang="zh-CN" i="1">
                                    <a:latin typeface="Cambria Math" panose="02040503050406030204" charset="0"/>
                                    <a:cs typeface="Cambria Math" panose="02040503050406030204" charset="0"/>
                                  </a:rPr>
                                  <m:t>⋮</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m:t>
                                </m:r>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2656141" y="3931221"/>
                <a:ext cx="1322070" cy="817880"/>
              </a:xfrm>
              <a:prstGeom prst="rect">
                <a:avLst/>
              </a:prstGeom>
              <a:blipFill rotWithShape="1">
                <a:blip r:embed="rId3"/>
                <a:stretch>
                  <a:fillRect l="-43" t="-70" r="43" b="7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407731" y="2693606"/>
                <a:ext cx="10243185" cy="94424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考虑一张二值化后的数字图像，现在我想要知道这张图像上哪些地方有 “聚集的团块”，即</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范围内</m:t>
                      </m:r>
                    </m:oMath>
                  </m:oMathPara>
                </a14:m>
                <a:endParaRPr lang="en-US" altLang="zh-CN" i="1">
                  <a:latin typeface="Cambria Math" panose="02040503050406030204" charset="0"/>
                  <a:cs typeface="Cambria Math" panose="02040503050406030204" charset="0"/>
                </a:endParaRPr>
              </a:p>
              <a:p>
                <a:pPr algn="l"/>
                <a:r>
                  <a:rPr lang="zh-CN" altLang="en-US">
                    <a:latin typeface="Cambria Math" panose="02040503050406030204" charset="0"/>
                    <a:cs typeface="Cambria Math" panose="02040503050406030204" charset="0"/>
                  </a:rPr>
                  <a:t>像素值均为</a:t>
                </a:r>
                <a:r>
                  <a:rPr lang="en-US" altLang="zh-CN">
                    <a:latin typeface="Cambria Math" panose="02040503050406030204" charset="0"/>
                    <a:cs typeface="Cambria Math" panose="02040503050406030204" charset="0"/>
                  </a:rPr>
                  <a:t>1</a:t>
                </a:r>
                <a:r>
                  <a:rPr lang="zh-CN" altLang="en-US">
                    <a:latin typeface="Cambria Math" panose="02040503050406030204" charset="0"/>
                    <a:cs typeface="Cambria Math" panose="02040503050406030204" charset="0"/>
                  </a:rPr>
                  <a:t>，那么该如何做？</a:t>
                </a:r>
                <a:endParaRPr lang="en-US" altLang="zh-CN">
                  <a:latin typeface="Cambria Math" panose="02040503050406030204" charset="0"/>
                  <a:cs typeface="Cambria Math" panose="02040503050406030204" charset="0"/>
                </a:endParaRPr>
              </a:p>
              <a:p>
                <a:pPr algn="l"/>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1407731" y="2693606"/>
                <a:ext cx="10243185" cy="944245"/>
              </a:xfrm>
              <a:prstGeom prst="rect">
                <a:avLst/>
              </a:prstGeom>
              <a:blipFill rotWithShape="1">
                <a:blip r:embed="rId4"/>
                <a:stretch>
                  <a:fillRect l="-6" t="-61" r="6" b="6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28675" y="1270635"/>
            <a:ext cx="22517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视觉实训</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609725" y="2821940"/>
            <a:ext cx="5676900" cy="368300"/>
          </a:xfrm>
          <a:prstGeom prst="rect">
            <a:avLst/>
          </a:prstGeom>
          <a:noFill/>
        </p:spPr>
        <p:txBody>
          <a:bodyPr wrap="square" rtlCol="0" anchor="t">
            <a:spAutoFit/>
          </a:bodyPr>
          <a:p>
            <a:pPr lvl="0" algn="ctr">
              <a:lnSpc>
                <a:spcPct val="100000"/>
              </a:lnSpc>
              <a:spcBef>
                <a:spcPts val="0"/>
              </a:spcBef>
              <a:spcAft>
                <a:spcPts val="0"/>
              </a:spcAft>
              <a:defRPr/>
            </a:pPr>
            <a:r>
              <a:rPr lang="zh-CN" altLang="en-US" sz="1800" b="1">
                <a:solidFill>
                  <a:schemeClr val="tx1"/>
                </a:solidFill>
                <a:sym typeface="+mn-ea"/>
              </a:rPr>
              <a:t>目前已发出5项(lab1_1~lab1_5)</a:t>
            </a:r>
            <a:r>
              <a:rPr lang="en-US" altLang="zh-CN" sz="1800" b="1">
                <a:solidFill>
                  <a:schemeClr val="tx1"/>
                </a:solidFill>
                <a:sym typeface="+mn-ea"/>
              </a:rPr>
              <a:t>,</a:t>
            </a:r>
            <a:r>
              <a:rPr lang="zh-CN" altLang="en-US" sz="1800" b="1">
                <a:solidFill>
                  <a:schemeClr val="tx1"/>
                </a:solidFill>
                <a:sym typeface="+mn-ea"/>
              </a:rPr>
              <a:t>更多的在路上</a:t>
            </a:r>
            <a:endParaRPr lang="zh-CN" altLang="en-US" sz="1800" b="1" dirty="0" smtClean="0">
              <a:solidFill>
                <a:schemeClr val="tx1"/>
              </a:solidFill>
              <a:latin typeface="微软雅黑" panose="020B0503020204020204" charset="-122"/>
              <a:ea typeface="微软雅黑" panose="020B0503020204020204" charset="-122"/>
              <a:sym typeface="+mn-ea"/>
            </a:endParaRPr>
          </a:p>
        </p:txBody>
      </p:sp>
      <p:sp>
        <p:nvSpPr>
          <p:cNvPr id="9" name="文本框 8"/>
          <p:cNvSpPr txBox="1"/>
          <p:nvPr/>
        </p:nvSpPr>
        <p:spPr>
          <a:xfrm>
            <a:off x="2000250" y="2211070"/>
            <a:ext cx="7371715" cy="368300"/>
          </a:xfrm>
          <a:prstGeom prst="rect">
            <a:avLst/>
          </a:prstGeom>
          <a:noFill/>
        </p:spPr>
        <p:txBody>
          <a:bodyPr wrap="square" rtlCol="0" anchor="t">
            <a:spAutoFit/>
          </a:bodyPr>
          <a:p>
            <a:r>
              <a:rPr lang="en-US" altLang="zh-CN" b="1">
                <a:sym typeface="+mn-ea"/>
              </a:rPr>
              <a:t>https://github.com/FirmamentumX/AirHUST_Vision_Tutorial</a:t>
            </a:r>
            <a:endParaRPr lang="en-US" altLang="zh-CN" b="1">
              <a:sym typeface="+mn-ea"/>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28675" y="1270635"/>
            <a:ext cx="22517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视觉实训</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609725" y="2821940"/>
            <a:ext cx="5676900" cy="368300"/>
          </a:xfrm>
          <a:prstGeom prst="rect">
            <a:avLst/>
          </a:prstGeom>
          <a:noFill/>
        </p:spPr>
        <p:txBody>
          <a:bodyPr wrap="square" rtlCol="0" anchor="t">
            <a:spAutoFit/>
          </a:bodyPr>
          <a:p>
            <a:pPr lvl="0" algn="ctr">
              <a:lnSpc>
                <a:spcPct val="100000"/>
              </a:lnSpc>
              <a:spcBef>
                <a:spcPts val="0"/>
              </a:spcBef>
              <a:spcAft>
                <a:spcPts val="0"/>
              </a:spcAft>
              <a:defRPr/>
            </a:pPr>
            <a:r>
              <a:rPr lang="zh-CN" altLang="en-US" sz="1800" b="1">
                <a:solidFill>
                  <a:schemeClr val="tx1"/>
                </a:solidFill>
                <a:sym typeface="+mn-ea"/>
              </a:rPr>
              <a:t>目前已发出5项(lab1_1~lab1_5)</a:t>
            </a:r>
            <a:r>
              <a:rPr lang="en-US" altLang="zh-CN" sz="1800" b="1">
                <a:solidFill>
                  <a:schemeClr val="tx1"/>
                </a:solidFill>
                <a:sym typeface="+mn-ea"/>
              </a:rPr>
              <a:t>,</a:t>
            </a:r>
            <a:r>
              <a:rPr lang="zh-CN" altLang="en-US" sz="1800" b="1">
                <a:solidFill>
                  <a:schemeClr val="tx1"/>
                </a:solidFill>
                <a:sym typeface="+mn-ea"/>
              </a:rPr>
              <a:t>更多的在路上</a:t>
            </a:r>
            <a:endParaRPr lang="zh-CN" altLang="en-US" sz="1800" b="1" dirty="0" smtClean="0">
              <a:solidFill>
                <a:schemeClr val="tx1"/>
              </a:solidFill>
              <a:latin typeface="微软雅黑" panose="020B0503020204020204" charset="-122"/>
              <a:ea typeface="微软雅黑" panose="020B0503020204020204" charset="-122"/>
              <a:sym typeface="+mn-ea"/>
            </a:endParaRPr>
          </a:p>
        </p:txBody>
      </p:sp>
      <p:sp>
        <p:nvSpPr>
          <p:cNvPr id="9" name="文本框 8"/>
          <p:cNvSpPr txBox="1"/>
          <p:nvPr/>
        </p:nvSpPr>
        <p:spPr>
          <a:xfrm>
            <a:off x="2000250" y="2211070"/>
            <a:ext cx="7371715" cy="368300"/>
          </a:xfrm>
          <a:prstGeom prst="rect">
            <a:avLst/>
          </a:prstGeom>
          <a:noFill/>
        </p:spPr>
        <p:txBody>
          <a:bodyPr wrap="square" rtlCol="0" anchor="t">
            <a:spAutoFit/>
          </a:bodyPr>
          <a:p>
            <a:r>
              <a:rPr lang="en-US" altLang="zh-CN" b="1">
                <a:sym typeface="+mn-ea"/>
              </a:rPr>
              <a:t>https://github.com/FirmamentumX/AirHUST_Vision_Tutorial</a:t>
            </a:r>
            <a:endParaRPr lang="en-US" altLang="zh-CN" b="1">
              <a:sym typeface="+mn-ea"/>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828675" y="1270635"/>
            <a:ext cx="22517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altLang="en-US" sz="3200" b="1" dirty="0" smtClean="0">
                <a:solidFill>
                  <a:schemeClr val="bg1"/>
                </a:solidFill>
                <a:latin typeface="微软雅黑" panose="020B0503020204020204" charset="-122"/>
                <a:ea typeface="微软雅黑" panose="020B0503020204020204" charset="-122"/>
                <a:sym typeface="+mn-ea"/>
              </a:rPr>
              <a:t>视觉实训</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文本框 3"/>
          <p:cNvSpPr txBox="1"/>
          <p:nvPr/>
        </p:nvSpPr>
        <p:spPr>
          <a:xfrm>
            <a:off x="1609725" y="2821940"/>
            <a:ext cx="5676900" cy="368300"/>
          </a:xfrm>
          <a:prstGeom prst="rect">
            <a:avLst/>
          </a:prstGeom>
          <a:noFill/>
        </p:spPr>
        <p:txBody>
          <a:bodyPr wrap="square" rtlCol="0" anchor="t">
            <a:spAutoFit/>
          </a:bodyPr>
          <a:p>
            <a:pPr lvl="0" algn="ctr">
              <a:lnSpc>
                <a:spcPct val="100000"/>
              </a:lnSpc>
              <a:spcBef>
                <a:spcPts val="0"/>
              </a:spcBef>
              <a:spcAft>
                <a:spcPts val="0"/>
              </a:spcAft>
              <a:defRPr/>
            </a:pPr>
            <a:r>
              <a:rPr lang="zh-CN" altLang="en-US" sz="1800" b="1">
                <a:solidFill>
                  <a:schemeClr val="tx1"/>
                </a:solidFill>
                <a:sym typeface="+mn-ea"/>
              </a:rPr>
              <a:t>目前已发出5项(lab1_1~lab1_5)</a:t>
            </a:r>
            <a:r>
              <a:rPr lang="en-US" altLang="zh-CN" sz="1800" b="1">
                <a:solidFill>
                  <a:schemeClr val="tx1"/>
                </a:solidFill>
                <a:sym typeface="+mn-ea"/>
              </a:rPr>
              <a:t>,</a:t>
            </a:r>
            <a:r>
              <a:rPr lang="zh-CN" altLang="en-US" sz="1800" b="1">
                <a:solidFill>
                  <a:schemeClr val="tx1"/>
                </a:solidFill>
                <a:sym typeface="+mn-ea"/>
              </a:rPr>
              <a:t>更多的在路上</a:t>
            </a:r>
            <a:endParaRPr lang="zh-CN" altLang="en-US" sz="1800" b="1" dirty="0" smtClean="0">
              <a:solidFill>
                <a:schemeClr val="tx1"/>
              </a:solidFill>
              <a:latin typeface="微软雅黑" panose="020B0503020204020204" charset="-122"/>
              <a:ea typeface="微软雅黑" panose="020B0503020204020204" charset="-122"/>
              <a:sym typeface="+mn-ea"/>
            </a:endParaRPr>
          </a:p>
        </p:txBody>
      </p:sp>
      <p:sp>
        <p:nvSpPr>
          <p:cNvPr id="9" name="文本框 8"/>
          <p:cNvSpPr txBox="1"/>
          <p:nvPr/>
        </p:nvSpPr>
        <p:spPr>
          <a:xfrm>
            <a:off x="2000250" y="2211070"/>
            <a:ext cx="7371715" cy="368300"/>
          </a:xfrm>
          <a:prstGeom prst="rect">
            <a:avLst/>
          </a:prstGeom>
          <a:noFill/>
        </p:spPr>
        <p:txBody>
          <a:bodyPr wrap="square" rtlCol="0" anchor="t">
            <a:spAutoFit/>
          </a:bodyPr>
          <a:p>
            <a:r>
              <a:rPr lang="en-US" altLang="zh-CN" b="1">
                <a:sym typeface="+mn-ea"/>
              </a:rPr>
              <a:t>https://github.com/FirmamentumX/AirHUST_Vision_Tutorial</a:t>
            </a:r>
            <a:endParaRPr lang="en-US" altLang="zh-CN" b="1">
              <a:sym typeface="+mn-ea"/>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01-03应用规范-已拓展-12"/>
          <p:cNvPicPr>
            <a:picLocks noChangeAspect="1"/>
          </p:cNvPicPr>
          <p:nvPr/>
        </p:nvPicPr>
        <p:blipFill>
          <a:blip r:embed="rId1"/>
          <a:stretch>
            <a:fillRect/>
          </a:stretch>
        </p:blipFill>
        <p:spPr>
          <a:xfrm>
            <a:off x="0" y="0"/>
            <a:ext cx="12192000" cy="6849110"/>
          </a:xfrm>
          <a:prstGeom prst="rect">
            <a:avLst/>
          </a:prstGeom>
        </p:spPr>
      </p:pic>
      <p:sp>
        <p:nvSpPr>
          <p:cNvPr id="6" name="文本框 5"/>
          <p:cNvSpPr txBox="1"/>
          <p:nvPr/>
        </p:nvSpPr>
        <p:spPr>
          <a:xfrm>
            <a:off x="719665" y="2921168"/>
            <a:ext cx="6925733" cy="1015663"/>
          </a:xfrm>
          <a:prstGeom prst="rect">
            <a:avLst/>
          </a:prstGeom>
          <a:noFill/>
        </p:spPr>
        <p:txBody>
          <a:bodyPr wrap="square" rtlCol="0">
            <a:spAutoFit/>
          </a:bodyPr>
          <a:lstStyle/>
          <a:p>
            <a:pPr algn="r"/>
            <a:r>
              <a:rPr kumimoji="1" lang="zh-CN" altLang="en-US" sz="6000" dirty="0" smtClean="0">
                <a:solidFill>
                  <a:srgbClr val="244B61"/>
                </a:solidFill>
                <a:latin typeface="微软雅黑" panose="020B0503020204020204" charset="-122"/>
                <a:ea typeface="微软雅黑" panose="020B0503020204020204" charset="-122"/>
                <a:cs typeface="微软雅黑" panose="020B0503020204020204" charset="-122"/>
              </a:rPr>
              <a:t>谢谢观看</a:t>
            </a:r>
            <a:endParaRPr kumimoji="1" lang="zh-CN" altLang="en-US" sz="6000" dirty="0">
              <a:solidFill>
                <a:srgbClr val="244B61"/>
              </a:solidFill>
              <a:latin typeface="微软雅黑" panose="020B0503020204020204" charset="-122"/>
              <a:ea typeface="微软雅黑" panose="020B0503020204020204" charset="-122"/>
              <a:cs typeface="微软雅黑" panose="020B0503020204020204" charset="-122"/>
            </a:endParaRPr>
          </a:p>
        </p:txBody>
      </p:sp>
      <p:sp>
        <p:nvSpPr>
          <p:cNvPr id="7" name="矩形 6"/>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2.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3.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4.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5.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6.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7.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ags/tag8.xml><?xml version="1.0" encoding="utf-8"?>
<p:tagLst xmlns:p="http://schemas.openxmlformats.org/presentationml/2006/main">
  <p:tag name="KSO_WM_DIAGRAM_VIRTUALLY_FRAME" val="{&quot;height&quot;:257.27889763779524,&quot;left&quot;:414.93259842519683,&quot;top&quot;:266.5030708661417,&quot;width&quot;:322.4980314960629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23223</Words>
  <Application>WPS 演示</Application>
  <PresentationFormat>宽屏</PresentationFormat>
  <Paragraphs>1226</Paragraphs>
  <Slides>114</Slides>
  <Notes>0</Notes>
  <HiddenSlides>0</HiddenSlides>
  <MMClips>0</MMClips>
  <ScaleCrop>false</ScaleCrop>
  <HeadingPairs>
    <vt:vector size="8" baseType="variant">
      <vt:variant>
        <vt:lpstr>已用的字体</vt:lpstr>
      </vt:variant>
      <vt:variant>
        <vt:i4>30</vt:i4>
      </vt:variant>
      <vt:variant>
        <vt:lpstr>主题</vt:lpstr>
      </vt:variant>
      <vt:variant>
        <vt:i4>1</vt:i4>
      </vt:variant>
      <vt:variant>
        <vt:lpstr>嵌入 OLE 服务器</vt:lpstr>
      </vt:variant>
      <vt:variant>
        <vt:i4>23</vt:i4>
      </vt:variant>
      <vt:variant>
        <vt:lpstr>幻灯片标题</vt:lpstr>
      </vt:variant>
      <vt:variant>
        <vt:i4>114</vt:i4>
      </vt:variant>
    </vt:vector>
  </HeadingPairs>
  <TitlesOfParts>
    <vt:vector size="168" baseType="lpstr">
      <vt:lpstr>Arial</vt:lpstr>
      <vt:lpstr>宋体</vt:lpstr>
      <vt:lpstr>Wingdings</vt:lpstr>
      <vt:lpstr>Arial</vt:lpstr>
      <vt:lpstr>微软雅黑</vt:lpstr>
      <vt:lpstr>quote-cjk-patch</vt:lpstr>
      <vt:lpstr>Segoe Print</vt:lpstr>
      <vt:lpstr>等线</vt:lpstr>
      <vt:lpstr>Arial Unicode MS</vt:lpstr>
      <vt:lpstr>等线 Light</vt:lpstr>
      <vt:lpstr>Cambria Math</vt:lpstr>
      <vt:lpstr>Times New Roman</vt:lpstr>
      <vt:lpstr>Tahoma</vt:lpstr>
      <vt:lpstr>黑体</vt:lpstr>
      <vt:lpstr>Gungsuh</vt:lpstr>
      <vt:lpstr>Malgun Gothic</vt:lpstr>
      <vt:lpstr>Consolas</vt:lpstr>
      <vt:lpstr>隶书</vt:lpstr>
      <vt:lpstr>Verdana</vt:lpstr>
      <vt:lpstr>Menlo</vt:lpstr>
      <vt:lpstr>KaTeX_Main</vt:lpstr>
      <vt:lpstr>KaTeX_Math</vt:lpstr>
      <vt:lpstr>Calibri</vt:lpstr>
      <vt:lpstr>Consolas</vt:lpstr>
      <vt:lpstr>Gungsuh</vt:lpstr>
      <vt:lpstr>KaTeX_Main</vt:lpstr>
      <vt:lpstr>KaTeX_Math</vt:lpstr>
      <vt:lpstr>Menlo</vt:lpstr>
      <vt:lpstr>Wingdings</vt:lpstr>
      <vt:lpstr>quote-cjk-patch</vt:lpstr>
      <vt:lpstr>Office 主题</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WPS_1694943563</cp:lastModifiedBy>
  <cp:revision>530</cp:revision>
  <dcterms:created xsi:type="dcterms:W3CDTF">2024-01-15T04:27:00Z</dcterms:created>
  <dcterms:modified xsi:type="dcterms:W3CDTF">2026-03-13T12:05:49Z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3D3F76F926CC88483CB4A465CF09CFFC</vt:lpwstr>
  </property>
  <property fmtid="{D5CDD505-2E9C-101B-9397-08002B2CF9AE}" pid="3" name="KSOProductBuildVer">
    <vt:lpwstr>2052-12.1.0.25225</vt:lpwstr>
  </property>
</Properties>
</file>