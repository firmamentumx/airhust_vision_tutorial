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3"/>
    <p:sldId id="259" r:id="rId4"/>
    <p:sldId id="257" r:id="rId5"/>
    <p:sldId id="262" r:id="rId6"/>
    <p:sldId id="263" r:id="rId7"/>
    <p:sldId id="264" r:id="rId8"/>
    <p:sldId id="265" r:id="rId9"/>
    <p:sldId id="266" r:id="rId10"/>
    <p:sldId id="267" r:id="rId11"/>
    <p:sldId id="268" r:id="rId12"/>
    <p:sldId id="269" r:id="rId13"/>
    <p:sldId id="270" r:id="rId14"/>
    <p:sldId id="271" r:id="rId15"/>
    <p:sldId id="273" r:id="rId16"/>
    <p:sldId id="272" r:id="rId17"/>
    <p:sldId id="274" r:id="rId18"/>
    <p:sldId id="275" r:id="rId19"/>
    <p:sldId id="276" r:id="rId20"/>
    <p:sldId id="277" r:id="rId21"/>
    <p:sldId id="278" r:id="rId22"/>
    <p:sldId id="280" r:id="rId23"/>
    <p:sldId id="281" r:id="rId24"/>
    <p:sldId id="282" r:id="rId25"/>
    <p:sldId id="283" r:id="rId26"/>
    <p:sldId id="284" r:id="rId27"/>
    <p:sldId id="298" r:id="rId28"/>
    <p:sldId id="299" r:id="rId29"/>
    <p:sldId id="300" r:id="rId30"/>
    <p:sldId id="285" r:id="rId31"/>
    <p:sldId id="287" r:id="rId32"/>
    <p:sldId id="289" r:id="rId33"/>
    <p:sldId id="291" r:id="rId34"/>
    <p:sldId id="292" r:id="rId35"/>
    <p:sldId id="293" r:id="rId36"/>
    <p:sldId id="294" r:id="rId37"/>
    <p:sldId id="295" r:id="rId38"/>
    <p:sldId id="296" r:id="rId39"/>
    <p:sldId id="301" r:id="rId40"/>
    <p:sldId id="302" r:id="rId41"/>
    <p:sldId id="303" r:id="rId42"/>
    <p:sldId id="304" r:id="rId43"/>
    <p:sldId id="305" r:id="rId44"/>
    <p:sldId id="307" r:id="rId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9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6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wmf"/><Relationship Id="rId3" Type="http://schemas.openxmlformats.org/officeDocument/2006/relationships/oleObject" Target="../embeddings/oleObject1.bin"/><Relationship Id="rId2" Type="http://schemas.openxmlformats.org/officeDocument/2006/relationships/image" Target="../media/image2.png"/><Relationship Id="rId10" Type="http://schemas.openxmlformats.org/officeDocument/2006/relationships/vmlDrawing" Target="../drawings/vmlDrawing1.v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1.xml"/><Relationship Id="rId7" Type="http://schemas.openxmlformats.org/officeDocument/2006/relationships/image" Target="../media/image17.png"/><Relationship Id="rId6" Type="http://schemas.openxmlformats.org/officeDocument/2006/relationships/image" Target="../media/image16.wmf"/><Relationship Id="rId5" Type="http://schemas.openxmlformats.org/officeDocument/2006/relationships/oleObject" Target="../embeddings/oleObject3.bin"/><Relationship Id="rId4" Type="http://schemas.openxmlformats.org/officeDocument/2006/relationships/image" Target="../media/image15.wmf"/><Relationship Id="rId3" Type="http://schemas.openxmlformats.org/officeDocument/2006/relationships/oleObject" Target="../embeddings/oleObject2.bin"/><Relationship Id="rId2" Type="http://schemas.openxmlformats.org/officeDocument/2006/relationships/image" Target="../media/image2.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1.xml"/><Relationship Id="rId7" Type="http://schemas.openxmlformats.org/officeDocument/2006/relationships/image" Target="../media/image20.wmf"/><Relationship Id="rId6" Type="http://schemas.openxmlformats.org/officeDocument/2006/relationships/oleObject" Target="../embeddings/oleObject5.bin"/><Relationship Id="rId5" Type="http://schemas.openxmlformats.org/officeDocument/2006/relationships/image" Target="../media/image19.wmf"/><Relationship Id="rId4" Type="http://schemas.openxmlformats.org/officeDocument/2006/relationships/oleObject" Target="../embeddings/oleObject4.bin"/><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9" Type="http://schemas.openxmlformats.org/officeDocument/2006/relationships/image" Target="../media/image31.png"/><Relationship Id="rId8" Type="http://schemas.openxmlformats.org/officeDocument/2006/relationships/image" Target="../media/image30.png"/><Relationship Id="rId7" Type="http://schemas.openxmlformats.org/officeDocument/2006/relationships/image" Target="../media/image29.png"/><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wmf"/><Relationship Id="rId3" Type="http://schemas.openxmlformats.org/officeDocument/2006/relationships/oleObject" Target="../embeddings/oleObject6.bin"/><Relationship Id="rId2" Type="http://schemas.openxmlformats.org/officeDocument/2006/relationships/image" Target="../media/image2.png"/><Relationship Id="rId11" Type="http://schemas.openxmlformats.org/officeDocument/2006/relationships/vmlDrawing" Target="../drawings/vmlDrawing4.vml"/><Relationship Id="rId10" Type="http://schemas.openxmlformats.org/officeDocument/2006/relationships/slideLayout" Target="../slideLayouts/slideLayout1.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2.png"/><Relationship Id="rId2" Type="http://schemas.openxmlformats.org/officeDocument/2006/relationships/image" Target="../media/image2.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32.png"/><Relationship Id="rId3"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image" Target="../media/image36.png"/><Relationship Id="rId7" Type="http://schemas.openxmlformats.org/officeDocument/2006/relationships/tags" Target="../tags/tag4.xml"/><Relationship Id="rId6" Type="http://schemas.openxmlformats.org/officeDocument/2006/relationships/image" Target="../media/image35.jpeg"/><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2.png"/><Relationship Id="rId19" Type="http://schemas.openxmlformats.org/officeDocument/2006/relationships/slideLayout" Target="../slideLayouts/slideLayout1.xml"/><Relationship Id="rId18" Type="http://schemas.openxmlformats.org/officeDocument/2006/relationships/tags" Target="../tags/tag12.xml"/><Relationship Id="rId17" Type="http://schemas.openxmlformats.org/officeDocument/2006/relationships/tags" Target="../tags/tag11.xml"/><Relationship Id="rId16" Type="http://schemas.openxmlformats.org/officeDocument/2006/relationships/tags" Target="../tags/tag10.xml"/><Relationship Id="rId15" Type="http://schemas.openxmlformats.org/officeDocument/2006/relationships/image" Target="../media/image38.jpeg"/><Relationship Id="rId14" Type="http://schemas.openxmlformats.org/officeDocument/2006/relationships/tags" Target="../tags/tag9.xml"/><Relationship Id="rId13" Type="http://schemas.openxmlformats.org/officeDocument/2006/relationships/image" Target="../media/image37.jpeg"/><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9.png"/><Relationship Id="rId2" Type="http://schemas.openxmlformats.org/officeDocument/2006/relationships/image" Target="../media/image2.png"/><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1.png"/><Relationship Id="rId2" Type="http://schemas.openxmlformats.org/officeDocument/2006/relationships/image" Target="../media/image2.png"/><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2.png"/><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2.png"/><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9.png"/><Relationship Id="rId2" Type="http://schemas.openxmlformats.org/officeDocument/2006/relationships/image" Target="../media/image2.png"/><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0.png"/><Relationship Id="rId2" Type="http://schemas.openxmlformats.org/officeDocument/2006/relationships/image" Target="../media/image2.png"/><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1.png"/><Relationship Id="rId2" Type="http://schemas.openxmlformats.org/officeDocument/2006/relationships/image" Target="../media/image2.png"/><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52.png"/><Relationship Id="rId3" Type="http://schemas.openxmlformats.org/officeDocument/2006/relationships/image" Target="../media/image47.png"/><Relationship Id="rId2" Type="http://schemas.openxmlformats.org/officeDocument/2006/relationships/image" Target="../media/image2.png"/><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5.png"/><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image" Target="../media/image2.png"/><Relationship Id="rId1" Type="http://schemas.openxmlformats.org/officeDocument/2006/relationships/image" Target="../media/image3.png"/></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58.png"/><Relationship Id="rId6" Type="http://schemas.openxmlformats.org/officeDocument/2006/relationships/image" Target="../media/image57.png"/><Relationship Id="rId5" Type="http://schemas.openxmlformats.org/officeDocument/2006/relationships/image" Target="../media/image55.png"/><Relationship Id="rId4" Type="http://schemas.openxmlformats.org/officeDocument/2006/relationships/image" Target="../media/image56.png"/><Relationship Id="rId3" Type="http://schemas.openxmlformats.org/officeDocument/2006/relationships/image" Target="../media/image53.png"/><Relationship Id="rId2" Type="http://schemas.openxmlformats.org/officeDocument/2006/relationships/image" Target="../media/image2.png"/><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62.png"/><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3" Type="http://schemas.openxmlformats.org/officeDocument/2006/relationships/image" Target="../media/image57.png"/><Relationship Id="rId2" Type="http://schemas.openxmlformats.org/officeDocument/2006/relationships/image" Target="../media/image2.png"/><Relationship Id="rId1" Type="http://schemas.openxmlformats.org/officeDocument/2006/relationships/image" Target="../media/image3.png"/></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image" Target="../media/image2.png"/><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1.xml"/><Relationship Id="rId6" Type="http://schemas.openxmlformats.org/officeDocument/2006/relationships/image" Target="../media/image66.wmf"/><Relationship Id="rId5" Type="http://schemas.openxmlformats.org/officeDocument/2006/relationships/oleObject" Target="../embeddings/oleObject8.bin"/><Relationship Id="rId4" Type="http://schemas.openxmlformats.org/officeDocument/2006/relationships/image" Target="../media/image65.wmf"/><Relationship Id="rId3" Type="http://schemas.openxmlformats.org/officeDocument/2006/relationships/oleObject" Target="../embeddings/oleObject7.bin"/><Relationship Id="rId2" Type="http://schemas.openxmlformats.org/officeDocument/2006/relationships/image" Target="../media/image2.png"/><Relationship Id="rId1" Type="http://schemas.openxmlformats.org/officeDocument/2006/relationships/image" Target="../media/image3.png"/></Relationships>
</file>

<file path=ppt/slides/_rels/slide3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2.png"/><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2.png"/><Relationship Id="rId3" Type="http://schemas.openxmlformats.org/officeDocument/2006/relationships/image" Target="../media/image71.png"/><Relationship Id="rId2" Type="http://schemas.openxmlformats.org/officeDocument/2006/relationships/image" Target="../media/image2.png"/><Relationship Id="rId1" Type="http://schemas.openxmlformats.org/officeDocument/2006/relationships/image" Target="../media/image3.png"/></Relationships>
</file>

<file path=ppt/slides/_rels/slide3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4.jpeg"/><Relationship Id="rId3" Type="http://schemas.openxmlformats.org/officeDocument/2006/relationships/image" Target="../media/image73.png"/><Relationship Id="rId2" Type="http://schemas.openxmlformats.org/officeDocument/2006/relationships/image" Target="../media/image2.png"/><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6.png"/><Relationship Id="rId3" Type="http://schemas.openxmlformats.org/officeDocument/2006/relationships/image" Target="../media/image75.png"/><Relationship Id="rId2" Type="http://schemas.openxmlformats.org/officeDocument/2006/relationships/image" Target="../media/image2.png"/><Relationship Id="rId1" Type="http://schemas.openxmlformats.org/officeDocument/2006/relationships/image" Target="../media/image3.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7.png"/><Relationship Id="rId2" Type="http://schemas.openxmlformats.org/officeDocument/2006/relationships/image" Target="../media/image2.png"/><Relationship Id="rId1" Type="http://schemas.openxmlformats.org/officeDocument/2006/relationships/image" Target="../media/image3.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8.png"/><Relationship Id="rId2" Type="http://schemas.openxmlformats.org/officeDocument/2006/relationships/image" Target="../media/image2.png"/><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9.png"/><Relationship Id="rId2" Type="http://schemas.openxmlformats.org/officeDocument/2006/relationships/image" Target="../media/image2.png"/><Relationship Id="rId1"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alphaModFix amt="4000"/>
            <a:extLst>
              <a:ext uri="{28A0092B-C50C-407E-A947-70E740481C1C}">
                <a14:useLocalDpi xmlns:a14="http://schemas.microsoft.com/office/drawing/2010/main" val="0"/>
              </a:ext>
            </a:extLst>
          </a:blip>
          <a:srcRect t="4939" r="28793" b="22469"/>
          <a:stretch>
            <a:fillRect/>
          </a:stretch>
        </p:blipFill>
        <p:spPr>
          <a:xfrm>
            <a:off x="2641601" y="902926"/>
            <a:ext cx="9550400" cy="5955074"/>
          </a:xfrm>
          <a:prstGeom prst="rect">
            <a:avLst/>
          </a:prstGeom>
        </p:spPr>
      </p:pic>
      <p:sp>
        <p:nvSpPr>
          <p:cNvPr id="4" name="文本框 3"/>
          <p:cNvSpPr txBox="1"/>
          <p:nvPr/>
        </p:nvSpPr>
        <p:spPr>
          <a:xfrm>
            <a:off x="2285999" y="2988871"/>
            <a:ext cx="7840133" cy="1014730"/>
          </a:xfrm>
          <a:prstGeom prst="rect">
            <a:avLst/>
          </a:prstGeom>
          <a:noFill/>
        </p:spPr>
        <p:txBody>
          <a:bodyPr wrap="square" rtlCol="0">
            <a:spAutoFit/>
          </a:bodyPr>
          <a:lstStyle/>
          <a:p>
            <a:pPr algn="just"/>
            <a:r>
              <a:rPr kumimoji="1" lang="zh-CN" altLang="en-US" sz="20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涉及而不限于以下课程的知识点</a:t>
            </a:r>
            <a:r>
              <a:rPr kumimoji="1" lang="en-US" altLang="zh-CN" sz="20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a:t>
            </a:r>
            <a:endParaRPr kumimoji="1" lang="en-US" altLang="zh-CN" sz="20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pPr algn="just"/>
            <a:r>
              <a:rPr kumimoji="1" lang="zh-CN" altLang="en-US" sz="20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线性代数</a:t>
            </a:r>
            <a:r>
              <a:rPr kumimoji="1" lang="en-US" altLang="zh-CN" sz="20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 </a:t>
            </a:r>
            <a:r>
              <a:rPr kumimoji="1" lang="zh-CN" altLang="en-US" sz="20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数字图像处理，模式识别，机器学习，计算机视觉，深度学习</a:t>
            </a:r>
            <a:r>
              <a:rPr kumimoji="1" lang="en-US" altLang="zh-CN" sz="20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a:t>
            </a:r>
            <a:endParaRPr kumimoji="1" lang="en-US" altLang="zh-CN" sz="20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2203450" y="1875155"/>
            <a:ext cx="3048000" cy="583565"/>
          </a:xfrm>
          <a:prstGeom prst="rect">
            <a:avLst/>
          </a:prstGeom>
          <a:noFill/>
        </p:spPr>
        <p:txBody>
          <a:bodyPr wrap="square" rtlCol="0">
            <a:spAutoFit/>
          </a:bodyPr>
          <a:lstStyle/>
          <a:p>
            <a:r>
              <a:rPr kumimoji="1" lang="zh-CN" altLang="en-US" sz="3200" b="1" dirty="0" smtClean="0">
                <a:latin typeface="微软雅黑" panose="020B0503020204020204" charset="-122"/>
                <a:ea typeface="微软雅黑" panose="020B0503020204020204" charset="-122"/>
                <a:cs typeface="微软雅黑" panose="020B0503020204020204" charset="-122"/>
              </a:rPr>
              <a:t>计算机视觉初步</a:t>
            </a:r>
            <a:endParaRPr kumimoji="1" lang="zh-CN" altLang="en-US" sz="3200" b="1" dirty="0">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flipV="1">
            <a:off x="4244975" y="2772623"/>
            <a:ext cx="6129867" cy="45719"/>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descr="资源 5"/>
          <p:cNvPicPr>
            <a:picLocks noChangeAspect="1"/>
          </p:cNvPicPr>
          <p:nvPr/>
        </p:nvPicPr>
        <p:blipFill>
          <a:blip r:embed="rId2"/>
          <a:stretch>
            <a:fillRect/>
          </a:stretch>
        </p:blipFill>
        <p:spPr>
          <a:xfrm>
            <a:off x="344170" y="333375"/>
            <a:ext cx="2924175" cy="666750"/>
          </a:xfrm>
          <a:prstGeom prst="rect">
            <a:avLst/>
          </a:prstGeom>
        </p:spPr>
      </p:pic>
      <p:sp>
        <p:nvSpPr>
          <p:cNvPr id="2" name="矩形 1"/>
          <p:cNvSpPr/>
          <p:nvPr/>
        </p:nvSpPr>
        <p:spPr>
          <a:xfrm>
            <a:off x="8876665" y="2296160"/>
            <a:ext cx="1249680" cy="521970"/>
          </a:xfrm>
          <a:prstGeom prst="rect">
            <a:avLst/>
          </a:prstGeom>
          <a:noFill/>
          <a:ln>
            <a:noFill/>
          </a:ln>
        </p:spPr>
        <p:txBody>
          <a:bodyPr wrap="none" rtlCol="0" anchor="t">
            <a:spAutoFit/>
            <a:scene3d>
              <a:camera prst="orthographicFront"/>
              <a:lightRig rig="threePt" dir="t"/>
            </a:scene3d>
          </a:bodyPr>
          <a:p>
            <a:pPr algn="ctr"/>
            <a:r>
              <a:rPr lang="zh-CN" altLang="en-US" sz="2800" b="1">
                <a:ln w="9525">
                  <a:solidFill>
                    <a:schemeClr val="bg1"/>
                  </a:solidFill>
                  <a:prstDash val="solid"/>
                </a:ln>
                <a:solidFill>
                  <a:schemeClr val="tx1"/>
                </a:solidFill>
                <a:effectLst>
                  <a:outerShdw blurRad="12700" dist="38100" dir="2700000" algn="tl" rotWithShape="0">
                    <a:schemeClr val="bg1">
                      <a:lumMod val="50000"/>
                    </a:schemeClr>
                  </a:outerShdw>
                </a:effectLst>
              </a:rPr>
              <a:t>周宇童</a:t>
            </a:r>
            <a:endParaRPr lang="zh-CN" altLang="en-US" sz="2800"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206489" y="1720372"/>
            <a:ext cx="3117231" cy="523220"/>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sp>
        <p:nvSpPr>
          <p:cNvPr id="6" name="矩形 5"/>
          <p:cNvSpPr/>
          <p:nvPr/>
        </p:nvSpPr>
        <p:spPr>
          <a:xfrm>
            <a:off x="4348979" y="1675750"/>
            <a:ext cx="2832252" cy="584775"/>
          </a:xfrm>
          <a:prstGeom prst="rect">
            <a:avLst/>
          </a:prstGeom>
        </p:spPr>
        <p:txBody>
          <a:bodyPr wrap="square" anchor="ctr">
            <a:spAutoFit/>
          </a:bodyPr>
          <a:lstStyle>
            <a:defPPr>
              <a:defRPr lang="zh-CN"/>
            </a:defPPr>
            <a:lvl1pPr marL="0" algn="l" defTabSz="975995" rtl="0" eaLnBrk="1" latinLnBrk="0" hangingPunct="1">
              <a:defRPr sz="1920" kern="1200">
                <a:solidFill>
                  <a:schemeClr val="tx1"/>
                </a:solidFill>
                <a:latin typeface="+mn-lt"/>
                <a:ea typeface="+mn-ea"/>
                <a:cs typeface="+mn-cs"/>
              </a:defRPr>
            </a:lvl1pPr>
            <a:lvl2pPr marL="488315" algn="l" defTabSz="975995" rtl="0" eaLnBrk="1" latinLnBrk="0" hangingPunct="1">
              <a:defRPr sz="1920" kern="1200">
                <a:solidFill>
                  <a:schemeClr val="tx1"/>
                </a:solidFill>
                <a:latin typeface="+mn-lt"/>
                <a:ea typeface="+mn-ea"/>
                <a:cs typeface="+mn-cs"/>
              </a:defRPr>
            </a:lvl2pPr>
            <a:lvl3pPr marL="975995" algn="l" defTabSz="975995" rtl="0" eaLnBrk="1" latinLnBrk="0" hangingPunct="1">
              <a:defRPr sz="1920" kern="1200">
                <a:solidFill>
                  <a:schemeClr val="tx1"/>
                </a:solidFill>
                <a:latin typeface="+mn-lt"/>
                <a:ea typeface="+mn-ea"/>
                <a:cs typeface="+mn-cs"/>
              </a:defRPr>
            </a:lvl3pPr>
            <a:lvl4pPr marL="1464310" algn="l" defTabSz="975995" rtl="0" eaLnBrk="1" latinLnBrk="0" hangingPunct="1">
              <a:defRPr sz="1920" kern="1200">
                <a:solidFill>
                  <a:schemeClr val="tx1"/>
                </a:solidFill>
                <a:latin typeface="+mn-lt"/>
                <a:ea typeface="+mn-ea"/>
                <a:cs typeface="+mn-cs"/>
              </a:defRPr>
            </a:lvl4pPr>
            <a:lvl5pPr marL="1952625" algn="l" defTabSz="975995" rtl="0" eaLnBrk="1" latinLnBrk="0" hangingPunct="1">
              <a:defRPr sz="1920" kern="1200">
                <a:solidFill>
                  <a:schemeClr val="tx1"/>
                </a:solidFill>
                <a:latin typeface="+mn-lt"/>
                <a:ea typeface="+mn-ea"/>
                <a:cs typeface="+mn-cs"/>
              </a:defRPr>
            </a:lvl5pPr>
            <a:lvl6pPr marL="2440305" algn="l" defTabSz="975995" rtl="0" eaLnBrk="1" latinLnBrk="0" hangingPunct="1">
              <a:defRPr sz="1920" kern="1200">
                <a:solidFill>
                  <a:schemeClr val="tx1"/>
                </a:solidFill>
                <a:latin typeface="+mn-lt"/>
                <a:ea typeface="+mn-ea"/>
                <a:cs typeface="+mn-cs"/>
              </a:defRPr>
            </a:lvl6pPr>
            <a:lvl7pPr marL="2928620" algn="l" defTabSz="975995" rtl="0" eaLnBrk="1" latinLnBrk="0" hangingPunct="1">
              <a:defRPr sz="1920" kern="1200">
                <a:solidFill>
                  <a:schemeClr val="tx1"/>
                </a:solidFill>
                <a:latin typeface="+mn-lt"/>
                <a:ea typeface="+mn-ea"/>
                <a:cs typeface="+mn-cs"/>
              </a:defRPr>
            </a:lvl7pPr>
            <a:lvl8pPr marL="3416935" algn="l" defTabSz="975995" rtl="0" eaLnBrk="1" latinLnBrk="0" hangingPunct="1">
              <a:defRPr sz="1920" kern="1200">
                <a:solidFill>
                  <a:schemeClr val="tx1"/>
                </a:solidFill>
                <a:latin typeface="+mn-lt"/>
                <a:ea typeface="+mn-ea"/>
                <a:cs typeface="+mn-cs"/>
              </a:defRPr>
            </a:lvl8pPr>
            <a:lvl9pPr marL="3904615" algn="l" defTabSz="975995" rtl="0" eaLnBrk="1" latinLnBrk="0" hangingPunct="1">
              <a:defRPr sz="1920" kern="1200">
                <a:solidFill>
                  <a:schemeClr val="tx1"/>
                </a:solidFill>
                <a:latin typeface="+mn-lt"/>
                <a:ea typeface="+mn-ea"/>
                <a:cs typeface="+mn-cs"/>
              </a:defRPr>
            </a:lvl9pPr>
          </a:lstStyle>
          <a:p>
            <a:pPr algn="ctr"/>
            <a:r>
              <a:rPr lang="zh-CN" altLang="en-US" sz="3200" b="1" dirty="0" smtClean="0">
                <a:solidFill>
                  <a:schemeClr val="bg1"/>
                </a:solidFill>
                <a:latin typeface="微软雅黑" panose="020B0503020204020204" charset="-122"/>
                <a:ea typeface="微软雅黑" panose="020B0503020204020204" charset="-122"/>
              </a:rPr>
              <a:t>目      录</a:t>
            </a:r>
            <a:endParaRPr lang="zh-CN" altLang="en-US" sz="3200" b="1" dirty="0">
              <a:solidFill>
                <a:schemeClr val="bg1"/>
              </a:solidFill>
              <a:latin typeface="微软雅黑" panose="020B0503020204020204" charset="-122"/>
              <a:ea typeface="微软雅黑" panose="020B0503020204020204" charset="-122"/>
            </a:endParaRPr>
          </a:p>
        </p:txBody>
      </p:sp>
      <p:sp>
        <p:nvSpPr>
          <p:cNvPr id="7" name="文本框 6"/>
          <p:cNvSpPr txBox="1"/>
          <p:nvPr/>
        </p:nvSpPr>
        <p:spPr>
          <a:xfrm>
            <a:off x="3701415" y="2689225"/>
            <a:ext cx="4706620" cy="2861310"/>
          </a:xfrm>
          <a:prstGeom prst="rect">
            <a:avLst/>
          </a:prstGeom>
          <a:noFill/>
        </p:spPr>
        <p:txBody>
          <a:bodyPr wrap="square" rtlCol="0">
            <a:spAutoFit/>
          </a:bodyPr>
          <a:lstStyle>
            <a:defPPr>
              <a:defRPr lang="zh-CN"/>
            </a:defPPr>
            <a:lvl1pPr marL="0" algn="l" defTabSz="975995" rtl="0" eaLnBrk="1" latinLnBrk="0" hangingPunct="1">
              <a:defRPr sz="1920" kern="1200">
                <a:solidFill>
                  <a:schemeClr val="tx1"/>
                </a:solidFill>
                <a:latin typeface="+mn-lt"/>
                <a:ea typeface="+mn-ea"/>
                <a:cs typeface="+mn-cs"/>
              </a:defRPr>
            </a:lvl1pPr>
            <a:lvl2pPr marL="488315" algn="l" defTabSz="975995" rtl="0" eaLnBrk="1" latinLnBrk="0" hangingPunct="1">
              <a:defRPr sz="1920" kern="1200">
                <a:solidFill>
                  <a:schemeClr val="tx1"/>
                </a:solidFill>
                <a:latin typeface="+mn-lt"/>
                <a:ea typeface="+mn-ea"/>
                <a:cs typeface="+mn-cs"/>
              </a:defRPr>
            </a:lvl2pPr>
            <a:lvl3pPr marL="975995" algn="l" defTabSz="975995" rtl="0" eaLnBrk="1" latinLnBrk="0" hangingPunct="1">
              <a:defRPr sz="1920" kern="1200">
                <a:solidFill>
                  <a:schemeClr val="tx1"/>
                </a:solidFill>
                <a:latin typeface="+mn-lt"/>
                <a:ea typeface="+mn-ea"/>
                <a:cs typeface="+mn-cs"/>
              </a:defRPr>
            </a:lvl3pPr>
            <a:lvl4pPr marL="1464310" algn="l" defTabSz="975995" rtl="0" eaLnBrk="1" latinLnBrk="0" hangingPunct="1">
              <a:defRPr sz="1920" kern="1200">
                <a:solidFill>
                  <a:schemeClr val="tx1"/>
                </a:solidFill>
                <a:latin typeface="+mn-lt"/>
                <a:ea typeface="+mn-ea"/>
                <a:cs typeface="+mn-cs"/>
              </a:defRPr>
            </a:lvl4pPr>
            <a:lvl5pPr marL="1952625" algn="l" defTabSz="975995" rtl="0" eaLnBrk="1" latinLnBrk="0" hangingPunct="1">
              <a:defRPr sz="1920" kern="1200">
                <a:solidFill>
                  <a:schemeClr val="tx1"/>
                </a:solidFill>
                <a:latin typeface="+mn-lt"/>
                <a:ea typeface="+mn-ea"/>
                <a:cs typeface="+mn-cs"/>
              </a:defRPr>
            </a:lvl5pPr>
            <a:lvl6pPr marL="2440305" algn="l" defTabSz="975995" rtl="0" eaLnBrk="1" latinLnBrk="0" hangingPunct="1">
              <a:defRPr sz="1920" kern="1200">
                <a:solidFill>
                  <a:schemeClr val="tx1"/>
                </a:solidFill>
                <a:latin typeface="+mn-lt"/>
                <a:ea typeface="+mn-ea"/>
                <a:cs typeface="+mn-cs"/>
              </a:defRPr>
            </a:lvl6pPr>
            <a:lvl7pPr marL="2928620" algn="l" defTabSz="975995" rtl="0" eaLnBrk="1" latinLnBrk="0" hangingPunct="1">
              <a:defRPr sz="1920" kern="1200">
                <a:solidFill>
                  <a:schemeClr val="tx1"/>
                </a:solidFill>
                <a:latin typeface="+mn-lt"/>
                <a:ea typeface="+mn-ea"/>
                <a:cs typeface="+mn-cs"/>
              </a:defRPr>
            </a:lvl7pPr>
            <a:lvl8pPr marL="3416935" algn="l" defTabSz="975995" rtl="0" eaLnBrk="1" latinLnBrk="0" hangingPunct="1">
              <a:defRPr sz="1920" kern="1200">
                <a:solidFill>
                  <a:schemeClr val="tx1"/>
                </a:solidFill>
                <a:latin typeface="+mn-lt"/>
                <a:ea typeface="+mn-ea"/>
                <a:cs typeface="+mn-cs"/>
              </a:defRPr>
            </a:lvl8pPr>
            <a:lvl9pPr marL="3904615" algn="l" defTabSz="975995" rtl="0" eaLnBrk="1" latinLnBrk="0" hangingPunct="1">
              <a:defRPr sz="1920" kern="1200">
                <a:solidFill>
                  <a:schemeClr val="tx1"/>
                </a:solidFill>
                <a:latin typeface="+mn-lt"/>
                <a:ea typeface="+mn-ea"/>
                <a:cs typeface="+mn-cs"/>
              </a:defRPr>
            </a:lvl9pPr>
          </a:lstStyle>
          <a:p>
            <a:pPr marL="457200" lvl="1" algn="l">
              <a:lnSpc>
                <a:spcPct val="150000"/>
              </a:lnSpc>
              <a:buClrTx/>
              <a:buSzTx/>
              <a:buFontTx/>
            </a:pPr>
            <a:r>
              <a:rPr lang="en-US" altLang="zh-CN" sz="2400" dirty="0" smtClean="0">
                <a:solidFill>
                  <a:srgbClr val="065980"/>
                </a:solidFill>
                <a:latin typeface="微软雅黑" panose="020B0503020204020204" charset="-122"/>
                <a:ea typeface="微软雅黑" panose="020B0503020204020204" charset="-122"/>
              </a:rPr>
              <a:t>01、相机原理和变换矩阵</a:t>
            </a:r>
            <a:endParaRPr lang="en-US" altLang="zh-CN" sz="2400" dirty="0" smtClean="0">
              <a:solidFill>
                <a:srgbClr val="065980"/>
              </a:solidFill>
              <a:latin typeface="微软雅黑" panose="020B0503020204020204" charset="-122"/>
              <a:ea typeface="微软雅黑" panose="020B0503020204020204" charset="-122"/>
            </a:endParaRPr>
          </a:p>
          <a:p>
            <a:pPr marL="457200" lvl="1">
              <a:lnSpc>
                <a:spcPct val="150000"/>
              </a:lnSpc>
            </a:pPr>
            <a:r>
              <a:rPr lang="en-US" altLang="zh-CN" sz="2400" i="1" dirty="0" smtClean="0">
                <a:solidFill>
                  <a:srgbClr val="065980"/>
                </a:solidFill>
                <a:latin typeface="微软雅黑" panose="020B0503020204020204" charset="-122"/>
                <a:ea typeface="微软雅黑" panose="020B0503020204020204" charset="-122"/>
              </a:rPr>
              <a:t>02</a:t>
            </a:r>
            <a:r>
              <a:rPr lang="zh-CN" altLang="en-US" sz="2400" i="1" dirty="0" smtClean="0">
                <a:solidFill>
                  <a:srgbClr val="065980"/>
                </a:solidFill>
                <a:latin typeface="微软雅黑" panose="020B0503020204020204" charset="-122"/>
                <a:ea typeface="微软雅黑" panose="020B0503020204020204" charset="-122"/>
              </a:rPr>
              <a:t>、</a:t>
            </a:r>
            <a:r>
              <a:rPr lang="zh-CN" altLang="en-US" sz="2400" dirty="0" smtClean="0">
                <a:solidFill>
                  <a:srgbClr val="065980"/>
                </a:solidFill>
                <a:latin typeface="微软雅黑" panose="020B0503020204020204" charset="-122"/>
                <a:ea typeface="微软雅黑" panose="020B0503020204020204" charset="-122"/>
              </a:rPr>
              <a:t>图像原理和</a:t>
            </a:r>
            <a:r>
              <a:rPr lang="en-US" altLang="zh-CN" sz="2400" dirty="0" smtClean="0">
                <a:solidFill>
                  <a:srgbClr val="065980"/>
                </a:solidFill>
                <a:latin typeface="微软雅黑" panose="020B0503020204020204" charset="-122"/>
                <a:ea typeface="微软雅黑" panose="020B0503020204020204" charset="-122"/>
              </a:rPr>
              <a:t>OpenCV</a:t>
            </a:r>
            <a:r>
              <a:rPr lang="zh-CN" altLang="en-US" sz="2400" dirty="0" smtClean="0">
                <a:solidFill>
                  <a:srgbClr val="065980"/>
                </a:solidFill>
                <a:latin typeface="微软雅黑" panose="020B0503020204020204" charset="-122"/>
                <a:ea typeface="微软雅黑" panose="020B0503020204020204" charset="-122"/>
              </a:rPr>
              <a:t>基础</a:t>
            </a:r>
            <a:endParaRPr lang="zh-CN" altLang="en-US" sz="2400" dirty="0" smtClean="0">
              <a:solidFill>
                <a:srgbClr val="065980"/>
              </a:solidFill>
              <a:latin typeface="微软雅黑" panose="020B0503020204020204" charset="-122"/>
              <a:ea typeface="微软雅黑" panose="020B0503020204020204" charset="-122"/>
            </a:endParaRPr>
          </a:p>
          <a:p>
            <a:pPr marL="457200" lvl="1" indent="457200">
              <a:lnSpc>
                <a:spcPct val="150000"/>
              </a:lnSpc>
            </a:pPr>
            <a:r>
              <a:rPr lang="en-US" altLang="zh-CN" sz="2400" dirty="0" smtClean="0">
                <a:solidFill>
                  <a:srgbClr val="FF0000"/>
                </a:solidFill>
                <a:latin typeface="微软雅黑" panose="020B0503020204020204" charset="-122"/>
                <a:ea typeface="微软雅黑" panose="020B0503020204020204" charset="-122"/>
              </a:rPr>
              <a:t>-&gt; </a:t>
            </a:r>
            <a:r>
              <a:rPr lang="zh-CN" altLang="en-US" sz="2400" dirty="0" smtClean="0">
                <a:solidFill>
                  <a:srgbClr val="FF0000"/>
                </a:solidFill>
                <a:latin typeface="微软雅黑" panose="020B0503020204020204" charset="-122"/>
                <a:ea typeface="微软雅黑" panose="020B0503020204020204" charset="-122"/>
              </a:rPr>
              <a:t>集合论、形态学与卷积</a:t>
            </a:r>
            <a:endParaRPr lang="en-US" altLang="zh-CN" sz="2400" dirty="0" smtClean="0">
              <a:solidFill>
                <a:srgbClr val="065980"/>
              </a:solidFill>
              <a:latin typeface="微软雅黑" panose="020B0503020204020204" charset="-122"/>
              <a:ea typeface="微软雅黑" panose="020B0503020204020204" charset="-122"/>
            </a:endParaRPr>
          </a:p>
          <a:p>
            <a:pPr marL="457200" lvl="1">
              <a:lnSpc>
                <a:spcPct val="150000"/>
              </a:lnSpc>
            </a:pPr>
            <a:r>
              <a:rPr lang="en-US" altLang="zh-CN" sz="2400" i="1" dirty="0" smtClean="0">
                <a:solidFill>
                  <a:srgbClr val="065980"/>
                </a:solidFill>
                <a:latin typeface="微软雅黑" panose="020B0503020204020204" charset="-122"/>
                <a:ea typeface="微软雅黑" panose="020B0503020204020204" charset="-122"/>
              </a:rPr>
              <a:t>03</a:t>
            </a:r>
            <a:r>
              <a:rPr lang="zh-CN" altLang="en-US" sz="2400" i="1" dirty="0" smtClean="0">
                <a:solidFill>
                  <a:srgbClr val="065980"/>
                </a:solidFill>
                <a:latin typeface="微软雅黑" panose="020B0503020204020204" charset="-122"/>
                <a:ea typeface="微软雅黑" panose="020B0503020204020204" charset="-122"/>
              </a:rPr>
              <a:t>、</a:t>
            </a:r>
            <a:r>
              <a:rPr lang="zh-CN" altLang="en-US" sz="2400" i="1" dirty="0" smtClean="0">
                <a:solidFill>
                  <a:srgbClr val="065980"/>
                </a:solidFill>
                <a:latin typeface="微软雅黑" panose="020B0503020204020204" charset="-122"/>
                <a:ea typeface="微软雅黑" panose="020B0503020204020204" charset="-122"/>
                <a:sym typeface="+mn-ea"/>
              </a:rPr>
              <a:t>深度学习和目标检测</a:t>
            </a:r>
            <a:endParaRPr lang="en-US" altLang="zh-CN" sz="2400" i="1" dirty="0" smtClean="0">
              <a:solidFill>
                <a:srgbClr val="065980"/>
              </a:solidFill>
              <a:latin typeface="微软雅黑" panose="020B0503020204020204" charset="-122"/>
              <a:ea typeface="微软雅黑" panose="020B0503020204020204" charset="-122"/>
            </a:endParaRPr>
          </a:p>
          <a:p>
            <a:pPr marL="457200" lvl="1">
              <a:lnSpc>
                <a:spcPct val="150000"/>
              </a:lnSpc>
            </a:pPr>
            <a:r>
              <a:rPr lang="en-US" altLang="zh-CN" sz="2400" i="1" dirty="0" smtClean="0">
                <a:solidFill>
                  <a:srgbClr val="065980"/>
                </a:solidFill>
                <a:latin typeface="微软雅黑" panose="020B0503020204020204" charset="-122"/>
                <a:ea typeface="微软雅黑" panose="020B0503020204020204" charset="-122"/>
              </a:rPr>
              <a:t>04</a:t>
            </a:r>
            <a:r>
              <a:rPr lang="zh-CN" altLang="en-US" sz="2400" i="1" dirty="0" smtClean="0">
                <a:solidFill>
                  <a:srgbClr val="065980"/>
                </a:solidFill>
                <a:latin typeface="微软雅黑" panose="020B0503020204020204" charset="-122"/>
                <a:ea typeface="微软雅黑" panose="020B0503020204020204" charset="-122"/>
              </a:rPr>
              <a:t>、</a:t>
            </a:r>
            <a:r>
              <a:rPr lang="zh-CN" altLang="en-US" sz="2400" i="1" dirty="0" smtClean="0">
                <a:solidFill>
                  <a:srgbClr val="065980"/>
                </a:solidFill>
                <a:latin typeface="微软雅黑" panose="020B0503020204020204" charset="-122"/>
                <a:ea typeface="微软雅黑" panose="020B0503020204020204" charset="-122"/>
                <a:sym typeface="+mn-ea"/>
              </a:rPr>
              <a:t>视觉</a:t>
            </a:r>
            <a:r>
              <a:rPr lang="en-US" altLang="zh-CN" sz="2400" i="1" dirty="0" smtClean="0">
                <a:solidFill>
                  <a:srgbClr val="065980"/>
                </a:solidFill>
                <a:latin typeface="微软雅黑" panose="020B0503020204020204" charset="-122"/>
                <a:ea typeface="微软雅黑" panose="020B0503020204020204" charset="-122"/>
                <a:sym typeface="+mn-ea"/>
              </a:rPr>
              <a:t> + ROS</a:t>
            </a:r>
            <a:endParaRPr lang="en-US" altLang="zh-CN" sz="2400" i="1" dirty="0" smtClean="0">
              <a:solidFill>
                <a:srgbClr val="065980"/>
              </a:solidFill>
              <a:latin typeface="微软雅黑" panose="020B0503020204020204" charset="-122"/>
              <a:ea typeface="微软雅黑" panose="020B0503020204020204" charset="-122"/>
            </a:endParaRPr>
          </a:p>
        </p:txBody>
      </p:sp>
      <p:pic>
        <p:nvPicPr>
          <p:cNvPr id="4" name="图片 3" descr="资源 5"/>
          <p:cNvPicPr>
            <a:picLocks noChangeAspect="1"/>
          </p:cNvPicPr>
          <p:nvPr/>
        </p:nvPicPr>
        <p:blipFill>
          <a:blip r:embed="rId2"/>
          <a:stretch>
            <a:fillRect/>
          </a:stretch>
        </p:blipFill>
        <p:spPr>
          <a:xfrm>
            <a:off x="344170" y="333375"/>
            <a:ext cx="2924175" cy="66675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948690" y="1270635"/>
            <a:ext cx="404241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形态学图像处理</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463040" y="2161540"/>
            <a:ext cx="6853555" cy="368300"/>
          </a:xfrm>
          <a:prstGeom prst="rect">
            <a:avLst/>
          </a:prstGeom>
          <a:noFill/>
        </p:spPr>
        <p:txBody>
          <a:bodyPr wrap="square" rtlCol="0">
            <a:spAutoFit/>
          </a:bodyPr>
          <a:p>
            <a:r>
              <a:rPr lang="zh-CN" altLang="en-US"/>
              <a:t>如何从数字图像中提取出感兴趣的形状？</a:t>
            </a:r>
            <a:endParaRPr lang="zh-CN" altLang="en-US"/>
          </a:p>
        </p:txBody>
      </p:sp>
      <mc:AlternateContent xmlns:mc="http://schemas.openxmlformats.org/markup-compatibility/2006">
        <mc:Choice xmlns:a14="http://schemas.microsoft.com/office/drawing/2010/main" Requires="a14">
          <p:sp>
            <p:nvSpPr>
              <p:cNvPr id="10" name="文本框 9"/>
              <p:cNvSpPr txBox="1"/>
              <p:nvPr/>
            </p:nvSpPr>
            <p:spPr>
              <a:xfrm>
                <a:off x="1407731" y="2693606"/>
                <a:ext cx="10109200" cy="157734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考虑一张二值化后的数字图像，现在我想要知道这张图像上哪些地方有 “聚集的团块”(即</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范围内</m:t>
                      </m:r>
                    </m:oMath>
                  </m:oMathPara>
                </a14:m>
                <a:endParaRPr lang="en-US" altLang="zh-CN" i="1">
                  <a:latin typeface="Cambria Math" panose="02040503050406030204" charset="0"/>
                  <a:cs typeface="Cambria Math" panose="02040503050406030204" charset="0"/>
                </a:endParaRPr>
              </a:p>
              <a:p>
                <a:pPr algn="l"/>
                <a:r>
                  <a:rPr lang="zh-CN" altLang="en-US">
                    <a:latin typeface="Cambria Math" panose="02040503050406030204" charset="0"/>
                    <a:cs typeface="Cambria Math" panose="02040503050406030204" charset="0"/>
                  </a:rPr>
                  <a:t>像素值均为</a:t>
                </a:r>
                <a:r>
                  <a:rPr lang="en-US" altLang="zh-CN">
                    <a:latin typeface="Cambria Math" panose="02040503050406030204" charset="0"/>
                    <a:cs typeface="Cambria Math" panose="02040503050406030204" charset="0"/>
                  </a:rPr>
                  <a:t>1)</a:t>
                </a:r>
                <a:r>
                  <a:rPr lang="zh-CN" altLang="en-US">
                    <a:latin typeface="Cambria Math" panose="02040503050406030204" charset="0"/>
                    <a:cs typeface="Cambria Math" panose="02040503050406030204" charset="0"/>
                  </a:rPr>
                  <a:t>，那么该如何做？</a:t>
                </a:r>
                <a:endParaRPr lang="zh-CN" altLang="en-US">
                  <a:latin typeface="Cambria Math" panose="02040503050406030204" charset="0"/>
                  <a:cs typeface="Cambria Math" panose="02040503050406030204" charset="0"/>
                </a:endParaRPr>
              </a:p>
              <a:p>
                <a:pPr algn="l"/>
                <a:endParaRPr lang="zh-CN" altLang="en-US">
                  <a:latin typeface="Cambria Math" panose="02040503050406030204" charset="0"/>
                  <a:cs typeface="Cambria Math" panose="02040503050406030204" charset="0"/>
                </a:endParaRPr>
              </a:p>
              <a:p>
                <a:pPr algn="l"/>
                <a:endParaRPr lang="en-US" altLang="zh-CN">
                  <a:latin typeface="Cambria Math" panose="02040503050406030204" charset="0"/>
                  <a:cs typeface="Cambria Math" panose="02040503050406030204" charset="0"/>
                </a:endParaRPr>
              </a:p>
              <a:p>
                <a:pPr algn="l"/>
                <a:endParaRPr lang="zh-CN" altLang="en-US"/>
              </a:p>
            </p:txBody>
          </p:sp>
        </mc:Choice>
        <mc:Fallback>
          <p:sp>
            <p:nvSpPr>
              <p:cNvPr id="10" name="文本框 9"/>
              <p:cNvSpPr txBox="1">
                <a:spLocks noRot="1" noChangeAspect="1" noMove="1" noResize="1" noEditPoints="1" noAdjustHandles="1" noChangeArrowheads="1" noChangeShapeType="1" noTextEdit="1"/>
              </p:cNvSpPr>
              <p:nvPr/>
            </p:nvSpPr>
            <p:spPr>
              <a:xfrm>
                <a:off x="1407731" y="2693606"/>
                <a:ext cx="10109200" cy="1577340"/>
              </a:xfrm>
              <a:prstGeom prst="rect">
                <a:avLst/>
              </a:prstGeom>
              <a:blipFill rotWithShape="1">
                <a:blip r:embed="rId3"/>
                <a:stretch>
                  <a:fillRect l="-6" t="-36" r="6" b="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2950781" y="4353179"/>
                <a:ext cx="2295525" cy="159131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
                              </m:e>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1</m:t>
                                      </m:r>
                                    </m:e>
                                  </m:mr>
                                </m:m>
                              </m:e>
                            </m:mr>
                            <m:mr>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
                              </m:e>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
                              </m:e>
                            </m:mr>
                          </m:m>
                        </m:e>
                      </m:d>
                    </m:oMath>
                  </m:oMathPara>
                </a14:m>
                <a:endParaRPr lang="zh-CN" altLang="en-US"/>
              </a:p>
            </p:txBody>
          </p:sp>
        </mc:Choice>
        <mc:Fallback>
          <p:sp>
            <p:nvSpPr>
              <p:cNvPr id="4" name="文本框 3"/>
              <p:cNvSpPr txBox="1">
                <a:spLocks noRot="1" noChangeAspect="1" noMove="1" noResize="1" noEditPoints="1" noAdjustHandles="1" noChangeArrowheads="1" noChangeShapeType="1" noTextEdit="1"/>
              </p:cNvSpPr>
              <p:nvPr/>
            </p:nvSpPr>
            <p:spPr>
              <a:xfrm>
                <a:off x="2950781" y="4353179"/>
                <a:ext cx="2295525" cy="1591310"/>
              </a:xfrm>
              <a:prstGeom prst="rect">
                <a:avLst/>
              </a:prstGeom>
              <a:blipFill rotWithShape="1">
                <a:blip r:embed="rId4"/>
                <a:stretch>
                  <a:fillRect l="-25" t="-16" r="25"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7310691" y="4770374"/>
                <a:ext cx="882015" cy="54610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1</m:t>
                                </m:r>
                              </m:e>
                            </m:mr>
                          </m:m>
                        </m:e>
                      </m:d>
                    </m:oMath>
                  </m:oMathPara>
                </a14:m>
                <a:endParaRPr lang="zh-CN" altLang="en-US"/>
              </a:p>
            </p:txBody>
          </p:sp>
        </mc:Choice>
        <mc:Fallback>
          <p:sp>
            <p:nvSpPr>
              <p:cNvPr id="9" name="文本框 8"/>
              <p:cNvSpPr txBox="1">
                <a:spLocks noRot="1" noChangeAspect="1" noMove="1" noResize="1" noEditPoints="1" noAdjustHandles="1" noChangeArrowheads="1" noChangeShapeType="1" noTextEdit="1"/>
              </p:cNvSpPr>
              <p:nvPr/>
            </p:nvSpPr>
            <p:spPr>
              <a:xfrm>
                <a:off x="7310691" y="4770374"/>
                <a:ext cx="882015" cy="546100"/>
              </a:xfrm>
              <a:prstGeom prst="rect">
                <a:avLst/>
              </a:prstGeom>
              <a:blipFill rotWithShape="1">
                <a:blip r:embed="rId5"/>
                <a:stretch>
                  <a:fillRect l="-65" t="-47" r="65" b="47"/>
                </a:stretch>
              </a:blipFill>
            </p:spPr>
            <p:txBody>
              <a:bodyPr/>
              <a:lstStyle/>
              <a:p>
                <a:r>
                  <a:rPr lang="zh-CN" altLang="en-US">
                    <a:noFill/>
                  </a:rPr>
                  <a:t> </a:t>
                </a:r>
              </a:p>
            </p:txBody>
          </p:sp>
        </mc:Fallback>
      </mc:AlternateContent>
      <p:sp>
        <p:nvSpPr>
          <p:cNvPr id="11" name="左箭头 10"/>
          <p:cNvSpPr/>
          <p:nvPr/>
        </p:nvSpPr>
        <p:spPr>
          <a:xfrm>
            <a:off x="5854700" y="4851400"/>
            <a:ext cx="847725" cy="398780"/>
          </a:xfrm>
          <a:prstGeom prst="leftArrow">
            <a:avLst/>
          </a:prstGeom>
        </p:spPr>
        <p:style>
          <a:lnRef idx="2">
            <a:schemeClr val="accent1"/>
          </a:lnRef>
          <a:fillRef idx="2">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948690" y="1270635"/>
            <a:ext cx="514667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en-US" altLang="zh-CN" sz="3200" b="1" dirty="0" smtClean="0">
                <a:solidFill>
                  <a:schemeClr val="bg1"/>
                </a:solidFill>
                <a:latin typeface="微软雅黑" panose="020B0503020204020204" charset="-122"/>
                <a:ea typeface="微软雅黑" panose="020B0503020204020204" charset="-122"/>
                <a:sym typeface="+mn-ea"/>
              </a:rPr>
              <a:t>Hit-or-Miss Transform</a:t>
            </a:r>
            <a:endParaRPr lang="en-US" alt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463040" y="1949450"/>
            <a:ext cx="6853555" cy="368300"/>
          </a:xfrm>
          <a:prstGeom prst="rect">
            <a:avLst/>
          </a:prstGeom>
          <a:noFill/>
        </p:spPr>
        <p:txBody>
          <a:bodyPr wrap="square" rtlCol="0">
            <a:spAutoFit/>
          </a:bodyPr>
          <a:p>
            <a:r>
              <a:rPr lang="zh-CN" altLang="en-US"/>
              <a:t>如何从数字图像中提取出感兴趣的形状？</a:t>
            </a:r>
            <a:endParaRPr lang="zh-CN" altLang="en-US"/>
          </a:p>
        </p:txBody>
      </p:sp>
      <mc:AlternateContent xmlns:mc="http://schemas.openxmlformats.org/markup-compatibility/2006">
        <mc:Choice xmlns:a14="http://schemas.microsoft.com/office/drawing/2010/main" Requires="a14">
          <p:sp>
            <p:nvSpPr>
              <p:cNvPr id="10" name="文本框 9"/>
              <p:cNvSpPr txBox="1"/>
              <p:nvPr/>
            </p:nvSpPr>
            <p:spPr>
              <a:xfrm>
                <a:off x="1381061" y="2391346"/>
                <a:ext cx="10243185" cy="94424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考虑一张二值化后的数字图像，现在我想要知道这张图像上哪些地方有 “聚集的团块”，即</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范围内</m:t>
                      </m:r>
                    </m:oMath>
                  </m:oMathPara>
                </a14:m>
                <a:endParaRPr lang="en-US" altLang="zh-CN" i="1">
                  <a:latin typeface="Cambria Math" panose="02040503050406030204" charset="0"/>
                  <a:cs typeface="Cambria Math" panose="02040503050406030204" charset="0"/>
                </a:endParaRPr>
              </a:p>
              <a:p>
                <a:pPr algn="l"/>
                <a:r>
                  <a:rPr lang="zh-CN" altLang="en-US">
                    <a:latin typeface="Cambria Math" panose="02040503050406030204" charset="0"/>
                    <a:cs typeface="Cambria Math" panose="02040503050406030204" charset="0"/>
                  </a:rPr>
                  <a:t>像素值均为</a:t>
                </a:r>
                <a:r>
                  <a:rPr lang="en-US" altLang="zh-CN">
                    <a:latin typeface="Cambria Math" panose="02040503050406030204" charset="0"/>
                    <a:cs typeface="Cambria Math" panose="02040503050406030204" charset="0"/>
                  </a:rPr>
                  <a:t>1</a:t>
                </a:r>
                <a:r>
                  <a:rPr lang="zh-CN" altLang="en-US">
                    <a:latin typeface="Cambria Math" panose="02040503050406030204" charset="0"/>
                    <a:cs typeface="Cambria Math" panose="02040503050406030204" charset="0"/>
                  </a:rPr>
                  <a:t>，那么该如何做？</a:t>
                </a:r>
                <a:endParaRPr lang="en-US" altLang="zh-CN">
                  <a:latin typeface="Cambria Math" panose="02040503050406030204" charset="0"/>
                  <a:cs typeface="Cambria Math" panose="02040503050406030204" charset="0"/>
                </a:endParaRPr>
              </a:p>
              <a:p>
                <a:pPr algn="l"/>
                <a:endParaRPr lang="zh-CN" altLang="en-US"/>
              </a:p>
            </p:txBody>
          </p:sp>
        </mc:Choice>
        <mc:Fallback>
          <p:sp>
            <p:nvSpPr>
              <p:cNvPr id="10" name="文本框 9"/>
              <p:cNvSpPr txBox="1">
                <a:spLocks noRot="1" noChangeAspect="1" noMove="1" noResize="1" noEditPoints="1" noAdjustHandles="1" noChangeArrowheads="1" noChangeShapeType="1" noTextEdit="1"/>
              </p:cNvSpPr>
              <p:nvPr/>
            </p:nvSpPr>
            <p:spPr>
              <a:xfrm>
                <a:off x="1381061" y="2391346"/>
                <a:ext cx="10243185" cy="944245"/>
              </a:xfrm>
              <a:prstGeom prst="rect">
                <a:avLst/>
              </a:prstGeom>
              <a:blipFill rotWithShape="1">
                <a:blip r:embed="rId3"/>
                <a:stretch>
                  <a:fillRect l="-6" t="-60" r="6" b="-256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1381061" y="4770374"/>
                <a:ext cx="2295525" cy="159131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
                              </m:e>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1</m:t>
                                      </m:r>
                                    </m:e>
                                  </m:mr>
                                </m:m>
                              </m:e>
                            </m:mr>
                            <m:mr>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
                              </m:e>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
                              </m:e>
                            </m:mr>
                          </m:m>
                        </m:e>
                      </m:d>
                    </m:oMath>
                  </m:oMathPara>
                </a14:m>
                <a:endParaRPr lang="zh-CN" altLang="en-US"/>
              </a:p>
            </p:txBody>
          </p:sp>
        </mc:Choice>
        <mc:Fallback>
          <p:sp>
            <p:nvSpPr>
              <p:cNvPr id="4" name="文本框 3"/>
              <p:cNvSpPr txBox="1">
                <a:spLocks noRot="1" noChangeAspect="1" noMove="1" noResize="1" noEditPoints="1" noAdjustHandles="1" noChangeArrowheads="1" noChangeShapeType="1" noTextEdit="1"/>
              </p:cNvSpPr>
              <p:nvPr/>
            </p:nvSpPr>
            <p:spPr>
              <a:xfrm>
                <a:off x="1381061" y="4770374"/>
                <a:ext cx="2295525" cy="1591310"/>
              </a:xfrm>
              <a:prstGeom prst="rect">
                <a:avLst/>
              </a:prstGeom>
              <a:blipFill rotWithShape="1">
                <a:blip r:embed="rId4"/>
                <a:stretch>
                  <a:fillRect l="-25" t="-16" r="25"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1463040" y="3228975"/>
                <a:ext cx="8778240" cy="1478915"/>
              </a:xfrm>
              <a:prstGeom prst="rect">
                <a:avLst/>
              </a:prstGeom>
              <a:noFill/>
            </p:spPr>
            <p:txBody>
              <a:bodyPr wrap="square" rtlCol="0">
                <a:spAutoFit/>
              </a:bodyPr>
              <a:p>
                <a:r>
                  <a:rPr lang="zh-CN" altLang="en-US"/>
                  <a:t>定义结构元素</a:t>
                </a:r>
                <a:r>
                  <a:rPr lang="en-US" altLang="zh-CN"/>
                  <a:t> </a:t>
                </a:r>
                <a14:m>
                  <m:oMath xmlns:m="http://schemas.openxmlformats.org/officeDocument/2006/math">
                    <m:r>
                      <m:rPr>
                        <m:sty m:val="p"/>
                      </m:rPr>
                      <a:rPr lang="en-US" altLang="zh-CN">
                        <a:latin typeface="Cambria Math" panose="02040503050406030204" charset="0"/>
                      </a:rPr>
                      <m:t>B</m:t>
                    </m:r>
                    <m:r>
                      <a:rPr lang="en-US" altLang="zh-CN">
                        <a:latin typeface="Cambria Math" panose="02040503050406030204" charset="0"/>
                      </a:rPr>
                      <m:t>=</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1</m:t>
                              </m:r>
                            </m:e>
                          </m:mr>
                        </m:m>
                      </m:e>
                    </m:d>
                    <m:r>
                      <a:rPr lang="en-US" altLang="zh-CN" i="1">
                        <a:latin typeface="Cambria Math" panose="02040503050406030204" charset="0"/>
                        <a:cs typeface="Cambria Math" panose="02040503050406030204" charset="0"/>
                      </a:rPr>
                      <m:t> ,且以</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𝐵</m:t>
                        </m:r>
                      </m:e>
                      <m:sub>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 为原点，</m:t>
                    </m:r>
                  </m:oMath>
                </a14:m>
                <a:endParaRPr lang="en-US" altLang="zh-CN" i="1">
                  <a:latin typeface="Cambria Math" panose="02040503050406030204" charset="0"/>
                  <a:cs typeface="Cambria Math" panose="02040503050406030204" charset="0"/>
                </a:endParaRPr>
              </a:p>
              <a:p>
                <a14:m>
                  <m:oMath xmlns:m="http://schemas.openxmlformats.org/officeDocument/2006/math">
                    <m:r>
                      <a:rPr lang="en-US" altLang="zh-CN" i="1">
                        <a:latin typeface="Cambria Math" panose="02040503050406030204" charset="0"/>
                        <a:cs typeface="Cambria Math" panose="02040503050406030204" charset="0"/>
                      </a:rPr>
                      <m:t>以此结构元遍历图像矩阵</m:t>
                    </m:r>
                    <m:r>
                      <a:rPr lang="en-US" altLang="zh-CN" i="1">
                        <a:latin typeface="Cambria Math" panose="02040503050406030204" charset="0"/>
                        <a:cs typeface="Cambria Math" panose="02040503050406030204" charset="0"/>
                      </a:rPr>
                      <m:t>𝐴</m:t>
                    </m:r>
                    <m:r>
                      <a:rPr lang="en-US" altLang="zh-CN" i="1">
                        <a:latin typeface="Cambria Math" panose="02040503050406030204" charset="0"/>
                        <a:cs typeface="Cambria Math" panose="02040503050406030204" charset="0"/>
                      </a:rPr>
                      <m:t>，当</m:t>
                    </m:r>
                    <m:r>
                      <a:rPr lang="en-US" altLang="zh-CN" i="1">
                        <a:latin typeface="Cambria Math" panose="02040503050406030204" charset="0"/>
                        <a:cs typeface="Cambria Math" panose="02040503050406030204" charset="0"/>
                      </a:rPr>
                      <m:t>𝐴</m:t>
                    </m:r>
                    <m:r>
                      <a:rPr lang="en-US" altLang="zh-CN" i="1">
                        <a:latin typeface="Cambria Math" panose="02040503050406030204" charset="0"/>
                        <a:cs typeface="Cambria Math" panose="02040503050406030204" charset="0"/>
                      </a:rPr>
                      <m:t>的子区域与</m:t>
                    </m:r>
                    <m:r>
                      <a:rPr lang="en-US" altLang="zh-CN" i="1">
                        <a:latin typeface="Cambria Math" panose="02040503050406030204" charset="0"/>
                        <a:cs typeface="Cambria Math" panose="02040503050406030204" charset="0"/>
                      </a:rPr>
                      <m:t>𝐵</m:t>
                    </m:r>
                    <m:r>
                      <a:rPr lang="en-US" altLang="zh-CN" i="1">
                        <a:latin typeface="Cambria Math" panose="02040503050406030204" charset="0"/>
                        <a:cs typeface="Cambria Math" panose="02040503050406030204" charset="0"/>
                      </a:rPr>
                      <m:t>完全相同时，将此处标记为</m:t>
                    </m:r>
                    <m:r>
                      <a:rPr lang="en-US" altLang="zh-CN" i="1">
                        <a:latin typeface="Cambria Math" panose="02040503050406030204" charset="0"/>
                        <a:cs typeface="Cambria Math" panose="02040503050406030204" charset="0"/>
                      </a:rPr>
                      <m:t>1</m:t>
                    </m:r>
                  </m:oMath>
                </a14:m>
                <a:r>
                  <a:rPr lang="zh-CN" altLang="en-US">
                    <a:latin typeface="Cambria Math" panose="02040503050406030204" charset="0"/>
                    <a:cs typeface="Cambria Math" panose="02040503050406030204" charset="0"/>
                  </a:rPr>
                  <a:t>，其余为</a:t>
                </a:r>
                <a:r>
                  <a:rPr lang="en-US" altLang="zh-CN">
                    <a:latin typeface="Cambria Math" panose="02040503050406030204" charset="0"/>
                    <a:cs typeface="Cambria Math" panose="02040503050406030204" charset="0"/>
                  </a:rPr>
                  <a:t>0 </a:t>
                </a:r>
                <a:endParaRPr lang="en-US" altLang="zh-CN" i="1">
                  <a:latin typeface="Cambria Math" panose="02040503050406030204" charset="0"/>
                  <a:cs typeface="Cambria Math" panose="02040503050406030204" charset="0"/>
                </a:endParaRPr>
              </a:p>
              <a:p>
                <a:endParaRPr lang="zh-CN" altLang="en-US"/>
              </a:p>
              <a:p>
                <a:endParaRPr lang="en-US" altLang="zh-CN"/>
              </a:p>
            </p:txBody>
          </p:sp>
        </mc:Choice>
        <mc:Fallback>
          <p:sp>
            <p:nvSpPr>
              <p:cNvPr id="6" name="文本框 5"/>
              <p:cNvSpPr txBox="1">
                <a:spLocks noRot="1" noChangeAspect="1" noMove="1" noResize="1" noEditPoints="1" noAdjustHandles="1" noChangeArrowheads="1" noChangeShapeType="1" noTextEdit="1"/>
              </p:cNvSpPr>
              <p:nvPr/>
            </p:nvSpPr>
            <p:spPr>
              <a:xfrm>
                <a:off x="1463040" y="3228975"/>
                <a:ext cx="8778240" cy="1478915"/>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5147246" y="4770374"/>
                <a:ext cx="2244090" cy="159131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mr>
                            <m:mr>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e>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
                              </m:e>
                            </m:mr>
                          </m:m>
                        </m:e>
                      </m:d>
                    </m:oMath>
                  </m:oMathPara>
                </a14:m>
                <a:endParaRPr lang="zh-CN" altLang="en-US"/>
              </a:p>
            </p:txBody>
          </p:sp>
        </mc:Choice>
        <mc:Fallback>
          <p:sp>
            <p:nvSpPr>
              <p:cNvPr id="12" name="文本框 11"/>
              <p:cNvSpPr txBox="1">
                <a:spLocks noRot="1" noChangeAspect="1" noMove="1" noResize="1" noEditPoints="1" noAdjustHandles="1" noChangeArrowheads="1" noChangeShapeType="1" noTextEdit="1"/>
              </p:cNvSpPr>
              <p:nvPr/>
            </p:nvSpPr>
            <p:spPr>
              <a:xfrm>
                <a:off x="5147246" y="4770374"/>
                <a:ext cx="2244090" cy="1591310"/>
              </a:xfrm>
              <a:prstGeom prst="rect">
                <a:avLst/>
              </a:prstGeom>
              <a:blipFill rotWithShape="1">
                <a:blip r:embed="rId6"/>
                <a:stretch>
                  <a:fillRect l="-25" t="-16" r="25" b="16"/>
                </a:stretch>
              </a:blipFill>
            </p:spPr>
            <p:txBody>
              <a:bodyPr/>
              <a:lstStyle/>
              <a:p>
                <a:r>
                  <a:rPr lang="zh-CN" altLang="en-US">
                    <a:noFill/>
                  </a:rPr>
                  <a:t> </a:t>
                </a:r>
              </a:p>
            </p:txBody>
          </p:sp>
        </mc:Fallback>
      </mc:AlternateContent>
      <p:sp>
        <p:nvSpPr>
          <p:cNvPr id="13" name="右箭头 12"/>
          <p:cNvSpPr/>
          <p:nvPr/>
        </p:nvSpPr>
        <p:spPr>
          <a:xfrm>
            <a:off x="3884930" y="5347970"/>
            <a:ext cx="932815" cy="374015"/>
          </a:xfrm>
          <a:prstGeom prst="rightArrow">
            <a:avLst/>
          </a:prstGeom>
        </p:spPr>
        <p:style>
          <a:lnRef idx="0">
            <a:srgbClr val="FFFFFF"/>
          </a:lnRef>
          <a:fillRef idx="2">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948690" y="1270635"/>
            <a:ext cx="404241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形态学的基本思想</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3" name="文本框 2"/>
          <p:cNvSpPr txBox="1"/>
          <p:nvPr/>
        </p:nvSpPr>
        <p:spPr>
          <a:xfrm>
            <a:off x="1642745" y="2120265"/>
            <a:ext cx="6853555" cy="1529715"/>
          </a:xfrm>
          <a:prstGeom prst="rect">
            <a:avLst/>
          </a:prstGeom>
          <a:noFill/>
        </p:spPr>
        <p:txBody>
          <a:bodyPr wrap="square" rtlCol="0">
            <a:spAutoFit/>
          </a:bodyPr>
          <a:p>
            <a:pPr>
              <a:lnSpc>
                <a:spcPct val="130000"/>
              </a:lnSpc>
            </a:pPr>
            <a:r>
              <a:rPr lang="en-US" altLang="zh-CN">
                <a:solidFill>
                  <a:srgbClr val="FF0000"/>
                </a:solidFill>
                <a:latin typeface="Cambria Math" panose="02040503050406030204" charset="0"/>
                <a:cs typeface="Cambria Math" panose="02040503050406030204" charset="0"/>
                <a:sym typeface="+mn-ea"/>
              </a:rPr>
              <a:t>数学形态学</a:t>
            </a:r>
            <a:r>
              <a:rPr lang="en-US" altLang="zh-CN">
                <a:latin typeface="Cambria Math" panose="02040503050406030204" charset="0"/>
                <a:cs typeface="Cambria Math" panose="02040503050406030204" charset="0"/>
                <a:sym typeface="+mn-ea"/>
              </a:rPr>
              <a:t>进行图像处理的基本思想是：用具有一定形态的</a:t>
            </a:r>
            <a:r>
              <a:rPr lang="en-US" altLang="zh-CN">
                <a:solidFill>
                  <a:schemeClr val="accent4"/>
                </a:solidFill>
                <a:latin typeface="Cambria Math" panose="02040503050406030204" charset="0"/>
                <a:cs typeface="Cambria Math" panose="02040503050406030204" charset="0"/>
                <a:sym typeface="+mn-ea"/>
              </a:rPr>
              <a:t>结构元素</a:t>
            </a:r>
            <a:r>
              <a:rPr lang="en-US" altLang="zh-CN">
                <a:latin typeface="Cambria Math" panose="02040503050406030204" charset="0"/>
                <a:cs typeface="Cambria Math" panose="02040503050406030204" charset="0"/>
                <a:sym typeface="+mn-ea"/>
              </a:rPr>
              <a:t>探测目标图像，通过检验结构元素来测量或提取输入图像中相应的</a:t>
            </a:r>
            <a:r>
              <a:rPr lang="en-US" altLang="zh-CN">
                <a:solidFill>
                  <a:srgbClr val="FF0000"/>
                </a:solidFill>
                <a:latin typeface="Cambria Math" panose="02040503050406030204" charset="0"/>
                <a:cs typeface="Cambria Math" panose="02040503050406030204" charset="0"/>
                <a:sym typeface="+mn-ea"/>
              </a:rPr>
              <a:t>形状</a:t>
            </a:r>
            <a:r>
              <a:rPr lang="en-US" altLang="zh-CN">
                <a:latin typeface="Cambria Math" panose="02040503050406030204" charset="0"/>
                <a:cs typeface="Cambria Math" panose="02040503050406030204" charset="0"/>
                <a:sym typeface="+mn-ea"/>
              </a:rPr>
              <a:t>或</a:t>
            </a:r>
            <a:r>
              <a:rPr lang="en-US" altLang="zh-CN">
                <a:solidFill>
                  <a:srgbClr val="FF0000"/>
                </a:solidFill>
                <a:latin typeface="Cambria Math" panose="02040503050406030204" charset="0"/>
                <a:cs typeface="Cambria Math" panose="02040503050406030204" charset="0"/>
                <a:sym typeface="+mn-ea"/>
              </a:rPr>
              <a:t>特征</a:t>
            </a:r>
            <a:r>
              <a:rPr lang="en-US" altLang="zh-CN">
                <a:latin typeface="Cambria Math" panose="02040503050406030204" charset="0"/>
                <a:cs typeface="Cambria Math" panose="02040503050406030204" charset="0"/>
                <a:sym typeface="+mn-ea"/>
              </a:rPr>
              <a:t>，来获取有关</a:t>
            </a:r>
            <a:r>
              <a:rPr lang="en-US" altLang="zh-CN">
                <a:solidFill>
                  <a:srgbClr val="FF0000"/>
                </a:solidFill>
                <a:latin typeface="Cambria Math" panose="02040503050406030204" charset="0"/>
                <a:cs typeface="Cambria Math" panose="02040503050406030204" charset="0"/>
                <a:sym typeface="+mn-ea"/>
              </a:rPr>
              <a:t>图像形态结构</a:t>
            </a:r>
            <a:r>
              <a:rPr lang="en-US" altLang="zh-CN">
                <a:latin typeface="Cambria Math" panose="02040503050406030204" charset="0"/>
                <a:cs typeface="Cambria Math" panose="02040503050406030204" charset="0"/>
                <a:sym typeface="+mn-ea"/>
              </a:rPr>
              <a:t>的相关信息，进而达到对图像分析和识别的目的。其方法基础是集合论。</a:t>
            </a:r>
            <a:r>
              <a:rPr lang="zh-CN" altLang="en-US" b="1">
                <a:solidFill>
                  <a:srgbClr val="333399"/>
                </a:solidFill>
                <a:latin typeface="幼圆" panose="02010509060101010101" pitchFamily="49" charset="-122"/>
                <a:ea typeface="幼圆" panose="02010509060101010101" pitchFamily="49" charset="-122"/>
                <a:sym typeface="+mn-ea"/>
              </a:rPr>
              <a:t> </a:t>
            </a:r>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537210" y="1251585"/>
            <a:ext cx="273113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集合论基础</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graphicFrame>
        <p:nvGraphicFramePr>
          <p:cNvPr id="6" name="对象 5"/>
          <p:cNvGraphicFramePr>
            <a:graphicFrameLocks noChangeAspect="1"/>
          </p:cNvGraphicFramePr>
          <p:nvPr/>
        </p:nvGraphicFramePr>
        <p:xfrm>
          <a:off x="3591852" y="2014378"/>
          <a:ext cx="4247973" cy="512167"/>
        </p:xfrm>
        <a:graphic>
          <a:graphicData uri="http://schemas.openxmlformats.org/presentationml/2006/ole">
            <mc:AlternateContent xmlns:mc="http://schemas.openxmlformats.org/markup-compatibility/2006">
              <mc:Choice xmlns:v="urn:schemas-microsoft-com:vml" Requires="v">
                <p:oleObj spid="_x0000_s9292" name="Equation" r:id="rId3" imgW="1790700" imgH="215900" progId="Equation.DSMT4">
                  <p:embed/>
                </p:oleObj>
              </mc:Choice>
              <mc:Fallback>
                <p:oleObj name="Equation" r:id="rId3" imgW="1790700" imgH="215900" progId="Equation.DSMT4">
                  <p:embed/>
                  <p:pic>
                    <p:nvPicPr>
                      <p:cNvPr id="0" name="Object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1852" y="2014378"/>
                        <a:ext cx="4247973" cy="512167"/>
                      </a:xfrm>
                      <a:prstGeom prst="rect">
                        <a:avLst/>
                      </a:prstGeom>
                      <a:noFill/>
                    </p:spPr>
                  </p:pic>
                </p:oleObj>
              </mc:Fallback>
            </mc:AlternateContent>
          </a:graphicData>
        </a:graphic>
      </p:graphicFrame>
      <p:sp>
        <p:nvSpPr>
          <p:cNvPr id="9" name="文本框 8"/>
          <p:cNvSpPr txBox="1"/>
          <p:nvPr/>
        </p:nvSpPr>
        <p:spPr>
          <a:xfrm>
            <a:off x="1061085" y="2376170"/>
            <a:ext cx="6096000" cy="521970"/>
          </a:xfrm>
          <a:prstGeom prst="rect">
            <a:avLst/>
          </a:prstGeom>
          <a:noFill/>
        </p:spPr>
        <p:txBody>
          <a:bodyPr wrap="square" rtlCol="0" anchor="t">
            <a:spAutoFit/>
          </a:bodyPr>
          <a:p>
            <a:r>
              <a:rPr lang="zh-CN" altLang="en-US" sz="2800" b="1" dirty="0">
                <a:solidFill>
                  <a:srgbClr val="336699"/>
                </a:solidFill>
                <a:effectLst>
                  <a:outerShdw blurRad="38100" dist="38100" dir="2700000" algn="tl">
                    <a:srgbClr val="C0C0C0"/>
                  </a:outerShdw>
                </a:effectLst>
                <a:latin typeface="黑体" panose="02010609060101010101" pitchFamily="49" charset="-122"/>
                <a:ea typeface="黑体" panose="02010609060101010101" pitchFamily="49" charset="-122"/>
                <a:sym typeface="+mn-ea"/>
              </a:rPr>
              <a:t> </a:t>
            </a:r>
            <a:endParaRPr lang="zh-CN" altLang="en-US" sz="2800" b="1" dirty="0">
              <a:solidFill>
                <a:srgbClr val="336699"/>
              </a:solidFill>
              <a:effectLst>
                <a:outerShdw blurRad="38100" dist="38100" dir="2700000" algn="tl">
                  <a:srgbClr val="C0C0C0"/>
                </a:outerShdw>
              </a:effectLst>
              <a:latin typeface="黑体" panose="02010609060101010101" pitchFamily="49" charset="-122"/>
              <a:ea typeface="黑体" panose="02010609060101010101" pitchFamily="49" charset="-122"/>
              <a:sym typeface="+mn-ea"/>
            </a:endParaRPr>
          </a:p>
        </p:txBody>
      </p:sp>
      <p:sp>
        <p:nvSpPr>
          <p:cNvPr id="13" name="Text Box 4"/>
          <p:cNvSpPr txBox="1">
            <a:spLocks noChangeArrowheads="1"/>
          </p:cNvSpPr>
          <p:nvPr/>
        </p:nvSpPr>
        <p:spPr bwMode="auto">
          <a:xfrm>
            <a:off x="948373" y="2085975"/>
            <a:ext cx="842486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marL="0" algn="l">
              <a:lnSpc>
                <a:spcPct val="100000"/>
              </a:lnSpc>
              <a:buClrTx/>
              <a:buSzTx/>
              <a:buFontTx/>
              <a:buNone/>
            </a:pPr>
            <a:r>
              <a:rPr lang="zh-CN" altLang="en-US" sz="1800" b="1">
                <a:solidFill>
                  <a:schemeClr val="tx1"/>
                </a:solidFill>
                <a:latin typeface="+mn-lt"/>
                <a:ea typeface="+mn-ea"/>
                <a:sym typeface="+mn-ea"/>
              </a:rPr>
              <a:t>集合的子集与相等</a:t>
            </a:r>
            <a:endParaRPr lang="zh-CN" altLang="en-US" sz="1800" b="1">
              <a:solidFill>
                <a:schemeClr val="tx1"/>
              </a:solidFill>
              <a:latin typeface="+mn-lt"/>
              <a:ea typeface="+mn-ea"/>
              <a:sym typeface="+mn-ea"/>
            </a:endParaRPr>
          </a:p>
        </p:txBody>
      </p:sp>
      <p:sp>
        <p:nvSpPr>
          <p:cNvPr id="10245" name="Rectangle 13"/>
          <p:cNvSpPr>
            <a:spLocks noChangeArrowheads="1"/>
          </p:cNvSpPr>
          <p:nvPr/>
        </p:nvSpPr>
        <p:spPr bwMode="auto">
          <a:xfrm>
            <a:off x="1044575" y="5013325"/>
            <a:ext cx="111315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r>
              <a:rPr kumimoji="1" lang="zh-CN" altLang="en-US">
                <a:solidFill>
                  <a:srgbClr val="000066"/>
                </a:solidFill>
                <a:latin typeface="黑体" panose="02010609060101010101" pitchFamily="49" charset="-122"/>
                <a:ea typeface="黑体" panose="02010609060101010101" pitchFamily="49" charset="-122"/>
              </a:rPr>
              <a:t>集合的并 </a:t>
            </a:r>
            <a:endParaRPr kumimoji="1" lang="zh-CN" altLang="en-US">
              <a:solidFill>
                <a:srgbClr val="000066"/>
              </a:solidFill>
              <a:latin typeface="黑体" panose="02010609060101010101" pitchFamily="49" charset="-122"/>
              <a:ea typeface="黑体" panose="02010609060101010101" pitchFamily="49" charset="-122"/>
            </a:endParaRPr>
          </a:p>
        </p:txBody>
      </p:sp>
      <p:pic>
        <p:nvPicPr>
          <p:cNvPr id="17" name="Picture 15" descr="2"/>
          <p:cNvPicPr>
            <a:picLocks noChangeAspect="1" noChangeArrowheads="1"/>
          </p:cNvPicPr>
          <p:nvPr/>
        </p:nvPicPr>
        <p:blipFill>
          <a:blip r:embed="rId5">
            <a:extLst>
              <a:ext uri="{28A0092B-C50C-407E-A947-70E740481C1C}">
                <a14:useLocalDpi xmlns:a14="http://schemas.microsoft.com/office/drawing/2010/main" val="0"/>
              </a:ext>
            </a:extLst>
          </a:blip>
          <a:srcRect l="12378" t="18797" r="17093" b="22974"/>
          <a:stretch>
            <a:fillRect/>
          </a:stretch>
        </p:blipFill>
        <p:spPr bwMode="auto">
          <a:xfrm>
            <a:off x="664210" y="3460115"/>
            <a:ext cx="1981200"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9"/>
          <p:cNvSpPr>
            <a:spLocks noChangeArrowheads="1"/>
          </p:cNvSpPr>
          <p:nvPr/>
        </p:nvSpPr>
        <p:spPr bwMode="auto">
          <a:xfrm>
            <a:off x="3709670" y="5014595"/>
            <a:ext cx="2160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r>
              <a:rPr kumimoji="1" lang="zh-CN" altLang="en-US">
                <a:solidFill>
                  <a:srgbClr val="000066"/>
                </a:solidFill>
                <a:latin typeface="黑体" panose="02010609060101010101" pitchFamily="49" charset="-122"/>
                <a:ea typeface="黑体" panose="02010609060101010101" pitchFamily="49" charset="-122"/>
              </a:rPr>
              <a:t>集合的交 </a:t>
            </a:r>
            <a:endParaRPr kumimoji="1" lang="zh-CN" altLang="en-US">
              <a:solidFill>
                <a:srgbClr val="000066"/>
              </a:solidFill>
              <a:latin typeface="黑体" panose="02010609060101010101" pitchFamily="49" charset="-122"/>
              <a:ea typeface="黑体" panose="02010609060101010101" pitchFamily="49" charset="-122"/>
            </a:endParaRPr>
          </a:p>
        </p:txBody>
      </p:sp>
      <p:pic>
        <p:nvPicPr>
          <p:cNvPr id="11269" name="Picture 13" descr="1"/>
          <p:cNvPicPr>
            <a:picLocks noChangeAspect="1" noChangeArrowheads="1"/>
          </p:cNvPicPr>
          <p:nvPr/>
        </p:nvPicPr>
        <p:blipFill>
          <a:blip r:embed="rId6">
            <a:extLst>
              <a:ext uri="{28A0092B-C50C-407E-A947-70E740481C1C}">
                <a14:useLocalDpi xmlns:a14="http://schemas.microsoft.com/office/drawing/2010/main" val="0"/>
              </a:ext>
            </a:extLst>
          </a:blip>
          <a:srcRect l="13457" t="15631" r="20148" b="23404"/>
          <a:stretch>
            <a:fillRect/>
          </a:stretch>
        </p:blipFill>
        <p:spPr bwMode="auto">
          <a:xfrm>
            <a:off x="3236595" y="3388360"/>
            <a:ext cx="1905000"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35"/>
          <p:cNvSpPr>
            <a:spLocks noChangeArrowheads="1"/>
          </p:cNvSpPr>
          <p:nvPr/>
        </p:nvSpPr>
        <p:spPr bwMode="auto">
          <a:xfrm>
            <a:off x="6429375" y="5014595"/>
            <a:ext cx="1785620" cy="253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r>
              <a:rPr kumimoji="1" lang="zh-CN" altLang="en-US">
                <a:solidFill>
                  <a:srgbClr val="000066"/>
                </a:solidFill>
                <a:latin typeface="黑体" panose="02010609060101010101" pitchFamily="49" charset="-122"/>
                <a:ea typeface="黑体" panose="02010609060101010101" pitchFamily="49" charset="-122"/>
              </a:rPr>
              <a:t>集合的补 </a:t>
            </a:r>
            <a:endParaRPr kumimoji="1" lang="zh-CN" altLang="en-US">
              <a:solidFill>
                <a:srgbClr val="000066"/>
              </a:solidFill>
              <a:latin typeface="黑体" panose="02010609060101010101" pitchFamily="49" charset="-122"/>
              <a:ea typeface="黑体" panose="02010609060101010101" pitchFamily="49" charset="-122"/>
            </a:endParaRPr>
          </a:p>
        </p:txBody>
      </p:sp>
      <p:pic>
        <p:nvPicPr>
          <p:cNvPr id="19" name="Picture 41" descr="4"/>
          <p:cNvPicPr>
            <a:picLocks noChangeAspect="1" noChangeArrowheads="1"/>
          </p:cNvPicPr>
          <p:nvPr/>
        </p:nvPicPr>
        <p:blipFill>
          <a:blip r:embed="rId7">
            <a:extLst>
              <a:ext uri="{28A0092B-C50C-407E-A947-70E740481C1C}">
                <a14:useLocalDpi xmlns:a14="http://schemas.microsoft.com/office/drawing/2010/main" val="0"/>
              </a:ext>
            </a:extLst>
          </a:blip>
          <a:srcRect l="14571" t="22755" r="27386" b="24400"/>
          <a:stretch>
            <a:fillRect/>
          </a:stretch>
        </p:blipFill>
        <p:spPr bwMode="auto">
          <a:xfrm>
            <a:off x="5967095" y="3437255"/>
            <a:ext cx="1908175" cy="142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033"/>
          <p:cNvSpPr>
            <a:spLocks noChangeArrowheads="1"/>
          </p:cNvSpPr>
          <p:nvPr/>
        </p:nvSpPr>
        <p:spPr bwMode="auto">
          <a:xfrm>
            <a:off x="9490075" y="4969510"/>
            <a:ext cx="119761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a:defRPr>
                <a:solidFill>
                  <a:schemeClr val="tx1"/>
                </a:solidFill>
                <a:latin typeface="Arial" panose="020B0604020202020204" pitchFamily="34" charset="0"/>
                <a:ea typeface="Gungsuh" pitchFamily="18" charset="-127"/>
              </a:defRPr>
            </a:lvl1pPr>
            <a:lvl2pPr marL="742950" indent="-285750">
              <a:defRPr>
                <a:solidFill>
                  <a:schemeClr val="tx1"/>
                </a:solidFill>
                <a:latin typeface="Arial" panose="020B0604020202020204" pitchFamily="34" charset="0"/>
                <a:ea typeface="Gungsuh" pitchFamily="18" charset="-127"/>
              </a:defRPr>
            </a:lvl2pPr>
            <a:lvl3pPr marL="1143000" indent="-228600">
              <a:defRPr>
                <a:solidFill>
                  <a:schemeClr val="tx1"/>
                </a:solidFill>
                <a:latin typeface="Arial" panose="020B0604020202020204" pitchFamily="34" charset="0"/>
                <a:ea typeface="Gungsuh" pitchFamily="18" charset="-127"/>
              </a:defRPr>
            </a:lvl3pPr>
            <a:lvl4pPr marL="1600200" indent="-228600">
              <a:defRPr>
                <a:solidFill>
                  <a:schemeClr val="tx1"/>
                </a:solidFill>
                <a:latin typeface="Arial" panose="020B0604020202020204" pitchFamily="34" charset="0"/>
                <a:ea typeface="Gungsuh" pitchFamily="18" charset="-127"/>
              </a:defRPr>
            </a:lvl4pPr>
            <a:lvl5pPr marL="2057400" indent="-228600">
              <a:defRPr>
                <a:solidFill>
                  <a:schemeClr val="tx1"/>
                </a:solidFill>
                <a:latin typeface="Arial" panose="020B0604020202020204" pitchFamily="34" charset="0"/>
                <a:ea typeface="Gungsuh" pitchFamily="18"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Gungsuh" pitchFamily="18" charset="-127"/>
              </a:defRPr>
            </a:lvl9pPr>
          </a:lstStyle>
          <a:p>
            <a:pPr eaLnBrk="1" hangingPunct="1"/>
            <a:r>
              <a:rPr kumimoji="1" lang="zh-CN" altLang="en-US">
                <a:solidFill>
                  <a:srgbClr val="000066"/>
                </a:solidFill>
                <a:latin typeface="黑体" panose="02010609060101010101" pitchFamily="49" charset="-122"/>
                <a:ea typeface="黑体" panose="02010609060101010101" pitchFamily="49" charset="-122"/>
              </a:rPr>
              <a:t>集合的差 </a:t>
            </a:r>
            <a:endParaRPr kumimoji="1" lang="zh-CN" altLang="en-US">
              <a:solidFill>
                <a:srgbClr val="000066"/>
              </a:solidFill>
              <a:latin typeface="黑体" panose="02010609060101010101" pitchFamily="49" charset="-122"/>
              <a:ea typeface="黑体" panose="02010609060101010101" pitchFamily="49" charset="-122"/>
            </a:endParaRPr>
          </a:p>
        </p:txBody>
      </p:sp>
      <p:pic>
        <p:nvPicPr>
          <p:cNvPr id="21" name="Picture 1036" descr="3"/>
          <p:cNvPicPr>
            <a:picLocks noChangeAspect="1" noChangeArrowheads="1"/>
          </p:cNvPicPr>
          <p:nvPr/>
        </p:nvPicPr>
        <p:blipFill>
          <a:blip r:embed="rId8">
            <a:extLst>
              <a:ext uri="{28A0092B-C50C-407E-A947-70E740481C1C}">
                <a14:useLocalDpi xmlns:a14="http://schemas.microsoft.com/office/drawing/2010/main" val="0"/>
              </a:ext>
            </a:extLst>
          </a:blip>
          <a:srcRect l="14980" t="18979" r="18758" b="25058"/>
          <a:stretch>
            <a:fillRect/>
          </a:stretch>
        </p:blipFill>
        <p:spPr bwMode="auto">
          <a:xfrm>
            <a:off x="9035415" y="3437255"/>
            <a:ext cx="197548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950085" y="2571750"/>
            <a:ext cx="8164195" cy="2168525"/>
          </a:xfrm>
          <a:prstGeom prst="rect">
            <a:avLst/>
          </a:prstGeom>
          <a:noFill/>
        </p:spPr>
        <p:txBody>
          <a:bodyPr wrap="square" rtlCol="0" anchor="t">
            <a:spAutoFit/>
          </a:bodyPr>
          <a:p>
            <a:pPr>
              <a:lnSpc>
                <a:spcPct val="125000"/>
              </a:lnSpc>
              <a:defRPr/>
            </a:pPr>
            <a:r>
              <a:rPr lang="zh-CN" altLang="en-US" sz="2000" b="1" dirty="0">
                <a:solidFill>
                  <a:srgbClr val="000066"/>
                </a:solidFill>
                <a:latin typeface="黑体" panose="02010609060101010101" pitchFamily="49" charset="-122"/>
                <a:ea typeface="黑体" panose="02010609060101010101" pitchFamily="49" charset="-122"/>
                <a:sym typeface="+mn-ea"/>
              </a:rPr>
              <a:t>由集合</a:t>
            </a:r>
            <a:r>
              <a:rPr lang="en-US" altLang="zh-CN" sz="2000" b="1" dirty="0">
                <a:solidFill>
                  <a:srgbClr val="000066"/>
                </a:solidFill>
                <a:latin typeface="黑体" panose="02010609060101010101" pitchFamily="49" charset="-122"/>
                <a:ea typeface="黑体" panose="02010609060101010101" pitchFamily="49" charset="-122"/>
                <a:sym typeface="+mn-ea"/>
              </a:rPr>
              <a:t>A</a:t>
            </a:r>
            <a:r>
              <a:rPr lang="zh-CN" altLang="en-US" sz="2000" b="1" dirty="0">
                <a:solidFill>
                  <a:srgbClr val="000066"/>
                </a:solidFill>
                <a:latin typeface="黑体" panose="02010609060101010101" pitchFamily="49" charset="-122"/>
                <a:ea typeface="黑体" panose="02010609060101010101" pitchFamily="49" charset="-122"/>
                <a:sym typeface="+mn-ea"/>
              </a:rPr>
              <a:t>中所有元素平移</a:t>
            </a:r>
            <a:r>
              <a:rPr lang="en-US" altLang="zh-CN" sz="2000" b="1" dirty="0">
                <a:solidFill>
                  <a:srgbClr val="000066"/>
                </a:solidFill>
                <a:latin typeface="黑体" panose="02010609060101010101" pitchFamily="49" charset="-122"/>
                <a:ea typeface="黑体" panose="02010609060101010101" pitchFamily="49" charset="-122"/>
                <a:sym typeface="+mn-ea"/>
              </a:rPr>
              <a:t>y=(y</a:t>
            </a:r>
            <a:r>
              <a:rPr lang="en-US" altLang="zh-CN" sz="2000" b="1" baseline="-25000" dirty="0">
                <a:solidFill>
                  <a:srgbClr val="000066"/>
                </a:solidFill>
                <a:latin typeface="黑体" panose="02010609060101010101" pitchFamily="49" charset="-122"/>
                <a:ea typeface="黑体" panose="02010609060101010101" pitchFamily="49" charset="-122"/>
                <a:sym typeface="+mn-ea"/>
              </a:rPr>
              <a:t>1</a:t>
            </a:r>
            <a:r>
              <a:rPr lang="zh-CN" altLang="en-US" sz="2000" b="1" dirty="0">
                <a:solidFill>
                  <a:srgbClr val="000066"/>
                </a:solidFill>
                <a:latin typeface="黑体" panose="02010609060101010101" pitchFamily="49" charset="-122"/>
                <a:ea typeface="黑体" panose="02010609060101010101" pitchFamily="49" charset="-122"/>
                <a:sym typeface="+mn-ea"/>
              </a:rPr>
              <a:t>，</a:t>
            </a:r>
            <a:r>
              <a:rPr lang="en-US" altLang="zh-CN" sz="2000" b="1" dirty="0">
                <a:solidFill>
                  <a:srgbClr val="000066"/>
                </a:solidFill>
                <a:latin typeface="黑体" panose="02010609060101010101" pitchFamily="49" charset="-122"/>
                <a:ea typeface="黑体" panose="02010609060101010101" pitchFamily="49" charset="-122"/>
                <a:sym typeface="+mn-ea"/>
              </a:rPr>
              <a:t>y</a:t>
            </a:r>
            <a:r>
              <a:rPr lang="en-US" altLang="zh-CN" sz="2000" b="1" baseline="-25000" dirty="0">
                <a:solidFill>
                  <a:srgbClr val="000066"/>
                </a:solidFill>
                <a:latin typeface="黑体" panose="02010609060101010101" pitchFamily="49" charset="-122"/>
                <a:ea typeface="黑体" panose="02010609060101010101" pitchFamily="49" charset="-122"/>
                <a:sym typeface="+mn-ea"/>
              </a:rPr>
              <a:t>2</a:t>
            </a:r>
            <a:r>
              <a:rPr lang="en-US" altLang="zh-CN" sz="2000" b="1" dirty="0">
                <a:solidFill>
                  <a:srgbClr val="000066"/>
                </a:solidFill>
                <a:latin typeface="黑体" panose="02010609060101010101" pitchFamily="49" charset="-122"/>
                <a:ea typeface="黑体" panose="02010609060101010101" pitchFamily="49" charset="-122"/>
                <a:sym typeface="+mn-ea"/>
              </a:rPr>
              <a:t>)</a:t>
            </a:r>
            <a:r>
              <a:rPr lang="zh-CN" altLang="en-US" sz="2000" b="1" dirty="0">
                <a:solidFill>
                  <a:srgbClr val="000066"/>
                </a:solidFill>
                <a:latin typeface="黑体" panose="02010609060101010101" pitchFamily="49" charset="-122"/>
                <a:ea typeface="黑体" panose="02010609060101010101" pitchFamily="49" charset="-122"/>
                <a:sym typeface="+mn-ea"/>
              </a:rPr>
              <a:t>后组成的元素集合称为集合</a:t>
            </a:r>
            <a:r>
              <a:rPr lang="en-US" altLang="zh-CN" sz="2000" b="1" dirty="0">
                <a:solidFill>
                  <a:srgbClr val="000066"/>
                </a:solidFill>
                <a:latin typeface="黑体" panose="02010609060101010101" pitchFamily="49" charset="-122"/>
                <a:ea typeface="黑体" panose="02010609060101010101" pitchFamily="49" charset="-122"/>
                <a:sym typeface="+mn-ea"/>
              </a:rPr>
              <a:t>A</a:t>
            </a:r>
            <a:r>
              <a:rPr lang="zh-CN" altLang="en-US" sz="2000" b="1" dirty="0">
                <a:solidFill>
                  <a:srgbClr val="000066"/>
                </a:solidFill>
                <a:latin typeface="黑体" panose="02010609060101010101" pitchFamily="49" charset="-122"/>
                <a:ea typeface="黑体" panose="02010609060101010101" pitchFamily="49" charset="-122"/>
                <a:sym typeface="+mn-ea"/>
              </a:rPr>
              <a:t>的平移，记为    。</a:t>
            </a:r>
            <a:r>
              <a:rPr lang="zh-CN" altLang="en-US" sz="2000" dirty="0">
                <a:solidFill>
                  <a:srgbClr val="000066"/>
                </a:solidFill>
                <a:latin typeface="黑体" panose="02010609060101010101" pitchFamily="49" charset="-122"/>
                <a:ea typeface="黑体" panose="02010609060101010101" pitchFamily="49" charset="-122"/>
                <a:sym typeface="+mn-ea"/>
              </a:rPr>
              <a:t> </a:t>
            </a:r>
            <a:endParaRPr lang="en-US" altLang="zh-CN" sz="2000" dirty="0">
              <a:solidFill>
                <a:srgbClr val="000066"/>
              </a:solidFill>
              <a:latin typeface="黑体" panose="02010609060101010101" pitchFamily="49" charset="-122"/>
              <a:ea typeface="黑体" panose="02010609060101010101" pitchFamily="49" charset="-122"/>
            </a:endParaRPr>
          </a:p>
          <a:p>
            <a:pPr>
              <a:lnSpc>
                <a:spcPct val="125000"/>
              </a:lnSpc>
              <a:defRPr/>
            </a:pPr>
            <a:endParaRPr lang="en-US" altLang="zh-CN" sz="2000" b="1" dirty="0" smtClean="0">
              <a:solidFill>
                <a:srgbClr val="660033"/>
              </a:solidFill>
              <a:latin typeface="黑体" panose="02010609060101010101" pitchFamily="49" charset="-122"/>
              <a:ea typeface="黑体" panose="02010609060101010101" pitchFamily="49" charset="-122"/>
            </a:endParaRPr>
          </a:p>
          <a:p>
            <a:pPr>
              <a:lnSpc>
                <a:spcPct val="125000"/>
              </a:lnSpc>
              <a:defRPr/>
            </a:pPr>
            <a:endParaRPr lang="zh-CN" altLang="en-US" sz="2000" b="1" dirty="0">
              <a:solidFill>
                <a:srgbClr val="660033"/>
              </a:solidFill>
              <a:latin typeface="黑体" panose="02010609060101010101" pitchFamily="49" charset="-122"/>
              <a:ea typeface="黑体" panose="02010609060101010101" pitchFamily="49" charset="-122"/>
            </a:endParaRPr>
          </a:p>
          <a:p>
            <a:pPr>
              <a:lnSpc>
                <a:spcPct val="125000"/>
              </a:lnSpc>
              <a:defRPr/>
            </a:pPr>
            <a:r>
              <a:rPr lang="zh-CN" altLang="en-US" sz="2000" b="1" dirty="0">
                <a:solidFill>
                  <a:srgbClr val="000066"/>
                </a:solidFill>
                <a:latin typeface="黑体" panose="02010609060101010101" pitchFamily="49" charset="-122"/>
                <a:ea typeface="黑体" panose="02010609060101010101" pitchFamily="49" charset="-122"/>
                <a:sym typeface="+mn-ea"/>
              </a:rPr>
              <a:t>其中，</a:t>
            </a:r>
            <a:r>
              <a:rPr lang="en-US" altLang="zh-CN" sz="2000" b="1" dirty="0">
                <a:solidFill>
                  <a:srgbClr val="000066"/>
                </a:solidFill>
                <a:latin typeface="黑体" panose="02010609060101010101" pitchFamily="49" charset="-122"/>
                <a:ea typeface="黑体" panose="02010609060101010101" pitchFamily="49" charset="-122"/>
                <a:sym typeface="+mn-ea"/>
              </a:rPr>
              <a:t>x</a:t>
            </a:r>
            <a:r>
              <a:rPr lang="zh-CN" altLang="en-US" sz="2000" b="1" dirty="0">
                <a:solidFill>
                  <a:srgbClr val="000066"/>
                </a:solidFill>
                <a:latin typeface="黑体" panose="02010609060101010101" pitchFamily="49" charset="-122"/>
                <a:ea typeface="黑体" panose="02010609060101010101" pitchFamily="49" charset="-122"/>
                <a:sym typeface="+mn-ea"/>
              </a:rPr>
              <a:t>表示集合</a:t>
            </a:r>
            <a:r>
              <a:rPr lang="en-US" altLang="zh-CN" sz="2000" b="1" dirty="0">
                <a:solidFill>
                  <a:srgbClr val="000066"/>
                </a:solidFill>
                <a:latin typeface="黑体" panose="02010609060101010101" pitchFamily="49" charset="-122"/>
                <a:ea typeface="黑体" panose="02010609060101010101" pitchFamily="49" charset="-122"/>
                <a:sym typeface="+mn-ea"/>
              </a:rPr>
              <a:t>A</a:t>
            </a:r>
            <a:r>
              <a:rPr lang="zh-CN" altLang="en-US" sz="2000" b="1" dirty="0">
                <a:solidFill>
                  <a:srgbClr val="000066"/>
                </a:solidFill>
                <a:latin typeface="黑体" panose="02010609060101010101" pitchFamily="49" charset="-122"/>
                <a:ea typeface="黑体" panose="02010609060101010101" pitchFamily="49" charset="-122"/>
                <a:sym typeface="+mn-ea"/>
              </a:rPr>
              <a:t>中的元素</a:t>
            </a:r>
            <a:r>
              <a:rPr lang="en-US" altLang="zh-CN" sz="2000" b="1" dirty="0">
                <a:solidFill>
                  <a:srgbClr val="000066"/>
                </a:solidFill>
                <a:latin typeface="黑体" panose="02010609060101010101" pitchFamily="49" charset="-122"/>
                <a:ea typeface="黑体" panose="02010609060101010101" pitchFamily="49" charset="-122"/>
                <a:sym typeface="+mn-ea"/>
              </a:rPr>
              <a:t>a</a:t>
            </a:r>
            <a:r>
              <a:rPr lang="zh-CN" altLang="en-US" sz="2000" b="1" dirty="0">
                <a:solidFill>
                  <a:srgbClr val="000066"/>
                </a:solidFill>
                <a:latin typeface="黑体" panose="02010609060101010101" pitchFamily="49" charset="-122"/>
                <a:ea typeface="黑体" panose="02010609060101010101" pitchFamily="49" charset="-122"/>
                <a:sym typeface="+mn-ea"/>
              </a:rPr>
              <a:t>平移</a:t>
            </a:r>
            <a:r>
              <a:rPr lang="en-US" altLang="zh-CN" sz="2000" b="1" dirty="0">
                <a:solidFill>
                  <a:srgbClr val="000066"/>
                </a:solidFill>
                <a:latin typeface="黑体" panose="02010609060101010101" pitchFamily="49" charset="-122"/>
                <a:ea typeface="黑体" panose="02010609060101010101" pitchFamily="49" charset="-122"/>
                <a:sym typeface="+mn-ea"/>
              </a:rPr>
              <a:t>y</a:t>
            </a:r>
            <a:r>
              <a:rPr lang="zh-CN" altLang="en-US" sz="2000" b="1" dirty="0">
                <a:solidFill>
                  <a:srgbClr val="000066"/>
                </a:solidFill>
                <a:latin typeface="黑体" panose="02010609060101010101" pitchFamily="49" charset="-122"/>
                <a:ea typeface="黑体" panose="02010609060101010101" pitchFamily="49" charset="-122"/>
                <a:sym typeface="+mn-ea"/>
              </a:rPr>
              <a:t>后形成的元素。</a:t>
            </a:r>
            <a:r>
              <a:rPr lang="zh-CN" altLang="en-US" sz="2800" b="1" dirty="0">
                <a:solidFill>
                  <a:srgbClr val="000066"/>
                </a:solidFill>
                <a:latin typeface="黑体" panose="02010609060101010101" pitchFamily="49" charset="-122"/>
                <a:ea typeface="黑体" panose="02010609060101010101" pitchFamily="49" charset="-122"/>
                <a:sym typeface="+mn-ea"/>
              </a:rPr>
              <a:t> </a:t>
            </a:r>
            <a:endParaRPr lang="zh-CN" altLang="en-US" sz="2800" b="1" dirty="0">
              <a:solidFill>
                <a:srgbClr val="000066"/>
              </a:solidFill>
              <a:latin typeface="黑体" panose="02010609060101010101" pitchFamily="49" charset="-122"/>
              <a:ea typeface="黑体" panose="02010609060101010101" pitchFamily="49" charset="-122"/>
              <a:sym typeface="+mn-ea"/>
            </a:endParaRPr>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273113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集合论基础</a:t>
            </a:r>
            <a:endParaRPr lang="zh-CN" sz="3200" b="1" dirty="0" smtClean="0">
              <a:solidFill>
                <a:schemeClr val="bg1"/>
              </a:solidFill>
              <a:latin typeface="微软雅黑" panose="020B0503020204020204" charset="-122"/>
              <a:ea typeface="微软雅黑" panose="020B0503020204020204" charset="-122"/>
              <a:sym typeface="+mn-ea"/>
            </a:endParaRPr>
          </a:p>
        </p:txBody>
      </p:sp>
      <p:sp>
        <p:nvSpPr>
          <p:cNvPr id="6" name="文本框 5"/>
          <p:cNvSpPr txBox="1"/>
          <p:nvPr/>
        </p:nvSpPr>
        <p:spPr>
          <a:xfrm>
            <a:off x="904875" y="1871980"/>
            <a:ext cx="6096000" cy="629920"/>
          </a:xfrm>
          <a:prstGeom prst="rect">
            <a:avLst/>
          </a:prstGeom>
          <a:noFill/>
        </p:spPr>
        <p:txBody>
          <a:bodyPr wrap="square" rtlCol="0" anchor="t">
            <a:spAutoFit/>
          </a:bodyPr>
          <a:p>
            <a:pPr marL="457200" indent="-457200">
              <a:lnSpc>
                <a:spcPct val="125000"/>
              </a:lnSpc>
              <a:buFont typeface="Wingdings" panose="05000000000000000000" pitchFamily="2" charset="2"/>
              <a:buChar char="u"/>
              <a:defRPr/>
            </a:pPr>
            <a:r>
              <a:rPr lang="zh-CN" altLang="en-US" sz="2800" dirty="0">
                <a:solidFill>
                  <a:schemeClr val="tx1"/>
                </a:solidFill>
                <a:latin typeface="黑体" panose="02010609060101010101" pitchFamily="49" charset="-122"/>
                <a:ea typeface="黑体" panose="02010609060101010101" pitchFamily="49" charset="-122"/>
                <a:sym typeface="+mn-ea"/>
              </a:rPr>
              <a:t>集合的</a:t>
            </a:r>
            <a:r>
              <a:rPr lang="zh-CN" altLang="en-US" sz="2800" dirty="0" smtClean="0">
                <a:solidFill>
                  <a:schemeClr val="tx1"/>
                </a:solidFill>
                <a:latin typeface="黑体" panose="02010609060101010101" pitchFamily="49" charset="-122"/>
                <a:ea typeface="黑体" panose="02010609060101010101" pitchFamily="49" charset="-122"/>
                <a:sym typeface="+mn-ea"/>
              </a:rPr>
              <a:t>平移</a:t>
            </a:r>
            <a:endParaRPr lang="zh-CN" altLang="en-US" sz="2800" dirty="0" smtClean="0">
              <a:solidFill>
                <a:schemeClr val="tx1"/>
              </a:solidFill>
              <a:latin typeface="黑体" panose="02010609060101010101" pitchFamily="49" charset="-122"/>
              <a:ea typeface="黑体" panose="02010609060101010101" pitchFamily="49" charset="-122"/>
              <a:sym typeface="+mn-ea"/>
            </a:endParaRPr>
          </a:p>
        </p:txBody>
      </p:sp>
      <p:graphicFrame>
        <p:nvGraphicFramePr>
          <p:cNvPr id="15364" name="Object 27"/>
          <p:cNvGraphicFramePr>
            <a:graphicFrameLocks noChangeAspect="1"/>
          </p:cNvGraphicFramePr>
          <p:nvPr/>
        </p:nvGraphicFramePr>
        <p:xfrm>
          <a:off x="2555106" y="2969101"/>
          <a:ext cx="611187" cy="550863"/>
        </p:xfrm>
        <a:graphic>
          <a:graphicData uri="http://schemas.openxmlformats.org/presentationml/2006/ole">
            <mc:AlternateContent xmlns:mc="http://schemas.openxmlformats.org/markup-compatibility/2006">
              <mc:Choice xmlns:v="urn:schemas-microsoft-com:vml" Requires="v">
                <p:oleObj spid="_x0000_s15412" name="公式" r:id="rId3" imgW="317500" imgH="241300" progId="Equation.3">
                  <p:embed/>
                </p:oleObj>
              </mc:Choice>
              <mc:Fallback>
                <p:oleObj name="公式" r:id="rId3" imgW="317500" imgH="241300" progId="Equation.3">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106" y="2969101"/>
                        <a:ext cx="611187"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5" name="Object 29"/>
          <p:cNvGraphicFramePr>
            <a:graphicFrameLocks noChangeAspect="1"/>
          </p:cNvGraphicFramePr>
          <p:nvPr/>
        </p:nvGraphicFramePr>
        <p:xfrm>
          <a:off x="3582035" y="3406775"/>
          <a:ext cx="3895725" cy="656590"/>
        </p:xfrm>
        <a:graphic>
          <a:graphicData uri="http://schemas.openxmlformats.org/presentationml/2006/ole">
            <mc:AlternateContent xmlns:mc="http://schemas.openxmlformats.org/markup-compatibility/2006">
              <mc:Choice xmlns:v="urn:schemas-microsoft-com:vml" Requires="v">
                <p:oleObj spid="_x0000_s15413" name="" r:id="rId5" imgW="1688465" imgH="241300" progId="Equation.3">
                  <p:embed/>
                </p:oleObj>
              </mc:Choice>
              <mc:Fallback>
                <p:oleObj name="" r:id="rId5" imgW="1688465" imgH="241300" progId="Equation.3">
                  <p:embed/>
                  <p:pic>
                    <p:nvPicPr>
                      <p:cNvPr id="0" name="Object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2035" y="3406775"/>
                        <a:ext cx="3895725" cy="656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5366" name="Picture 30" descr="8"/>
          <p:cNvPicPr>
            <a:picLocks noChangeAspect="1" noChangeArrowheads="1"/>
          </p:cNvPicPr>
          <p:nvPr/>
        </p:nvPicPr>
        <p:blipFill>
          <a:blip r:embed="rId7">
            <a:extLst>
              <a:ext uri="{28A0092B-C50C-407E-A947-70E740481C1C}">
                <a14:useLocalDpi xmlns:a14="http://schemas.microsoft.com/office/drawing/2010/main" val="0"/>
              </a:ext>
            </a:extLst>
          </a:blip>
          <a:srcRect l="4080" t="9116" r="21176" b="23865"/>
          <a:stretch>
            <a:fillRect/>
          </a:stretch>
        </p:blipFill>
        <p:spPr bwMode="auto">
          <a:xfrm>
            <a:off x="8581602" y="4063523"/>
            <a:ext cx="2514600" cy="192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41045" y="1835150"/>
            <a:ext cx="6678930" cy="3119120"/>
          </a:xfrm>
          <a:prstGeom prst="rect">
            <a:avLst/>
          </a:prstGeom>
          <a:noFill/>
        </p:spPr>
        <p:txBody>
          <a:bodyPr wrap="square" rtlCol="0" anchor="t">
            <a:spAutoFit/>
          </a:bodyPr>
          <a:p>
            <a:pPr marL="457200" indent="-457200">
              <a:lnSpc>
                <a:spcPct val="120000"/>
              </a:lnSpc>
              <a:buFont typeface="Wingdings" panose="05000000000000000000" pitchFamily="2" charset="2"/>
              <a:buChar char="u"/>
              <a:defRPr/>
            </a:pPr>
            <a:r>
              <a:rPr lang="zh-CN" altLang="en-US" sz="2800" b="1" dirty="0">
                <a:solidFill>
                  <a:schemeClr val="tx1"/>
                </a:solidFill>
                <a:latin typeface="黑体" panose="02010609060101010101" pitchFamily="49" charset="-122"/>
                <a:ea typeface="黑体" panose="02010609060101010101" pitchFamily="49" charset="-122"/>
                <a:sym typeface="+mn-ea"/>
              </a:rPr>
              <a:t>集合的</a:t>
            </a:r>
            <a:r>
              <a:rPr lang="zh-CN" altLang="en-US" sz="2800" b="1" dirty="0" smtClean="0">
                <a:solidFill>
                  <a:schemeClr val="tx1"/>
                </a:solidFill>
                <a:latin typeface="黑体" panose="02010609060101010101" pitchFamily="49" charset="-122"/>
                <a:ea typeface="黑体" panose="02010609060101010101" pitchFamily="49" charset="-122"/>
                <a:sym typeface="+mn-ea"/>
              </a:rPr>
              <a:t>反射</a:t>
            </a:r>
            <a:endParaRPr lang="en-US" altLang="zh-CN" sz="2800" b="1" dirty="0" smtClean="0">
              <a:solidFill>
                <a:schemeClr val="tx1"/>
              </a:solidFill>
              <a:latin typeface="黑体" panose="02010609060101010101" pitchFamily="49" charset="-122"/>
              <a:ea typeface="黑体" panose="02010609060101010101" pitchFamily="49" charset="-122"/>
            </a:endParaRPr>
          </a:p>
          <a:p>
            <a:pPr marL="457200" indent="-457200">
              <a:lnSpc>
                <a:spcPct val="120000"/>
              </a:lnSpc>
              <a:buFont typeface="Wingdings" panose="05000000000000000000" pitchFamily="2" charset="2"/>
              <a:buChar char="u"/>
              <a:defRPr/>
            </a:pPr>
            <a:endParaRPr lang="zh-CN" altLang="en-US" sz="2800" b="1" dirty="0">
              <a:solidFill>
                <a:srgbClr val="C00000"/>
              </a:solidFill>
              <a:latin typeface="黑体" panose="02010609060101010101" pitchFamily="49" charset="-122"/>
              <a:ea typeface="黑体" panose="02010609060101010101" pitchFamily="49" charset="-122"/>
            </a:endParaRPr>
          </a:p>
          <a:p>
            <a:pPr>
              <a:lnSpc>
                <a:spcPct val="120000"/>
              </a:lnSpc>
              <a:defRPr/>
            </a:pPr>
            <a:r>
              <a:rPr lang="zh-CN" altLang="en-US" sz="2800" b="1" dirty="0">
                <a:solidFill>
                  <a:srgbClr val="000066"/>
                </a:solidFill>
                <a:latin typeface="黑体" panose="02010609060101010101" pitchFamily="49" charset="-122"/>
                <a:ea typeface="黑体" panose="02010609060101010101" pitchFamily="49" charset="-122"/>
                <a:sym typeface="+mn-ea"/>
              </a:rPr>
              <a:t>  </a:t>
            </a:r>
            <a:r>
              <a:rPr lang="zh-CN" altLang="en-US" sz="2000" b="1" dirty="0">
                <a:solidFill>
                  <a:srgbClr val="000066"/>
                </a:solidFill>
                <a:latin typeface="黑体" panose="02010609060101010101" pitchFamily="49" charset="-122"/>
                <a:ea typeface="黑体" panose="02010609060101010101" pitchFamily="49" charset="-122"/>
                <a:sym typeface="+mn-ea"/>
              </a:rPr>
              <a:t>由集合</a:t>
            </a:r>
            <a:r>
              <a:rPr lang="en-US" altLang="zh-CN" sz="2000" b="1" dirty="0">
                <a:solidFill>
                  <a:srgbClr val="000066"/>
                </a:solidFill>
                <a:latin typeface="黑体" panose="02010609060101010101" pitchFamily="49" charset="-122"/>
                <a:ea typeface="黑体" panose="02010609060101010101" pitchFamily="49" charset="-122"/>
                <a:sym typeface="+mn-ea"/>
              </a:rPr>
              <a:t>A</a:t>
            </a:r>
            <a:r>
              <a:rPr lang="zh-CN" altLang="en-US" sz="2000" b="1" dirty="0">
                <a:solidFill>
                  <a:srgbClr val="000066"/>
                </a:solidFill>
                <a:latin typeface="黑体" panose="02010609060101010101" pitchFamily="49" charset="-122"/>
                <a:ea typeface="黑体" panose="02010609060101010101" pitchFamily="49" charset="-122"/>
                <a:sym typeface="+mn-ea"/>
              </a:rPr>
              <a:t>中所有元素相对于原点的反射元素组成的集合称为集合</a:t>
            </a:r>
            <a:r>
              <a:rPr lang="en-US" altLang="zh-CN" sz="2000" b="1" dirty="0">
                <a:solidFill>
                  <a:srgbClr val="000066"/>
                </a:solidFill>
                <a:latin typeface="黑体" panose="02010609060101010101" pitchFamily="49" charset="-122"/>
                <a:ea typeface="黑体" panose="02010609060101010101" pitchFamily="49" charset="-122"/>
                <a:sym typeface="+mn-ea"/>
              </a:rPr>
              <a:t>A</a:t>
            </a:r>
            <a:r>
              <a:rPr lang="zh-CN" altLang="en-US" sz="2000" b="1" dirty="0">
                <a:solidFill>
                  <a:srgbClr val="000066"/>
                </a:solidFill>
                <a:latin typeface="黑体" panose="02010609060101010101" pitchFamily="49" charset="-122"/>
                <a:ea typeface="黑体" panose="02010609060101010101" pitchFamily="49" charset="-122"/>
                <a:sym typeface="+mn-ea"/>
              </a:rPr>
              <a:t>的反射，记为   。</a:t>
            </a:r>
            <a:r>
              <a:rPr lang="zh-CN" altLang="en-US" sz="2000" dirty="0">
                <a:solidFill>
                  <a:srgbClr val="000066"/>
                </a:solidFill>
                <a:latin typeface="黑体" panose="02010609060101010101" pitchFamily="49" charset="-122"/>
                <a:ea typeface="黑体" panose="02010609060101010101" pitchFamily="49" charset="-122"/>
                <a:sym typeface="+mn-ea"/>
              </a:rPr>
              <a:t> </a:t>
            </a:r>
            <a:endParaRPr lang="zh-CN" altLang="en-US" sz="2000" b="1" dirty="0">
              <a:solidFill>
                <a:srgbClr val="660033"/>
              </a:solidFill>
              <a:latin typeface="黑体" panose="02010609060101010101" pitchFamily="49" charset="-122"/>
              <a:ea typeface="黑体" panose="02010609060101010101" pitchFamily="49" charset="-122"/>
            </a:endParaRPr>
          </a:p>
          <a:p>
            <a:pPr>
              <a:lnSpc>
                <a:spcPct val="120000"/>
              </a:lnSpc>
              <a:defRPr/>
            </a:pPr>
            <a:r>
              <a:rPr lang="zh-CN" altLang="en-US" sz="2000" b="1" dirty="0">
                <a:solidFill>
                  <a:srgbClr val="336699"/>
                </a:solidFill>
                <a:latin typeface="黑体" panose="02010609060101010101" pitchFamily="49" charset="-122"/>
                <a:ea typeface="黑体" panose="02010609060101010101" pitchFamily="49" charset="-122"/>
                <a:sym typeface="+mn-ea"/>
              </a:rPr>
              <a:t>                                        </a:t>
            </a:r>
            <a:endParaRPr lang="en-US" altLang="zh-CN" sz="2000" b="1" dirty="0">
              <a:solidFill>
                <a:srgbClr val="000066"/>
              </a:solidFill>
              <a:latin typeface="黑体" panose="02010609060101010101" pitchFamily="49" charset="-122"/>
              <a:ea typeface="黑体" panose="02010609060101010101" pitchFamily="49" charset="-122"/>
            </a:endParaRPr>
          </a:p>
          <a:p>
            <a:pPr>
              <a:lnSpc>
                <a:spcPct val="120000"/>
              </a:lnSpc>
              <a:defRPr/>
            </a:pPr>
            <a:endParaRPr lang="en-US" altLang="zh-CN" sz="2000" b="1" dirty="0">
              <a:solidFill>
                <a:srgbClr val="000066"/>
              </a:solidFill>
              <a:latin typeface="黑体" panose="02010609060101010101" pitchFamily="49" charset="-122"/>
              <a:ea typeface="黑体" panose="02010609060101010101" pitchFamily="49" charset="-122"/>
            </a:endParaRPr>
          </a:p>
          <a:p>
            <a:pPr>
              <a:lnSpc>
                <a:spcPct val="120000"/>
              </a:lnSpc>
              <a:defRPr/>
            </a:pPr>
            <a:r>
              <a:rPr lang="zh-CN" altLang="en-US" sz="2000" b="1" dirty="0">
                <a:solidFill>
                  <a:srgbClr val="000066"/>
                </a:solidFill>
                <a:latin typeface="黑体" panose="02010609060101010101" pitchFamily="49" charset="-122"/>
                <a:ea typeface="黑体" panose="02010609060101010101" pitchFamily="49" charset="-122"/>
                <a:sym typeface="+mn-ea"/>
              </a:rPr>
              <a:t>其中，</a:t>
            </a:r>
            <a:r>
              <a:rPr lang="en-US" altLang="zh-CN" sz="2000" b="1" dirty="0">
                <a:solidFill>
                  <a:srgbClr val="000066"/>
                </a:solidFill>
                <a:latin typeface="黑体" panose="02010609060101010101" pitchFamily="49" charset="-122"/>
                <a:ea typeface="黑体" panose="02010609060101010101" pitchFamily="49" charset="-122"/>
                <a:sym typeface="+mn-ea"/>
              </a:rPr>
              <a:t>x</a:t>
            </a:r>
            <a:r>
              <a:rPr lang="zh-CN" altLang="en-US" sz="2000" b="1" dirty="0">
                <a:solidFill>
                  <a:srgbClr val="000066"/>
                </a:solidFill>
                <a:latin typeface="黑体" panose="02010609060101010101" pitchFamily="49" charset="-122"/>
                <a:ea typeface="黑体" panose="02010609060101010101" pitchFamily="49" charset="-122"/>
                <a:sym typeface="+mn-ea"/>
              </a:rPr>
              <a:t>表示集合</a:t>
            </a:r>
            <a:r>
              <a:rPr lang="en-US" altLang="zh-CN" sz="2000" b="1" dirty="0">
                <a:solidFill>
                  <a:srgbClr val="000066"/>
                </a:solidFill>
                <a:latin typeface="黑体" panose="02010609060101010101" pitchFamily="49" charset="-122"/>
                <a:ea typeface="黑体" panose="02010609060101010101" pitchFamily="49" charset="-122"/>
                <a:sym typeface="+mn-ea"/>
              </a:rPr>
              <a:t>A</a:t>
            </a:r>
            <a:r>
              <a:rPr lang="zh-CN" altLang="en-US" sz="2000" b="1" dirty="0">
                <a:solidFill>
                  <a:srgbClr val="000066"/>
                </a:solidFill>
                <a:latin typeface="黑体" panose="02010609060101010101" pitchFamily="49" charset="-122"/>
                <a:ea typeface="黑体" panose="02010609060101010101" pitchFamily="49" charset="-122"/>
                <a:sym typeface="+mn-ea"/>
              </a:rPr>
              <a:t>中的元素</a:t>
            </a:r>
            <a:r>
              <a:rPr lang="en-US" altLang="zh-CN" sz="2000" b="1" dirty="0">
                <a:solidFill>
                  <a:srgbClr val="000066"/>
                </a:solidFill>
                <a:latin typeface="黑体" panose="02010609060101010101" pitchFamily="49" charset="-122"/>
                <a:ea typeface="黑体" panose="02010609060101010101" pitchFamily="49" charset="-122"/>
                <a:sym typeface="+mn-ea"/>
              </a:rPr>
              <a:t>a</a:t>
            </a:r>
            <a:r>
              <a:rPr lang="zh-CN" altLang="en-US" sz="2000" b="1" dirty="0">
                <a:solidFill>
                  <a:srgbClr val="000066"/>
                </a:solidFill>
                <a:latin typeface="黑体" panose="02010609060101010101" pitchFamily="49" charset="-122"/>
                <a:ea typeface="黑体" panose="02010609060101010101" pitchFamily="49" charset="-122"/>
                <a:sym typeface="+mn-ea"/>
              </a:rPr>
              <a:t>对应的反射元素。 </a:t>
            </a:r>
            <a:endParaRPr lang="zh-CN" altLang="en-US" sz="2000" b="1" dirty="0">
              <a:solidFill>
                <a:srgbClr val="000066"/>
              </a:solidFill>
              <a:latin typeface="黑体" panose="02010609060101010101" pitchFamily="49" charset="-122"/>
              <a:ea typeface="黑体" panose="02010609060101010101" pitchFamily="49" charset="-122"/>
              <a:sym typeface="+mn-ea"/>
            </a:endParaRPr>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273113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集合论基础</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14342" name="Picture 10" descr="7"/>
          <p:cNvPicPr>
            <a:picLocks noChangeAspect="1" noChangeArrowheads="1"/>
          </p:cNvPicPr>
          <p:nvPr/>
        </p:nvPicPr>
        <p:blipFill>
          <a:blip r:embed="rId3">
            <a:extLst>
              <a:ext uri="{28A0092B-C50C-407E-A947-70E740481C1C}">
                <a14:useLocalDpi xmlns:a14="http://schemas.microsoft.com/office/drawing/2010/main" val="0"/>
              </a:ext>
            </a:extLst>
          </a:blip>
          <a:srcRect l="7536" t="9198" r="21176" b="22523"/>
          <a:stretch>
            <a:fillRect/>
          </a:stretch>
        </p:blipFill>
        <p:spPr bwMode="auto">
          <a:xfrm>
            <a:off x="8290560" y="3661728"/>
            <a:ext cx="2514600" cy="198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340" name="Object 8"/>
          <p:cNvGraphicFramePr>
            <a:graphicFrameLocks noChangeAspect="1"/>
          </p:cNvGraphicFramePr>
          <p:nvPr/>
        </p:nvGraphicFramePr>
        <p:xfrm>
          <a:off x="3518853" y="3178810"/>
          <a:ext cx="431800" cy="576263"/>
        </p:xfrm>
        <a:graphic>
          <a:graphicData uri="http://schemas.openxmlformats.org/presentationml/2006/ole">
            <mc:AlternateContent xmlns:mc="http://schemas.openxmlformats.org/markup-compatibility/2006">
              <mc:Choice xmlns:v="urn:schemas-microsoft-com:vml" Requires="v">
                <p:oleObj spid="_x0000_s14387" name="公式" r:id="rId4" imgW="152400" imgH="266700" progId="Equation.3">
                  <p:embed/>
                </p:oleObj>
              </mc:Choice>
              <mc:Fallback>
                <p:oleObj name="公式" r:id="rId4" imgW="152400" imgH="2667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18853" y="3178810"/>
                        <a:ext cx="4318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41" name="Object 9"/>
          <p:cNvGraphicFramePr>
            <a:graphicFrameLocks noChangeAspect="1"/>
          </p:cNvGraphicFramePr>
          <p:nvPr/>
        </p:nvGraphicFramePr>
        <p:xfrm>
          <a:off x="1880870" y="3604578"/>
          <a:ext cx="3889375" cy="879475"/>
        </p:xfrm>
        <a:graphic>
          <a:graphicData uri="http://schemas.openxmlformats.org/presentationml/2006/ole">
            <mc:AlternateContent xmlns:mc="http://schemas.openxmlformats.org/markup-compatibility/2006">
              <mc:Choice xmlns:v="urn:schemas-microsoft-com:vml" Requires="v">
                <p:oleObj spid="_x0000_s14388" name="公式" r:id="rId6" imgW="1345565" imgH="304800" progId="Equation.3">
                  <p:embed/>
                </p:oleObj>
              </mc:Choice>
              <mc:Fallback>
                <p:oleObj name="公式" r:id="rId6" imgW="1345565" imgH="3048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80870" y="3604578"/>
                        <a:ext cx="3889375"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351091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集合论与数字图像</a:t>
            </a:r>
            <a:endParaRPr lang="zh-CN" sz="3200" b="1" dirty="0" smtClean="0">
              <a:solidFill>
                <a:schemeClr val="bg1"/>
              </a:solidFill>
              <a:latin typeface="微软雅黑" panose="020B0503020204020204" charset="-122"/>
              <a:ea typeface="微软雅黑" panose="020B0503020204020204" charset="-122"/>
              <a:sym typeface="+mn-ea"/>
            </a:endParaRPr>
          </a:p>
        </p:txBody>
      </p:sp>
      <p:sp>
        <p:nvSpPr>
          <p:cNvPr id="5" name="文本框 4"/>
          <p:cNvSpPr txBox="1"/>
          <p:nvPr/>
        </p:nvSpPr>
        <p:spPr>
          <a:xfrm>
            <a:off x="1548130" y="2493010"/>
            <a:ext cx="9044940" cy="2112010"/>
          </a:xfrm>
          <a:prstGeom prst="rect">
            <a:avLst/>
          </a:prstGeom>
          <a:noFill/>
        </p:spPr>
        <p:txBody>
          <a:bodyPr wrap="square" rtlCol="0">
            <a:spAutoFit/>
          </a:bodyPr>
          <a:p>
            <a:r>
              <a:rPr lang="zh-CN" altLang="en-US"/>
              <a:t>与变换矩阵有一定不同，现在我们直接使用集合表示数字图像上的每一个像素点。</a:t>
            </a:r>
            <a:endParaRPr lang="zh-CN" altLang="en-US"/>
          </a:p>
          <a:p>
            <a:endParaRPr lang="zh-CN" altLang="en-US"/>
          </a:p>
          <a:p>
            <a:r>
              <a:rPr lang="zh-CN" altLang="en-US" b="1" dirty="0" smtClean="0">
                <a:solidFill>
                  <a:srgbClr val="000066"/>
                </a:solidFill>
                <a:latin typeface="黑体" panose="02010609060101010101" pitchFamily="49" charset="-122"/>
                <a:ea typeface="黑体" panose="02010609060101010101" pitchFamily="49" charset="-122"/>
                <a:sym typeface="+mn-ea"/>
              </a:rPr>
              <a:t>二值图像中，问题中的集合是二维整数空间</a:t>
            </a:r>
            <a:r>
              <a:rPr lang="en-US" altLang="zh-CN" b="1" dirty="0" smtClean="0">
                <a:solidFill>
                  <a:srgbClr val="000066"/>
                </a:solidFill>
                <a:latin typeface="黑体" panose="02010609060101010101" pitchFamily="49" charset="-122"/>
                <a:ea typeface="黑体" panose="02010609060101010101" pitchFamily="49" charset="-122"/>
                <a:sym typeface="+mn-ea"/>
              </a:rPr>
              <a:t>Z</a:t>
            </a:r>
            <a:r>
              <a:rPr lang="en-US" altLang="zh-CN" b="1" baseline="30000" dirty="0" smtClean="0">
                <a:solidFill>
                  <a:srgbClr val="000066"/>
                </a:solidFill>
                <a:latin typeface="黑体" panose="02010609060101010101" pitchFamily="49" charset="-122"/>
                <a:ea typeface="黑体" panose="02010609060101010101" pitchFamily="49" charset="-122"/>
                <a:sym typeface="+mn-ea"/>
              </a:rPr>
              <a:t>2</a:t>
            </a:r>
            <a:endParaRPr lang="en-US" altLang="zh-CN" b="1" baseline="30000" dirty="0" smtClean="0">
              <a:solidFill>
                <a:srgbClr val="000066"/>
              </a:solidFill>
              <a:latin typeface="黑体" panose="02010609060101010101" pitchFamily="49" charset="-122"/>
              <a:ea typeface="黑体" panose="02010609060101010101" pitchFamily="49" charset="-122"/>
              <a:sym typeface="+mn-ea"/>
            </a:endParaRPr>
          </a:p>
          <a:p>
            <a:endParaRPr lang="en-US" altLang="zh-CN" b="1" baseline="30000" dirty="0" smtClean="0">
              <a:solidFill>
                <a:srgbClr val="000066"/>
              </a:solidFill>
              <a:latin typeface="黑体" panose="02010609060101010101" pitchFamily="49" charset="-122"/>
              <a:ea typeface="黑体" panose="02010609060101010101" pitchFamily="49" charset="-122"/>
              <a:sym typeface="+mn-ea"/>
            </a:endParaRPr>
          </a:p>
          <a:p>
            <a:endParaRPr lang="en-US" altLang="zh-CN" b="1" baseline="30000" dirty="0" smtClean="0">
              <a:solidFill>
                <a:srgbClr val="000066"/>
              </a:solidFill>
              <a:latin typeface="黑体" panose="02010609060101010101" pitchFamily="49" charset="-122"/>
              <a:ea typeface="黑体" panose="02010609060101010101" pitchFamily="49" charset="-122"/>
            </a:endParaRPr>
          </a:p>
          <a:p>
            <a:r>
              <a:rPr lang="zh-CN" altLang="en-US" b="1" dirty="0" smtClean="0">
                <a:solidFill>
                  <a:srgbClr val="000066"/>
                </a:solidFill>
                <a:latin typeface="黑体" panose="02010609060101010101" pitchFamily="49" charset="-122"/>
                <a:ea typeface="黑体" panose="02010609060101010101" pitchFamily="49" charset="-122"/>
                <a:sym typeface="+mn-ea"/>
              </a:rPr>
              <a:t>结构元</a:t>
            </a:r>
            <a:r>
              <a:rPr lang="en-US" altLang="zh-CN" b="1" dirty="0" smtClean="0">
                <a:solidFill>
                  <a:srgbClr val="000066"/>
                </a:solidFill>
                <a:latin typeface="黑体" panose="02010609060101010101" pitchFamily="49" charset="-122"/>
                <a:ea typeface="黑体" panose="02010609060101010101" pitchFamily="49" charset="-122"/>
                <a:sym typeface="+mn-ea"/>
              </a:rPr>
              <a:t> </a:t>
            </a:r>
            <a:r>
              <a:rPr lang="zh-CN" altLang="en-US" b="1" dirty="0" smtClean="0">
                <a:solidFill>
                  <a:srgbClr val="000066"/>
                </a:solidFill>
                <a:latin typeface="黑体" panose="02010609060101010101" pitchFamily="49" charset="-122"/>
                <a:ea typeface="黑体" panose="02010609060101010101" pitchFamily="49" charset="-122"/>
                <a:sym typeface="+mn-ea"/>
              </a:rPr>
              <a:t>即是</a:t>
            </a:r>
            <a:r>
              <a:rPr lang="en-US" altLang="zh-CN" b="1" dirty="0" smtClean="0">
                <a:solidFill>
                  <a:srgbClr val="000066"/>
                </a:solidFill>
                <a:latin typeface="黑体" panose="02010609060101010101" pitchFamily="49" charset="-122"/>
                <a:ea typeface="黑体" panose="02010609060101010101" pitchFamily="49" charset="-122"/>
                <a:sym typeface="+mn-ea"/>
              </a:rPr>
              <a:t> </a:t>
            </a:r>
            <a:r>
              <a:rPr lang="zh-CN" altLang="en-US" b="1" dirty="0" smtClean="0">
                <a:solidFill>
                  <a:srgbClr val="000066"/>
                </a:solidFill>
                <a:latin typeface="黑体" panose="02010609060101010101" pitchFamily="49" charset="-122"/>
                <a:ea typeface="黑体" panose="02010609060101010101" pitchFamily="49" charset="-122"/>
                <a:sym typeface="+mn-ea"/>
              </a:rPr>
              <a:t>研究一幅图像中感兴趣特性所用的小集合或子图像</a:t>
            </a:r>
            <a:endParaRPr lang="en-US" altLang="zh-CN" b="1" dirty="0" smtClean="0">
              <a:solidFill>
                <a:srgbClr val="000066"/>
              </a:solidFill>
              <a:latin typeface="黑体" panose="02010609060101010101" pitchFamily="49" charset="-122"/>
              <a:ea typeface="黑体" panose="02010609060101010101" pitchFamily="49" charset="-122"/>
            </a:endParaRPr>
          </a:p>
          <a:p>
            <a:endParaRPr lang="zh-CN" altLang="en-US"/>
          </a:p>
          <a:p>
            <a:endParaRPr lang="zh-CN" altLang="en-US"/>
          </a:p>
        </p:txBody>
      </p:sp>
      <p:pic>
        <p:nvPicPr>
          <p:cNvPr id="6" name="图片 5"/>
          <p:cNvPicPr>
            <a:picLocks noChangeAspect="1"/>
          </p:cNvPicPr>
          <p:nvPr/>
        </p:nvPicPr>
        <p:blipFill>
          <a:blip r:embed="rId3"/>
          <a:stretch>
            <a:fillRect/>
          </a:stretch>
        </p:blipFill>
        <p:spPr>
          <a:xfrm>
            <a:off x="8095491" y="4357603"/>
            <a:ext cx="3037043" cy="1296144"/>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438531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二值形态学基础：腐蚀</a:t>
            </a:r>
            <a:endParaRPr lang="zh-CN" sz="3200" b="1" dirty="0" smtClean="0">
              <a:solidFill>
                <a:schemeClr val="bg1"/>
              </a:solidFill>
              <a:latin typeface="微软雅黑" panose="020B0503020204020204" charset="-122"/>
              <a:ea typeface="微软雅黑" panose="020B0503020204020204" charset="-122"/>
              <a:sym typeface="+mn-ea"/>
            </a:endParaRPr>
          </a:p>
        </p:txBody>
      </p:sp>
      <p:sp>
        <p:nvSpPr>
          <p:cNvPr id="10" name="文本框 9"/>
          <p:cNvSpPr txBox="1"/>
          <p:nvPr/>
        </p:nvSpPr>
        <p:spPr>
          <a:xfrm>
            <a:off x="669290" y="2405380"/>
            <a:ext cx="6096000" cy="810260"/>
          </a:xfrm>
          <a:prstGeom prst="rect">
            <a:avLst/>
          </a:prstGeom>
          <a:noFill/>
        </p:spPr>
        <p:txBody>
          <a:bodyPr wrap="square" rtlCol="0" anchor="t">
            <a:spAutoFit/>
          </a:bodyPr>
          <a:p>
            <a:pPr>
              <a:lnSpc>
                <a:spcPct val="130000"/>
              </a:lnSpc>
              <a:defRPr/>
            </a:pPr>
            <a:r>
              <a:rPr lang="zh-CN" altLang="en-US" b="1" dirty="0">
                <a:solidFill>
                  <a:srgbClr val="000066"/>
                </a:solidFill>
                <a:ea typeface="黑体" panose="02010609060101010101" pitchFamily="49" charset="-122"/>
                <a:sym typeface="+mn-ea"/>
              </a:rPr>
              <a:t>设</a:t>
            </a:r>
            <a:r>
              <a:rPr lang="en-US" altLang="zh-CN" b="1" dirty="0">
                <a:solidFill>
                  <a:srgbClr val="000066"/>
                </a:solidFill>
                <a:ea typeface="黑体" panose="02010609060101010101" pitchFamily="49" charset="-122"/>
                <a:sym typeface="+mn-ea"/>
              </a:rPr>
              <a:t>A</a:t>
            </a:r>
            <a:r>
              <a:rPr lang="zh-CN" altLang="en-US" b="1" dirty="0">
                <a:solidFill>
                  <a:srgbClr val="000066"/>
                </a:solidFill>
                <a:ea typeface="黑体" panose="02010609060101010101" pitchFamily="49" charset="-122"/>
                <a:sym typeface="+mn-ea"/>
              </a:rPr>
              <a:t>为目标图像，</a:t>
            </a:r>
            <a:r>
              <a:rPr lang="en-US" altLang="zh-CN" b="1" dirty="0">
                <a:solidFill>
                  <a:srgbClr val="000066"/>
                </a:solidFill>
                <a:ea typeface="黑体" panose="02010609060101010101" pitchFamily="49" charset="-122"/>
                <a:sym typeface="+mn-ea"/>
              </a:rPr>
              <a:t>B</a:t>
            </a:r>
            <a:r>
              <a:rPr lang="zh-CN" altLang="en-US" b="1" dirty="0">
                <a:solidFill>
                  <a:srgbClr val="000066"/>
                </a:solidFill>
                <a:ea typeface="黑体" panose="02010609060101010101" pitchFamily="49" charset="-122"/>
                <a:sym typeface="+mn-ea"/>
              </a:rPr>
              <a:t>为结构元素，则目标图像</a:t>
            </a:r>
            <a:r>
              <a:rPr lang="en-US" altLang="zh-CN" b="1" dirty="0">
                <a:solidFill>
                  <a:srgbClr val="000066"/>
                </a:solidFill>
                <a:ea typeface="黑体" panose="02010609060101010101" pitchFamily="49" charset="-122"/>
                <a:sym typeface="+mn-ea"/>
              </a:rPr>
              <a:t>A</a:t>
            </a:r>
            <a:r>
              <a:rPr lang="zh-CN" altLang="en-US" b="1" dirty="0">
                <a:solidFill>
                  <a:srgbClr val="000066"/>
                </a:solidFill>
                <a:ea typeface="黑体" panose="02010609060101010101" pitchFamily="49" charset="-122"/>
                <a:sym typeface="+mn-ea"/>
              </a:rPr>
              <a:t>被结构元素</a:t>
            </a:r>
            <a:r>
              <a:rPr lang="en-US" altLang="zh-CN" b="1" dirty="0">
                <a:solidFill>
                  <a:srgbClr val="000066"/>
                </a:solidFill>
                <a:ea typeface="黑体" panose="02010609060101010101" pitchFamily="49" charset="-122"/>
                <a:sym typeface="+mn-ea"/>
              </a:rPr>
              <a:t>B</a:t>
            </a:r>
            <a:r>
              <a:rPr lang="zh-CN" altLang="en-US" b="1" dirty="0">
                <a:solidFill>
                  <a:srgbClr val="000066"/>
                </a:solidFill>
                <a:ea typeface="黑体" panose="02010609060101010101" pitchFamily="49" charset="-122"/>
                <a:sym typeface="+mn-ea"/>
              </a:rPr>
              <a:t>腐蚀可定义为</a:t>
            </a:r>
            <a:endParaRPr lang="zh-CN" altLang="en-US" sz="2800" b="1" dirty="0" smtClean="0">
              <a:solidFill>
                <a:srgbClr val="000066"/>
              </a:solidFill>
              <a:ea typeface="黑体" panose="02010609060101010101" pitchFamily="49" charset="-122"/>
              <a:sym typeface="+mn-ea"/>
            </a:endParaRPr>
          </a:p>
        </p:txBody>
      </p:sp>
      <p:sp>
        <p:nvSpPr>
          <p:cNvPr id="14" name="文本框 13"/>
          <p:cNvSpPr txBox="1"/>
          <p:nvPr/>
        </p:nvSpPr>
        <p:spPr>
          <a:xfrm>
            <a:off x="1602740" y="3754755"/>
            <a:ext cx="6096000" cy="715645"/>
          </a:xfrm>
          <a:prstGeom prst="rect">
            <a:avLst/>
          </a:prstGeom>
          <a:noFill/>
        </p:spPr>
        <p:txBody>
          <a:bodyPr wrap="square" rtlCol="0" anchor="t">
            <a:spAutoFit/>
          </a:bodyPr>
          <a:p>
            <a:pPr>
              <a:lnSpc>
                <a:spcPct val="145000"/>
              </a:lnSpc>
              <a:defRPr/>
            </a:pPr>
            <a:r>
              <a:rPr lang="en-US" altLang="zh-CN" sz="1800" b="1" dirty="0">
                <a:solidFill>
                  <a:srgbClr val="000066"/>
                </a:solidFill>
                <a:ea typeface="黑体" panose="02010609060101010101" pitchFamily="49" charset="-122"/>
                <a:sym typeface="+mn-ea"/>
              </a:rPr>
              <a:t>其中，z是一个表示集合平移的位移量</a:t>
            </a:r>
            <a:r>
              <a:rPr lang="zh-CN" altLang="en-US" sz="2800" b="1" dirty="0">
                <a:solidFill>
                  <a:srgbClr val="000066"/>
                </a:solidFill>
                <a:ea typeface="黑体" panose="02010609060101010101" pitchFamily="49" charset="-122"/>
                <a:sym typeface="+mn-ea"/>
              </a:rPr>
              <a:t>。</a:t>
            </a:r>
            <a:r>
              <a:rPr lang="zh-CN" altLang="en-US" dirty="0">
                <a:solidFill>
                  <a:srgbClr val="000066"/>
                </a:solidFill>
                <a:sym typeface="+mn-ea"/>
              </a:rPr>
              <a:t> </a:t>
            </a:r>
            <a:endParaRPr lang="zh-CN" altLang="en-US" dirty="0">
              <a:solidFill>
                <a:srgbClr val="000066"/>
              </a:solidFill>
              <a:sym typeface="+mn-ea"/>
            </a:endParaRPr>
          </a:p>
        </p:txBody>
      </p:sp>
      <p:sp>
        <p:nvSpPr>
          <p:cNvPr id="15" name="文本框 14"/>
          <p:cNvSpPr txBox="1"/>
          <p:nvPr/>
        </p:nvSpPr>
        <p:spPr>
          <a:xfrm>
            <a:off x="754380" y="4768850"/>
            <a:ext cx="6096000" cy="1476375"/>
          </a:xfrm>
          <a:prstGeom prst="rect">
            <a:avLst/>
          </a:prstGeom>
          <a:noFill/>
        </p:spPr>
        <p:txBody>
          <a:bodyPr wrap="square" rtlCol="0" anchor="t">
            <a:spAutoFit/>
          </a:bodyPr>
          <a:p>
            <a:pPr algn="ctr" eaLnBrk="1">
              <a:lnSpc>
                <a:spcPct val="150000"/>
              </a:lnSpc>
            </a:pPr>
            <a:r>
              <a:rPr lang="en-US" altLang="zh-CN" sz="2000" dirty="0" smtClean="0">
                <a:solidFill>
                  <a:srgbClr val="FF0000"/>
                </a:solidFill>
                <a:latin typeface="黑体" panose="02010609060101010101" pitchFamily="49" charset="-122"/>
                <a:ea typeface="黑体" panose="02010609060101010101" pitchFamily="49" charset="-122"/>
                <a:sym typeface="+mn-ea"/>
              </a:rPr>
              <a:t>B</a:t>
            </a:r>
            <a:r>
              <a:rPr lang="zh-CN" altLang="en-US" sz="2000" dirty="0" smtClean="0">
                <a:solidFill>
                  <a:srgbClr val="FF0000"/>
                </a:solidFill>
                <a:latin typeface="黑体" panose="02010609060101010101" pitchFamily="49" charset="-122"/>
                <a:ea typeface="黑体" panose="02010609060101010101" pitchFamily="49" charset="-122"/>
                <a:sym typeface="+mn-ea"/>
              </a:rPr>
              <a:t>对</a:t>
            </a:r>
            <a:r>
              <a:rPr lang="en-US" altLang="zh-CN" sz="2000" dirty="0" smtClean="0">
                <a:solidFill>
                  <a:srgbClr val="FF0000"/>
                </a:solidFill>
                <a:latin typeface="黑体" panose="02010609060101010101" pitchFamily="49" charset="-122"/>
                <a:ea typeface="黑体" panose="02010609060101010101" pitchFamily="49" charset="-122"/>
                <a:sym typeface="+mn-ea"/>
              </a:rPr>
              <a:t>A</a:t>
            </a:r>
            <a:r>
              <a:rPr lang="zh-CN" altLang="en-US" sz="2000" dirty="0" smtClean="0">
                <a:solidFill>
                  <a:srgbClr val="FF0000"/>
                </a:solidFill>
                <a:latin typeface="黑体" panose="02010609060101010101" pitchFamily="49" charset="-122"/>
                <a:ea typeface="黑体" panose="02010609060101010101" pitchFamily="49" charset="-122"/>
                <a:sym typeface="+mn-ea"/>
              </a:rPr>
              <a:t>的腐蚀，即将</a:t>
            </a:r>
            <a:r>
              <a:rPr lang="en-US" altLang="zh-CN" sz="2000" dirty="0" smtClean="0">
                <a:solidFill>
                  <a:srgbClr val="FF0000"/>
                </a:solidFill>
                <a:latin typeface="黑体" panose="02010609060101010101" pitchFamily="49" charset="-122"/>
                <a:ea typeface="黑体" panose="02010609060101010101" pitchFamily="49" charset="-122"/>
                <a:sym typeface="+mn-ea"/>
              </a:rPr>
              <a:t>B</a:t>
            </a:r>
            <a:r>
              <a:rPr lang="zh-CN" altLang="en-US" sz="2000" dirty="0" smtClean="0">
                <a:solidFill>
                  <a:srgbClr val="FF0000"/>
                </a:solidFill>
                <a:latin typeface="黑体" panose="02010609060101010101" pitchFamily="49" charset="-122"/>
                <a:ea typeface="黑体" panose="02010609060101010101" pitchFamily="49" charset="-122"/>
                <a:sym typeface="+mn-ea"/>
              </a:rPr>
              <a:t>平移</a:t>
            </a:r>
            <a:r>
              <a:rPr lang="en-US" altLang="zh-CN" sz="2000" dirty="0" smtClean="0">
                <a:solidFill>
                  <a:srgbClr val="FF0000"/>
                </a:solidFill>
                <a:latin typeface="黑体" panose="02010609060101010101" pitchFamily="49" charset="-122"/>
                <a:ea typeface="黑体" panose="02010609060101010101" pitchFamily="49" charset="-122"/>
                <a:sym typeface="+mn-ea"/>
              </a:rPr>
              <a:t>z</a:t>
            </a:r>
            <a:r>
              <a:rPr lang="zh-CN" altLang="en-US" sz="2000" dirty="0" smtClean="0">
                <a:solidFill>
                  <a:srgbClr val="FF0000"/>
                </a:solidFill>
                <a:latin typeface="黑体" panose="02010609060101010101" pitchFamily="49" charset="-122"/>
                <a:ea typeface="黑体" panose="02010609060101010101" pitchFamily="49" charset="-122"/>
                <a:sym typeface="+mn-ea"/>
              </a:rPr>
              <a:t>后包含于</a:t>
            </a:r>
            <a:r>
              <a:rPr lang="en-US" altLang="zh-CN" sz="2000" dirty="0" smtClean="0">
                <a:solidFill>
                  <a:srgbClr val="FF0000"/>
                </a:solidFill>
                <a:latin typeface="黑体" panose="02010609060101010101" pitchFamily="49" charset="-122"/>
                <a:ea typeface="黑体" panose="02010609060101010101" pitchFamily="49" charset="-122"/>
                <a:sym typeface="+mn-ea"/>
              </a:rPr>
              <a:t>A</a:t>
            </a:r>
            <a:r>
              <a:rPr lang="zh-CN" altLang="en-US" sz="2000" dirty="0" smtClean="0">
                <a:solidFill>
                  <a:srgbClr val="FF0000"/>
                </a:solidFill>
                <a:latin typeface="黑体" panose="02010609060101010101" pitchFamily="49" charset="-122"/>
                <a:ea typeface="黑体" panose="02010609060101010101" pitchFamily="49" charset="-122"/>
                <a:sym typeface="+mn-ea"/>
              </a:rPr>
              <a:t>中所有点</a:t>
            </a:r>
            <a:r>
              <a:rPr lang="en-US" altLang="zh-CN" sz="2000" dirty="0" smtClean="0">
                <a:solidFill>
                  <a:srgbClr val="FF0000"/>
                </a:solidFill>
                <a:latin typeface="黑体" panose="02010609060101010101" pitchFamily="49" charset="-122"/>
                <a:ea typeface="黑体" panose="02010609060101010101" pitchFamily="49" charset="-122"/>
                <a:sym typeface="+mn-ea"/>
              </a:rPr>
              <a:t>x</a:t>
            </a:r>
            <a:r>
              <a:rPr lang="zh-CN" altLang="en-US" sz="2000" dirty="0" smtClean="0">
                <a:solidFill>
                  <a:srgbClr val="FF0000"/>
                </a:solidFill>
                <a:latin typeface="黑体" panose="02010609060101010101" pitchFamily="49" charset="-122"/>
                <a:ea typeface="黑体" panose="02010609060101010101" pitchFamily="49" charset="-122"/>
                <a:sym typeface="+mn-ea"/>
              </a:rPr>
              <a:t>的集合</a:t>
            </a:r>
            <a:endParaRPr lang="en-US" altLang="zh-CN" sz="2000" dirty="0" smtClean="0">
              <a:solidFill>
                <a:srgbClr val="FF0000"/>
              </a:solidFill>
              <a:latin typeface="黑体" panose="02010609060101010101" pitchFamily="49" charset="-122"/>
              <a:ea typeface="黑体" panose="02010609060101010101" pitchFamily="49" charset="-122"/>
            </a:endParaRPr>
          </a:p>
          <a:p>
            <a:pPr algn="ctr" eaLnBrk="1">
              <a:lnSpc>
                <a:spcPct val="150000"/>
              </a:lnSpc>
            </a:pPr>
            <a:r>
              <a:rPr lang="zh-CN" altLang="en-US" sz="2000" dirty="0">
                <a:solidFill>
                  <a:srgbClr val="FF0000"/>
                </a:solidFill>
                <a:latin typeface="黑体" panose="02010609060101010101" pitchFamily="49" charset="-122"/>
                <a:ea typeface="黑体" panose="02010609060101010101" pitchFamily="49" charset="-122"/>
                <a:sym typeface="+mn-ea"/>
              </a:rPr>
              <a:t>移动结构</a:t>
            </a:r>
            <a:r>
              <a:rPr lang="en-US" altLang="zh-CN" sz="2000" dirty="0">
                <a:solidFill>
                  <a:srgbClr val="FF0000"/>
                </a:solidFill>
                <a:latin typeface="黑体" panose="02010609060101010101" pitchFamily="49" charset="-122"/>
                <a:ea typeface="黑体" panose="02010609060101010101" pitchFamily="49" charset="-122"/>
                <a:sym typeface="+mn-ea"/>
              </a:rPr>
              <a:t>B</a:t>
            </a:r>
            <a:r>
              <a:rPr lang="zh-CN" altLang="en-US" sz="2000" dirty="0">
                <a:solidFill>
                  <a:srgbClr val="FF0000"/>
                </a:solidFill>
                <a:latin typeface="黑体" panose="02010609060101010101" pitchFamily="49" charset="-122"/>
                <a:ea typeface="黑体" panose="02010609060101010101" pitchFamily="49" charset="-122"/>
                <a:sym typeface="+mn-ea"/>
              </a:rPr>
              <a:t>，如果结构元</a:t>
            </a:r>
            <a:r>
              <a:rPr lang="en-US" altLang="zh-CN" sz="2000" dirty="0">
                <a:solidFill>
                  <a:srgbClr val="FF0000"/>
                </a:solidFill>
                <a:latin typeface="黑体" panose="02010609060101010101" pitchFamily="49" charset="-122"/>
                <a:ea typeface="黑体" panose="02010609060101010101" pitchFamily="49" charset="-122"/>
                <a:sym typeface="+mn-ea"/>
              </a:rPr>
              <a:t>B</a:t>
            </a:r>
            <a:r>
              <a:rPr lang="zh-CN" altLang="en-US" sz="2000" dirty="0">
                <a:solidFill>
                  <a:srgbClr val="FF0000"/>
                </a:solidFill>
                <a:latin typeface="黑体" panose="02010609060101010101" pitchFamily="49" charset="-122"/>
                <a:ea typeface="黑体" panose="02010609060101010101" pitchFamily="49" charset="-122"/>
                <a:sym typeface="+mn-ea"/>
              </a:rPr>
              <a:t>与图像</a:t>
            </a:r>
            <a:r>
              <a:rPr lang="en-US" altLang="zh-CN" sz="2000" dirty="0">
                <a:solidFill>
                  <a:srgbClr val="FF0000"/>
                </a:solidFill>
                <a:latin typeface="黑体" panose="02010609060101010101" pitchFamily="49" charset="-122"/>
                <a:ea typeface="黑体" panose="02010609060101010101" pitchFamily="49" charset="-122"/>
                <a:sym typeface="+mn-ea"/>
              </a:rPr>
              <a:t>A</a:t>
            </a:r>
            <a:r>
              <a:rPr lang="zh-CN" altLang="en-US" sz="2000" dirty="0">
                <a:solidFill>
                  <a:srgbClr val="FF0000"/>
                </a:solidFill>
                <a:latin typeface="黑体" panose="02010609060101010101" pitchFamily="49" charset="-122"/>
                <a:ea typeface="黑体" panose="02010609060101010101" pitchFamily="49" charset="-122"/>
                <a:sym typeface="+mn-ea"/>
              </a:rPr>
              <a:t>的交集完全属于结构</a:t>
            </a:r>
            <a:r>
              <a:rPr lang="en-US" altLang="zh-CN" sz="2000" dirty="0">
                <a:solidFill>
                  <a:srgbClr val="FF0000"/>
                </a:solidFill>
                <a:latin typeface="黑体" panose="02010609060101010101" pitchFamily="49" charset="-122"/>
                <a:ea typeface="黑体" panose="02010609060101010101" pitchFamily="49" charset="-122"/>
                <a:sym typeface="+mn-ea"/>
              </a:rPr>
              <a:t>A</a:t>
            </a:r>
            <a:r>
              <a:rPr lang="zh-CN" altLang="en-US" sz="2000" dirty="0">
                <a:solidFill>
                  <a:srgbClr val="FF0000"/>
                </a:solidFill>
                <a:latin typeface="黑体" panose="02010609060101010101" pitchFamily="49" charset="-122"/>
                <a:ea typeface="黑体" panose="02010609060101010101" pitchFamily="49" charset="-122"/>
                <a:sym typeface="+mn-ea"/>
              </a:rPr>
              <a:t>的区域内，则</a:t>
            </a:r>
            <a:r>
              <a:rPr lang="zh-CN" altLang="en-US" sz="2000" dirty="0" smtClean="0">
                <a:solidFill>
                  <a:srgbClr val="FF0000"/>
                </a:solidFill>
                <a:latin typeface="黑体" panose="02010609060101010101" pitchFamily="49" charset="-122"/>
                <a:ea typeface="黑体" panose="02010609060101010101" pitchFamily="49" charset="-122"/>
                <a:sym typeface="+mn-ea"/>
              </a:rPr>
              <a:t>保留该点</a:t>
            </a:r>
            <a:endParaRPr lang="zh-CN" altLang="en-US" sz="2000" dirty="0" smtClean="0">
              <a:solidFill>
                <a:srgbClr val="FF0000"/>
              </a:solidFill>
              <a:latin typeface="黑体" panose="02010609060101010101" pitchFamily="49" charset="-122"/>
              <a:ea typeface="黑体" panose="02010609060101010101" pitchFamily="49" charset="-122"/>
              <a:sym typeface="+mn-ea"/>
            </a:endParaRPr>
          </a:p>
        </p:txBody>
      </p:sp>
      <p:pic>
        <p:nvPicPr>
          <p:cNvPr id="23554" name="Picture 4" descr="yu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5380" y="2294255"/>
            <a:ext cx="1877060" cy="172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5" name="Picture 5" descr="yua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05340" y="2294255"/>
            <a:ext cx="1831975" cy="172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文本框 15"/>
          <p:cNvSpPr txBox="1"/>
          <p:nvPr/>
        </p:nvSpPr>
        <p:spPr>
          <a:xfrm>
            <a:off x="7267575" y="4098290"/>
            <a:ext cx="6096000" cy="398780"/>
          </a:xfrm>
          <a:prstGeom prst="rect">
            <a:avLst/>
          </a:prstGeom>
          <a:noFill/>
        </p:spPr>
        <p:txBody>
          <a:bodyPr wrap="square" rtlCol="0" anchor="t">
            <a:spAutoFit/>
          </a:bodyPr>
          <a:p>
            <a:r>
              <a:rPr kumimoji="1" lang="zh-CN" altLang="en-US" sz="2000">
                <a:solidFill>
                  <a:srgbClr val="000066"/>
                </a:solidFill>
                <a:latin typeface="黑体" panose="02010609060101010101" pitchFamily="49" charset="-122"/>
                <a:ea typeface="黑体" panose="02010609060101010101" pitchFamily="49" charset="-122"/>
                <a:sym typeface="+mn-ea"/>
              </a:rPr>
              <a:t>利用腐蚀算法消除物体之间的粘连示例 </a:t>
            </a:r>
            <a:endParaRPr kumimoji="1" lang="zh-CN" altLang="en-US" sz="2000">
              <a:solidFill>
                <a:srgbClr val="000066"/>
              </a:solidFill>
              <a:latin typeface="黑体" panose="02010609060101010101" pitchFamily="49" charset="-122"/>
              <a:ea typeface="黑体" panose="02010609060101010101" pitchFamily="49" charset="-122"/>
              <a:sym typeface="+mn-ea"/>
            </a:endParaRPr>
          </a:p>
        </p:txBody>
      </p:sp>
      <mc:AlternateContent xmlns:mc="http://schemas.openxmlformats.org/markup-compatibility/2006">
        <mc:Choice xmlns:a14="http://schemas.microsoft.com/office/drawing/2010/main" Requires="a14">
          <p:sp>
            <p:nvSpPr>
              <p:cNvPr id="17" name="文本框 16"/>
              <p:cNvSpPr txBox="1"/>
              <p:nvPr/>
            </p:nvSpPr>
            <p:spPr>
              <a:xfrm>
                <a:off x="2240280" y="3301365"/>
                <a:ext cx="3306445" cy="368300"/>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𝐴</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𝐵</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𝑧</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𝐵</m:t>
                          </m:r>
                        </m:e>
                        <m:sub>
                          <m:r>
                            <a:rPr lang="en-US" altLang="zh-CN" i="1">
                              <a:latin typeface="Cambria Math" panose="02040503050406030204" charset="0"/>
                              <a:cs typeface="Cambria Math" panose="02040503050406030204" charset="0"/>
                            </a:rPr>
                            <m:t>𝑧</m:t>
                          </m:r>
                        </m:sub>
                      </m:sSub>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𝐴</m:t>
                      </m:r>
                      <m:r>
                        <a:rPr lang="en-US" altLang="zh-CN" i="1">
                          <a:latin typeface="Cambria Math" panose="02040503050406030204" charset="0"/>
                          <a:cs typeface="Cambria Math" panose="02040503050406030204" charset="0"/>
                        </a:rPr>
                        <m:t>}</m:t>
                      </m:r>
                    </m:oMath>
                  </m:oMathPara>
                </a14:m>
                <a:endParaRPr lang="zh-CN" altLang="en-US"/>
              </a:p>
            </p:txBody>
          </p:sp>
        </mc:Choice>
        <mc:Fallback>
          <p:sp>
            <p:nvSpPr>
              <p:cNvPr id="17" name="文本框 16"/>
              <p:cNvSpPr txBox="1">
                <a:spLocks noRot="1" noChangeAspect="1" noMove="1" noResize="1" noEditPoints="1" noAdjustHandles="1" noChangeArrowheads="1" noChangeShapeType="1" noTextEdit="1"/>
              </p:cNvSpPr>
              <p:nvPr/>
            </p:nvSpPr>
            <p:spPr>
              <a:xfrm>
                <a:off x="2240280" y="3301365"/>
                <a:ext cx="3306445" cy="368300"/>
              </a:xfrm>
              <a:prstGeom prst="rect">
                <a:avLst/>
              </a:prstGeom>
              <a:blipFill rotWithShape="1">
                <a:blip r:embed="rId5"/>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478599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二值形态学基础：腐蚀</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9" name="内容占位符 8"/>
          <p:cNvPicPr>
            <a:picLocks noChangeAspect="1"/>
          </p:cNvPicPr>
          <p:nvPr>
            <p:ph idx="1"/>
          </p:nvPr>
        </p:nvPicPr>
        <p:blipFill>
          <a:blip r:embed="rId3"/>
          <a:srcRect l="6423" t="2735" r="8300" b="6487"/>
          <a:stretch>
            <a:fillRect/>
          </a:stretch>
        </p:blipFill>
        <p:spPr>
          <a:xfrm>
            <a:off x="4316730" y="1835150"/>
            <a:ext cx="6762750" cy="4248150"/>
          </a:xfrm>
          <a:prstGeom prst="rect">
            <a:avLst/>
          </a:prstGeom>
        </p:spPr>
      </p:pic>
      <p:sp>
        <p:nvSpPr>
          <p:cNvPr id="5" name="文本框 4"/>
          <p:cNvSpPr txBox="1"/>
          <p:nvPr/>
        </p:nvSpPr>
        <p:spPr>
          <a:xfrm>
            <a:off x="584200" y="2428240"/>
            <a:ext cx="3215005" cy="1799590"/>
          </a:xfrm>
          <a:prstGeom prst="rect">
            <a:avLst/>
          </a:prstGeom>
          <a:noFill/>
        </p:spPr>
        <p:txBody>
          <a:bodyPr wrap="square" rtlCol="0" anchor="t">
            <a:noAutofit/>
          </a:bodyPr>
          <a:p>
            <a:r>
              <a:rPr lang="zh-CN" altLang="en-US" b="1" dirty="0">
                <a:solidFill>
                  <a:srgbClr val="000066"/>
                </a:solidFill>
                <a:latin typeface="黑体" panose="02010609060101010101" pitchFamily="49" charset="-122"/>
                <a:ea typeface="黑体" panose="02010609060101010101" pitchFamily="49" charset="-122"/>
                <a:sym typeface="+mn-ea"/>
              </a:rPr>
              <a:t>腐蚀运算的实质就是在目标图像中标出那些与结构元素相同的子图像的原点位置的像素。</a:t>
            </a:r>
            <a:endParaRPr lang="zh-CN" altLang="en-US" b="1" dirty="0">
              <a:solidFill>
                <a:srgbClr val="000066"/>
              </a:solidFill>
              <a:latin typeface="黑体" panose="02010609060101010101" pitchFamily="49" charset="-122"/>
              <a:ea typeface="黑体" panose="02010609060101010101" pitchFamily="49" charset="-122"/>
              <a:sym typeface="+mn-ea"/>
            </a:endParaRPr>
          </a:p>
          <a:p>
            <a:endParaRPr lang="zh-CN" altLang="en-US" b="1" dirty="0">
              <a:solidFill>
                <a:srgbClr val="000066"/>
              </a:solidFill>
              <a:latin typeface="黑体" panose="02010609060101010101" pitchFamily="49" charset="-122"/>
              <a:ea typeface="黑体" panose="02010609060101010101" pitchFamily="49" charset="-122"/>
              <a:sym typeface="+mn-ea"/>
            </a:endParaRPr>
          </a:p>
          <a:p>
            <a:r>
              <a:rPr lang="zh-CN" altLang="en-US" b="1" dirty="0">
                <a:solidFill>
                  <a:srgbClr val="000066"/>
                </a:solidFill>
                <a:latin typeface="黑体" panose="02010609060101010101" pitchFamily="49" charset="-122"/>
                <a:ea typeface="黑体" panose="02010609060101010101" pitchFamily="49" charset="-122"/>
                <a:sym typeface="+mn-ea"/>
              </a:rPr>
              <a:t>由此达到缩小前景、放大背景的效果</a:t>
            </a:r>
            <a:endParaRPr lang="zh-CN" altLang="en-US" b="1" dirty="0">
              <a:solidFill>
                <a:srgbClr val="000066"/>
              </a:solidFill>
              <a:latin typeface="黑体" panose="02010609060101010101" pitchFamily="49" charset="-122"/>
              <a:ea typeface="黑体" panose="02010609060101010101" pitchFamily="49" charset="-122"/>
              <a:sym typeface="+mn-e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192405" y="1251585"/>
            <a:ext cx="435610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二值形态学基础：腐蚀</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9" name="内容占位符 8"/>
          <p:cNvPicPr>
            <a:picLocks noChangeAspect="1"/>
          </p:cNvPicPr>
          <p:nvPr>
            <p:ph idx="1"/>
          </p:nvPr>
        </p:nvPicPr>
        <p:blipFill>
          <a:blip r:embed="rId3"/>
          <a:srcRect l="6423" t="2735" r="8300" b="6487"/>
          <a:stretch>
            <a:fillRect/>
          </a:stretch>
        </p:blipFill>
        <p:spPr>
          <a:xfrm>
            <a:off x="4671060" y="1337310"/>
            <a:ext cx="6762750" cy="4248150"/>
          </a:xfrm>
          <a:prstGeom prst="rect">
            <a:avLst/>
          </a:prstGeom>
        </p:spPr>
      </p:pic>
      <p:sp>
        <p:nvSpPr>
          <p:cNvPr id="5" name="文本框 4"/>
          <p:cNvSpPr txBox="1"/>
          <p:nvPr/>
        </p:nvSpPr>
        <p:spPr>
          <a:xfrm>
            <a:off x="537210" y="1990725"/>
            <a:ext cx="3790950" cy="3707765"/>
          </a:xfrm>
          <a:prstGeom prst="rect">
            <a:avLst/>
          </a:prstGeom>
          <a:noFill/>
        </p:spPr>
        <p:txBody>
          <a:bodyPr wrap="square" rtlCol="0" anchor="t">
            <a:noAutofit/>
          </a:bodyPr>
          <a:p>
            <a:pPr algn="just" eaLnBrk="1">
              <a:lnSpc>
                <a:spcPct val="125000"/>
              </a:lnSpc>
            </a:pPr>
            <a:r>
              <a:rPr lang="zh-CN" altLang="en-US" b="1" dirty="0">
                <a:solidFill>
                  <a:srgbClr val="000066"/>
                </a:solidFill>
                <a:latin typeface="黑体" panose="02010609060101010101" pitchFamily="49" charset="-122"/>
                <a:ea typeface="黑体" panose="02010609060101010101" pitchFamily="49" charset="-122"/>
                <a:sym typeface="+mn-ea"/>
              </a:rPr>
              <a:t>把结构元素</a:t>
            </a:r>
            <a:r>
              <a:rPr lang="en-US" altLang="zh-CN" b="1" dirty="0">
                <a:solidFill>
                  <a:srgbClr val="000066"/>
                </a:solidFill>
                <a:latin typeface="黑体" panose="02010609060101010101" pitchFamily="49" charset="-122"/>
                <a:ea typeface="黑体" panose="02010609060101010101" pitchFamily="49" charset="-122"/>
                <a:sym typeface="+mn-ea"/>
              </a:rPr>
              <a:t>B</a:t>
            </a:r>
            <a:r>
              <a:rPr lang="zh-CN" altLang="en-US" b="1" dirty="0">
                <a:solidFill>
                  <a:srgbClr val="000066"/>
                </a:solidFill>
                <a:latin typeface="黑体" panose="02010609060101010101" pitchFamily="49" charset="-122"/>
                <a:ea typeface="黑体" panose="02010609060101010101" pitchFamily="49" charset="-122"/>
                <a:sym typeface="+mn-ea"/>
              </a:rPr>
              <a:t>看作为一个模板，每当结构元素平移至与子区域对齐时，进行匹配尝试</a:t>
            </a:r>
            <a:r>
              <a:rPr lang="en-US" altLang="zh-CN" b="1" dirty="0">
                <a:solidFill>
                  <a:srgbClr val="000066"/>
                </a:solidFill>
                <a:latin typeface="黑体" panose="02010609060101010101" pitchFamily="49" charset="-122"/>
                <a:ea typeface="黑体" panose="02010609060101010101" pitchFamily="49" charset="-122"/>
                <a:sym typeface="+mn-ea"/>
              </a:rPr>
              <a:t>:</a:t>
            </a:r>
            <a:r>
              <a:rPr lang="zh-CN" altLang="en-US" b="1" dirty="0">
                <a:solidFill>
                  <a:srgbClr val="000066"/>
                </a:solidFill>
                <a:latin typeface="黑体" panose="02010609060101010101" pitchFamily="49" charset="-122"/>
                <a:ea typeface="黑体" panose="02010609060101010101" pitchFamily="49" charset="-122"/>
                <a:sym typeface="+mn-ea"/>
              </a:rPr>
              <a:t>只要结构元素中</a:t>
            </a:r>
            <a:r>
              <a:rPr lang="zh-CN" altLang="en-US" b="1" dirty="0">
                <a:solidFill>
                  <a:srgbClr val="FF0000"/>
                </a:solidFill>
                <a:latin typeface="黑体" panose="02010609060101010101" pitchFamily="49" charset="-122"/>
                <a:ea typeface="黑体" panose="02010609060101010101" pitchFamily="49" charset="-122"/>
                <a:sym typeface="+mn-ea"/>
              </a:rPr>
              <a:t>所有</a:t>
            </a:r>
            <a:r>
              <a:rPr lang="zh-CN" altLang="en-US" b="1" dirty="0">
                <a:solidFill>
                  <a:srgbClr val="000066"/>
                </a:solidFill>
                <a:latin typeface="黑体" panose="02010609060101010101" pitchFamily="49" charset="-122"/>
                <a:ea typeface="黑体" panose="02010609060101010101" pitchFamily="49" charset="-122"/>
                <a:sym typeface="+mn-ea"/>
              </a:rPr>
              <a:t>为</a:t>
            </a:r>
            <a:r>
              <a:rPr lang="en-US" altLang="zh-CN" b="1" dirty="0">
                <a:solidFill>
                  <a:srgbClr val="000066"/>
                </a:solidFill>
                <a:latin typeface="黑体" panose="02010609060101010101" pitchFamily="49" charset="-122"/>
                <a:ea typeface="黑体" panose="02010609060101010101" pitchFamily="49" charset="-122"/>
                <a:sym typeface="+mn-ea"/>
              </a:rPr>
              <a:t>"1"</a:t>
            </a:r>
            <a:r>
              <a:rPr lang="zh-CN" altLang="en-US" b="1" dirty="0">
                <a:solidFill>
                  <a:srgbClr val="000066"/>
                </a:solidFill>
                <a:latin typeface="黑体" panose="02010609060101010101" pitchFamily="49" charset="-122"/>
                <a:ea typeface="黑体" panose="02010609060101010101" pitchFamily="49" charset="-122"/>
                <a:sym typeface="+mn-ea"/>
              </a:rPr>
              <a:t>的位置，在子图像中对应位置也为</a:t>
            </a:r>
            <a:r>
              <a:rPr lang="en-US" altLang="zh-CN" b="1" dirty="0">
                <a:solidFill>
                  <a:srgbClr val="000066"/>
                </a:solidFill>
                <a:latin typeface="黑体" panose="02010609060101010101" pitchFamily="49" charset="-122"/>
                <a:ea typeface="黑体" panose="02010609060101010101" pitchFamily="49" charset="-122"/>
                <a:sym typeface="+mn-ea"/>
              </a:rPr>
              <a:t>"1".(</a:t>
            </a:r>
            <a:r>
              <a:rPr lang="zh-CN" altLang="en-US" b="1" dirty="0">
                <a:solidFill>
                  <a:schemeClr val="accent4"/>
                </a:solidFill>
                <a:latin typeface="黑体" panose="02010609060101010101" pitchFamily="49" charset="-122"/>
                <a:ea typeface="黑体" panose="02010609060101010101" pitchFamily="49" charset="-122"/>
                <a:sym typeface="+mn-ea"/>
              </a:rPr>
              <a:t>结构元素中为</a:t>
            </a:r>
            <a:r>
              <a:rPr lang="en-US" altLang="zh-CN" b="1" dirty="0">
                <a:solidFill>
                  <a:schemeClr val="accent4"/>
                </a:solidFill>
                <a:latin typeface="黑体" panose="02010609060101010101" pitchFamily="49" charset="-122"/>
                <a:ea typeface="黑体" panose="02010609060101010101" pitchFamily="49" charset="-122"/>
                <a:sym typeface="+mn-ea"/>
              </a:rPr>
              <a:t>"0"</a:t>
            </a:r>
            <a:r>
              <a:rPr lang="zh-CN" altLang="en-US" b="1" dirty="0">
                <a:solidFill>
                  <a:schemeClr val="accent4"/>
                </a:solidFill>
                <a:latin typeface="黑体" panose="02010609060101010101" pitchFamily="49" charset="-122"/>
                <a:ea typeface="黑体" panose="02010609060101010101" pitchFamily="49" charset="-122"/>
                <a:sym typeface="+mn-ea"/>
              </a:rPr>
              <a:t>的位置，不关心子图像对应值是什么。</a:t>
            </a:r>
            <a:r>
              <a:rPr lang="en-US" altLang="zh-CN" b="1" dirty="0">
                <a:solidFill>
                  <a:srgbClr val="000066"/>
                </a:solidFill>
                <a:latin typeface="黑体" panose="02010609060101010101" pitchFamily="49" charset="-122"/>
                <a:ea typeface="黑体" panose="02010609060101010101" pitchFamily="49" charset="-122"/>
                <a:sym typeface="+mn-ea"/>
              </a:rPr>
              <a:t>)</a:t>
            </a:r>
            <a:endParaRPr lang="en-US" altLang="zh-CN" b="1" dirty="0">
              <a:solidFill>
                <a:srgbClr val="000066"/>
              </a:solidFill>
              <a:latin typeface="黑体" panose="02010609060101010101" pitchFamily="49" charset="-122"/>
              <a:ea typeface="黑体" panose="02010609060101010101" pitchFamily="49" charset="-122"/>
              <a:sym typeface="+mn-ea"/>
            </a:endParaRPr>
          </a:p>
          <a:p>
            <a:pPr algn="just" eaLnBrk="1">
              <a:lnSpc>
                <a:spcPct val="125000"/>
              </a:lnSpc>
            </a:pPr>
            <a:endParaRPr lang="zh-CN" altLang="en-US" b="1" dirty="0">
              <a:solidFill>
                <a:srgbClr val="000066"/>
              </a:solidFill>
              <a:latin typeface="黑体" panose="02010609060101010101" pitchFamily="49" charset="-122"/>
              <a:ea typeface="黑体" panose="02010609060101010101" pitchFamily="49" charset="-122"/>
              <a:sym typeface="+mn-ea"/>
            </a:endParaRPr>
          </a:p>
          <a:p>
            <a:pPr algn="just" eaLnBrk="1">
              <a:lnSpc>
                <a:spcPct val="125000"/>
              </a:lnSpc>
            </a:pPr>
            <a:r>
              <a:rPr lang="zh-CN" altLang="en-US" b="1" dirty="0">
                <a:solidFill>
                  <a:schemeClr val="accent4"/>
                </a:solidFill>
                <a:latin typeface="微软雅黑" panose="020B0503020204020204" charset="-122"/>
                <a:ea typeface="微软雅黑" panose="020B0503020204020204" charset="-122"/>
                <a:sym typeface="+mn-ea"/>
              </a:rPr>
              <a:t>匹配成功</a:t>
            </a:r>
            <a:r>
              <a:rPr lang="zh-CN" altLang="en-US" b="1" dirty="0">
                <a:solidFill>
                  <a:srgbClr val="000066"/>
                </a:solidFill>
                <a:latin typeface="黑体" panose="02010609060101010101" pitchFamily="49" charset="-122"/>
                <a:ea typeface="黑体" panose="02010609060101010101" pitchFamily="49" charset="-122"/>
                <a:sym typeface="+mn-ea"/>
              </a:rPr>
              <a:t>，就将结果图像中的那个与原点位置对应的像素位置的值置为</a:t>
            </a:r>
            <a:r>
              <a:rPr lang="zh-CN" altLang="en-US" b="1" dirty="0">
                <a:solidFill>
                  <a:srgbClr val="000066"/>
                </a:solidFill>
                <a:latin typeface="Times New Roman" panose="02020603050405020304" pitchFamily="18" charset="0"/>
                <a:ea typeface="黑体" panose="02010609060101010101" pitchFamily="49" charset="-122"/>
                <a:sym typeface="+mn-ea"/>
              </a:rPr>
              <a:t>“</a:t>
            </a:r>
            <a:r>
              <a:rPr lang="en-US" altLang="zh-CN" b="1" dirty="0">
                <a:solidFill>
                  <a:srgbClr val="000066"/>
                </a:solidFill>
                <a:latin typeface="黑体" panose="02010609060101010101" pitchFamily="49" charset="-122"/>
                <a:ea typeface="黑体" panose="02010609060101010101" pitchFamily="49" charset="-122"/>
                <a:sym typeface="+mn-ea"/>
              </a:rPr>
              <a:t>1</a:t>
            </a:r>
            <a:r>
              <a:rPr lang="en-US" altLang="zh-CN" b="1" dirty="0">
                <a:solidFill>
                  <a:srgbClr val="000066"/>
                </a:solidFill>
                <a:latin typeface="Times New Roman" panose="02020603050405020304" pitchFamily="18" charset="0"/>
                <a:ea typeface="黑体" panose="02010609060101010101" pitchFamily="49" charset="-122"/>
                <a:sym typeface="+mn-ea"/>
              </a:rPr>
              <a:t>”</a:t>
            </a:r>
            <a:r>
              <a:rPr lang="zh-CN" altLang="en-US" b="1" dirty="0">
                <a:solidFill>
                  <a:srgbClr val="000066"/>
                </a:solidFill>
                <a:latin typeface="黑体" panose="02010609060101010101" pitchFamily="49" charset="-122"/>
                <a:ea typeface="黑体" panose="02010609060101010101" pitchFamily="49" charset="-122"/>
                <a:sym typeface="+mn-ea"/>
              </a:rPr>
              <a:t>，否则置为</a:t>
            </a:r>
            <a:r>
              <a:rPr lang="en-US" altLang="zh-CN" b="1" dirty="0">
                <a:solidFill>
                  <a:srgbClr val="000066"/>
                </a:solidFill>
                <a:latin typeface="黑体" panose="02010609060101010101" pitchFamily="49" charset="-122"/>
                <a:ea typeface="黑体" panose="02010609060101010101" pitchFamily="49" charset="-122"/>
                <a:sym typeface="+mn-ea"/>
              </a:rPr>
              <a:t>0</a:t>
            </a:r>
            <a:r>
              <a:rPr lang="zh-CN" altLang="en-US" b="1" dirty="0">
                <a:solidFill>
                  <a:srgbClr val="000066"/>
                </a:solidFill>
                <a:latin typeface="黑体" panose="02010609060101010101" pitchFamily="49" charset="-122"/>
                <a:ea typeface="黑体" panose="02010609060101010101" pitchFamily="49" charset="-122"/>
                <a:sym typeface="+mn-ea"/>
              </a:rPr>
              <a:t>。</a:t>
            </a:r>
            <a:endParaRPr lang="zh-CN" altLang="en-US" b="1" dirty="0">
              <a:solidFill>
                <a:srgbClr val="000066"/>
              </a:solidFill>
              <a:latin typeface="黑体" panose="02010609060101010101" pitchFamily="49" charset="-122"/>
              <a:ea typeface="黑体" panose="02010609060101010101" pitchFamily="49" charset="-122"/>
              <a:sym typeface="+mn-ea"/>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446151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二值形态学基础：膨胀</a:t>
            </a:r>
            <a:endParaRPr lang="zh-CN" sz="3200" b="1" dirty="0" smtClean="0">
              <a:solidFill>
                <a:schemeClr val="bg1"/>
              </a:solidFill>
              <a:latin typeface="微软雅黑" panose="020B0503020204020204" charset="-122"/>
              <a:ea typeface="微软雅黑" panose="020B0503020204020204" charset="-122"/>
              <a:sym typeface="+mn-ea"/>
            </a:endParaRPr>
          </a:p>
        </p:txBody>
      </p:sp>
      <p:sp>
        <p:nvSpPr>
          <p:cNvPr id="3" name="文本框 2"/>
          <p:cNvSpPr txBox="1"/>
          <p:nvPr/>
        </p:nvSpPr>
        <p:spPr>
          <a:xfrm>
            <a:off x="474345" y="1874520"/>
            <a:ext cx="1508760" cy="460375"/>
          </a:xfrm>
          <a:prstGeom prst="rect">
            <a:avLst/>
          </a:prstGeom>
          <a:noFill/>
        </p:spPr>
        <p:txBody>
          <a:bodyPr wrap="square" rtlCol="0">
            <a:spAutoFit/>
            <a:scene3d>
              <a:camera prst="orthographicFront"/>
              <a:lightRig rig="threePt" dir="t"/>
            </a:scene3d>
          </a:bodyPr>
          <a:p>
            <a:endParaRPr lang="zh-CN" altLang="en-US" sz="2400">
              <a:solidFill>
                <a:schemeClr val="tx1"/>
              </a:solidFill>
              <a:effectLst>
                <a:outerShdw blurRad="38100" dist="19050" dir="2700000" algn="tl" rotWithShape="0">
                  <a:schemeClr val="dk1">
                    <a:alpha val="40000"/>
                  </a:schemeClr>
                </a:outerShdw>
              </a:effectLst>
            </a:endParaRPr>
          </a:p>
        </p:txBody>
      </p:sp>
      <p:sp>
        <p:nvSpPr>
          <p:cNvPr id="5" name="文本框 4"/>
          <p:cNvSpPr txBox="1"/>
          <p:nvPr/>
        </p:nvSpPr>
        <p:spPr>
          <a:xfrm>
            <a:off x="474345" y="2479040"/>
            <a:ext cx="6096000" cy="2089785"/>
          </a:xfrm>
          <a:prstGeom prst="rect">
            <a:avLst/>
          </a:prstGeom>
          <a:noFill/>
        </p:spPr>
        <p:txBody>
          <a:bodyPr wrap="square" rtlCol="0" anchor="t">
            <a:spAutoFit/>
          </a:bodyPr>
          <a:p>
            <a:pPr algn="l">
              <a:lnSpc>
                <a:spcPct val="130000"/>
              </a:lnSpc>
              <a:buClrTx/>
              <a:buSzTx/>
              <a:buFontTx/>
              <a:defRPr/>
            </a:pPr>
            <a:r>
              <a:rPr lang="zh-CN" altLang="en-US" sz="2800" b="1" dirty="0">
                <a:solidFill>
                  <a:srgbClr val="000066"/>
                </a:solidFill>
                <a:ea typeface="黑体" panose="02010609060101010101" pitchFamily="49" charset="-122"/>
                <a:sym typeface="+mn-ea"/>
              </a:rPr>
              <a:t> </a:t>
            </a:r>
            <a:r>
              <a:rPr lang="zh-CN" altLang="en-US" sz="1800" b="1" dirty="0">
                <a:solidFill>
                  <a:srgbClr val="000066"/>
                </a:solidFill>
                <a:ea typeface="黑体" panose="02010609060101010101" pitchFamily="49" charset="-122"/>
                <a:sym typeface="+mn-ea"/>
              </a:rPr>
              <a:t>设A为目标图像，B为结构元素，则目标图像A被结构元素B膨胀可定义为：</a:t>
            </a:r>
            <a:endParaRPr lang="zh-CN" altLang="en-US" sz="1800" b="1" dirty="0">
              <a:solidFill>
                <a:srgbClr val="000066"/>
              </a:solidFill>
              <a:ea typeface="黑体" panose="02010609060101010101" pitchFamily="49" charset="-122"/>
            </a:endParaRPr>
          </a:p>
          <a:p>
            <a:pPr algn="l">
              <a:lnSpc>
                <a:spcPct val="130000"/>
              </a:lnSpc>
              <a:buClrTx/>
              <a:buSzTx/>
              <a:buFontTx/>
              <a:defRPr/>
            </a:pPr>
            <a:r>
              <a:rPr lang="zh-CN" altLang="en-US" b="1" dirty="0">
                <a:solidFill>
                  <a:srgbClr val="000066"/>
                </a:solidFill>
                <a:ea typeface="黑体" panose="02010609060101010101" pitchFamily="49" charset="-122"/>
                <a:sym typeface="+mn-ea"/>
              </a:rPr>
              <a:t> </a:t>
            </a:r>
            <a:r>
              <a:rPr lang="zh-CN" altLang="en-US" sz="1800" b="1" dirty="0">
                <a:solidFill>
                  <a:srgbClr val="000066"/>
                </a:solidFill>
                <a:ea typeface="黑体" panose="02010609060101010101" pitchFamily="49" charset="-122"/>
                <a:sym typeface="+mn-ea"/>
              </a:rPr>
              <a:t>                                </a:t>
            </a:r>
            <a:endParaRPr lang="zh-CN" altLang="en-US" sz="1800" b="1" dirty="0">
              <a:solidFill>
                <a:srgbClr val="000066"/>
              </a:solidFill>
              <a:ea typeface="黑体" panose="02010609060101010101" pitchFamily="49" charset="-122"/>
            </a:endParaRPr>
          </a:p>
          <a:p>
            <a:pPr algn="l">
              <a:lnSpc>
                <a:spcPct val="130000"/>
              </a:lnSpc>
              <a:buClrTx/>
              <a:buSzTx/>
              <a:buFontTx/>
              <a:defRPr/>
            </a:pPr>
            <a:r>
              <a:rPr lang="zh-CN" altLang="en-US" sz="1800" b="1" dirty="0">
                <a:solidFill>
                  <a:srgbClr val="000066"/>
                </a:solidFill>
                <a:ea typeface="黑体" panose="02010609060101010101" pitchFamily="49" charset="-122"/>
                <a:sym typeface="+mn-ea"/>
              </a:rPr>
              <a:t>        </a:t>
            </a:r>
            <a:endParaRPr lang="zh-CN" altLang="en-US" sz="1800" b="1" dirty="0">
              <a:solidFill>
                <a:srgbClr val="000066"/>
              </a:solidFill>
              <a:ea typeface="黑体" panose="02010609060101010101" pitchFamily="49" charset="-122"/>
            </a:endParaRPr>
          </a:p>
          <a:p>
            <a:pPr algn="l">
              <a:lnSpc>
                <a:spcPct val="130000"/>
              </a:lnSpc>
              <a:buClrTx/>
              <a:buSzTx/>
              <a:buFontTx/>
              <a:defRPr/>
            </a:pPr>
            <a:r>
              <a:rPr lang="zh-CN" altLang="en-US" sz="1800" b="1" dirty="0">
                <a:solidFill>
                  <a:srgbClr val="000066"/>
                </a:solidFill>
                <a:ea typeface="黑体" panose="02010609060101010101" pitchFamily="49" charset="-122"/>
                <a:sym typeface="+mn-ea"/>
              </a:rPr>
              <a:t>其中，z是一个表示集合平移的位移量。</a:t>
            </a:r>
            <a:r>
              <a:rPr lang="zh-CN" altLang="en-US" dirty="0">
                <a:solidFill>
                  <a:srgbClr val="000066"/>
                </a:solidFill>
                <a:sym typeface="+mn-ea"/>
              </a:rPr>
              <a:t> </a:t>
            </a:r>
            <a:endParaRPr lang="zh-CN" altLang="en-US" dirty="0">
              <a:solidFill>
                <a:srgbClr val="000066"/>
              </a:solidFill>
              <a:sym typeface="+mn-ea"/>
            </a:endParaRPr>
          </a:p>
        </p:txBody>
      </p:sp>
      <p:graphicFrame>
        <p:nvGraphicFramePr>
          <p:cNvPr id="6" name="对象 5"/>
          <p:cNvGraphicFramePr>
            <a:graphicFrameLocks noChangeAspect="1"/>
          </p:cNvGraphicFramePr>
          <p:nvPr/>
        </p:nvGraphicFramePr>
        <p:xfrm>
          <a:off x="3513768" y="3424452"/>
          <a:ext cx="184785" cy="38100"/>
        </p:xfrm>
        <a:graphic>
          <a:graphicData uri="http://schemas.openxmlformats.org/presentationml/2006/ole">
            <mc:AlternateContent xmlns:mc="http://schemas.openxmlformats.org/markup-compatibility/2006">
              <mc:Choice xmlns:v="urn:schemas-microsoft-com:vml" Requires="v">
                <p:oleObj spid="_x0000_s24604" name="Equation" r:id="rId3" imgW="1727200" imgH="355600" progId="Equation.DSMT4">
                  <p:embed/>
                </p:oleObj>
              </mc:Choice>
              <mc:Fallback>
                <p:oleObj name="Equation" r:id="rId3" imgW="1727200" imgH="355600" progId="Equation.DSMT4">
                  <p:embed/>
                  <p:pic>
                    <p:nvPicPr>
                      <p:cNvPr id="0" name="图片 24603"/>
                      <p:cNvPicPr>
                        <a:picLocks noChangeAspect="1" noChangeArrowheads="1"/>
                      </p:cNvPicPr>
                      <p:nvPr/>
                    </p:nvPicPr>
                    <p:blipFill>
                      <a:blip r:embed="rId4"/>
                      <a:srcRect/>
                      <a:stretch>
                        <a:fillRect/>
                      </a:stretch>
                    </p:blipFill>
                    <p:spPr bwMode="auto">
                      <a:xfrm>
                        <a:off x="3513768" y="3424452"/>
                        <a:ext cx="184785" cy="38100"/>
                      </a:xfrm>
                      <a:prstGeom prst="rect">
                        <a:avLst/>
                      </a:prstGeom>
                      <a:noFill/>
                    </p:spPr>
                  </p:pic>
                </p:oleObj>
              </mc:Fallback>
            </mc:AlternateContent>
          </a:graphicData>
        </a:graphic>
      </p:graphicFrame>
      <mc:AlternateContent xmlns:mc="http://schemas.openxmlformats.org/markup-compatibility/2006">
        <mc:Choice xmlns:a14="http://schemas.microsoft.com/office/drawing/2010/main" Requires="a14">
          <p:sp>
            <p:nvSpPr>
              <p:cNvPr id="17" name="文本框 16"/>
              <p:cNvSpPr txBox="1"/>
              <p:nvPr/>
            </p:nvSpPr>
            <p:spPr>
              <a:xfrm>
                <a:off x="1731645" y="3543935"/>
                <a:ext cx="3306445" cy="379730"/>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𝐴</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𝐵</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𝑧</m:t>
                      </m:r>
                      <m:r>
                        <a:rPr lang="en-US" altLang="zh-CN" i="1">
                          <a:latin typeface="Cambria Math" panose="02040503050406030204" charset="0"/>
                          <a:cs typeface="Cambria Math" panose="02040503050406030204" charset="0"/>
                        </a:rPr>
                        <m:t> | </m:t>
                      </m:r>
                      <m:acc>
                        <m:accPr>
                          <m:ctrlPr>
                            <a:rPr lang="en-US" altLang="zh-CN" i="1">
                              <a:latin typeface="Cambria Math" panose="02040503050406030204" charset="0"/>
                              <a:cs typeface="Cambria Math" panose="02040503050406030204" charset="0"/>
                            </a:rPr>
                          </m:ctrlPr>
                        </m:acc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𝐵</m:t>
                              </m:r>
                            </m:e>
                            <m:sub>
                              <m:r>
                                <a:rPr lang="en-US" altLang="zh-CN" i="1">
                                  <a:latin typeface="Cambria Math" panose="02040503050406030204" charset="0"/>
                                  <a:cs typeface="Cambria Math" panose="02040503050406030204" charset="0"/>
                                </a:rPr>
                                <m:t>𝑧</m:t>
                              </m:r>
                            </m:sub>
                          </m:sSub>
                        </m:e>
                      </m:acc>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𝐴</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m:t>
                      </m:r>
                    </m:oMath>
                  </m:oMathPara>
                </a14:m>
                <a:endParaRPr lang="zh-CN" altLang="en-US"/>
              </a:p>
            </p:txBody>
          </p:sp>
        </mc:Choice>
        <mc:Fallback>
          <p:sp>
            <p:nvSpPr>
              <p:cNvPr id="17" name="文本框 16"/>
              <p:cNvSpPr txBox="1">
                <a:spLocks noRot="1" noChangeAspect="1" noMove="1" noResize="1" noEditPoints="1" noAdjustHandles="1" noChangeArrowheads="1" noChangeShapeType="1" noTextEdit="1"/>
              </p:cNvSpPr>
              <p:nvPr/>
            </p:nvSpPr>
            <p:spPr>
              <a:xfrm>
                <a:off x="1731645" y="3543935"/>
                <a:ext cx="3306445" cy="379730"/>
              </a:xfrm>
              <a:prstGeom prst="rect">
                <a:avLst/>
              </a:prstGeom>
              <a:blipFill rotWithShape="1">
                <a:blip r:embed="rId5"/>
                <a:stretch>
                  <a:fillRect/>
                </a:stretch>
              </a:blipFill>
            </p:spPr>
            <p:txBody>
              <a:bodyPr/>
              <a:lstStyle/>
              <a:p>
                <a:r>
                  <a:rPr lang="zh-CN" altLang="en-US">
                    <a:noFill/>
                  </a:rPr>
                  <a:t> </a:t>
                </a:r>
              </a:p>
            </p:txBody>
          </p:sp>
        </mc:Fallback>
      </mc:AlternateContent>
      <p:pic>
        <p:nvPicPr>
          <p:cNvPr id="32770" name="Picture 4" descr="syua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84035" y="1151255"/>
            <a:ext cx="22860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1" name="Picture 5" descr="syuan膨胀结果"/>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91700" y="1151255"/>
            <a:ext cx="20574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p:nvPr/>
        </p:nvSpPr>
        <p:spPr>
          <a:xfrm>
            <a:off x="7703185" y="3208655"/>
            <a:ext cx="4300855" cy="398780"/>
          </a:xfrm>
          <a:prstGeom prst="rect">
            <a:avLst/>
          </a:prstGeom>
          <a:noFill/>
        </p:spPr>
        <p:txBody>
          <a:bodyPr wrap="square" rtlCol="0" anchor="t">
            <a:spAutoFit/>
          </a:bodyPr>
          <a:p>
            <a:r>
              <a:rPr kumimoji="1" lang="zh-CN" altLang="en-US" sz="1600">
                <a:solidFill>
                  <a:srgbClr val="000066"/>
                </a:solidFill>
                <a:latin typeface="黑体" panose="02010609060101010101" pitchFamily="49" charset="-122"/>
                <a:ea typeface="黑体" panose="02010609060101010101" pitchFamily="49" charset="-122"/>
                <a:sym typeface="+mn-ea"/>
              </a:rPr>
              <a:t>利用膨胀运算将相邻的物体连接起来</a:t>
            </a:r>
            <a:r>
              <a:rPr kumimoji="1" lang="zh-CN" altLang="en-US" sz="2000">
                <a:solidFill>
                  <a:srgbClr val="000066"/>
                </a:solidFill>
                <a:latin typeface="黑体" panose="02010609060101010101" pitchFamily="49" charset="-122"/>
                <a:ea typeface="黑体" panose="02010609060101010101" pitchFamily="49" charset="-122"/>
                <a:sym typeface="+mn-ea"/>
              </a:rPr>
              <a:t> </a:t>
            </a:r>
            <a:endParaRPr kumimoji="1" lang="zh-CN" altLang="en-US" sz="2000">
              <a:solidFill>
                <a:srgbClr val="000066"/>
              </a:solidFill>
              <a:latin typeface="黑体" panose="02010609060101010101" pitchFamily="49" charset="-122"/>
              <a:ea typeface="黑体" panose="02010609060101010101" pitchFamily="49" charset="-122"/>
              <a:sym typeface="+mn-ea"/>
            </a:endParaRPr>
          </a:p>
        </p:txBody>
      </p:sp>
      <p:pic>
        <p:nvPicPr>
          <p:cNvPr id="33794" name="Picture 4" descr="ic"/>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84035" y="3753168"/>
            <a:ext cx="23622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5" name="Picture 5" descr="ic膨胀图像"/>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50425" y="3753168"/>
            <a:ext cx="23622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p:cNvSpPr txBox="1"/>
          <p:nvPr/>
        </p:nvSpPr>
        <p:spPr>
          <a:xfrm>
            <a:off x="7729855" y="6233160"/>
            <a:ext cx="3600450" cy="337185"/>
          </a:xfrm>
          <a:prstGeom prst="rect">
            <a:avLst/>
          </a:prstGeom>
          <a:noFill/>
        </p:spPr>
        <p:txBody>
          <a:bodyPr wrap="square" rtlCol="0" anchor="t">
            <a:spAutoFit/>
          </a:bodyPr>
          <a:p>
            <a:pPr eaLnBrk="1" hangingPunct="1"/>
            <a:r>
              <a:rPr kumimoji="1" lang="zh-CN" altLang="en-US" sz="1600">
                <a:solidFill>
                  <a:srgbClr val="000066"/>
                </a:solidFill>
                <a:latin typeface="黑体" panose="02010609060101010101" pitchFamily="49" charset="-122"/>
                <a:ea typeface="黑体" panose="02010609060101010101" pitchFamily="49" charset="-122"/>
                <a:sym typeface="+mn-ea"/>
              </a:rPr>
              <a:t>利用膨胀运算填充目标区域中的小孔 </a:t>
            </a:r>
            <a:endParaRPr kumimoji="1" lang="zh-CN" altLang="en-US" sz="1600">
              <a:solidFill>
                <a:srgbClr val="000066"/>
              </a:solidFill>
              <a:latin typeface="黑体" panose="02010609060101010101" pitchFamily="49" charset="-122"/>
              <a:ea typeface="黑体" panose="02010609060101010101" pitchFamily="49" charset="-122"/>
              <a:sym typeface="+mn-ea"/>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431800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二值形态学基础：膨胀</a:t>
            </a:r>
            <a:endParaRPr lang="zh-CN" sz="3200" b="1" dirty="0" smtClean="0">
              <a:solidFill>
                <a:schemeClr val="bg1"/>
              </a:solidFill>
              <a:latin typeface="微软雅黑" panose="020B0503020204020204" charset="-122"/>
              <a:ea typeface="微软雅黑" panose="020B0503020204020204" charset="-122"/>
              <a:sym typeface="+mn-ea"/>
            </a:endParaRPr>
          </a:p>
        </p:txBody>
      </p:sp>
      <p:sp>
        <p:nvSpPr>
          <p:cNvPr id="5" name="文本框 4"/>
          <p:cNvSpPr txBox="1"/>
          <p:nvPr/>
        </p:nvSpPr>
        <p:spPr>
          <a:xfrm>
            <a:off x="584200" y="2428240"/>
            <a:ext cx="3215005" cy="1799590"/>
          </a:xfrm>
          <a:prstGeom prst="rect">
            <a:avLst/>
          </a:prstGeom>
          <a:noFill/>
        </p:spPr>
        <p:txBody>
          <a:bodyPr wrap="square" rtlCol="0" anchor="t">
            <a:noAutofit/>
          </a:bodyPr>
          <a:p>
            <a:r>
              <a:rPr lang="zh-CN" altLang="en-US" b="1" dirty="0">
                <a:solidFill>
                  <a:srgbClr val="000066"/>
                </a:solidFill>
                <a:latin typeface="黑体" panose="02010609060101010101" pitchFamily="49" charset="-122"/>
                <a:ea typeface="黑体" panose="02010609060101010101" pitchFamily="49" charset="-122"/>
                <a:sym typeface="+mn-ea"/>
              </a:rPr>
              <a:t>膨胀运算的实质就是在目标图像中标出那些与反射后的结构元素有相交的子图像的原点位置的像素。</a:t>
            </a:r>
            <a:endParaRPr lang="zh-CN" altLang="en-US" b="1" dirty="0">
              <a:solidFill>
                <a:srgbClr val="000066"/>
              </a:solidFill>
              <a:latin typeface="黑体" panose="02010609060101010101" pitchFamily="49" charset="-122"/>
              <a:ea typeface="黑体" panose="02010609060101010101" pitchFamily="49" charset="-122"/>
              <a:sym typeface="+mn-ea"/>
            </a:endParaRPr>
          </a:p>
          <a:p>
            <a:endParaRPr lang="zh-CN" altLang="en-US" b="1" dirty="0">
              <a:solidFill>
                <a:srgbClr val="000066"/>
              </a:solidFill>
              <a:latin typeface="黑体" panose="02010609060101010101" pitchFamily="49" charset="-122"/>
              <a:ea typeface="黑体" panose="02010609060101010101" pitchFamily="49" charset="-122"/>
              <a:sym typeface="+mn-ea"/>
            </a:endParaRPr>
          </a:p>
          <a:p>
            <a:r>
              <a:rPr lang="zh-CN" altLang="en-US" b="1" dirty="0">
                <a:solidFill>
                  <a:srgbClr val="000066"/>
                </a:solidFill>
                <a:latin typeface="黑体" panose="02010609060101010101" pitchFamily="49" charset="-122"/>
                <a:ea typeface="黑体" panose="02010609060101010101" pitchFamily="49" charset="-122"/>
                <a:sym typeface="+mn-ea"/>
              </a:rPr>
              <a:t>由此达到缩小背景、放大前景的效果</a:t>
            </a:r>
            <a:endParaRPr lang="zh-CN" altLang="en-US" b="1" dirty="0">
              <a:solidFill>
                <a:srgbClr val="000066"/>
              </a:solidFill>
              <a:latin typeface="黑体" panose="02010609060101010101" pitchFamily="49" charset="-122"/>
              <a:ea typeface="黑体" panose="02010609060101010101" pitchFamily="49" charset="-122"/>
              <a:sym typeface="+mn-ea"/>
            </a:endParaRPr>
          </a:p>
        </p:txBody>
      </p:sp>
      <p:pic>
        <p:nvPicPr>
          <p:cNvPr id="11" name="内容占位符 10"/>
          <p:cNvPicPr>
            <a:picLocks noChangeAspect="1"/>
          </p:cNvPicPr>
          <p:nvPr>
            <p:ph idx="1"/>
          </p:nvPr>
        </p:nvPicPr>
        <p:blipFill>
          <a:blip r:embed="rId3"/>
          <a:srcRect b="13497"/>
          <a:stretch>
            <a:fillRect/>
          </a:stretch>
        </p:blipFill>
        <p:spPr>
          <a:xfrm>
            <a:off x="4922520" y="1162050"/>
            <a:ext cx="6582410" cy="4410075"/>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351091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二值形态学基础</a:t>
            </a:r>
            <a:endParaRPr lang="zh-CN" sz="3200" b="1" dirty="0" smtClean="0">
              <a:solidFill>
                <a:schemeClr val="bg1"/>
              </a:solidFill>
              <a:latin typeface="微软雅黑" panose="020B0503020204020204" charset="-122"/>
              <a:ea typeface="微软雅黑" panose="020B0503020204020204" charset="-122"/>
              <a:sym typeface="+mn-ea"/>
            </a:endParaRPr>
          </a:p>
        </p:txBody>
      </p:sp>
      <mc:AlternateContent xmlns:mc="http://schemas.openxmlformats.org/markup-compatibility/2006">
        <mc:Choice xmlns:a14="http://schemas.microsoft.com/office/drawing/2010/main" Requires="a14">
          <p:sp>
            <p:nvSpPr>
              <p:cNvPr id="5" name="文本框 4"/>
              <p:cNvSpPr txBox="1"/>
              <p:nvPr/>
            </p:nvSpPr>
            <p:spPr>
              <a:xfrm>
                <a:off x="537210" y="1990725"/>
                <a:ext cx="3790950" cy="3707765"/>
              </a:xfrm>
              <a:prstGeom prst="rect">
                <a:avLst/>
              </a:prstGeom>
              <a:noFill/>
            </p:spPr>
            <p:txBody>
              <a:bodyPr wrap="square" rtlCol="0" anchor="t">
                <a:noAutofit/>
              </a:bodyPr>
              <a:p>
                <a:pPr algn="just" eaLnBrk="1">
                  <a:lnSpc>
                    <a:spcPct val="125000"/>
                  </a:lnSpc>
                </a:pPr>
                <a:r>
                  <a:rPr lang="zh-CN" altLang="en-US" b="1" dirty="0">
                    <a:solidFill>
                      <a:srgbClr val="000066"/>
                    </a:solidFill>
                    <a:latin typeface="黑体" panose="02010609060101010101" pitchFamily="49" charset="-122"/>
                    <a:ea typeface="黑体" panose="02010609060101010101" pitchFamily="49" charset="-122"/>
                    <a:sym typeface="+mn-ea"/>
                  </a:rPr>
                  <a:t>把结构元素</a:t>
                </a:r>
                <a:r>
                  <a:rPr lang="en-US" altLang="zh-CN" b="1" dirty="0">
                    <a:solidFill>
                      <a:srgbClr val="000066"/>
                    </a:solidFill>
                    <a:latin typeface="黑体" panose="02010609060101010101" pitchFamily="49" charset="-122"/>
                    <a:ea typeface="黑体" panose="02010609060101010101" pitchFamily="49" charset="-122"/>
                    <a:sym typeface="+mn-ea"/>
                  </a:rPr>
                  <a:t>B</a:t>
                </a:r>
                <a:r>
                  <a:rPr lang="zh-CN" altLang="en-US" b="1" dirty="0">
                    <a:solidFill>
                      <a:srgbClr val="000066"/>
                    </a:solidFill>
                    <a:latin typeface="黑体" panose="02010609060101010101" pitchFamily="49" charset="-122"/>
                    <a:ea typeface="黑体" panose="02010609060101010101" pitchFamily="49" charset="-122"/>
                    <a:sym typeface="+mn-ea"/>
                  </a:rPr>
                  <a:t>的反射</a:t>
                </a:r>
                <a14:m>
                  <m:oMath xmlns:m="http://schemas.openxmlformats.org/officeDocument/2006/math">
                    <m:acc>
                      <m:accPr>
                        <m:ctrlPr>
                          <a:rPr lang="en-US" altLang="zh-CN" b="1" i="1" dirty="0">
                            <a:solidFill>
                              <a:srgbClr val="000066"/>
                            </a:solidFill>
                            <a:latin typeface="Cambria Math" panose="02040503050406030204" charset="0"/>
                            <a:ea typeface="黑体" panose="02010609060101010101" pitchFamily="49" charset="-122"/>
                            <a:cs typeface="Cambria Math" panose="02040503050406030204" charset="0"/>
                            <a:sym typeface="+mn-ea"/>
                          </a:rPr>
                        </m:ctrlPr>
                      </m:accPr>
                      <m:e>
                        <m:r>
                          <a:rPr lang="en-US" altLang="zh-CN" b="1" i="1" dirty="0">
                            <a:solidFill>
                              <a:srgbClr val="000066"/>
                            </a:solidFill>
                            <a:latin typeface="Cambria Math" panose="02040503050406030204" charset="0"/>
                            <a:ea typeface="黑体" panose="02010609060101010101" pitchFamily="49" charset="-122"/>
                            <a:cs typeface="Cambria Math" panose="02040503050406030204" charset="0"/>
                            <a:sym typeface="+mn-ea"/>
                          </a:rPr>
                          <m:t>𝑩</m:t>
                        </m:r>
                      </m:e>
                    </m:acc>
                  </m:oMath>
                </a14:m>
                <a:r>
                  <a:rPr lang="zh-CN" altLang="en-US" b="1" dirty="0">
                    <a:solidFill>
                      <a:srgbClr val="000066"/>
                    </a:solidFill>
                    <a:latin typeface="黑体" panose="02010609060101010101" pitchFamily="49" charset="-122"/>
                    <a:ea typeface="黑体" panose="02010609060101010101" pitchFamily="49" charset="-122"/>
                    <a:sym typeface="+mn-ea"/>
                  </a:rPr>
                  <a:t>看作为一个模板，每当结构元素平移至与子区域对齐时，进行匹配尝试</a:t>
                </a:r>
                <a:r>
                  <a:rPr lang="en-US" altLang="zh-CN" b="1" dirty="0">
                    <a:solidFill>
                      <a:srgbClr val="000066"/>
                    </a:solidFill>
                    <a:latin typeface="黑体" panose="02010609060101010101" pitchFamily="49" charset="-122"/>
                    <a:ea typeface="黑体" panose="02010609060101010101" pitchFamily="49" charset="-122"/>
                    <a:sym typeface="+mn-ea"/>
                  </a:rPr>
                  <a:t>:</a:t>
                </a:r>
                <a:r>
                  <a:rPr lang="zh-CN" altLang="en-US" b="1" dirty="0">
                    <a:solidFill>
                      <a:srgbClr val="000066"/>
                    </a:solidFill>
                    <a:latin typeface="黑体" panose="02010609060101010101" pitchFamily="49" charset="-122"/>
                    <a:ea typeface="黑体" panose="02010609060101010101" pitchFamily="49" charset="-122"/>
                    <a:sym typeface="+mn-ea"/>
                  </a:rPr>
                  <a:t>只要结构元素中</a:t>
                </a:r>
                <a:r>
                  <a:rPr lang="zh-CN" altLang="en-US" b="1" dirty="0">
                    <a:solidFill>
                      <a:srgbClr val="FF0000"/>
                    </a:solidFill>
                    <a:latin typeface="黑体" panose="02010609060101010101" pitchFamily="49" charset="-122"/>
                    <a:ea typeface="黑体" panose="02010609060101010101" pitchFamily="49" charset="-122"/>
                    <a:sym typeface="+mn-ea"/>
                  </a:rPr>
                  <a:t>存在</a:t>
                </a:r>
                <a:r>
                  <a:rPr lang="zh-CN" altLang="en-US" b="1" dirty="0">
                    <a:solidFill>
                      <a:srgbClr val="000066"/>
                    </a:solidFill>
                    <a:latin typeface="黑体" panose="02010609060101010101" pitchFamily="49" charset="-122"/>
                    <a:ea typeface="黑体" panose="02010609060101010101" pitchFamily="49" charset="-122"/>
                    <a:sym typeface="+mn-ea"/>
                  </a:rPr>
                  <a:t>一处为"1"的位置，在子图像中对应位置也为"1".</a:t>
                </a:r>
                <a:r>
                  <a:rPr lang="en-US" altLang="zh-CN" b="1" dirty="0">
                    <a:solidFill>
                      <a:srgbClr val="000066"/>
                    </a:solidFill>
                    <a:latin typeface="黑体" panose="02010609060101010101" pitchFamily="49" charset="-122"/>
                    <a:ea typeface="黑体" panose="02010609060101010101" pitchFamily="49" charset="-122"/>
                    <a:sym typeface="+mn-ea"/>
                  </a:rPr>
                  <a:t>(</a:t>
                </a:r>
                <a:r>
                  <a:rPr lang="zh-CN" altLang="en-US" b="1" dirty="0">
                    <a:solidFill>
                      <a:schemeClr val="accent4"/>
                    </a:solidFill>
                    <a:latin typeface="黑体" panose="02010609060101010101" pitchFamily="49" charset="-122"/>
                    <a:ea typeface="黑体" panose="02010609060101010101" pitchFamily="49" charset="-122"/>
                    <a:sym typeface="+mn-ea"/>
                  </a:rPr>
                  <a:t>结构元素中为</a:t>
                </a:r>
                <a:r>
                  <a:rPr lang="en-US" altLang="zh-CN" b="1" dirty="0">
                    <a:solidFill>
                      <a:schemeClr val="accent4"/>
                    </a:solidFill>
                    <a:latin typeface="黑体" panose="02010609060101010101" pitchFamily="49" charset="-122"/>
                    <a:ea typeface="黑体" panose="02010609060101010101" pitchFamily="49" charset="-122"/>
                    <a:sym typeface="+mn-ea"/>
                  </a:rPr>
                  <a:t>"0"</a:t>
                </a:r>
                <a:r>
                  <a:rPr lang="zh-CN" altLang="en-US" b="1" dirty="0">
                    <a:solidFill>
                      <a:schemeClr val="accent4"/>
                    </a:solidFill>
                    <a:latin typeface="黑体" panose="02010609060101010101" pitchFamily="49" charset="-122"/>
                    <a:ea typeface="黑体" panose="02010609060101010101" pitchFamily="49" charset="-122"/>
                    <a:sym typeface="+mn-ea"/>
                  </a:rPr>
                  <a:t>的位置，不关心子图像对应值是什么。</a:t>
                </a:r>
                <a:r>
                  <a:rPr lang="en-US" altLang="zh-CN" b="1" dirty="0">
                    <a:solidFill>
                      <a:srgbClr val="000066"/>
                    </a:solidFill>
                    <a:latin typeface="黑体" panose="02010609060101010101" pitchFamily="49" charset="-122"/>
                    <a:ea typeface="黑体" panose="02010609060101010101" pitchFamily="49" charset="-122"/>
                    <a:sym typeface="+mn-ea"/>
                  </a:rPr>
                  <a:t>)</a:t>
                </a:r>
                <a:endParaRPr lang="en-US" altLang="zh-CN" b="1" dirty="0">
                  <a:solidFill>
                    <a:srgbClr val="000066"/>
                  </a:solidFill>
                  <a:latin typeface="黑体" panose="02010609060101010101" pitchFamily="49" charset="-122"/>
                  <a:ea typeface="黑体" panose="02010609060101010101" pitchFamily="49" charset="-122"/>
                  <a:sym typeface="+mn-ea"/>
                </a:endParaRPr>
              </a:p>
              <a:p>
                <a:pPr algn="just" eaLnBrk="1">
                  <a:lnSpc>
                    <a:spcPct val="125000"/>
                  </a:lnSpc>
                </a:pPr>
                <a:endParaRPr lang="zh-CN" altLang="en-US" b="1" dirty="0">
                  <a:solidFill>
                    <a:srgbClr val="000066"/>
                  </a:solidFill>
                  <a:latin typeface="黑体" panose="02010609060101010101" pitchFamily="49" charset="-122"/>
                  <a:ea typeface="黑体" panose="02010609060101010101" pitchFamily="49" charset="-122"/>
                  <a:sym typeface="+mn-ea"/>
                </a:endParaRPr>
              </a:p>
              <a:p>
                <a:pPr algn="just" eaLnBrk="1">
                  <a:lnSpc>
                    <a:spcPct val="125000"/>
                  </a:lnSpc>
                </a:pPr>
                <a:r>
                  <a:rPr lang="zh-CN" altLang="en-US" b="1" dirty="0">
                    <a:solidFill>
                      <a:schemeClr val="accent4"/>
                    </a:solidFill>
                    <a:latin typeface="微软雅黑" panose="020B0503020204020204" charset="-122"/>
                    <a:ea typeface="微软雅黑" panose="020B0503020204020204" charset="-122"/>
                    <a:sym typeface="+mn-ea"/>
                  </a:rPr>
                  <a:t>匹配成功</a:t>
                </a:r>
                <a:r>
                  <a:rPr lang="zh-CN" altLang="en-US" b="1" dirty="0">
                    <a:solidFill>
                      <a:srgbClr val="000066"/>
                    </a:solidFill>
                    <a:latin typeface="黑体" panose="02010609060101010101" pitchFamily="49" charset="-122"/>
                    <a:ea typeface="黑体" panose="02010609060101010101" pitchFamily="49" charset="-122"/>
                    <a:sym typeface="+mn-ea"/>
                  </a:rPr>
                  <a:t>，就将结果图像中的那个与原点位置对应的像素位置的值置为</a:t>
                </a:r>
                <a:r>
                  <a:rPr lang="zh-CN" altLang="en-US" b="1" dirty="0">
                    <a:solidFill>
                      <a:srgbClr val="000066"/>
                    </a:solidFill>
                    <a:latin typeface="Times New Roman" panose="02020603050405020304" pitchFamily="18" charset="0"/>
                    <a:ea typeface="黑体" panose="02010609060101010101" pitchFamily="49" charset="-122"/>
                    <a:sym typeface="+mn-ea"/>
                  </a:rPr>
                  <a:t>“</a:t>
                </a:r>
                <a:r>
                  <a:rPr lang="en-US" altLang="zh-CN" b="1" dirty="0">
                    <a:solidFill>
                      <a:srgbClr val="000066"/>
                    </a:solidFill>
                    <a:latin typeface="黑体" panose="02010609060101010101" pitchFamily="49" charset="-122"/>
                    <a:ea typeface="黑体" panose="02010609060101010101" pitchFamily="49" charset="-122"/>
                    <a:sym typeface="+mn-ea"/>
                  </a:rPr>
                  <a:t>1</a:t>
                </a:r>
                <a:r>
                  <a:rPr lang="en-US" altLang="zh-CN" b="1" dirty="0">
                    <a:solidFill>
                      <a:srgbClr val="000066"/>
                    </a:solidFill>
                    <a:latin typeface="Times New Roman" panose="02020603050405020304" pitchFamily="18" charset="0"/>
                    <a:ea typeface="黑体" panose="02010609060101010101" pitchFamily="49" charset="-122"/>
                    <a:sym typeface="+mn-ea"/>
                  </a:rPr>
                  <a:t>”</a:t>
                </a:r>
                <a:r>
                  <a:rPr lang="zh-CN" altLang="en-US" b="1" dirty="0">
                    <a:solidFill>
                      <a:srgbClr val="000066"/>
                    </a:solidFill>
                    <a:latin typeface="黑体" panose="02010609060101010101" pitchFamily="49" charset="-122"/>
                    <a:ea typeface="黑体" panose="02010609060101010101" pitchFamily="49" charset="-122"/>
                    <a:sym typeface="+mn-ea"/>
                  </a:rPr>
                  <a:t>，否则置为</a:t>
                </a:r>
                <a:r>
                  <a:rPr lang="en-US" altLang="zh-CN" b="1" dirty="0">
                    <a:solidFill>
                      <a:srgbClr val="000066"/>
                    </a:solidFill>
                    <a:latin typeface="黑体" panose="02010609060101010101" pitchFamily="49" charset="-122"/>
                    <a:ea typeface="黑体" panose="02010609060101010101" pitchFamily="49" charset="-122"/>
                    <a:sym typeface="+mn-ea"/>
                  </a:rPr>
                  <a:t>0</a:t>
                </a:r>
                <a:r>
                  <a:rPr lang="zh-CN" altLang="en-US" b="1" dirty="0">
                    <a:solidFill>
                      <a:srgbClr val="000066"/>
                    </a:solidFill>
                    <a:latin typeface="黑体" panose="02010609060101010101" pitchFamily="49" charset="-122"/>
                    <a:ea typeface="黑体" panose="02010609060101010101" pitchFamily="49" charset="-122"/>
                    <a:sym typeface="+mn-ea"/>
                  </a:rPr>
                  <a:t>。</a:t>
                </a:r>
                <a:endParaRPr lang="zh-CN" altLang="en-US" b="1" dirty="0">
                  <a:solidFill>
                    <a:srgbClr val="000066"/>
                  </a:solidFill>
                  <a:latin typeface="黑体" panose="02010609060101010101" pitchFamily="49" charset="-122"/>
                  <a:ea typeface="黑体" panose="02010609060101010101" pitchFamily="49" charset="-122"/>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537210" y="1990725"/>
                <a:ext cx="3790950" cy="3707765"/>
              </a:xfrm>
              <a:prstGeom prst="rect">
                <a:avLst/>
              </a:prstGeom>
              <a:blipFill rotWithShape="1">
                <a:blip r:embed="rId3"/>
                <a:stretch>
                  <a:fillRect b="-3271"/>
                </a:stretch>
              </a:blipFill>
            </p:spPr>
            <p:txBody>
              <a:bodyPr/>
              <a:lstStyle/>
              <a:p>
                <a:r>
                  <a:rPr lang="zh-CN" altLang="en-US">
                    <a:noFill/>
                  </a:rPr>
                  <a:t> </a:t>
                </a:r>
              </a:p>
            </p:txBody>
          </p:sp>
        </mc:Fallback>
      </mc:AlternateContent>
      <p:sp>
        <p:nvSpPr>
          <p:cNvPr id="3" name="内容占位符 2"/>
          <p:cNvSpPr/>
          <p:nvPr>
            <p:ph idx="1"/>
          </p:nvPr>
        </p:nvSpPr>
        <p:spPr/>
        <p:txBody>
          <a:bodyPr/>
          <a:p>
            <a:endParaRPr lang="zh-CN" altLang="en-US"/>
          </a:p>
        </p:txBody>
      </p:sp>
      <p:pic>
        <p:nvPicPr>
          <p:cNvPr id="6" name="图片 5"/>
          <p:cNvPicPr/>
          <p:nvPr/>
        </p:nvPicPr>
        <p:blipFill>
          <a:blip r:embed="rId4"/>
          <a:srcRect b="13497"/>
          <a:stretch>
            <a:fillRect/>
          </a:stretch>
        </p:blipFill>
        <p:spPr>
          <a:xfrm>
            <a:off x="4892675" y="1677670"/>
            <a:ext cx="6362700" cy="4020820"/>
          </a:xfrm>
          <a:prstGeom prst="rect">
            <a:avLst/>
          </a:prstGeom>
        </p:spPr>
      </p:pic>
      <p:sp>
        <p:nvSpPr>
          <p:cNvPr id="10" name="文本框 9"/>
          <p:cNvSpPr txBox="1"/>
          <p:nvPr/>
        </p:nvSpPr>
        <p:spPr>
          <a:xfrm>
            <a:off x="537210" y="6080125"/>
            <a:ext cx="4627880" cy="368300"/>
          </a:xfrm>
          <a:prstGeom prst="rect">
            <a:avLst/>
          </a:prstGeom>
          <a:noFill/>
        </p:spPr>
        <p:txBody>
          <a:bodyPr wrap="square" rtlCol="0">
            <a:spAutoFit/>
          </a:bodyPr>
          <a:p>
            <a:r>
              <a:rPr lang="zh-CN" altLang="en-US" b="1"/>
              <a:t>为什么要将结构元素进行反射？</a:t>
            </a:r>
            <a:endParaRPr lang="zh-CN" altLang="en-US" b="1"/>
          </a:p>
        </p:txBody>
      </p:sp>
      <p:sp>
        <p:nvSpPr>
          <p:cNvPr id="11" name="文本框 10"/>
          <p:cNvSpPr txBox="1"/>
          <p:nvPr/>
        </p:nvSpPr>
        <p:spPr>
          <a:xfrm>
            <a:off x="4493895" y="5973127"/>
            <a:ext cx="5080000" cy="583565"/>
          </a:xfrm>
          <a:prstGeom prst="rect">
            <a:avLst/>
          </a:prstGeom>
        </p:spPr>
        <p:txBody>
          <a:bodyPr>
            <a:spAutoFit/>
          </a:bodyPr>
          <a:p>
            <a:pPr marL="0" indent="0"/>
            <a:r>
              <a:rPr lang="zh-CN" altLang="en-US" sz="1600" b="0" i="1">
                <a:solidFill>
                  <a:srgbClr val="2E2B29"/>
                </a:solidFill>
                <a:latin typeface="Inter"/>
                <a:ea typeface="Inter"/>
              </a:rPr>
              <a:t>为了让你的结构元素在“滑动扫描”时，能正确模拟出它“盖印章向外扩散”的方向</a:t>
            </a:r>
            <a:endParaRPr lang="zh-CN" altLang="en-US" sz="1600" b="0" i="1">
              <a:solidFill>
                <a:srgbClr val="2E2B29"/>
              </a:solidFill>
              <a:latin typeface="Inter"/>
              <a:ea typeface="Inte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351091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二值形态学基础</a:t>
            </a:r>
            <a:endParaRPr lang="zh-CN" sz="3200" b="1" dirty="0" smtClean="0">
              <a:solidFill>
                <a:schemeClr val="bg1"/>
              </a:solidFill>
              <a:latin typeface="微软雅黑" panose="020B0503020204020204" charset="-122"/>
              <a:ea typeface="微软雅黑" panose="020B0503020204020204" charset="-122"/>
              <a:sym typeface="+mn-ea"/>
            </a:endParaRPr>
          </a:p>
        </p:txBody>
      </p:sp>
      <p:sp>
        <p:nvSpPr>
          <p:cNvPr id="3" name="内容占位符 2"/>
          <p:cNvSpPr/>
          <p:nvPr>
            <p:ph idx="1"/>
          </p:nvPr>
        </p:nvSpPr>
        <p:spPr>
          <a:xfrm>
            <a:off x="1020445" y="2174240"/>
            <a:ext cx="4745355" cy="435610"/>
          </a:xfrm>
        </p:spPr>
        <p:txBody>
          <a:bodyPr>
            <a:normAutofit fontScale="90000"/>
          </a:bodyPr>
          <a:p>
            <a:r>
              <a:rPr lang="zh-CN" altLang="en-US" b="1" dirty="0">
                <a:solidFill>
                  <a:srgbClr val="336699"/>
                </a:solidFill>
                <a:effectLst>
                  <a:outerShdw blurRad="38100" dist="38100" dir="2700000" algn="tl">
                    <a:srgbClr val="C0C0C0"/>
                  </a:outerShdw>
                </a:effectLst>
                <a:latin typeface="黑体" panose="02010609060101010101" pitchFamily="49" charset="-122"/>
                <a:ea typeface="黑体" panose="02010609060101010101" pitchFamily="49" charset="-122"/>
                <a:sym typeface="+mn-ea"/>
              </a:rPr>
              <a:t>腐蚀运算与膨胀运算的对偶性</a:t>
            </a:r>
            <a:r>
              <a:rPr lang="zh-CN" altLang="en-US" dirty="0">
                <a:solidFill>
                  <a:srgbClr val="000066"/>
                </a:solidFill>
                <a:sym typeface="+mn-ea"/>
              </a:rPr>
              <a:t> </a:t>
            </a:r>
            <a:endParaRPr lang="zh-CN" altLang="en-US" dirty="0">
              <a:solidFill>
                <a:srgbClr val="000066"/>
              </a:solidFill>
            </a:endParaRPr>
          </a:p>
          <a:p>
            <a:endParaRPr lang="zh-CN" altLang="en-US"/>
          </a:p>
        </p:txBody>
      </p:sp>
      <mc:AlternateContent xmlns:mc="http://schemas.openxmlformats.org/markup-compatibility/2006">
        <mc:Choice xmlns:a14="http://schemas.microsoft.com/office/drawing/2010/main" Requires="a14">
          <p:sp>
            <p:nvSpPr>
              <p:cNvPr id="17" name="文本框 16"/>
              <p:cNvSpPr txBox="1"/>
              <p:nvPr/>
            </p:nvSpPr>
            <p:spPr>
              <a:xfrm>
                <a:off x="2366010" y="2650490"/>
                <a:ext cx="3306445" cy="915670"/>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𝐴</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𝐵</m:t>
                          </m:r>
                          <m:r>
                            <a:rPr lang="en-US" altLang="zh-CN" i="1">
                              <a:latin typeface="Cambria Math" panose="02040503050406030204" charset="0"/>
                              <a:cs typeface="Cambria Math" panose="02040503050406030204" charset="0"/>
                            </a:rPr>
                            <m:t>）</m:t>
                          </m:r>
                        </m:e>
                        <m:sup>
                          <m:r>
                            <a:rPr lang="en-US" altLang="zh-CN" i="1">
                              <a:latin typeface="Cambria Math" panose="02040503050406030204" charset="0"/>
                              <a:cs typeface="Cambria Math" panose="02040503050406030204" charset="0"/>
                            </a:rPr>
                            <m:t>𝑐</m:t>
                          </m:r>
                        </m:sup>
                      </m:sSup>
                      <m:r>
                        <a:rPr lang="en-US" altLang="zh-CN" i="1">
                          <a:latin typeface="Cambria Math" panose="02040503050406030204" charset="0"/>
                          <a:cs typeface="Cambria Math" panose="02040503050406030204" charset="0"/>
                        </a:rPr>
                        <m:t>= </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𝐴</m:t>
                          </m:r>
                        </m:e>
                        <m:sup>
                          <m:r>
                            <a:rPr lang="en-US" altLang="zh-CN" i="1">
                              <a:latin typeface="Cambria Math" panose="02040503050406030204" charset="0"/>
                              <a:cs typeface="Cambria Math" panose="02040503050406030204" charset="0"/>
                            </a:rPr>
                            <m:t>𝑐</m:t>
                          </m:r>
                        </m:sup>
                      </m:sSup>
                      <m:r>
                        <a:rPr lang="en-US" altLang="zh-CN" i="1">
                          <a:latin typeface="Cambria Math" panose="02040503050406030204" charset="0"/>
                          <a:cs typeface="Cambria Math" panose="02040503050406030204" charset="0"/>
                        </a:rPr>
                        <m:t>⊕</m:t>
                      </m:r>
                      <m:acc>
                        <m:accPr>
                          <m:ctrlPr>
                            <a:rPr lang="en-US" altLang="zh-CN" i="1">
                              <a:latin typeface="Cambria Math" panose="02040503050406030204" charset="0"/>
                              <a:cs typeface="Cambria Math" panose="02040503050406030204" charset="0"/>
                            </a:rPr>
                          </m:ctrlPr>
                        </m:accPr>
                        <m:e>
                          <m:r>
                            <a:rPr lang="en-US" altLang="zh-CN" i="1">
                              <a:latin typeface="Cambria Math" panose="02040503050406030204" charset="0"/>
                              <a:cs typeface="Cambria Math" panose="02040503050406030204" charset="0"/>
                            </a:rPr>
                            <m:t>𝐵</m:t>
                          </m:r>
                        </m:e>
                      </m:acc>
                    </m:oMath>
                  </m:oMathPara>
                </a14:m>
                <a:endParaRPr lang="en-US" altLang="zh-CN" i="1">
                  <a:latin typeface="Cambria Math" panose="02040503050406030204" charset="0"/>
                  <a:cs typeface="Cambria Math" panose="02040503050406030204" charset="0"/>
                </a:endParaRPr>
              </a:p>
              <a:p>
                <a:pPr algn="l"/>
                <a:endParaRPr lang="en-US" altLang="zh-CN" i="1">
                  <a:latin typeface="Cambria Math" panose="02040503050406030204" charset="0"/>
                  <a:cs typeface="Cambria Math" panose="02040503050406030204" charset="0"/>
                </a:endParaRPr>
              </a:p>
              <a:p>
                <a:pPr algn="l"/>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𝐴</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𝐵</m:t>
                          </m:r>
                          <m:r>
                            <a:rPr lang="en-US" altLang="zh-CN" i="1">
                              <a:latin typeface="Cambria Math" panose="02040503050406030204" charset="0"/>
                              <a:cs typeface="Cambria Math" panose="02040503050406030204" charset="0"/>
                            </a:rPr>
                            <m:t>）</m:t>
                          </m:r>
                        </m:e>
                        <m:sup>
                          <m:r>
                            <a:rPr lang="en-US" altLang="zh-CN" i="1">
                              <a:latin typeface="Cambria Math" panose="02040503050406030204" charset="0"/>
                              <a:cs typeface="Cambria Math" panose="02040503050406030204" charset="0"/>
                            </a:rPr>
                            <m:t>𝑐</m:t>
                          </m:r>
                        </m:sup>
                      </m:sSup>
                      <m:r>
                        <a:rPr lang="en-US" altLang="zh-CN" i="1">
                          <a:latin typeface="Cambria Math" panose="02040503050406030204" charset="0"/>
                          <a:cs typeface="Cambria Math" panose="02040503050406030204" charset="0"/>
                        </a:rPr>
                        <m:t>= </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𝐴</m:t>
                          </m:r>
                        </m:e>
                        <m:sup>
                          <m:r>
                            <a:rPr lang="en-US" altLang="zh-CN" i="1">
                              <a:latin typeface="Cambria Math" panose="02040503050406030204" charset="0"/>
                              <a:cs typeface="Cambria Math" panose="02040503050406030204" charset="0"/>
                            </a:rPr>
                            <m:t>𝑐</m:t>
                          </m:r>
                        </m:sup>
                      </m:sSup>
                      <m:r>
                        <a:rPr lang="en-US" altLang="zh-CN" i="1">
                          <a:latin typeface="Cambria Math" panose="02040503050406030204" charset="0"/>
                          <a:cs typeface="Cambria Math" panose="02040503050406030204" charset="0"/>
                        </a:rPr>
                        <m:t>⊖</m:t>
                      </m:r>
                      <m:acc>
                        <m:accPr>
                          <m:ctrlPr>
                            <a:rPr lang="en-US" altLang="zh-CN" i="1">
                              <a:latin typeface="Cambria Math" panose="02040503050406030204" charset="0"/>
                              <a:cs typeface="Cambria Math" panose="02040503050406030204" charset="0"/>
                            </a:rPr>
                          </m:ctrlPr>
                        </m:accPr>
                        <m:e>
                          <m:r>
                            <a:rPr lang="en-US" altLang="zh-CN" i="1">
                              <a:latin typeface="Cambria Math" panose="02040503050406030204" charset="0"/>
                              <a:cs typeface="Cambria Math" panose="02040503050406030204" charset="0"/>
                            </a:rPr>
                            <m:t>𝐵</m:t>
                          </m:r>
                        </m:e>
                      </m:acc>
                      <m:r>
                        <a:rPr lang="en-US" altLang="zh-CN" i="1">
                          <a:latin typeface="Cambria Math" panose="02040503050406030204" charset="0"/>
                          <a:cs typeface="Cambria Math" panose="02040503050406030204" charset="0"/>
                        </a:rPr>
                        <m:t> </m:t>
                      </m:r>
                    </m:oMath>
                  </m:oMathPara>
                </a14:m>
                <a:endParaRPr lang="zh-CN" altLang="en-US"/>
              </a:p>
            </p:txBody>
          </p:sp>
        </mc:Choice>
        <mc:Fallback>
          <p:sp>
            <p:nvSpPr>
              <p:cNvPr id="17" name="文本框 16"/>
              <p:cNvSpPr txBox="1">
                <a:spLocks noRot="1" noChangeAspect="1" noMove="1" noResize="1" noEditPoints="1" noAdjustHandles="1" noChangeArrowheads="1" noChangeShapeType="1" noTextEdit="1"/>
              </p:cNvSpPr>
              <p:nvPr/>
            </p:nvSpPr>
            <p:spPr>
              <a:xfrm>
                <a:off x="2366010" y="2650490"/>
                <a:ext cx="3306445" cy="915670"/>
              </a:xfrm>
              <a:prstGeom prst="rect">
                <a:avLst/>
              </a:prstGeom>
              <a:blipFill rotWithShape="1">
                <a:blip r:embed="rId3"/>
                <a:stretch>
                  <a:fillRect/>
                </a:stretch>
              </a:blipFill>
            </p:spPr>
            <p:txBody>
              <a:bodyPr/>
              <a:lstStyle/>
              <a:p>
                <a:r>
                  <a:rPr lang="zh-CN" altLang="en-US">
                    <a:noFill/>
                  </a:rPr>
                  <a:t> </a:t>
                </a:r>
              </a:p>
            </p:txBody>
          </p:sp>
        </mc:Fallback>
      </mc:AlternateContent>
      <p:sp>
        <p:nvSpPr>
          <p:cNvPr id="6" name="文本框 5"/>
          <p:cNvSpPr txBox="1"/>
          <p:nvPr/>
        </p:nvSpPr>
        <p:spPr>
          <a:xfrm>
            <a:off x="2703195" y="3783965"/>
            <a:ext cx="3310890" cy="368300"/>
          </a:xfrm>
          <a:prstGeom prst="rect">
            <a:avLst/>
          </a:prstGeom>
        </p:spPr>
        <p:txBody>
          <a:bodyPr wrap="square">
            <a:spAutoFit/>
          </a:bodyPr>
          <a:p>
            <a:pPr marL="0" algn="l">
              <a:buClrTx/>
              <a:buSzTx/>
              <a:buFontTx/>
            </a:pPr>
            <a:r>
              <a:rPr lang="zh-CN" altLang="en-US" sz="1800" b="1"/>
              <a:t>对前景做腐蚀 = 对背景做膨胀</a:t>
            </a:r>
            <a:endParaRPr lang="zh-CN" altLang="en-US" sz="1800" b="1"/>
          </a:p>
        </p:txBody>
      </p:sp>
      <p:sp>
        <p:nvSpPr>
          <p:cNvPr id="9" name="文本框 8"/>
          <p:cNvSpPr txBox="1"/>
          <p:nvPr/>
        </p:nvSpPr>
        <p:spPr>
          <a:xfrm>
            <a:off x="1459230" y="4800600"/>
            <a:ext cx="8689340" cy="368300"/>
          </a:xfrm>
          <a:prstGeom prst="rect">
            <a:avLst/>
          </a:prstGeom>
          <a:noFill/>
        </p:spPr>
        <p:txBody>
          <a:bodyPr wrap="square" rtlCol="0">
            <a:spAutoFit/>
          </a:bodyPr>
          <a:p>
            <a:r>
              <a:rPr lang="zh-CN" altLang="en-US"/>
              <a:t>这种对偶性会进一步扩展到其他的形态学运算上，例如开</a:t>
            </a:r>
            <a:r>
              <a:rPr lang="en-US" altLang="zh-CN"/>
              <a:t>-</a:t>
            </a:r>
            <a:r>
              <a:rPr lang="zh-CN" altLang="en-US"/>
              <a:t>闭运算、顶帽</a:t>
            </a:r>
            <a:r>
              <a:rPr lang="en-US" altLang="zh-CN"/>
              <a:t>-</a:t>
            </a:r>
            <a:r>
              <a:rPr lang="zh-CN" altLang="en-US"/>
              <a:t>黑帽运算</a:t>
            </a:r>
            <a:endParaRPr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351091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二值形态学进阶</a:t>
            </a:r>
            <a:endParaRPr lang="zh-CN" sz="3200" b="1" dirty="0" smtClean="0">
              <a:solidFill>
                <a:schemeClr val="bg1"/>
              </a:solidFill>
              <a:latin typeface="微软雅黑" panose="020B0503020204020204" charset="-122"/>
              <a:ea typeface="微软雅黑" panose="020B0503020204020204" charset="-122"/>
              <a:sym typeface="+mn-ea"/>
            </a:endParaRPr>
          </a:p>
        </p:txBody>
      </p:sp>
      <p:sp>
        <p:nvSpPr>
          <p:cNvPr id="3" name="内容占位符 2"/>
          <p:cNvSpPr/>
          <p:nvPr>
            <p:ph idx="1"/>
          </p:nvPr>
        </p:nvSpPr>
        <p:spPr>
          <a:xfrm>
            <a:off x="1020445" y="2174240"/>
            <a:ext cx="4745355" cy="435610"/>
          </a:xfrm>
        </p:spPr>
        <p:txBody>
          <a:bodyPr>
            <a:normAutofit/>
          </a:bodyPr>
          <a:p>
            <a:r>
              <a:rPr lang="zh-CN" altLang="en-US" b="1" dirty="0">
                <a:solidFill>
                  <a:srgbClr val="336699"/>
                </a:solidFill>
                <a:effectLst>
                  <a:outerShdw blurRad="38100" dist="38100" dir="2700000" algn="tl">
                    <a:srgbClr val="C0C0C0"/>
                  </a:outerShdw>
                </a:effectLst>
                <a:latin typeface="黑体" panose="02010609060101010101" pitchFamily="49" charset="-122"/>
                <a:ea typeface="黑体" panose="02010609060101010101" pitchFamily="49" charset="-122"/>
                <a:sym typeface="+mn-ea"/>
              </a:rPr>
              <a:t>将腐蚀运算和膨胀运算相结合</a:t>
            </a:r>
            <a:endParaRPr lang="zh-CN" altLang="en-US"/>
          </a:p>
        </p:txBody>
      </p:sp>
      <p:sp>
        <p:nvSpPr>
          <p:cNvPr id="5" name="文本框 4"/>
          <p:cNvSpPr txBox="1"/>
          <p:nvPr/>
        </p:nvSpPr>
        <p:spPr>
          <a:xfrm>
            <a:off x="1917700" y="2814320"/>
            <a:ext cx="6740525" cy="1476375"/>
          </a:xfrm>
          <a:prstGeom prst="rect">
            <a:avLst/>
          </a:prstGeom>
        </p:spPr>
        <p:txBody>
          <a:bodyPr wrap="square">
            <a:spAutoFit/>
          </a:bodyPr>
          <a:p>
            <a:pPr marL="0" indent="0">
              <a:spcBef>
                <a:spcPts val="200"/>
              </a:spcBef>
              <a:spcAft>
                <a:spcPts val="200"/>
              </a:spcAft>
              <a:buFont typeface="Arial" panose="020B0604020202020204"/>
              <a:buNone/>
            </a:pPr>
            <a:r>
              <a:rPr lang="zh-CN" altLang="en-US" sz="2000" b="1" i="0">
                <a:solidFill>
                  <a:srgbClr val="2E2B29"/>
                </a:solidFill>
                <a:latin typeface="Inter"/>
                <a:ea typeface="Inter"/>
              </a:rPr>
              <a:t>腐蚀能去掉图像外的噪点，但代价是主体物也被“瘦身”了。</a:t>
            </a:r>
            <a:endParaRPr lang="zh-CN" altLang="en-US" sz="2000" b="1" i="0">
              <a:solidFill>
                <a:srgbClr val="2E2B29"/>
              </a:solidFill>
              <a:latin typeface="Inter"/>
              <a:ea typeface="Inter"/>
            </a:endParaRPr>
          </a:p>
          <a:p>
            <a:pPr marL="0" indent="0">
              <a:spcBef>
                <a:spcPts val="200"/>
              </a:spcBef>
              <a:spcAft>
                <a:spcPts val="200"/>
              </a:spcAft>
              <a:buFont typeface="Arial" panose="020B0604020202020204"/>
              <a:buNone/>
            </a:pPr>
            <a:r>
              <a:rPr lang="zh-CN" altLang="en-US" sz="2000" b="1" i="0">
                <a:solidFill>
                  <a:srgbClr val="2E2B29"/>
                </a:solidFill>
                <a:latin typeface="Inter"/>
                <a:ea typeface="Inter"/>
              </a:rPr>
              <a:t>膨胀能填补图像内的孔洞，但代价是主体物也被“吹胖”了。</a:t>
            </a:r>
            <a:endParaRPr lang="zh-CN" altLang="en-US" sz="2000" b="1" i="0">
              <a:solidFill>
                <a:srgbClr val="2E2B29"/>
              </a:solidFill>
              <a:latin typeface="Inter"/>
              <a:ea typeface="Inter"/>
            </a:endParaRPr>
          </a:p>
          <a:p>
            <a:pPr marL="0" indent="0">
              <a:spcBef>
                <a:spcPts val="200"/>
              </a:spcBef>
              <a:spcAft>
                <a:spcPts val="200"/>
              </a:spcAft>
              <a:buFont typeface="Arial" panose="020B0604020202020204"/>
              <a:buNone/>
            </a:pPr>
            <a:endParaRPr lang="zh-CN" altLang="en-US" sz="2000" b="1" i="0">
              <a:solidFill>
                <a:srgbClr val="2E2B29"/>
              </a:solidFill>
              <a:latin typeface="Inter"/>
              <a:ea typeface="Inter"/>
            </a:endParaRPr>
          </a:p>
          <a:p>
            <a:pPr marL="0" indent="0">
              <a:spcBef>
                <a:spcPts val="200"/>
              </a:spcBef>
              <a:spcAft>
                <a:spcPts val="200"/>
              </a:spcAft>
              <a:buFont typeface="Arial" panose="020B0604020202020204"/>
              <a:buNone/>
            </a:pPr>
            <a:r>
              <a:rPr lang="zh-CN" altLang="en-US" sz="2000" b="1" i="0">
                <a:solidFill>
                  <a:srgbClr val="2E2B29"/>
                </a:solidFill>
                <a:latin typeface="Inter"/>
                <a:ea typeface="Inter"/>
              </a:rPr>
              <a:t>如果组合，能否就消除掉这个</a:t>
            </a:r>
            <a:r>
              <a:rPr lang="en-US" altLang="zh-CN" sz="2000" b="1" i="0">
                <a:solidFill>
                  <a:srgbClr val="2E2B29"/>
                </a:solidFill>
                <a:latin typeface="Inter"/>
                <a:ea typeface="Inter"/>
              </a:rPr>
              <a:t>“</a:t>
            </a:r>
            <a:r>
              <a:rPr lang="zh-CN" altLang="en-US" sz="2000" b="1" i="0">
                <a:solidFill>
                  <a:srgbClr val="2E2B29"/>
                </a:solidFill>
                <a:latin typeface="Inter"/>
                <a:ea typeface="宋体" panose="02010600030101010101" pitchFamily="2" charset="-122"/>
              </a:rPr>
              <a:t>代价</a:t>
            </a:r>
            <a:r>
              <a:rPr lang="en-US" altLang="zh-CN" sz="2000" b="1" i="0">
                <a:solidFill>
                  <a:srgbClr val="2E2B29"/>
                </a:solidFill>
                <a:latin typeface="Inter"/>
                <a:ea typeface="Inter"/>
              </a:rPr>
              <a:t>”</a:t>
            </a:r>
            <a:r>
              <a:rPr lang="zh-CN" altLang="en-US" sz="2000" b="1" i="0">
                <a:solidFill>
                  <a:srgbClr val="2E2B29"/>
                </a:solidFill>
                <a:latin typeface="Inter"/>
                <a:ea typeface="宋体" panose="02010600030101010101" pitchFamily="2" charset="-122"/>
              </a:rPr>
              <a:t>呢？</a:t>
            </a:r>
            <a:endParaRPr lang="zh-CN" altLang="en-US" sz="2000" b="1" i="0">
              <a:solidFill>
                <a:srgbClr val="2E2B29"/>
              </a:solidFill>
              <a:latin typeface="Inter"/>
              <a:ea typeface="宋体" panose="02010600030101010101" pitchFamily="2"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533209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二值形态学进阶：开闭运算</a:t>
            </a:r>
            <a:endParaRPr lang="zh-CN" sz="3200" b="1" dirty="0" smtClean="0">
              <a:solidFill>
                <a:schemeClr val="bg1"/>
              </a:solidFill>
              <a:latin typeface="微软雅黑" panose="020B0503020204020204" charset="-122"/>
              <a:ea typeface="微软雅黑" panose="020B0503020204020204" charset="-122"/>
              <a:sym typeface="+mn-ea"/>
            </a:endParaRPr>
          </a:p>
        </p:txBody>
      </p:sp>
      <p:sp>
        <p:nvSpPr>
          <p:cNvPr id="10" name="文本框 9"/>
          <p:cNvSpPr txBox="1"/>
          <p:nvPr>
            <p:custDataLst>
              <p:tags r:id="rId3"/>
            </p:custDataLst>
          </p:nvPr>
        </p:nvSpPr>
        <p:spPr>
          <a:xfrm>
            <a:off x="659765" y="1878330"/>
            <a:ext cx="6096000" cy="983615"/>
          </a:xfrm>
          <a:prstGeom prst="rect">
            <a:avLst/>
          </a:prstGeom>
          <a:noFill/>
        </p:spPr>
        <p:txBody>
          <a:bodyPr wrap="square" rtlCol="0" anchor="t">
            <a:spAutoFit/>
          </a:bodyPr>
          <a:p>
            <a:pPr>
              <a:lnSpc>
                <a:spcPct val="145000"/>
              </a:lnSpc>
              <a:defRPr/>
            </a:pPr>
            <a:r>
              <a:rPr lang="zh-CN" altLang="en-US" sz="2000" b="1" dirty="0">
                <a:solidFill>
                  <a:srgbClr val="000066"/>
                </a:solidFill>
                <a:latin typeface="黑体" panose="02010609060101010101" pitchFamily="49" charset="-122"/>
                <a:ea typeface="黑体" panose="02010609060101010101" pitchFamily="49" charset="-122"/>
                <a:sym typeface="+mn-ea"/>
              </a:rPr>
              <a:t>使用同一个结构元素对目标图像</a:t>
            </a:r>
            <a:r>
              <a:rPr lang="zh-CN" altLang="en-US" sz="2000" b="1" dirty="0">
                <a:solidFill>
                  <a:srgbClr val="FF0000"/>
                </a:solidFill>
                <a:latin typeface="黑体" panose="02010609060101010101" pitchFamily="49" charset="-122"/>
                <a:ea typeface="黑体" panose="02010609060101010101" pitchFamily="49" charset="-122"/>
                <a:sym typeface="+mn-ea"/>
              </a:rPr>
              <a:t>先进行腐蚀</a:t>
            </a:r>
            <a:r>
              <a:rPr lang="zh-CN" altLang="en-US" sz="2000" b="1" dirty="0">
                <a:solidFill>
                  <a:srgbClr val="000066"/>
                </a:solidFill>
                <a:latin typeface="黑体" panose="02010609060101010101" pitchFamily="49" charset="-122"/>
                <a:ea typeface="黑体" panose="02010609060101010101" pitchFamily="49" charset="-122"/>
                <a:sym typeface="+mn-ea"/>
              </a:rPr>
              <a:t>运算</a:t>
            </a:r>
            <a:r>
              <a:rPr lang="en-US" altLang="zh-CN" sz="2000" b="1" dirty="0">
                <a:solidFill>
                  <a:srgbClr val="000066"/>
                </a:solidFill>
                <a:latin typeface="黑体" panose="02010609060101010101" pitchFamily="49" charset="-122"/>
                <a:ea typeface="黑体" panose="02010609060101010101" pitchFamily="49" charset="-122"/>
                <a:sym typeface="+mn-ea"/>
              </a:rPr>
              <a:t>,</a:t>
            </a:r>
            <a:r>
              <a:rPr lang="zh-CN" altLang="en-US" sz="2000" b="1" dirty="0">
                <a:solidFill>
                  <a:srgbClr val="000066"/>
                </a:solidFill>
                <a:latin typeface="黑体" panose="02010609060101010101" pitchFamily="49" charset="-122"/>
                <a:ea typeface="黑体" panose="02010609060101010101" pitchFamily="49" charset="-122"/>
                <a:sym typeface="+mn-ea"/>
              </a:rPr>
              <a:t>然后</a:t>
            </a:r>
            <a:r>
              <a:rPr lang="zh-CN" altLang="en-US" sz="2000" b="1" dirty="0">
                <a:solidFill>
                  <a:srgbClr val="FF0000"/>
                </a:solidFill>
                <a:latin typeface="黑体" panose="02010609060101010101" pitchFamily="49" charset="-122"/>
                <a:ea typeface="黑体" panose="02010609060101010101" pitchFamily="49" charset="-122"/>
                <a:sym typeface="+mn-ea"/>
              </a:rPr>
              <a:t>再进行膨胀</a:t>
            </a:r>
            <a:r>
              <a:rPr lang="zh-CN" altLang="en-US" sz="2000" b="1" dirty="0">
                <a:solidFill>
                  <a:srgbClr val="000066"/>
                </a:solidFill>
                <a:latin typeface="黑体" panose="02010609060101010101" pitchFamily="49" charset="-122"/>
                <a:ea typeface="黑体" panose="02010609060101010101" pitchFamily="49" charset="-122"/>
                <a:sym typeface="+mn-ea"/>
              </a:rPr>
              <a:t>运算称为开运算。</a:t>
            </a:r>
            <a:endParaRPr lang="zh-CN" altLang="en-US" sz="2000" b="1" dirty="0">
              <a:solidFill>
                <a:srgbClr val="000066"/>
              </a:solidFill>
              <a:latin typeface="黑体" panose="02010609060101010101" pitchFamily="49" charset="-122"/>
              <a:ea typeface="黑体" panose="02010609060101010101" pitchFamily="49" charset="-122"/>
              <a:sym typeface="+mn-ea"/>
            </a:endParaRPr>
          </a:p>
        </p:txBody>
      </p:sp>
      <p:sp>
        <p:nvSpPr>
          <p:cNvPr id="11" name="文本框 10"/>
          <p:cNvSpPr txBox="1"/>
          <p:nvPr>
            <p:custDataLst>
              <p:tags r:id="rId4"/>
            </p:custDataLst>
          </p:nvPr>
        </p:nvSpPr>
        <p:spPr>
          <a:xfrm>
            <a:off x="3013075" y="2905125"/>
            <a:ext cx="2202815" cy="398780"/>
          </a:xfrm>
          <a:prstGeom prst="rect">
            <a:avLst/>
          </a:prstGeom>
        </p:spPr>
        <p:txBody>
          <a:bodyPr wrap="square">
            <a:spAutoFit/>
          </a:bodyPr>
          <a:p>
            <a:pPr marL="0" indent="0"/>
            <a:r>
              <a:rPr lang="en-US" altLang="zh-CN" sz="2000" b="0" i="1">
                <a:solidFill>
                  <a:srgbClr val="2E2B29"/>
                </a:solidFill>
                <a:latin typeface="Cambria Math" panose="02040503050406030204" charset="0"/>
                <a:ea typeface="KaTeX_Math"/>
                <a:cs typeface="Cambria Math" panose="02040503050406030204" charset="0"/>
              </a:rPr>
              <a:t>A</a:t>
            </a:r>
            <a:r>
              <a:rPr lang="en-US" altLang="zh-CN" sz="2000" b="0">
                <a:solidFill>
                  <a:srgbClr val="2E2B29"/>
                </a:solidFill>
                <a:latin typeface="Cambria Math" panose="02040503050406030204" charset="0"/>
                <a:ea typeface="KaTeX_Main"/>
                <a:cs typeface="Cambria Math" panose="02040503050406030204" charset="0"/>
              </a:rPr>
              <a:t>∘</a:t>
            </a:r>
            <a:r>
              <a:rPr lang="en-US" altLang="zh-CN" sz="2000" b="0" i="1">
                <a:solidFill>
                  <a:srgbClr val="2E2B29"/>
                </a:solidFill>
                <a:latin typeface="Cambria Math" panose="02040503050406030204" charset="0"/>
                <a:ea typeface="KaTeX_Math"/>
                <a:cs typeface="Cambria Math" panose="02040503050406030204" charset="0"/>
              </a:rPr>
              <a:t>B</a:t>
            </a:r>
            <a:r>
              <a:rPr lang="en-US" altLang="zh-CN" sz="2000" b="0">
                <a:solidFill>
                  <a:srgbClr val="2E2B29"/>
                </a:solidFill>
                <a:latin typeface="Cambria Math" panose="02040503050406030204" charset="0"/>
                <a:ea typeface="KaTeX_Main"/>
                <a:cs typeface="Cambria Math" panose="02040503050406030204" charset="0"/>
              </a:rPr>
              <a:t>=(</a:t>
            </a:r>
            <a:r>
              <a:rPr lang="en-US" altLang="zh-CN" sz="2000" b="0" i="1">
                <a:solidFill>
                  <a:srgbClr val="2E2B29"/>
                </a:solidFill>
                <a:latin typeface="Cambria Math" panose="02040503050406030204" charset="0"/>
                <a:ea typeface="KaTeX_Math"/>
                <a:cs typeface="Cambria Math" panose="02040503050406030204" charset="0"/>
              </a:rPr>
              <a:t>A</a:t>
            </a:r>
            <a:r>
              <a:rPr lang="en-US" altLang="zh-CN" sz="2000" b="0">
                <a:solidFill>
                  <a:srgbClr val="2E2B29"/>
                </a:solidFill>
                <a:latin typeface="Cambria Math" panose="02040503050406030204" charset="0"/>
                <a:ea typeface="KaTeX_Main"/>
                <a:cs typeface="Cambria Math" panose="02040503050406030204" charset="0"/>
              </a:rPr>
              <a:t>⊖</a:t>
            </a:r>
            <a:r>
              <a:rPr lang="en-US" altLang="zh-CN" sz="2000" b="0" i="1">
                <a:solidFill>
                  <a:srgbClr val="2E2B29"/>
                </a:solidFill>
                <a:latin typeface="Cambria Math" panose="02040503050406030204" charset="0"/>
                <a:ea typeface="KaTeX_Math"/>
                <a:cs typeface="Cambria Math" panose="02040503050406030204" charset="0"/>
              </a:rPr>
              <a:t>B</a:t>
            </a:r>
            <a:r>
              <a:rPr lang="en-US" altLang="zh-CN" sz="2000" b="0">
                <a:solidFill>
                  <a:srgbClr val="2E2B29"/>
                </a:solidFill>
                <a:latin typeface="Cambria Math" panose="02040503050406030204" charset="0"/>
                <a:ea typeface="KaTeX_Main"/>
                <a:cs typeface="Cambria Math" panose="02040503050406030204" charset="0"/>
              </a:rPr>
              <a:t>)⊕</a:t>
            </a:r>
            <a:r>
              <a:rPr lang="en-US" altLang="zh-CN" sz="2000" b="0" i="1">
                <a:solidFill>
                  <a:srgbClr val="2E2B29"/>
                </a:solidFill>
                <a:latin typeface="Cambria Math" panose="02040503050406030204" charset="0"/>
                <a:ea typeface="KaTeX_Math"/>
                <a:cs typeface="Cambria Math" panose="02040503050406030204" charset="0"/>
              </a:rPr>
              <a:t>B</a:t>
            </a:r>
            <a:endParaRPr lang="en-US" altLang="zh-CN" sz="2000" b="0" i="1">
              <a:solidFill>
                <a:srgbClr val="2E2B29"/>
              </a:solidFill>
              <a:latin typeface="Cambria Math" panose="02040503050406030204" charset="0"/>
              <a:ea typeface="KaTeX_Math"/>
              <a:cs typeface="Cambria Math" panose="02040503050406030204" charset="0"/>
            </a:endParaRPr>
          </a:p>
        </p:txBody>
      </p:sp>
      <p:pic>
        <p:nvPicPr>
          <p:cNvPr id="39938" name="Picture 2"/>
          <p:cNvPicPr>
            <a:picLocks noChangeAspect="1" noChangeArrowheads="1"/>
          </p:cNvPicPr>
          <p:nvPr>
            <p:custDataLst>
              <p:tags r:id="rId5"/>
            </p:custDataLst>
          </p:nvPr>
        </p:nvPicPr>
        <p:blipFill>
          <a:blip r:embed="rId6">
            <a:extLst>
              <a:ext uri="{28A0092B-C50C-407E-A947-70E740481C1C}">
                <a14:useLocalDpi xmlns:a14="http://schemas.microsoft.com/office/drawing/2010/main" val="0"/>
              </a:ext>
            </a:extLst>
          </a:blip>
          <a:srcRect/>
          <a:stretch>
            <a:fillRect/>
          </a:stretch>
        </p:blipFill>
        <p:spPr bwMode="auto">
          <a:xfrm>
            <a:off x="6723698" y="1639253"/>
            <a:ext cx="22860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39" name="Picture 3"/>
          <p:cNvPicPr>
            <a:picLocks noChangeAspect="1" noChangeArrowheads="1"/>
          </p:cNvPicPr>
          <p:nvPr>
            <p:custDataLst>
              <p:tags r:id="rId7"/>
            </p:custDataLst>
          </p:nvPr>
        </p:nvPicPr>
        <p:blipFill>
          <a:blip r:embed="rId8">
            <a:extLst>
              <a:ext uri="{28A0092B-C50C-407E-A947-70E740481C1C}">
                <a14:useLocalDpi xmlns:a14="http://schemas.microsoft.com/office/drawing/2010/main" val="0"/>
              </a:ext>
            </a:extLst>
          </a:blip>
          <a:srcRect/>
          <a:stretch>
            <a:fillRect/>
          </a:stretch>
        </p:blipFill>
        <p:spPr bwMode="auto">
          <a:xfrm>
            <a:off x="9210358" y="1639253"/>
            <a:ext cx="2438400" cy="133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p:cNvSpPr txBox="1"/>
          <p:nvPr>
            <p:custDataLst>
              <p:tags r:id="rId9"/>
            </p:custDataLst>
          </p:nvPr>
        </p:nvSpPr>
        <p:spPr>
          <a:xfrm>
            <a:off x="7191375" y="3118485"/>
            <a:ext cx="4206240" cy="398780"/>
          </a:xfrm>
          <a:prstGeom prst="rect">
            <a:avLst/>
          </a:prstGeom>
          <a:noFill/>
        </p:spPr>
        <p:txBody>
          <a:bodyPr wrap="square" rtlCol="0" anchor="t">
            <a:spAutoFit/>
          </a:bodyPr>
          <a:p>
            <a:pPr>
              <a:defRPr/>
            </a:pPr>
            <a:r>
              <a:rPr kumimoji="1" lang="zh-CN" altLang="en-US" sz="1600" b="1">
                <a:solidFill>
                  <a:srgbClr val="000066"/>
                </a:solidFill>
                <a:latin typeface="黑体" panose="02010609060101010101" pitchFamily="49" charset="-122"/>
                <a:ea typeface="黑体" panose="02010609060101010101" pitchFamily="49" charset="-122"/>
                <a:sym typeface="+mn-ea"/>
              </a:rPr>
              <a:t>对含噪声的印刷电路板图像进行开运算实例</a:t>
            </a:r>
            <a:r>
              <a:rPr lang="zh-CN" altLang="en-US" sz="2000">
                <a:solidFill>
                  <a:srgbClr val="000066"/>
                </a:solidFill>
                <a:latin typeface="黑体" panose="02010609060101010101" pitchFamily="49" charset="-122"/>
                <a:ea typeface="黑体" panose="02010609060101010101" pitchFamily="49" charset="-122"/>
                <a:sym typeface="+mn-ea"/>
              </a:rPr>
              <a:t> </a:t>
            </a:r>
            <a:endParaRPr lang="zh-CN" altLang="en-US" sz="2000">
              <a:solidFill>
                <a:srgbClr val="000066"/>
              </a:solidFill>
              <a:latin typeface="黑体" panose="02010609060101010101" pitchFamily="49" charset="-122"/>
              <a:ea typeface="黑体" panose="02010609060101010101" pitchFamily="49" charset="-122"/>
              <a:sym typeface="+mn-ea"/>
            </a:endParaRPr>
          </a:p>
        </p:txBody>
      </p:sp>
      <p:sp>
        <p:nvSpPr>
          <p:cNvPr id="13" name="文本框 12"/>
          <p:cNvSpPr txBox="1"/>
          <p:nvPr>
            <p:custDataLst>
              <p:tags r:id="rId10"/>
            </p:custDataLst>
          </p:nvPr>
        </p:nvSpPr>
        <p:spPr>
          <a:xfrm>
            <a:off x="565150" y="3769995"/>
            <a:ext cx="6096000" cy="983615"/>
          </a:xfrm>
          <a:prstGeom prst="rect">
            <a:avLst/>
          </a:prstGeom>
          <a:noFill/>
        </p:spPr>
        <p:txBody>
          <a:bodyPr wrap="square" rtlCol="0" anchor="t">
            <a:spAutoFit/>
          </a:bodyPr>
          <a:p>
            <a:pPr>
              <a:lnSpc>
                <a:spcPct val="145000"/>
              </a:lnSpc>
              <a:defRPr/>
            </a:pPr>
            <a:r>
              <a:rPr lang="zh-CN" altLang="en-US" sz="2000" b="1" dirty="0">
                <a:solidFill>
                  <a:srgbClr val="000066"/>
                </a:solidFill>
                <a:latin typeface="黑体" panose="02010609060101010101" pitchFamily="49" charset="-122"/>
                <a:ea typeface="黑体" panose="02010609060101010101" pitchFamily="49" charset="-122"/>
                <a:sym typeface="+mn-ea"/>
              </a:rPr>
              <a:t>使用同一个结构元素对目标图像</a:t>
            </a:r>
            <a:r>
              <a:rPr lang="zh-CN" altLang="en-US" sz="2000" b="1" dirty="0">
                <a:solidFill>
                  <a:srgbClr val="FF0000"/>
                </a:solidFill>
                <a:latin typeface="黑体" panose="02010609060101010101" pitchFamily="49" charset="-122"/>
                <a:ea typeface="黑体" panose="02010609060101010101" pitchFamily="49" charset="-122"/>
                <a:sym typeface="+mn-ea"/>
              </a:rPr>
              <a:t>先进行膨胀</a:t>
            </a:r>
            <a:r>
              <a:rPr lang="zh-CN" altLang="en-US" sz="2000" b="1" dirty="0">
                <a:solidFill>
                  <a:srgbClr val="000066"/>
                </a:solidFill>
                <a:latin typeface="黑体" panose="02010609060101010101" pitchFamily="49" charset="-122"/>
                <a:ea typeface="黑体" panose="02010609060101010101" pitchFamily="49" charset="-122"/>
                <a:sym typeface="+mn-ea"/>
              </a:rPr>
              <a:t>运算</a:t>
            </a:r>
            <a:r>
              <a:rPr lang="en-US" altLang="zh-CN" sz="2000" b="1" dirty="0">
                <a:solidFill>
                  <a:srgbClr val="000066"/>
                </a:solidFill>
                <a:latin typeface="黑体" panose="02010609060101010101" pitchFamily="49" charset="-122"/>
                <a:ea typeface="黑体" panose="02010609060101010101" pitchFamily="49" charset="-122"/>
                <a:sym typeface="+mn-ea"/>
              </a:rPr>
              <a:t>,</a:t>
            </a:r>
            <a:r>
              <a:rPr lang="zh-CN" altLang="en-US" sz="2000" b="1" dirty="0">
                <a:solidFill>
                  <a:srgbClr val="000066"/>
                </a:solidFill>
                <a:latin typeface="黑体" panose="02010609060101010101" pitchFamily="49" charset="-122"/>
                <a:ea typeface="黑体" panose="02010609060101010101" pitchFamily="49" charset="-122"/>
                <a:sym typeface="+mn-ea"/>
              </a:rPr>
              <a:t>然后</a:t>
            </a:r>
            <a:r>
              <a:rPr lang="zh-CN" altLang="en-US" sz="2000" b="1" dirty="0">
                <a:solidFill>
                  <a:srgbClr val="FF0000"/>
                </a:solidFill>
                <a:latin typeface="黑体" panose="02010609060101010101" pitchFamily="49" charset="-122"/>
                <a:ea typeface="黑体" panose="02010609060101010101" pitchFamily="49" charset="-122"/>
                <a:sym typeface="+mn-ea"/>
              </a:rPr>
              <a:t>再进行腐蚀</a:t>
            </a:r>
            <a:r>
              <a:rPr lang="zh-CN" altLang="en-US" sz="2000" b="1" dirty="0">
                <a:solidFill>
                  <a:srgbClr val="000066"/>
                </a:solidFill>
                <a:latin typeface="黑体" panose="02010609060101010101" pitchFamily="49" charset="-122"/>
                <a:ea typeface="黑体" panose="02010609060101010101" pitchFamily="49" charset="-122"/>
                <a:sym typeface="+mn-ea"/>
              </a:rPr>
              <a:t>运算称为闭运算。</a:t>
            </a:r>
            <a:endParaRPr lang="zh-CN" altLang="en-US" sz="2000" b="1" dirty="0">
              <a:solidFill>
                <a:srgbClr val="000066"/>
              </a:solidFill>
              <a:latin typeface="黑体" panose="02010609060101010101" pitchFamily="49" charset="-122"/>
              <a:ea typeface="黑体" panose="02010609060101010101" pitchFamily="49" charset="-122"/>
              <a:sym typeface="+mn-ea"/>
            </a:endParaRPr>
          </a:p>
        </p:txBody>
      </p:sp>
      <p:sp>
        <p:nvSpPr>
          <p:cNvPr id="14" name="文本框 13"/>
          <p:cNvSpPr txBox="1"/>
          <p:nvPr>
            <p:custDataLst>
              <p:tags r:id="rId11"/>
            </p:custDataLst>
          </p:nvPr>
        </p:nvSpPr>
        <p:spPr>
          <a:xfrm>
            <a:off x="2590800" y="4893945"/>
            <a:ext cx="2467610" cy="398780"/>
          </a:xfrm>
          <a:prstGeom prst="rect">
            <a:avLst/>
          </a:prstGeom>
        </p:spPr>
        <p:txBody>
          <a:bodyPr wrap="square">
            <a:spAutoFit/>
          </a:bodyPr>
          <a:p>
            <a:pPr marL="0" indent="0"/>
            <a:r>
              <a:rPr lang="en-US" altLang="zh-CN" sz="2000" b="0" i="1">
                <a:solidFill>
                  <a:srgbClr val="2E2B29"/>
                </a:solidFill>
                <a:latin typeface="Cambria Math" panose="02040503050406030204" charset="0"/>
                <a:ea typeface="KaTeX_Math"/>
                <a:cs typeface="Cambria Math" panose="02040503050406030204" charset="0"/>
              </a:rPr>
              <a:t>A </a:t>
            </a:r>
            <a:r>
              <a:rPr lang="en-US" altLang="zh-CN" sz="2000" b="0" i="0">
                <a:solidFill>
                  <a:srgbClr val="2E2B29"/>
                </a:solidFill>
                <a:latin typeface="Cambria Math" panose="02040503050406030204" charset="0"/>
                <a:ea typeface="KaTeX_Main"/>
                <a:cs typeface="Cambria Math" panose="02040503050406030204" charset="0"/>
              </a:rPr>
              <a:t>∙ </a:t>
            </a:r>
            <a:r>
              <a:rPr lang="en-US" altLang="zh-CN" sz="2000" b="0" i="1">
                <a:solidFill>
                  <a:srgbClr val="2E2B29"/>
                </a:solidFill>
                <a:latin typeface="Cambria Math" panose="02040503050406030204" charset="0"/>
                <a:ea typeface="KaTeX_Math"/>
                <a:cs typeface="Cambria Math" panose="02040503050406030204" charset="0"/>
              </a:rPr>
              <a:t>B</a:t>
            </a:r>
            <a:r>
              <a:rPr lang="en-US" altLang="zh-CN" sz="2000" b="0" i="0">
                <a:solidFill>
                  <a:srgbClr val="2E2B29"/>
                </a:solidFill>
                <a:latin typeface="Cambria Math" panose="02040503050406030204" charset="0"/>
                <a:ea typeface="KaTeX_Main"/>
                <a:cs typeface="Cambria Math" panose="02040503050406030204" charset="0"/>
              </a:rPr>
              <a:t>=( </a:t>
            </a:r>
            <a:r>
              <a:rPr lang="en-US" altLang="zh-CN" sz="2000" b="0" i="1">
                <a:solidFill>
                  <a:srgbClr val="2E2B29"/>
                </a:solidFill>
                <a:latin typeface="Cambria Math" panose="02040503050406030204" charset="0"/>
                <a:ea typeface="KaTeX_Math"/>
                <a:cs typeface="Cambria Math" panose="02040503050406030204" charset="0"/>
              </a:rPr>
              <a:t>A </a:t>
            </a:r>
            <a:r>
              <a:rPr lang="en-US" altLang="zh-CN" sz="2000" b="0" i="0">
                <a:solidFill>
                  <a:srgbClr val="2E2B29"/>
                </a:solidFill>
                <a:latin typeface="Cambria Math" panose="02040503050406030204" charset="0"/>
                <a:ea typeface="KaTeX_Main"/>
                <a:cs typeface="Cambria Math" panose="02040503050406030204" charset="0"/>
              </a:rPr>
              <a:t>⊕ </a:t>
            </a:r>
            <a:r>
              <a:rPr lang="en-US" altLang="zh-CN" sz="2000" b="0" i="1">
                <a:solidFill>
                  <a:srgbClr val="2E2B29"/>
                </a:solidFill>
                <a:latin typeface="Cambria Math" panose="02040503050406030204" charset="0"/>
                <a:ea typeface="KaTeX_Math"/>
                <a:cs typeface="Cambria Math" panose="02040503050406030204" charset="0"/>
              </a:rPr>
              <a:t>B </a:t>
            </a:r>
            <a:r>
              <a:rPr lang="en-US" altLang="zh-CN" sz="2000" b="0" i="0">
                <a:solidFill>
                  <a:srgbClr val="2E2B29"/>
                </a:solidFill>
                <a:latin typeface="Cambria Math" panose="02040503050406030204" charset="0"/>
                <a:ea typeface="KaTeX_Main"/>
                <a:cs typeface="Cambria Math" panose="02040503050406030204" charset="0"/>
              </a:rPr>
              <a:t>) ⊖ </a:t>
            </a:r>
            <a:r>
              <a:rPr lang="en-US" altLang="zh-CN" sz="2000" b="0" i="1">
                <a:solidFill>
                  <a:srgbClr val="2E2B29"/>
                </a:solidFill>
                <a:latin typeface="Cambria Math" panose="02040503050406030204" charset="0"/>
                <a:ea typeface="KaTeX_Math"/>
                <a:cs typeface="Cambria Math" panose="02040503050406030204" charset="0"/>
              </a:rPr>
              <a:t>B</a:t>
            </a:r>
            <a:endParaRPr lang="en-US" altLang="zh-CN" sz="2000" b="0" i="1">
              <a:solidFill>
                <a:srgbClr val="2E2B29"/>
              </a:solidFill>
              <a:latin typeface="Cambria Math" panose="02040503050406030204" charset="0"/>
              <a:ea typeface="KaTeX_Math"/>
              <a:cs typeface="Cambria Math" panose="02040503050406030204" charset="0"/>
            </a:endParaRPr>
          </a:p>
        </p:txBody>
      </p:sp>
      <p:pic>
        <p:nvPicPr>
          <p:cNvPr id="43010" name="Picture 4" descr="电路板0"/>
          <p:cNvPicPr>
            <a:picLocks noChangeAspect="1" noChangeArrowheads="1"/>
          </p:cNvPicPr>
          <p:nvPr>
            <p:custDataLst>
              <p:tags r:id="rId12"/>
            </p:custDataLst>
          </p:nvPr>
        </p:nvPicPr>
        <p:blipFill>
          <a:blip r:embed="rId13">
            <a:extLst>
              <a:ext uri="{28A0092B-C50C-407E-A947-70E740481C1C}">
                <a14:useLocalDpi xmlns:a14="http://schemas.microsoft.com/office/drawing/2010/main" val="0"/>
              </a:ext>
            </a:extLst>
          </a:blip>
          <a:srcRect/>
          <a:stretch>
            <a:fillRect/>
          </a:stretch>
        </p:blipFill>
        <p:spPr bwMode="auto">
          <a:xfrm>
            <a:off x="6724015" y="3739833"/>
            <a:ext cx="23622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1" name="Picture 5" descr="电路板0"/>
          <p:cNvPicPr>
            <a:picLocks noChangeAspect="1" noChangeArrowheads="1"/>
          </p:cNvPicPr>
          <p:nvPr>
            <p:custDataLst>
              <p:tags r:id="rId14"/>
            </p:custDataLst>
          </p:nvPr>
        </p:nvPicPr>
        <p:blipFill>
          <a:blip r:embed="rId15">
            <a:extLst>
              <a:ext uri="{28A0092B-C50C-407E-A947-70E740481C1C}">
                <a14:useLocalDpi xmlns:a14="http://schemas.microsoft.com/office/drawing/2010/main" val="0"/>
              </a:ext>
            </a:extLst>
          </a:blip>
          <a:srcRect/>
          <a:stretch>
            <a:fillRect/>
          </a:stretch>
        </p:blipFill>
        <p:spPr bwMode="auto">
          <a:xfrm>
            <a:off x="9374505" y="3739833"/>
            <a:ext cx="22098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文本框 19"/>
          <p:cNvSpPr txBox="1"/>
          <p:nvPr>
            <p:custDataLst>
              <p:tags r:id="rId16"/>
            </p:custDataLst>
          </p:nvPr>
        </p:nvSpPr>
        <p:spPr>
          <a:xfrm>
            <a:off x="7143115" y="5741670"/>
            <a:ext cx="4206240" cy="398780"/>
          </a:xfrm>
          <a:prstGeom prst="rect">
            <a:avLst/>
          </a:prstGeom>
          <a:noFill/>
        </p:spPr>
        <p:txBody>
          <a:bodyPr wrap="square" rtlCol="0" anchor="t">
            <a:spAutoFit/>
          </a:bodyPr>
          <a:p>
            <a:pPr>
              <a:defRPr/>
            </a:pPr>
            <a:r>
              <a:rPr kumimoji="1" lang="zh-CN" altLang="en-US" sz="1600" b="1">
                <a:solidFill>
                  <a:srgbClr val="000066"/>
                </a:solidFill>
                <a:latin typeface="黑体" panose="02010609060101010101" pitchFamily="49" charset="-122"/>
                <a:ea typeface="黑体" panose="02010609060101010101" pitchFamily="49" charset="-122"/>
                <a:sym typeface="+mn-ea"/>
              </a:rPr>
              <a:t>对电路板图像进行闭运算实例</a:t>
            </a:r>
            <a:r>
              <a:rPr lang="zh-CN" altLang="en-US" sz="2000">
                <a:solidFill>
                  <a:srgbClr val="000066"/>
                </a:solidFill>
                <a:latin typeface="黑体" panose="02010609060101010101" pitchFamily="49" charset="-122"/>
                <a:ea typeface="黑体" panose="02010609060101010101" pitchFamily="49" charset="-122"/>
                <a:sym typeface="+mn-ea"/>
              </a:rPr>
              <a:t> </a:t>
            </a:r>
            <a:endParaRPr lang="zh-CN" altLang="en-US" sz="2000">
              <a:solidFill>
                <a:srgbClr val="000066"/>
              </a:solidFill>
              <a:latin typeface="黑体" panose="02010609060101010101" pitchFamily="49" charset="-122"/>
              <a:ea typeface="黑体" panose="02010609060101010101" pitchFamily="49" charset="-122"/>
              <a:sym typeface="+mn-ea"/>
            </a:endParaRPr>
          </a:p>
        </p:txBody>
      </p:sp>
      <p:sp>
        <p:nvSpPr>
          <p:cNvPr id="21" name="文本框 20"/>
          <p:cNvSpPr txBox="1"/>
          <p:nvPr>
            <p:custDataLst>
              <p:tags r:id="rId17"/>
            </p:custDataLst>
          </p:nvPr>
        </p:nvSpPr>
        <p:spPr>
          <a:xfrm>
            <a:off x="704215" y="3303905"/>
            <a:ext cx="4820920" cy="398780"/>
          </a:xfrm>
          <a:prstGeom prst="rect">
            <a:avLst/>
          </a:prstGeom>
          <a:noFill/>
        </p:spPr>
        <p:txBody>
          <a:bodyPr wrap="square" rtlCol="0">
            <a:spAutoFit/>
          </a:bodyPr>
          <a:p>
            <a:r>
              <a:rPr lang="zh-CN" altLang="en-US" sz="2000" b="1" dirty="0">
                <a:solidFill>
                  <a:schemeClr val="tx1"/>
                </a:solidFill>
                <a:latin typeface="黑体" panose="02010609060101010101" pitchFamily="49" charset="-122"/>
                <a:ea typeface="黑体" panose="02010609060101010101" pitchFamily="49" charset="-122"/>
              </a:rPr>
              <a:t>目的：断开粘连、消除小凸起及噪点</a:t>
            </a:r>
            <a:endParaRPr lang="zh-CN" altLang="en-US" sz="2000" b="1" dirty="0">
              <a:solidFill>
                <a:schemeClr val="tx1"/>
              </a:solidFill>
              <a:latin typeface="黑体" panose="02010609060101010101" pitchFamily="49" charset="-122"/>
              <a:ea typeface="黑体" panose="02010609060101010101" pitchFamily="49" charset="-122"/>
            </a:endParaRPr>
          </a:p>
        </p:txBody>
      </p:sp>
      <p:sp>
        <p:nvSpPr>
          <p:cNvPr id="22" name="文本框 21"/>
          <p:cNvSpPr txBox="1"/>
          <p:nvPr>
            <p:custDataLst>
              <p:tags r:id="rId18"/>
            </p:custDataLst>
          </p:nvPr>
        </p:nvSpPr>
        <p:spPr>
          <a:xfrm>
            <a:off x="758190" y="5509260"/>
            <a:ext cx="4102735" cy="398780"/>
          </a:xfrm>
          <a:prstGeom prst="rect">
            <a:avLst/>
          </a:prstGeom>
          <a:noFill/>
        </p:spPr>
        <p:txBody>
          <a:bodyPr wrap="square" rtlCol="0">
            <a:spAutoFit/>
          </a:bodyPr>
          <a:p>
            <a:r>
              <a:rPr lang="zh-CN" altLang="en-US" sz="2000" b="1" dirty="0">
                <a:solidFill>
                  <a:schemeClr val="tx1"/>
                </a:solidFill>
                <a:latin typeface="黑体" panose="02010609060101010101" pitchFamily="49" charset="-122"/>
                <a:ea typeface="黑体" panose="02010609060101010101" pitchFamily="49" charset="-122"/>
              </a:rPr>
              <a:t>目的：</a:t>
            </a:r>
            <a:r>
              <a:rPr lang="zh-CN" altLang="en-US" sz="2000" b="1" dirty="0">
                <a:latin typeface="黑体" panose="02010609060101010101" pitchFamily="49" charset="-122"/>
                <a:ea typeface="黑体" panose="02010609060101010101" pitchFamily="49" charset="-122"/>
                <a:sym typeface="+mn-ea"/>
              </a:rPr>
              <a:t>连接断裂、</a:t>
            </a:r>
            <a:r>
              <a:rPr lang="zh-CN" altLang="en-US" sz="2000" b="1" dirty="0">
                <a:solidFill>
                  <a:schemeClr val="tx1"/>
                </a:solidFill>
                <a:latin typeface="黑体" panose="02010609060101010101" pitchFamily="49" charset="-122"/>
                <a:ea typeface="黑体" panose="02010609060101010101" pitchFamily="49" charset="-122"/>
              </a:rPr>
              <a:t>填补内部孔洞</a:t>
            </a:r>
            <a:endParaRPr lang="zh-CN" altLang="en-US" sz="2000" b="1" dirty="0">
              <a:solidFill>
                <a:schemeClr val="tx1"/>
              </a:solidFill>
              <a:latin typeface="黑体" panose="02010609060101010101" pitchFamily="49" charset="-122"/>
              <a:ea typeface="黑体" panose="02010609060101010101" pitchFamily="49" charset="-122"/>
            </a:endParaRPr>
          </a:p>
        </p:txBody>
      </p:sp>
      <p:sp>
        <p:nvSpPr>
          <p:cNvPr id="23" name="文本框 22"/>
          <p:cNvSpPr txBox="1"/>
          <p:nvPr/>
        </p:nvSpPr>
        <p:spPr>
          <a:xfrm>
            <a:off x="762635" y="6093460"/>
            <a:ext cx="6042025" cy="368300"/>
          </a:xfrm>
          <a:prstGeom prst="rect">
            <a:avLst/>
          </a:prstGeom>
          <a:noFill/>
        </p:spPr>
        <p:txBody>
          <a:bodyPr wrap="square" rtlCol="0">
            <a:spAutoFit/>
          </a:bodyPr>
          <a:p>
            <a:r>
              <a:rPr lang="zh-CN" altLang="en-US"/>
              <a:t>开闭运算的对偶性：对前景做开运算等于对背景做闭运算</a:t>
            </a:r>
            <a:endParaRPr lang="zh-CN"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618680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二值形态学进阶：顶帽</a:t>
            </a:r>
            <a:r>
              <a:rPr lang="en-US" altLang="zh-CN" sz="3200" b="1" dirty="0" smtClean="0">
                <a:solidFill>
                  <a:schemeClr val="bg1"/>
                </a:solidFill>
                <a:latin typeface="微软雅黑" panose="020B0503020204020204" charset="-122"/>
                <a:ea typeface="微软雅黑" panose="020B0503020204020204" charset="-122"/>
                <a:sym typeface="+mn-ea"/>
              </a:rPr>
              <a:t>-</a:t>
            </a:r>
            <a:r>
              <a:rPr lang="zh-CN" altLang="en-US" sz="3200" b="1" dirty="0" smtClean="0">
                <a:solidFill>
                  <a:schemeClr val="bg1"/>
                </a:solidFill>
                <a:latin typeface="微软雅黑" panose="020B0503020204020204" charset="-122"/>
                <a:ea typeface="微软雅黑" panose="020B0503020204020204" charset="-122"/>
                <a:sym typeface="+mn-ea"/>
              </a:rPr>
              <a:t>黑帽</a:t>
            </a:r>
            <a:r>
              <a:rPr lang="zh-CN" sz="3200" b="1" dirty="0" smtClean="0">
                <a:solidFill>
                  <a:schemeClr val="bg1"/>
                </a:solidFill>
                <a:latin typeface="微软雅黑" panose="020B0503020204020204" charset="-122"/>
                <a:ea typeface="微软雅黑" panose="020B0503020204020204" charset="-122"/>
                <a:sym typeface="+mn-ea"/>
              </a:rPr>
              <a:t>运算</a:t>
            </a:r>
            <a:endParaRPr lang="zh-CN" sz="3200" b="1" dirty="0" smtClean="0">
              <a:solidFill>
                <a:schemeClr val="bg1"/>
              </a:solidFill>
              <a:latin typeface="微软雅黑" panose="020B0503020204020204" charset="-122"/>
              <a:ea typeface="微软雅黑" panose="020B0503020204020204" charset="-122"/>
              <a:sym typeface="+mn-ea"/>
            </a:endParaRPr>
          </a:p>
        </p:txBody>
      </p:sp>
      <p:sp>
        <p:nvSpPr>
          <p:cNvPr id="23" name="文本框 22"/>
          <p:cNvSpPr txBox="1"/>
          <p:nvPr/>
        </p:nvSpPr>
        <p:spPr>
          <a:xfrm>
            <a:off x="1610995" y="5569585"/>
            <a:ext cx="7851140" cy="368300"/>
          </a:xfrm>
          <a:prstGeom prst="rect">
            <a:avLst/>
          </a:prstGeom>
          <a:noFill/>
        </p:spPr>
        <p:txBody>
          <a:bodyPr wrap="square" rtlCol="0">
            <a:spAutoFit/>
          </a:bodyPr>
          <a:p>
            <a:r>
              <a:rPr lang="zh-CN" altLang="en-US"/>
              <a:t>顶帽</a:t>
            </a:r>
            <a:r>
              <a:rPr lang="en-US" altLang="zh-CN"/>
              <a:t>-</a:t>
            </a:r>
            <a:r>
              <a:rPr lang="zh-CN" altLang="en-US"/>
              <a:t>黑帽运算的对偶性：对前景做开运算等于对背景做闭运算</a:t>
            </a:r>
            <a:endParaRPr lang="zh-CN" altLang="en-US"/>
          </a:p>
        </p:txBody>
      </p:sp>
      <p:sp>
        <p:nvSpPr>
          <p:cNvPr id="3" name="文本框 2"/>
          <p:cNvSpPr txBox="1"/>
          <p:nvPr/>
        </p:nvSpPr>
        <p:spPr>
          <a:xfrm>
            <a:off x="1722755" y="2268855"/>
            <a:ext cx="7990840" cy="1198880"/>
          </a:xfrm>
          <a:prstGeom prst="rect">
            <a:avLst/>
          </a:prstGeom>
          <a:noFill/>
        </p:spPr>
        <p:txBody>
          <a:bodyPr wrap="square" rtlCol="0">
            <a:spAutoFit/>
          </a:bodyPr>
          <a:p>
            <a:r>
              <a:rPr lang="zh-CN" altLang="en-US"/>
              <a:t>在刚刚讲到的开闭运算中，我们或是舍去了某些部分，或是添上了某些部分。</a:t>
            </a:r>
            <a:endParaRPr lang="zh-CN" altLang="en-US"/>
          </a:p>
          <a:p>
            <a:r>
              <a:rPr lang="zh-CN" altLang="en-US"/>
              <a:t>而顶帽、黑帽运算恰恰是要提取出这些微小的细节。</a:t>
            </a:r>
            <a:endParaRPr lang="zh-CN" altLang="en-US"/>
          </a:p>
          <a:p>
            <a:endParaRPr lang="zh-CN" altLang="en-US"/>
          </a:p>
          <a:p>
            <a:r>
              <a:rPr lang="zh-CN" altLang="en-US"/>
              <a:t>尽管不常用，但有必要了解。</a:t>
            </a:r>
            <a:endParaRPr lang="zh-CN" altLang="en-US"/>
          </a:p>
        </p:txBody>
      </p:sp>
      <p:sp>
        <p:nvSpPr>
          <p:cNvPr id="5" name="文本框 4"/>
          <p:cNvSpPr txBox="1"/>
          <p:nvPr/>
        </p:nvSpPr>
        <p:spPr>
          <a:xfrm>
            <a:off x="1876425" y="3724275"/>
            <a:ext cx="7872730" cy="398780"/>
          </a:xfrm>
          <a:prstGeom prst="rect">
            <a:avLst/>
          </a:prstGeom>
          <a:noFill/>
        </p:spPr>
        <p:txBody>
          <a:bodyPr wrap="square" rtlCol="0">
            <a:spAutoFit/>
          </a:bodyPr>
          <a:p>
            <a:r>
              <a:rPr lang="zh-CN" altLang="en-US" sz="2000" b="1" dirty="0">
                <a:solidFill>
                  <a:srgbClr val="000066"/>
                </a:solidFill>
                <a:latin typeface="黑体" panose="02010609060101010101" pitchFamily="49" charset="-122"/>
                <a:ea typeface="黑体" panose="02010609060101010101" pitchFamily="49" charset="-122"/>
              </a:rPr>
              <a:t>顶帽运算：原图 减去 开运算图</a:t>
            </a:r>
            <a:r>
              <a:rPr lang="zh-CN" altLang="en-US"/>
              <a:t>。</a:t>
            </a:r>
            <a:r>
              <a:rPr lang="en-US" altLang="zh-CN"/>
              <a:t>                 </a:t>
            </a:r>
            <a:r>
              <a:rPr lang="zh-CN" altLang="en-US" u="sng"/>
              <a:t>提取比周围更亮的细小特征</a:t>
            </a:r>
            <a:endParaRPr lang="zh-CN" altLang="en-US" u="sng"/>
          </a:p>
        </p:txBody>
      </p:sp>
      <p:sp>
        <p:nvSpPr>
          <p:cNvPr id="6" name="文本框 5"/>
          <p:cNvSpPr txBox="1"/>
          <p:nvPr/>
        </p:nvSpPr>
        <p:spPr>
          <a:xfrm>
            <a:off x="1876425" y="4441190"/>
            <a:ext cx="8491220" cy="675640"/>
          </a:xfrm>
          <a:prstGeom prst="rect">
            <a:avLst/>
          </a:prstGeom>
        </p:spPr>
        <p:txBody>
          <a:bodyPr wrap="square">
            <a:spAutoFit/>
          </a:bodyPr>
          <a:p>
            <a:pPr marL="0" indent="0"/>
            <a:r>
              <a:rPr lang="zh-CN" altLang="en-US" sz="2000" b="1" i="0" dirty="0">
                <a:solidFill>
                  <a:srgbClr val="000066"/>
                </a:solidFill>
                <a:latin typeface="黑体" panose="02010609060101010101" pitchFamily="49" charset="-122"/>
                <a:ea typeface="黑体" panose="02010609060101010101" pitchFamily="49" charset="-122"/>
              </a:rPr>
              <a:t>黑帽运算：闭运算图 减去 原图。</a:t>
            </a:r>
            <a:r>
              <a:rPr lang="en-US" altLang="zh-CN" sz="2000" b="1" i="0" dirty="0">
                <a:solidFill>
                  <a:srgbClr val="000066"/>
                </a:solidFill>
                <a:latin typeface="黑体" panose="02010609060101010101" pitchFamily="49" charset="-122"/>
                <a:ea typeface="黑体" panose="02010609060101010101" pitchFamily="49" charset="-122"/>
              </a:rPr>
              <a:t> 	</a:t>
            </a:r>
            <a:r>
              <a:rPr lang="zh-CN" altLang="en-US" u="sng">
                <a:sym typeface="+mn-ea"/>
              </a:rPr>
              <a:t>提取比周围更暗的细小特征</a:t>
            </a:r>
            <a:endParaRPr lang="zh-CN" altLang="en-US" u="sng"/>
          </a:p>
          <a:p>
            <a:pPr marL="0" indent="0"/>
            <a:endParaRPr lang="en-US" altLang="zh-CN" b="1" i="0" dirty="0">
              <a:solidFill>
                <a:srgbClr val="000066"/>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360235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二值形态学进阶</a:t>
            </a:r>
            <a:endParaRPr lang="zh-CN" sz="3200" b="1" dirty="0" smtClean="0">
              <a:solidFill>
                <a:schemeClr val="bg1"/>
              </a:solidFill>
              <a:latin typeface="微软雅黑" panose="020B0503020204020204" charset="-122"/>
              <a:ea typeface="微软雅黑" panose="020B0503020204020204" charset="-122"/>
              <a:sym typeface="+mn-ea"/>
            </a:endParaRPr>
          </a:p>
        </p:txBody>
      </p:sp>
      <p:sp>
        <p:nvSpPr>
          <p:cNvPr id="9" name="文本框 8"/>
          <p:cNvSpPr txBox="1"/>
          <p:nvPr/>
        </p:nvSpPr>
        <p:spPr>
          <a:xfrm>
            <a:off x="2100580" y="2143125"/>
            <a:ext cx="8218805" cy="398780"/>
          </a:xfrm>
          <a:prstGeom prst="rect">
            <a:avLst/>
          </a:prstGeom>
          <a:noFill/>
        </p:spPr>
        <p:txBody>
          <a:bodyPr wrap="square" rtlCol="0">
            <a:spAutoFit/>
          </a:bodyPr>
          <a:p>
            <a:r>
              <a:rPr lang="zh-CN" altLang="en-US" sz="2000"/>
              <a:t>现在，我想要提取出某二值图像的边缘，我该怎么做？</a:t>
            </a:r>
            <a:endParaRPr lang="zh-CN" altLang="en-US" sz="2000"/>
          </a:p>
        </p:txBody>
      </p:sp>
      <p:sp>
        <p:nvSpPr>
          <p:cNvPr id="10" name="文本框 9"/>
          <p:cNvSpPr txBox="1"/>
          <p:nvPr/>
        </p:nvSpPr>
        <p:spPr>
          <a:xfrm>
            <a:off x="2159635" y="2677795"/>
            <a:ext cx="4820920" cy="398780"/>
          </a:xfrm>
          <a:prstGeom prst="rect">
            <a:avLst/>
          </a:prstGeom>
          <a:noFill/>
        </p:spPr>
        <p:txBody>
          <a:bodyPr wrap="square" rtlCol="0">
            <a:spAutoFit/>
          </a:bodyPr>
          <a:p>
            <a:r>
              <a:rPr lang="zh-CN" altLang="en-US" sz="2000"/>
              <a:t>如何使用形态学的工具做到？</a:t>
            </a:r>
            <a:endParaRPr lang="zh-CN" altLang="en-US" sz="200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618680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二值形态学进阶：形态学梯度</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3" name="图片 2"/>
          <p:cNvPicPr/>
          <p:nvPr/>
        </p:nvPicPr>
        <p:blipFill>
          <a:blip r:embed="rId3"/>
          <a:stretch>
            <a:fillRect/>
          </a:stretch>
        </p:blipFill>
        <p:spPr>
          <a:xfrm>
            <a:off x="1513840" y="4607560"/>
            <a:ext cx="9391650" cy="1873885"/>
          </a:xfrm>
          <a:prstGeom prst="rect">
            <a:avLst/>
          </a:prstGeom>
        </p:spPr>
      </p:pic>
      <p:sp>
        <p:nvSpPr>
          <p:cNvPr id="5" name="文本框 4"/>
          <p:cNvSpPr txBox="1"/>
          <p:nvPr/>
        </p:nvSpPr>
        <p:spPr>
          <a:xfrm>
            <a:off x="1085850" y="1999615"/>
            <a:ext cx="5391150" cy="1476375"/>
          </a:xfrm>
          <a:prstGeom prst="rect">
            <a:avLst/>
          </a:prstGeom>
          <a:noFill/>
        </p:spPr>
        <p:txBody>
          <a:bodyPr wrap="square" rtlCol="0">
            <a:spAutoFit/>
          </a:bodyPr>
          <a:p>
            <a:r>
              <a:rPr lang="zh-CN" altLang="en-US" b="1"/>
              <a:t>直觉：膨胀</a:t>
            </a:r>
            <a:r>
              <a:rPr lang="en-US" altLang="zh-CN" b="1"/>
              <a:t> - </a:t>
            </a:r>
            <a:r>
              <a:rPr lang="zh-CN" altLang="en-US" b="1"/>
              <a:t>腐蚀</a:t>
            </a:r>
            <a:r>
              <a:rPr lang="en-US" altLang="zh-CN" b="1"/>
              <a:t> = </a:t>
            </a:r>
            <a:r>
              <a:rPr lang="zh-CN" altLang="en-US" b="1"/>
              <a:t>形态学梯度</a:t>
            </a:r>
            <a:endParaRPr lang="zh-CN" altLang="en-US" b="1"/>
          </a:p>
          <a:p>
            <a:endParaRPr lang="zh-CN" altLang="en-US"/>
          </a:p>
          <a:p>
            <a:pPr indent="457200"/>
            <a:r>
              <a:rPr lang="zh-CN" altLang="en-US"/>
              <a:t>膨胀</a:t>
            </a:r>
            <a:r>
              <a:rPr lang="en-US" altLang="zh-CN"/>
              <a:t> - </a:t>
            </a:r>
            <a:r>
              <a:rPr lang="zh-CN" altLang="en-US"/>
              <a:t>原图</a:t>
            </a:r>
            <a:r>
              <a:rPr lang="en-US" altLang="zh-CN"/>
              <a:t> = </a:t>
            </a:r>
            <a:r>
              <a:rPr lang="zh-CN" altLang="en-US"/>
              <a:t>外部梯度</a:t>
            </a:r>
            <a:endParaRPr lang="zh-CN" altLang="en-US"/>
          </a:p>
          <a:p>
            <a:pPr indent="457200"/>
            <a:endParaRPr lang="zh-CN" altLang="en-US"/>
          </a:p>
          <a:p>
            <a:pPr indent="457200"/>
            <a:r>
              <a:rPr lang="zh-CN" altLang="en-US"/>
              <a:t>原图</a:t>
            </a:r>
            <a:r>
              <a:rPr lang="en-US" altLang="zh-CN"/>
              <a:t> - </a:t>
            </a:r>
            <a:r>
              <a:rPr lang="zh-CN" altLang="en-US"/>
              <a:t>腐蚀</a:t>
            </a:r>
            <a:r>
              <a:rPr lang="en-US" altLang="zh-CN"/>
              <a:t> = </a:t>
            </a:r>
            <a:r>
              <a:rPr lang="zh-CN" altLang="en-US"/>
              <a:t>内部梯度</a:t>
            </a:r>
            <a:endParaRPr lang="zh-CN" altLang="en-US"/>
          </a:p>
        </p:txBody>
      </p:sp>
      <p:sp>
        <p:nvSpPr>
          <p:cNvPr id="12" name="文本框 11"/>
          <p:cNvSpPr txBox="1"/>
          <p:nvPr/>
        </p:nvSpPr>
        <p:spPr>
          <a:xfrm>
            <a:off x="6083300" y="1998028"/>
            <a:ext cx="5080000" cy="1568450"/>
          </a:xfrm>
          <a:prstGeom prst="rect">
            <a:avLst/>
          </a:prstGeom>
        </p:spPr>
        <p:txBody>
          <a:bodyPr>
            <a:spAutoFit/>
          </a:bodyPr>
          <a:p>
            <a:pPr marL="0" indent="0"/>
            <a:r>
              <a:rPr lang="zh-CN" altLang="en-US" sz="1600" b="0" i="0" u="sng">
                <a:solidFill>
                  <a:srgbClr val="2E2B29"/>
                </a:solidFill>
                <a:latin typeface="Inter"/>
                <a:ea typeface="Inter"/>
              </a:rPr>
              <a:t>在数学中，“梯度”指的是变化率（导数）。</a:t>
            </a:r>
            <a:endParaRPr lang="zh-CN" altLang="en-US" sz="1600" b="0" i="0" u="sng">
              <a:solidFill>
                <a:srgbClr val="2E2B29"/>
              </a:solidFill>
              <a:latin typeface="Inter"/>
              <a:ea typeface="Inter"/>
            </a:endParaRPr>
          </a:p>
          <a:p>
            <a:pPr marL="0" indent="0"/>
            <a:r>
              <a:rPr lang="zh-CN" altLang="en-US" sz="1600" b="0" i="0" u="sng">
                <a:solidFill>
                  <a:srgbClr val="2E2B29"/>
                </a:solidFill>
                <a:latin typeface="Inter"/>
                <a:ea typeface="Inter"/>
              </a:rPr>
              <a:t>对于灰度图，膨胀是求局部最大值，腐蚀是求局部最小值。</a:t>
            </a:r>
            <a:endParaRPr lang="zh-CN" altLang="en-US" sz="1600" b="0" i="0" u="sng">
              <a:solidFill>
                <a:srgbClr val="2E2B29"/>
              </a:solidFill>
              <a:latin typeface="Inter"/>
              <a:ea typeface="Inter"/>
            </a:endParaRPr>
          </a:p>
          <a:p>
            <a:pPr marL="0" indent="0"/>
            <a:r>
              <a:rPr lang="zh-CN" altLang="en-US" sz="1600" b="0" i="0" u="sng">
                <a:solidFill>
                  <a:srgbClr val="2E2B29"/>
                </a:solidFill>
                <a:latin typeface="Inter"/>
                <a:ea typeface="Inter"/>
              </a:rPr>
              <a:t>最大值 </a:t>
            </a:r>
            <a:r>
              <a:rPr lang="en-US" altLang="zh-CN" sz="1600" b="0" i="0" u="sng">
                <a:solidFill>
                  <a:srgbClr val="2E2B29"/>
                </a:solidFill>
                <a:latin typeface="Inter"/>
                <a:ea typeface="Inter"/>
              </a:rPr>
              <a:t>- </a:t>
            </a:r>
            <a:r>
              <a:rPr lang="zh-CN" altLang="en-US" sz="1600" b="0" i="0" u="sng">
                <a:solidFill>
                  <a:srgbClr val="2E2B29"/>
                </a:solidFill>
                <a:latin typeface="Inter"/>
                <a:ea typeface="Inter"/>
              </a:rPr>
              <a:t>最小值 </a:t>
            </a:r>
            <a:r>
              <a:rPr lang="en-US" altLang="zh-CN" sz="1600" b="0" i="0" u="sng">
                <a:solidFill>
                  <a:srgbClr val="2E2B29"/>
                </a:solidFill>
                <a:latin typeface="Inter"/>
                <a:ea typeface="Inter"/>
              </a:rPr>
              <a:t>= </a:t>
            </a:r>
            <a:r>
              <a:rPr lang="zh-CN" altLang="en-US" sz="1600" b="0" i="0" u="sng">
                <a:solidFill>
                  <a:srgbClr val="2E2B29"/>
                </a:solidFill>
                <a:latin typeface="Inter"/>
                <a:ea typeface="Inter"/>
              </a:rPr>
              <a:t>局部的像素差值（对比度范围）。</a:t>
            </a:r>
            <a:endParaRPr lang="zh-CN" altLang="en-US" sz="1600" b="0" i="0" u="sng">
              <a:solidFill>
                <a:srgbClr val="2E2B29"/>
              </a:solidFill>
              <a:latin typeface="Inter"/>
              <a:ea typeface="Inter"/>
            </a:endParaRPr>
          </a:p>
          <a:p>
            <a:pPr marL="0" indent="0"/>
            <a:endParaRPr lang="zh-CN" altLang="en-US" sz="1600" b="0" i="0" u="sng">
              <a:solidFill>
                <a:srgbClr val="2E2B29"/>
              </a:solidFill>
              <a:latin typeface="Inter"/>
              <a:ea typeface="Inter"/>
            </a:endParaRPr>
          </a:p>
          <a:p>
            <a:pPr marL="0" indent="0"/>
            <a:r>
              <a:rPr lang="zh-CN" altLang="en-US" sz="1600" b="0" i="0" u="sng">
                <a:solidFill>
                  <a:srgbClr val="2E2B29"/>
                </a:solidFill>
                <a:latin typeface="Inter"/>
                <a:ea typeface="Inter"/>
              </a:rPr>
              <a:t>由此得到的形态学操作是对于微积分梯度的一种逼近。</a:t>
            </a:r>
            <a:endParaRPr lang="zh-CN" altLang="en-US" sz="1600" b="0" i="0" u="sng">
              <a:solidFill>
                <a:srgbClr val="2E2B29"/>
              </a:solidFill>
              <a:latin typeface="Inter"/>
              <a:ea typeface="Inter"/>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9" name="矩形 8"/>
          <p:cNvSpPr/>
          <p:nvPr/>
        </p:nvSpPr>
        <p:spPr>
          <a:xfrm>
            <a:off x="637540" y="1270635"/>
            <a:ext cx="430403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en-US" altLang="zh-CN" sz="3200" b="1" dirty="0" smtClean="0">
                <a:solidFill>
                  <a:srgbClr val="FFC000"/>
                </a:solidFill>
                <a:latin typeface="微软雅黑" panose="020B0503020204020204" charset="-122"/>
                <a:ea typeface="微软雅黑" panose="020B0503020204020204" charset="-122"/>
                <a:sym typeface="+mn-ea"/>
              </a:rPr>
              <a:t>OpenCV: </a:t>
            </a:r>
            <a:r>
              <a:rPr lang="zh-CN" altLang="en-US" sz="3200" b="1" dirty="0" smtClean="0">
                <a:solidFill>
                  <a:srgbClr val="FFC000"/>
                </a:solidFill>
                <a:latin typeface="微软雅黑" panose="020B0503020204020204" charset="-122"/>
                <a:ea typeface="微软雅黑" panose="020B0503020204020204" charset="-122"/>
                <a:sym typeface="+mn-ea"/>
              </a:rPr>
              <a:t>形态学</a:t>
            </a:r>
            <a:endParaRPr lang="zh-CN" altLang="en-US" sz="3200" b="1" dirty="0" smtClean="0">
              <a:solidFill>
                <a:srgbClr val="FFC000"/>
              </a:solidFill>
              <a:latin typeface="微软雅黑" panose="020B0503020204020204" charset="-122"/>
              <a:ea typeface="微软雅黑" panose="020B0503020204020204" charset="-122"/>
              <a:sym typeface="+mn-ea"/>
            </a:endParaRPr>
          </a:p>
        </p:txBody>
      </p:sp>
      <p:sp>
        <p:nvSpPr>
          <p:cNvPr id="10" name="文本框 9"/>
          <p:cNvSpPr txBox="1"/>
          <p:nvPr/>
        </p:nvSpPr>
        <p:spPr>
          <a:xfrm>
            <a:off x="876300" y="2202815"/>
            <a:ext cx="2684780" cy="368300"/>
          </a:xfrm>
          <a:prstGeom prst="rect">
            <a:avLst/>
          </a:prstGeom>
          <a:noFill/>
        </p:spPr>
        <p:txBody>
          <a:bodyPr wrap="square" rtlCol="0" anchor="t">
            <a:spAutoFit/>
          </a:bodyPr>
          <a:p>
            <a:r>
              <a:rPr lang="en-US" altLang="zh-CN" b="1">
                <a:sym typeface="+mn-ea"/>
              </a:rPr>
              <a:t>lab1_8 </a:t>
            </a:r>
            <a:r>
              <a:rPr lang="zh-CN" b="1">
                <a:sym typeface="+mn-ea"/>
              </a:rPr>
              <a:t>形态学操作</a:t>
            </a:r>
            <a:endParaRPr lang="zh-CN" b="1">
              <a:sym typeface="+mn-ea"/>
            </a:endParaRPr>
          </a:p>
        </p:txBody>
      </p:sp>
      <p:pic>
        <p:nvPicPr>
          <p:cNvPr id="11" name="图片 10" descr="binary_img"/>
          <p:cNvPicPr>
            <a:picLocks noChangeAspect="1"/>
          </p:cNvPicPr>
          <p:nvPr/>
        </p:nvPicPr>
        <p:blipFill>
          <a:blip r:embed="rId3"/>
          <a:stretch>
            <a:fillRect/>
          </a:stretch>
        </p:blipFill>
        <p:spPr>
          <a:xfrm>
            <a:off x="6147435" y="1191260"/>
            <a:ext cx="5763260" cy="3016885"/>
          </a:xfrm>
          <a:prstGeom prst="rect">
            <a:avLst/>
          </a:prstGeom>
        </p:spPr>
      </p:pic>
      <p:sp>
        <p:nvSpPr>
          <p:cNvPr id="12" name="文本框 11"/>
          <p:cNvSpPr txBox="1"/>
          <p:nvPr/>
        </p:nvSpPr>
        <p:spPr>
          <a:xfrm>
            <a:off x="876300" y="2856548"/>
            <a:ext cx="5080000" cy="2409825"/>
          </a:xfrm>
          <a:prstGeom prst="rect">
            <a:avLst/>
          </a:prstGeom>
        </p:spPr>
        <p:txBody>
          <a:bodyPr>
            <a:spAutoFit/>
          </a:bodyPr>
          <a:p>
            <a:pPr marL="0" indent="0">
              <a:spcBef>
                <a:spcPct val="0"/>
              </a:spcBef>
              <a:spcAft>
                <a:spcPts val="800"/>
              </a:spcAft>
            </a:pPr>
            <a:r>
              <a:rPr lang="zh-CN" altLang="en-US" b="0" i="0">
                <a:solidFill>
                  <a:srgbClr val="1F2328"/>
                </a:solidFill>
                <a:latin typeface="-apple-system"/>
                <a:ea typeface="-apple-system"/>
              </a:rPr>
              <a:t>对于给定的二值图片，请依次选择合适的核形状与大小，分别进行腐蚀、膨胀、开操作、闭操作、形态学梯度、顶帽和黑帽运算，输出全部结果图片，并观察各操作的效果差异。</a:t>
            </a:r>
            <a:endParaRPr lang="zh-CN" altLang="en-US" b="0" i="0">
              <a:solidFill>
                <a:srgbClr val="1F2328"/>
              </a:solidFill>
              <a:latin typeface="-apple-system"/>
              <a:ea typeface="-apple-system"/>
            </a:endParaRPr>
          </a:p>
          <a:p>
            <a:pPr marL="0" indent="0">
              <a:spcBef>
                <a:spcPct val="0"/>
              </a:spcBef>
              <a:spcAft>
                <a:spcPts val="800"/>
              </a:spcAft>
            </a:pPr>
            <a:r>
              <a:rPr lang="zh-CN" altLang="en-US" b="0" i="0">
                <a:solidFill>
                  <a:srgbClr val="1F2328"/>
                </a:solidFill>
                <a:latin typeface="-apple-system"/>
                <a:ea typeface="-apple-system"/>
              </a:rPr>
              <a:t>而后，请使用形态学操作 </a:t>
            </a:r>
            <a:r>
              <a:rPr lang="en-US" altLang="zh-CN" b="0" i="0">
                <a:solidFill>
                  <a:srgbClr val="1F2328"/>
                </a:solidFill>
                <a:latin typeface="-apple-system"/>
                <a:ea typeface="-apple-system"/>
              </a:rPr>
              <a:t>+ </a:t>
            </a:r>
            <a:r>
              <a:rPr lang="zh-CN" altLang="en-US" b="0" i="0">
                <a:solidFill>
                  <a:srgbClr val="1F2328"/>
                </a:solidFill>
                <a:latin typeface="-apple-system"/>
                <a:ea typeface="-apple-system"/>
              </a:rPr>
              <a:t>轮廓筛选（不要手动框选），精准截取出图片中的</a:t>
            </a:r>
            <a:r>
              <a:rPr lang="en-US" altLang="zh-CN" b="0" i="0">
                <a:solidFill>
                  <a:srgbClr val="1F2328"/>
                </a:solidFill>
                <a:latin typeface="-apple-system"/>
                <a:ea typeface="-apple-system"/>
              </a:rPr>
              <a:t> </a:t>
            </a:r>
            <a:r>
              <a:rPr lang="en-US" altLang="zh-CN" sz="1600" b="0" i="0">
                <a:solidFill>
                  <a:srgbClr val="1F2328"/>
                </a:solidFill>
                <a:latin typeface="Monaspace Neon"/>
                <a:ea typeface="Monaspace Neon"/>
              </a:rPr>
              <a:t>Morphology</a:t>
            </a:r>
            <a:r>
              <a:rPr lang="en-US" altLang="zh-CN" b="0" i="0">
                <a:solidFill>
                  <a:srgbClr val="1F2328"/>
                </a:solidFill>
                <a:latin typeface="-apple-system"/>
                <a:ea typeface="-apple-system"/>
              </a:rPr>
              <a:t> </a:t>
            </a:r>
            <a:r>
              <a:rPr lang="zh-CN" altLang="en-US" b="0" i="0">
                <a:solidFill>
                  <a:srgbClr val="1F2328"/>
                </a:solidFill>
                <a:latin typeface="-apple-system"/>
                <a:ea typeface="-apple-system"/>
              </a:rPr>
              <a:t>单词整体，以及其中每个单独的字母，分别保存这些图片。</a:t>
            </a:r>
            <a:endParaRPr lang="zh-CN" altLang="en-US" b="0" i="0">
              <a:solidFill>
                <a:srgbClr val="1F2328"/>
              </a:solidFill>
              <a:latin typeface="-apple-system"/>
              <a:ea typeface="-apple-system"/>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259080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边缘检测</a:t>
            </a:r>
            <a:endParaRPr lang="zh-CN" sz="3200" b="1" dirty="0" smtClean="0">
              <a:solidFill>
                <a:schemeClr val="bg1"/>
              </a:solidFill>
              <a:latin typeface="微软雅黑" panose="020B0503020204020204" charset="-122"/>
              <a:ea typeface="微软雅黑" panose="020B0503020204020204" charset="-122"/>
              <a:sym typeface="+mn-ea"/>
            </a:endParaRPr>
          </a:p>
        </p:txBody>
      </p:sp>
      <p:sp>
        <p:nvSpPr>
          <p:cNvPr id="11" name="文本框 10"/>
          <p:cNvSpPr txBox="1"/>
          <p:nvPr/>
        </p:nvSpPr>
        <p:spPr>
          <a:xfrm>
            <a:off x="1092835" y="1835150"/>
            <a:ext cx="9010015" cy="2584450"/>
          </a:xfrm>
          <a:prstGeom prst="rect">
            <a:avLst/>
          </a:prstGeom>
          <a:noFill/>
        </p:spPr>
        <p:txBody>
          <a:bodyPr wrap="square" rtlCol="0">
            <a:spAutoFit/>
          </a:bodyPr>
          <a:p>
            <a:r>
              <a:rPr lang="zh-CN" altLang="en-US"/>
              <a:t>现在，我们正在寻找一个更准确地寻找边缘的方式</a:t>
            </a:r>
            <a:r>
              <a:rPr lang="en-US" altLang="zh-CN"/>
              <a:t>: </a:t>
            </a:r>
            <a:r>
              <a:rPr lang="zh-CN" altLang="en-US"/>
              <a:t>不再用形态学梯度去逼近，而是直接计算出真实梯度。</a:t>
            </a:r>
            <a:endParaRPr lang="zh-CN" altLang="en-US"/>
          </a:p>
          <a:p>
            <a:endParaRPr lang="zh-CN" altLang="en-US"/>
          </a:p>
          <a:p>
            <a:r>
              <a:rPr lang="zh-CN" altLang="en-US"/>
              <a:t>在图像中，边缘可以看作是局部区域内像素灰度值的不连续性。从数学角度理解，灰度值的变化率在边缘处会出现显著变化。例如，在一幅黑白图像中，从黑色区域过渡到白色区域的边界处，像素灰度值会从较低值突然跃升至较高值，这个过渡区域就是边缘所在之处。</a:t>
            </a:r>
            <a:endParaRPr lang="zh-CN" altLang="en-US"/>
          </a:p>
          <a:p>
            <a:endParaRPr lang="en-US" altLang="zh-CN"/>
          </a:p>
          <a:p>
            <a:r>
              <a:rPr lang="zh-CN" altLang="en-US"/>
              <a:t>以图像像素值突变最大的方向作为边缘法线，与边缘法线垂直的就是边缘。</a:t>
            </a:r>
            <a:endParaRPr lang="zh-CN" altLang="en-US"/>
          </a:p>
        </p:txBody>
      </p:sp>
      <p:pic>
        <p:nvPicPr>
          <p:cNvPr id="13" name="图片 12"/>
          <p:cNvPicPr/>
          <p:nvPr/>
        </p:nvPicPr>
        <p:blipFill>
          <a:blip r:embed="rId3"/>
          <a:stretch>
            <a:fillRect/>
          </a:stretch>
        </p:blipFill>
        <p:spPr>
          <a:xfrm>
            <a:off x="8913495" y="4072890"/>
            <a:ext cx="2985770" cy="192278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259080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差分梯度</a:t>
            </a:r>
            <a:endParaRPr lang="zh-CN" sz="3200" b="1" dirty="0" smtClean="0">
              <a:solidFill>
                <a:schemeClr val="bg1"/>
              </a:solidFill>
              <a:latin typeface="微软雅黑" panose="020B0503020204020204" charset="-122"/>
              <a:ea typeface="微软雅黑" panose="020B0503020204020204" charset="-122"/>
              <a:sym typeface="+mn-ea"/>
            </a:endParaRPr>
          </a:p>
        </p:txBody>
      </p:sp>
      <mc:AlternateContent xmlns:mc="http://schemas.openxmlformats.org/markup-compatibility/2006">
        <mc:Choice xmlns:a14="http://schemas.microsoft.com/office/drawing/2010/main" Requires="a14">
          <p:sp>
            <p:nvSpPr>
              <p:cNvPr id="11" name="文本框 10"/>
              <p:cNvSpPr txBox="1"/>
              <p:nvPr/>
            </p:nvSpPr>
            <p:spPr>
              <a:xfrm>
                <a:off x="828040" y="2136775"/>
                <a:ext cx="9010015" cy="2160905"/>
              </a:xfrm>
              <a:prstGeom prst="rect">
                <a:avLst/>
              </a:prstGeom>
              <a:noFill/>
            </p:spPr>
            <p:txBody>
              <a:bodyPr wrap="square" rtlCol="0">
                <a:noAutofit/>
              </a:bodyPr>
              <a:p>
                <a:r>
                  <a:rPr lang="zh-CN" altLang="en-US"/>
                  <a:t>这种</a:t>
                </a:r>
                <a:r>
                  <a:rPr lang="en-US" altLang="zh-CN"/>
                  <a:t>“</a:t>
                </a:r>
                <a:r>
                  <a:rPr lang="zh-CN" altLang="en-US"/>
                  <a:t>灰度值的变化率</a:t>
                </a:r>
                <a:r>
                  <a:rPr lang="en-US" altLang="zh-CN"/>
                  <a:t>”</a:t>
                </a:r>
                <a:r>
                  <a:rPr lang="zh-CN" altLang="en-US"/>
                  <a:t>，在连续域中，可以使用导数计算</a:t>
                </a:r>
                <a:r>
                  <a:rPr lang="en-US" altLang="zh-CN"/>
                  <a:t>:</a:t>
                </a:r>
                <a:endParaRPr lang="en-US" altLang="zh-CN"/>
              </a:p>
              <a:p>
                <a:endParaRPr lang="en-US" altLang="zh-CN"/>
              </a:p>
              <a:p>
                <a:endParaRPr lang="zh-CN"/>
              </a:p>
              <a:p>
                <a:r>
                  <a:rPr lang="zh-CN" altLang="en-US"/>
                  <a:t>在离散图像中，最小步长为</a:t>
                </a:r>
                <a:r>
                  <a:rPr lang="en-US" altLang="zh-CN"/>
                  <a:t> 1 </a:t>
                </a:r>
                <a:r>
                  <a:rPr lang="zh-CN" altLang="en-US"/>
                  <a:t>个像素，因此差分近似为：</a:t>
                </a:r>
                <a:endParaRPr lang="zh-CN" altLang="en-US"/>
              </a:p>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                                                     </m:t>
                      </m:r>
                    </m:oMath>
                  </m:oMathPara>
                </a14:m>
                <a:endParaRPr lang="en-US" altLang="zh-CN" i="1">
                  <a:latin typeface="Cambria Math" panose="02040503050406030204" charset="0"/>
                  <a:cs typeface="Cambria Math" panose="02040503050406030204" charset="0"/>
                </a:endParaRPr>
              </a:p>
              <a:p>
                <a:endParaRPr lang="en-US" altLang="zh-CN" i="1">
                  <a:latin typeface="Cambria Math" panose="02040503050406030204" charset="0"/>
                  <a:cs typeface="Cambria Math" panose="02040503050406030204" charset="0"/>
                </a:endParaRPr>
              </a:p>
              <a:p>
                <a:endParaRPr lang="en-US" altLang="zh-CN" i="1">
                  <a:latin typeface="Cambria Math" panose="02040503050406030204" charset="0"/>
                  <a:cs typeface="Cambria Math" panose="02040503050406030204" charset="0"/>
                </a:endParaRPr>
              </a:p>
              <a:p>
                <a:endParaRPr lang="en-US" altLang="zh-CN"/>
              </a:p>
            </p:txBody>
          </p:sp>
        </mc:Choice>
        <mc:Fallback>
          <p:sp>
            <p:nvSpPr>
              <p:cNvPr id="11" name="文本框 10"/>
              <p:cNvSpPr txBox="1">
                <a:spLocks noRot="1" noChangeAspect="1" noMove="1" noResize="1" noEditPoints="1" noAdjustHandles="1" noChangeArrowheads="1" noChangeShapeType="1" noTextEdit="1"/>
              </p:cNvSpPr>
              <p:nvPr/>
            </p:nvSpPr>
            <p:spPr>
              <a:xfrm>
                <a:off x="828040" y="2136775"/>
                <a:ext cx="9010015" cy="2160905"/>
              </a:xfrm>
              <a:prstGeom prst="rect">
                <a:avLst/>
              </a:prstGeom>
              <a:blipFill rotWithShape="1">
                <a:blip r:embed="rId3"/>
                <a:stretch>
                  <a:fillRect b="-367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7118985" y="2938145"/>
                <a:ext cx="4032885" cy="1583690"/>
              </a:xfrm>
              <a:prstGeom prst="rect">
                <a:avLst/>
              </a:prstGeom>
              <a:noFill/>
            </p:spPr>
            <p:txBody>
              <a:bodyPr wrap="square" rtlCol="0" anchor="t">
                <a:noAutofit/>
              </a:bodyPr>
              <a:p>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𝑓</m:t>
                          </m:r>
                        </m:num>
                        <m:den>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den>
                      </m:f>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𝑓</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𝑓</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   </m:t>
                      </m:r>
                      <m:r>
                        <a:rPr lang="en-US" altLang="zh-CN">
                          <a:latin typeface="Cambria Math" panose="02040503050406030204" charset="0"/>
                          <a:cs typeface="Cambria Math" panose="02040503050406030204" charset="0"/>
                        </a:rPr>
                        <m:t>(前向差分)</m:t>
                      </m:r>
                    </m:oMath>
                  </m:oMathPara>
                </a14:m>
                <a:endParaRPr lang="en-US" altLang="zh-CN">
                  <a:latin typeface="Cambria Math" panose="02040503050406030204" charset="0"/>
                  <a:cs typeface="Cambria Math" panose="02040503050406030204" charset="0"/>
                </a:endParaRPr>
              </a:p>
              <a:p>
                <a:r>
                  <a:rPr lang="en-US" altLang="zh-CN">
                    <a:sym typeface="+mn-ea"/>
                  </a:rPr>
                  <a:t> </a:t>
                </a:r>
                <a14:m>
                  <m:oMath xmlns:m="http://schemas.openxmlformats.org/officeDocument/2006/math">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𝑓</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𝑓</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 </m:t>
                    </m:r>
                  </m:oMath>
                </a14:m>
                <a:r>
                  <a:rPr lang="en-US" altLang="zh-CN">
                    <a:sym typeface="+mn-ea"/>
                  </a:rPr>
                  <a:t> </a:t>
                </a:r>
                <a14:m>
                  <m:oMath xmlns:m="http://schemas.openxmlformats.org/officeDocument/2006/math">
                    <m:r>
                      <a:rPr lang="en-US" altLang="zh-CN">
                        <a:latin typeface="Cambria Math" panose="02040503050406030204" charset="0"/>
                        <a:cs typeface="Cambria Math" panose="02040503050406030204" charset="0"/>
                      </a:rPr>
                      <m:t>(</m:t>
                    </m:r>
                    <m:r>
                      <a:rPr lang="en-US" altLang="zh-CN">
                        <a:latin typeface="Cambria Math" panose="02040503050406030204" charset="0"/>
                        <a:cs typeface="Cambria Math" panose="02040503050406030204" charset="0"/>
                      </a:rPr>
                      <m:t>后</m:t>
                    </m:r>
                    <m:r>
                      <a:rPr lang="en-US" altLang="zh-CN">
                        <a:latin typeface="Cambria Math" panose="02040503050406030204" charset="0"/>
                        <a:cs typeface="Cambria Math" panose="02040503050406030204" charset="0"/>
                      </a:rPr>
                      <m:t>向差分)</m:t>
                    </m:r>
                  </m:oMath>
                </a14:m>
                <a:endParaRPr lang="en-US" altLang="zh-CN">
                  <a:latin typeface="Cambria Math" panose="02040503050406030204" charset="0"/>
                  <a:cs typeface="Cambria Math" panose="02040503050406030204" charset="0"/>
                </a:endParaRPr>
              </a:p>
              <a:p>
                <a:endParaRPr lang="en-US" altLang="zh-CN">
                  <a:latin typeface="Cambria Math" panose="02040503050406030204" charset="0"/>
                  <a:cs typeface="Cambria Math" panose="02040503050406030204" charset="0"/>
                </a:endParaRPr>
              </a:p>
              <a:p>
                <a:r>
                  <a:rPr lang="en-US" altLang="zh-CN">
                    <a:sym typeface="+mn-ea"/>
                  </a:rPr>
                  <a:t>       </a:t>
                </a:r>
                <a14:m>
                  <m:oMath xmlns:m="http://schemas.openxmlformats.org/officeDocument/2006/math">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𝑓</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𝑓</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num>
                      <m:den>
                        <m:r>
                          <a:rPr lang="en-US" altLang="zh-CN" i="1">
                            <a:latin typeface="Cambria Math" panose="02040503050406030204" charset="0"/>
                            <a:cs typeface="Cambria Math" panose="02040503050406030204" charset="0"/>
                          </a:rPr>
                          <m:t>2</m:t>
                        </m:r>
                      </m:den>
                    </m:f>
                  </m:oMath>
                </a14:m>
                <a:r>
                  <a:rPr lang="en-US" altLang="zh-CN">
                    <a:sym typeface="+mn-ea"/>
                  </a:rPr>
                  <a:t> </a:t>
                </a:r>
                <a14:m>
                  <m:oMath xmlns:m="http://schemas.openxmlformats.org/officeDocument/2006/math">
                    <m:r>
                      <a:rPr lang="en-US" altLang="zh-CN">
                        <a:latin typeface="Cambria Math" panose="02040503050406030204" charset="0"/>
                        <a:cs typeface="Cambria Math" panose="02040503050406030204" charset="0"/>
                      </a:rPr>
                      <m:t>    </m:t>
                    </m:r>
                    <m:r>
                      <a:rPr lang="en-US" altLang="zh-CN">
                        <a:latin typeface="Cambria Math" panose="02040503050406030204" charset="0"/>
                        <a:cs typeface="Cambria Math" panose="02040503050406030204" charset="0"/>
                      </a:rPr>
                      <m:t>(</m:t>
                    </m:r>
                    <m:r>
                      <a:rPr lang="en-US" altLang="zh-CN">
                        <a:latin typeface="Cambria Math" panose="02040503050406030204" charset="0"/>
                        <a:cs typeface="Cambria Math" panose="02040503050406030204" charset="0"/>
                      </a:rPr>
                      <m:t>中心</m:t>
                    </m:r>
                    <m:r>
                      <a:rPr lang="en-US" altLang="zh-CN">
                        <a:latin typeface="Cambria Math" panose="02040503050406030204" charset="0"/>
                        <a:cs typeface="Cambria Math" panose="02040503050406030204" charset="0"/>
                      </a:rPr>
                      <m:t>差分</m:t>
                    </m:r>
                    <m:r>
                      <a:rPr lang="en-US" altLang="zh-CN">
                        <a:latin typeface="Cambria Math" panose="02040503050406030204" charset="0"/>
                        <a:cs typeface="Cambria Math" panose="02040503050406030204" charset="0"/>
                      </a:rPr>
                      <m:t> </m:t>
                    </m:r>
                    <m:r>
                      <a:rPr lang="en-US" altLang="zh-CN">
                        <a:latin typeface="Cambria Math" panose="02040503050406030204" charset="0"/>
                        <a:cs typeface="Cambria Math" panose="02040503050406030204" charset="0"/>
                      </a:rPr>
                      <m:t>)</m:t>
                    </m:r>
                  </m:oMath>
                </a14:m>
                <a:endParaRPr lang="en-US" altLang="zh-CN">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7118985" y="2938145"/>
                <a:ext cx="4032885" cy="158369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7038276" y="2054479"/>
                <a:ext cx="3323590" cy="61341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𝑑𝑓</m:t>
                          </m:r>
                        </m:num>
                        <m:den>
                          <m:r>
                            <a:rPr lang="en-US" altLang="zh-CN" i="1">
                              <a:latin typeface="Cambria Math" panose="02040503050406030204" charset="0"/>
                              <a:cs typeface="Cambria Math" panose="02040503050406030204" charset="0"/>
                            </a:rPr>
                            <m:t>𝑑𝑥</m:t>
                          </m:r>
                        </m:den>
                      </m:f>
                      <m:r>
                        <a:rPr lang="en-US" altLang="zh-CN" i="1">
                          <a:latin typeface="Cambria Math" panose="02040503050406030204" charset="0"/>
                          <a:cs typeface="Cambria Math" panose="02040503050406030204" charset="0"/>
                        </a:rPr>
                        <m:t> = </m:t>
                      </m:r>
                      <m:func>
                        <m:funcPr>
                          <m:ctrlPr>
                            <a:rPr lang="en-US" altLang="zh-CN" i="1">
                              <a:latin typeface="Cambria Math" panose="02040503050406030204" charset="0"/>
                              <a:cs typeface="Cambria Math" panose="02040503050406030204" charset="0"/>
                            </a:rPr>
                          </m:ctrlPr>
                        </m:funcPr>
                        <m:fName>
                          <m:limLow>
                            <m:limLowPr>
                              <m:ctrlPr>
                                <a:rPr lang="en-US" altLang="zh-CN">
                                  <a:latin typeface="Cambria Math" panose="02040503050406030204" charset="0"/>
                                  <a:cs typeface="Cambria Math" panose="02040503050406030204" charset="0"/>
                                </a:rPr>
                              </m:ctrlPr>
                            </m:limLowPr>
                            <m:e>
                              <m:r>
                                <m:rPr>
                                  <m:sty m:val="p"/>
                                </m:rPr>
                                <a:rPr lang="en-US" altLang="zh-CN">
                                  <a:latin typeface="Cambria Math" panose="02040503050406030204" charset="0"/>
                                  <a:cs typeface="Cambria Math" panose="02040503050406030204" charset="0"/>
                                </a:rPr>
                                <m:t>lim</m:t>
                              </m:r>
                            </m:e>
                            <m:lim>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lim>
                          </m:limLow>
                        </m:fName>
                        <m:e>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𝑓</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𝑓</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 </m:t>
                              </m:r>
                            </m:num>
                            <m:den>
                              <m:r>
                                <a:rPr lang="en-US" altLang="zh-CN" i="1">
                                  <a:latin typeface="Cambria Math" panose="02040503050406030204" charset="0"/>
                                  <a:cs typeface="Cambria Math" panose="02040503050406030204" charset="0"/>
                                </a:rPr>
                                <m:t>ℎ</m:t>
                              </m:r>
                            </m:den>
                          </m:f>
                        </m:e>
                      </m:func>
                    </m:oMath>
                  </m:oMathPara>
                </a14:m>
                <a:endParaRPr lang="zh-CN" altLang="en-US"/>
              </a:p>
            </p:txBody>
          </p:sp>
        </mc:Choice>
        <mc:Fallback>
          <p:sp>
            <p:nvSpPr>
              <p:cNvPr id="9" name="文本框 8"/>
              <p:cNvSpPr txBox="1">
                <a:spLocks noRot="1" noChangeAspect="1" noMove="1" noResize="1" noEditPoints="1" noAdjustHandles="1" noChangeArrowheads="1" noChangeShapeType="1" noTextEdit="1"/>
              </p:cNvSpPr>
              <p:nvPr/>
            </p:nvSpPr>
            <p:spPr>
              <a:xfrm>
                <a:off x="7038276" y="2054479"/>
                <a:ext cx="3323590" cy="613410"/>
              </a:xfrm>
              <a:prstGeom prst="rect">
                <a:avLst/>
              </a:prstGeom>
              <a:blipFill rotWithShape="1">
                <a:blip r:embed="rId5"/>
                <a:stretch>
                  <a:fillRect l="-17" t="-41" r="17" b="41"/>
                </a:stretch>
              </a:blipFill>
            </p:spPr>
            <p:txBody>
              <a:bodyPr/>
              <a:lstStyle/>
              <a:p>
                <a:r>
                  <a:rPr lang="zh-CN" altLang="en-US">
                    <a:noFill/>
                  </a:rPr>
                  <a:t> </a:t>
                </a:r>
              </a:p>
            </p:txBody>
          </p:sp>
        </mc:Fallback>
      </mc:AlternateContent>
      <p:sp>
        <p:nvSpPr>
          <p:cNvPr id="5" name="文本框 4"/>
          <p:cNvSpPr txBox="1"/>
          <p:nvPr/>
        </p:nvSpPr>
        <p:spPr>
          <a:xfrm>
            <a:off x="909955" y="4858385"/>
            <a:ext cx="7687945" cy="368300"/>
          </a:xfrm>
          <a:prstGeom prst="rect">
            <a:avLst/>
          </a:prstGeom>
          <a:noFill/>
        </p:spPr>
        <p:txBody>
          <a:bodyPr wrap="square" rtlCol="0">
            <a:spAutoFit/>
          </a:bodyPr>
          <a:p>
            <a:r>
              <a:rPr lang="zh-CN" altLang="en-US"/>
              <a:t>有趣的是，这个形式恰好契合了线性卷积的计算方式。</a:t>
            </a:r>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259080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线性卷积</a:t>
            </a:r>
            <a:endParaRPr lang="zh-CN" sz="3200" b="1" dirty="0" smtClean="0">
              <a:solidFill>
                <a:schemeClr val="bg1"/>
              </a:solidFill>
              <a:latin typeface="微软雅黑" panose="020B0503020204020204" charset="-122"/>
              <a:ea typeface="微软雅黑" panose="020B0503020204020204" charset="-122"/>
              <a:sym typeface="+mn-ea"/>
            </a:endParaRPr>
          </a:p>
        </p:txBody>
      </p:sp>
      <mc:AlternateContent xmlns:mc="http://schemas.openxmlformats.org/markup-compatibility/2006">
        <mc:Choice xmlns:a14="http://schemas.microsoft.com/office/drawing/2010/main" Requires="a14">
          <p:sp>
            <p:nvSpPr>
              <p:cNvPr id="3" name="文本框 2"/>
              <p:cNvSpPr txBox="1"/>
              <p:nvPr/>
            </p:nvSpPr>
            <p:spPr>
              <a:xfrm>
                <a:off x="2625090" y="1913255"/>
                <a:ext cx="4624705" cy="984250"/>
              </a:xfrm>
              <a:prstGeom prst="rect">
                <a:avLst/>
              </a:prstGeom>
              <a:noFill/>
            </p:spPr>
            <p:txBody>
              <a:bodyPr wrap="square" rtlCol="0" anchor="t">
                <a:no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𝑓</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𝑔</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𝑡</m:t>
                      </m:r>
                      <m:r>
                        <a:rPr lang="en-US" altLang="zh-CN" i="1">
                          <a:latin typeface="Cambria Math" panose="02040503050406030204" charset="0"/>
                          <a:cs typeface="Cambria Math" panose="02040503050406030204" charset="0"/>
                        </a:rPr>
                        <m:t>) = </m:t>
                      </m:r>
                      <m:nary>
                        <m:naryPr>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sub>
                        <m:sup>
                          <m:r>
                            <a:rPr lang="en-US" altLang="zh-CN" i="1">
                              <a:latin typeface="Cambria Math" panose="02040503050406030204" charset="0"/>
                              <a:cs typeface="Cambria Math" panose="02040503050406030204" charset="0"/>
                            </a:rPr>
                            <m:t>+∞</m:t>
                          </m:r>
                        </m:sup>
                        <m:e>
                          <m:r>
                            <a:rPr lang="en-US" altLang="zh-CN" i="1">
                              <a:latin typeface="Cambria Math" panose="02040503050406030204" charset="0"/>
                              <a:cs typeface="Cambria Math" panose="02040503050406030204" charset="0"/>
                            </a:rPr>
                            <m:t>𝑓</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𝜏</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𝑔</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𝑡</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𝜏</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𝑑</m:t>
                          </m:r>
                          <m:r>
                            <a:rPr lang="en-US" altLang="zh-CN" i="1">
                              <a:latin typeface="Cambria Math" panose="02040503050406030204" charset="0"/>
                              <a:cs typeface="Cambria Math" panose="02040503050406030204" charset="0"/>
                            </a:rPr>
                            <m:t>𝜏</m:t>
                          </m:r>
                        </m:e>
                      </m:nary>
                    </m:oMath>
                  </m:oMathPara>
                </a14:m>
                <a:endParaRPr lang="en-US" altLang="zh-CN" i="1">
                  <a:latin typeface="Cambria Math" panose="02040503050406030204" charset="0"/>
                  <a:cs typeface="Cambria Math" panose="02040503050406030204" charset="0"/>
                </a:endParaRPr>
              </a:p>
              <a:p>
                <a:pPr algn="l"/>
                <a:endParaRPr lang="en-US" altLang="zh-CN"/>
              </a:p>
            </p:txBody>
          </p:sp>
        </mc:Choice>
        <mc:Fallback>
          <p:sp>
            <p:nvSpPr>
              <p:cNvPr id="3" name="文本框 2"/>
              <p:cNvSpPr txBox="1">
                <a:spLocks noRot="1" noChangeAspect="1" noMove="1" noResize="1" noEditPoints="1" noAdjustHandles="1" noChangeArrowheads="1" noChangeShapeType="1" noTextEdit="1"/>
              </p:cNvSpPr>
              <p:nvPr/>
            </p:nvSpPr>
            <p:spPr>
              <a:xfrm>
                <a:off x="2625090" y="1913255"/>
                <a:ext cx="4624705" cy="984250"/>
              </a:xfrm>
              <a:prstGeom prst="rect">
                <a:avLst/>
              </a:prstGeom>
              <a:blipFill rotWithShape="1">
                <a:blip r:embed="rId3"/>
                <a:stretch>
                  <a:fillRect b="-13097"/>
                </a:stretch>
              </a:blipFill>
            </p:spPr>
            <p:txBody>
              <a:bodyPr/>
              <a:lstStyle/>
              <a:p>
                <a:r>
                  <a:rPr lang="zh-CN" altLang="en-US">
                    <a:noFill/>
                  </a:rPr>
                  <a:t> </a:t>
                </a:r>
              </a:p>
            </p:txBody>
          </p:sp>
        </mc:Fallback>
      </mc:AlternateContent>
      <p:sp>
        <p:nvSpPr>
          <p:cNvPr id="5" name="文本框 4"/>
          <p:cNvSpPr txBox="1"/>
          <p:nvPr/>
        </p:nvSpPr>
        <p:spPr>
          <a:xfrm>
            <a:off x="974090" y="2086610"/>
            <a:ext cx="6470015" cy="2306955"/>
          </a:xfrm>
          <a:prstGeom prst="rect">
            <a:avLst/>
          </a:prstGeom>
          <a:noFill/>
        </p:spPr>
        <p:txBody>
          <a:bodyPr wrap="square" rtlCol="0">
            <a:spAutoFit/>
          </a:bodyPr>
          <a:p>
            <a:r>
              <a:rPr lang="zh-CN" altLang="en-US"/>
              <a:t>连续形式</a:t>
            </a:r>
            <a:r>
              <a:rPr lang="en-US" altLang="zh-CN"/>
              <a:t>:</a:t>
            </a:r>
            <a:endParaRPr lang="en-US" altLang="zh-CN"/>
          </a:p>
          <a:p>
            <a:endParaRPr lang="en-US" altLang="zh-CN"/>
          </a:p>
          <a:p>
            <a:endParaRPr lang="en-US" altLang="zh-CN"/>
          </a:p>
          <a:p>
            <a:endParaRPr lang="en-US" altLang="zh-CN"/>
          </a:p>
          <a:p>
            <a:r>
              <a:rPr lang="zh-CN" altLang="en-US"/>
              <a:t>离散形式：</a:t>
            </a:r>
            <a:endParaRPr lang="zh-CN" altLang="en-US"/>
          </a:p>
          <a:p>
            <a:endParaRPr lang="zh-CN" altLang="en-US"/>
          </a:p>
          <a:p>
            <a:endParaRPr lang="zh-CN" altLang="en-US"/>
          </a:p>
          <a:p>
            <a:r>
              <a:rPr lang="zh-CN" altLang="en-US"/>
              <a:t>二维离散形式</a:t>
            </a:r>
            <a:r>
              <a:rPr lang="en-US" altLang="zh-CN"/>
              <a:t>:</a:t>
            </a:r>
            <a:endParaRPr lang="en-US" altLang="zh-CN"/>
          </a:p>
        </p:txBody>
      </p:sp>
      <mc:AlternateContent xmlns:mc="http://schemas.openxmlformats.org/markup-compatibility/2006">
        <mc:Choice xmlns:a14="http://schemas.microsoft.com/office/drawing/2010/main" Requires="a14">
          <p:sp>
            <p:nvSpPr>
              <p:cNvPr id="10" name="文本框 9"/>
              <p:cNvSpPr txBox="1"/>
              <p:nvPr/>
            </p:nvSpPr>
            <p:spPr>
              <a:xfrm>
                <a:off x="3127946" y="3073654"/>
                <a:ext cx="3397250" cy="71183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𝑓</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 = </m:t>
                      </m:r>
                      <m:nary>
                        <m:naryPr>
                          <m:chr m:val="∑"/>
                          <m:limLoc m:val="undOvr"/>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𝑘</m:t>
                          </m:r>
                        </m:sub>
                        <m:sup/>
                        <m:e>
                          <m:r>
                            <a:rPr lang="en-US" altLang="zh-CN" i="1">
                              <a:latin typeface="Cambria Math" panose="02040503050406030204" charset="0"/>
                              <a:cs typeface="Cambria Math" panose="02040503050406030204" charset="0"/>
                            </a:rPr>
                            <m:t>𝑓</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e>
                      </m:nary>
                    </m:oMath>
                  </m:oMathPara>
                </a14:m>
                <a:endParaRPr lang="zh-CN" altLang="en-US"/>
              </a:p>
            </p:txBody>
          </p:sp>
        </mc:Choice>
        <mc:Fallback>
          <p:sp>
            <p:nvSpPr>
              <p:cNvPr id="10" name="文本框 9"/>
              <p:cNvSpPr txBox="1">
                <a:spLocks noRot="1" noChangeAspect="1" noMove="1" noResize="1" noEditPoints="1" noAdjustHandles="1" noChangeArrowheads="1" noChangeShapeType="1" noTextEdit="1"/>
              </p:cNvSpPr>
              <p:nvPr/>
            </p:nvSpPr>
            <p:spPr>
              <a:xfrm>
                <a:off x="3127946" y="3073654"/>
                <a:ext cx="3397250" cy="711835"/>
              </a:xfrm>
              <a:prstGeom prst="rect">
                <a:avLst/>
              </a:prstGeom>
              <a:blipFill rotWithShape="1">
                <a:blip r:embed="rId4"/>
                <a:stretch>
                  <a:fillRect l="-17" t="-36" r="17" b="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3091116" y="3961384"/>
                <a:ext cx="4806315" cy="67437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𝐼</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𝐾</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 =</m:t>
                      </m:r>
                      <m:nary>
                        <m:naryPr>
                          <m:chr m:val="∑"/>
                          <m:limLoc m:val="undOvr"/>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𝑚</m:t>
                          </m:r>
                        </m:sub>
                        <m:sup/>
                        <m:e>
                          <m:nary>
                            <m:naryPr>
                              <m:chr m:val="∑"/>
                              <m:limLoc m:val="undOvr"/>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𝑛</m:t>
                              </m:r>
                            </m:sub>
                            <m:sup/>
                            <m:e>
                              <m:r>
                                <a:rPr lang="en-US" altLang="zh-CN" i="1">
                                  <a:latin typeface="Cambria Math" panose="02040503050406030204" charset="0"/>
                                  <a:cs typeface="Cambria Math" panose="02040503050406030204" charset="0"/>
                                </a:rPr>
                                <m:t>𝐼</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𝐾</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e>
                          </m:nary>
                        </m:e>
                      </m:nary>
                      <m:r>
                        <a:rPr lang="en-US" altLang="zh-CN" i="1">
                          <a:latin typeface="Cambria Math" panose="02040503050406030204" charset="0"/>
                          <a:cs typeface="Cambria Math" panose="02040503050406030204" charset="0"/>
                        </a:rPr>
                        <m:t> </m:t>
                      </m:r>
                    </m:oMath>
                  </m:oMathPara>
                </a14:m>
                <a:endParaRPr lang="en-US" altLang="zh-CN"/>
              </a:p>
            </p:txBody>
          </p:sp>
        </mc:Choice>
        <mc:Fallback>
          <p:sp>
            <p:nvSpPr>
              <p:cNvPr id="12" name="文本框 11"/>
              <p:cNvSpPr txBox="1">
                <a:spLocks noRot="1" noChangeAspect="1" noMove="1" noResize="1" noEditPoints="1" noAdjustHandles="1" noChangeArrowheads="1" noChangeShapeType="1" noTextEdit="1"/>
              </p:cNvSpPr>
              <p:nvPr/>
            </p:nvSpPr>
            <p:spPr>
              <a:xfrm>
                <a:off x="3091116" y="3961384"/>
                <a:ext cx="4806315" cy="674370"/>
              </a:xfrm>
              <a:prstGeom prst="rect">
                <a:avLst/>
              </a:prstGeom>
              <a:blipFill rotWithShape="1">
                <a:blip r:embed="rId5"/>
                <a:stretch>
                  <a:fillRect l="-12" t="-38" r="12" b="38"/>
                </a:stretch>
              </a:blipFill>
            </p:spPr>
            <p:txBody>
              <a:bodyPr/>
              <a:lstStyle/>
              <a:p>
                <a:r>
                  <a:rPr lang="zh-CN" altLang="en-US">
                    <a:noFill/>
                  </a:rPr>
                  <a:t> </a:t>
                </a:r>
              </a:p>
            </p:txBody>
          </p:sp>
        </mc:Fallback>
      </mc:AlternateContent>
      <p:sp>
        <p:nvSpPr>
          <p:cNvPr id="13" name="文本框 12"/>
          <p:cNvSpPr txBox="1"/>
          <p:nvPr/>
        </p:nvSpPr>
        <p:spPr>
          <a:xfrm>
            <a:off x="8256905" y="4056380"/>
            <a:ext cx="3227705" cy="337185"/>
          </a:xfrm>
          <a:prstGeom prst="rect">
            <a:avLst/>
          </a:prstGeom>
        </p:spPr>
        <p:txBody>
          <a:bodyPr wrap="square">
            <a:spAutoFit/>
          </a:bodyPr>
          <a:p>
            <a:pPr marL="0" indent="0"/>
            <a:r>
              <a:rPr lang="zh-CN" altLang="en-US" sz="1600" b="0" i="0">
                <a:solidFill>
                  <a:srgbClr val="2E2B29"/>
                </a:solidFill>
                <a:latin typeface="微软雅黑" panose="020B0503020204020204" charset="-122"/>
                <a:ea typeface="微软雅黑" panose="020B0503020204020204" charset="-122"/>
                <a:cs typeface="微软雅黑" panose="020B0503020204020204" charset="-122"/>
              </a:rPr>
              <a:t>其中</a:t>
            </a:r>
            <a:r>
              <a:rPr lang="en-US" altLang="zh-CN" sz="1600" b="0" i="0">
                <a:solidFill>
                  <a:srgbClr val="2E2B29"/>
                </a:solidFill>
                <a:latin typeface="微软雅黑" panose="020B0503020204020204" charset="-122"/>
                <a:ea typeface="微软雅黑" panose="020B0503020204020204" charset="-122"/>
                <a:cs typeface="微软雅黑" panose="020B0503020204020204" charset="-122"/>
              </a:rPr>
              <a:t> I </a:t>
            </a:r>
            <a:r>
              <a:rPr lang="zh-CN" altLang="en-US" sz="1600" b="0" i="0">
                <a:solidFill>
                  <a:srgbClr val="2E2B29"/>
                </a:solidFill>
                <a:latin typeface="微软雅黑" panose="020B0503020204020204" charset="-122"/>
                <a:ea typeface="微软雅黑" panose="020B0503020204020204" charset="-122"/>
                <a:cs typeface="微软雅黑" panose="020B0503020204020204" charset="-122"/>
              </a:rPr>
              <a:t>是输入图像，</a:t>
            </a:r>
            <a:r>
              <a:rPr lang="en-US" altLang="zh-CN" sz="1600" b="0" i="0">
                <a:solidFill>
                  <a:srgbClr val="2E2B29"/>
                </a:solidFill>
                <a:latin typeface="微软雅黑" panose="020B0503020204020204" charset="-122"/>
                <a:ea typeface="微软雅黑" panose="020B0503020204020204" charset="-122"/>
                <a:cs typeface="微软雅黑" panose="020B0503020204020204" charset="-122"/>
              </a:rPr>
              <a:t>K </a:t>
            </a:r>
            <a:r>
              <a:rPr lang="zh-CN" altLang="en-US" sz="1600" b="0" i="0">
                <a:solidFill>
                  <a:srgbClr val="2E2B29"/>
                </a:solidFill>
                <a:latin typeface="微软雅黑" panose="020B0503020204020204" charset="-122"/>
                <a:ea typeface="微软雅黑" panose="020B0503020204020204" charset="-122"/>
                <a:cs typeface="微软雅黑" panose="020B0503020204020204" charset="-122"/>
              </a:rPr>
              <a:t>是卷积核。</a:t>
            </a:r>
            <a:endParaRPr lang="zh-CN" altLang="en-US" sz="1600" b="0" i="0">
              <a:solidFill>
                <a:srgbClr val="2E2B29"/>
              </a:solidFill>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nvSpPr>
        <p:spPr>
          <a:xfrm>
            <a:off x="1645920" y="5023485"/>
            <a:ext cx="7379335" cy="829945"/>
          </a:xfrm>
          <a:prstGeom prst="rect">
            <a:avLst/>
          </a:prstGeom>
        </p:spPr>
        <p:txBody>
          <a:bodyPr wrap="square">
            <a:spAutoFit/>
          </a:bodyPr>
          <a:p>
            <a:pPr marL="0" indent="0"/>
            <a:r>
              <a:rPr lang="zh-CN" altLang="en-US" sz="1600" b="0" i="1">
                <a:solidFill>
                  <a:srgbClr val="67625B"/>
                </a:solidFill>
                <a:latin typeface="Inter"/>
                <a:ea typeface="Inter"/>
              </a:rPr>
              <a:t>严格的卷积需要将核翻转（</a:t>
            </a:r>
            <a:r>
              <a:rPr lang="en-US" altLang="zh-CN" sz="1600" b="0" i="1">
                <a:solidFill>
                  <a:srgbClr val="67625B"/>
                </a:solidFill>
                <a:latin typeface="Inter"/>
                <a:ea typeface="Inter"/>
              </a:rPr>
              <a:t>flip</a:t>
            </a:r>
            <a:r>
              <a:rPr lang="zh-CN" altLang="en-US" sz="1600" b="0" i="1">
                <a:solidFill>
                  <a:srgbClr val="67625B"/>
                </a:solidFill>
                <a:latin typeface="Inter"/>
                <a:ea typeface="Inter"/>
              </a:rPr>
              <a:t>）后再滑动求和。在图像处理中，很多时候实际执行的是互相关（</a:t>
            </a:r>
            <a:r>
              <a:rPr lang="en-US" altLang="zh-CN" sz="1600" b="0" i="1">
                <a:solidFill>
                  <a:srgbClr val="67625B"/>
                </a:solidFill>
                <a:latin typeface="Inter"/>
                <a:ea typeface="Inter"/>
              </a:rPr>
              <a:t>cross-correlation</a:t>
            </a:r>
            <a:r>
              <a:rPr lang="zh-CN" altLang="en-US" sz="1600" b="0" i="1">
                <a:solidFill>
                  <a:srgbClr val="67625B"/>
                </a:solidFill>
                <a:latin typeface="Inter"/>
                <a:ea typeface="Inter"/>
              </a:rPr>
              <a:t>），即不翻转核。当核是中心对称的时，二者结果一致。</a:t>
            </a:r>
            <a:endParaRPr lang="zh-CN" altLang="en-US" sz="1600" b="0" i="1">
              <a:solidFill>
                <a:srgbClr val="67625B"/>
              </a:solidFill>
              <a:latin typeface="Inter"/>
              <a:ea typeface="Inter"/>
            </a:endParaRPr>
          </a:p>
        </p:txBody>
      </p:sp>
      <mc:AlternateContent xmlns:mc="http://schemas.openxmlformats.org/markup-compatibility/2006">
        <mc:Choice xmlns:a14="http://schemas.microsoft.com/office/drawing/2010/main" Requires="a14">
          <p:sp>
            <p:nvSpPr>
              <p:cNvPr id="9" name="文本框 8"/>
              <p:cNvSpPr txBox="1"/>
              <p:nvPr/>
            </p:nvSpPr>
            <p:spPr>
              <a:xfrm>
                <a:off x="2700020" y="5699125"/>
                <a:ext cx="6096000" cy="67437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𝐼</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𝐾</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 =</m:t>
                      </m:r>
                      <m:nary>
                        <m:naryPr>
                          <m:chr m:val="∑"/>
                          <m:limLoc m:val="undOvr"/>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𝑚</m:t>
                          </m:r>
                        </m:sub>
                        <m:sup/>
                        <m:e>
                          <m:nary>
                            <m:naryPr>
                              <m:chr m:val="∑"/>
                              <m:limLoc m:val="undOvr"/>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𝑛</m:t>
                              </m:r>
                            </m:sub>
                            <m:sup/>
                            <m:e>
                              <m:r>
                                <a:rPr lang="en-US" altLang="zh-CN" i="1">
                                  <a:latin typeface="Cambria Math" panose="02040503050406030204" charset="0"/>
                                  <a:cs typeface="Cambria Math" panose="02040503050406030204" charset="0"/>
                                </a:rPr>
                                <m:t>𝐼</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𝐾</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e>
                          </m:nary>
                        </m:e>
                      </m:nary>
                      <m:r>
                        <a:rPr lang="en-US" altLang="zh-CN" i="1">
                          <a:latin typeface="Cambria Math" panose="02040503050406030204" charset="0"/>
                          <a:cs typeface="Cambria Math" panose="02040503050406030204" charset="0"/>
                        </a:rPr>
                        <m:t> </m:t>
                      </m:r>
                    </m:oMath>
                  </m:oMathPara>
                </a14:m>
                <a:endParaRPr lang="en-US" altLang="zh-CN" i="1">
                  <a:latin typeface="Cambria Math" panose="02040503050406030204" charset="0"/>
                  <a:cs typeface="Cambria Math" panose="02040503050406030204"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2700020" y="5699125"/>
                <a:ext cx="6096000" cy="674370"/>
              </a:xfrm>
              <a:prstGeom prst="rect">
                <a:avLst/>
              </a:prstGeom>
              <a:blipFill rotWithShape="1">
                <a:blip r:embed="rId6"/>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259080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线性卷积</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6" name="图片 5"/>
          <p:cNvPicPr>
            <a:picLocks noChangeAspect="1"/>
          </p:cNvPicPr>
          <p:nvPr/>
        </p:nvPicPr>
        <p:blipFill>
          <a:blip r:embed="rId3"/>
          <a:stretch>
            <a:fillRect/>
          </a:stretch>
        </p:blipFill>
        <p:spPr>
          <a:xfrm>
            <a:off x="1126490" y="1968500"/>
            <a:ext cx="9683750" cy="458597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259080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线性卷积</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3" name="图片 2"/>
          <p:cNvPicPr>
            <a:picLocks noChangeAspect="1"/>
          </p:cNvPicPr>
          <p:nvPr/>
        </p:nvPicPr>
        <p:blipFill>
          <a:blip r:embed="rId3"/>
          <a:stretch>
            <a:fillRect/>
          </a:stretch>
        </p:blipFill>
        <p:spPr>
          <a:xfrm>
            <a:off x="1109345" y="1974215"/>
            <a:ext cx="9995535" cy="426593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259080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线性卷积</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5" name="图片 4"/>
          <p:cNvPicPr>
            <a:picLocks noChangeAspect="1"/>
          </p:cNvPicPr>
          <p:nvPr/>
        </p:nvPicPr>
        <p:blipFill>
          <a:blip r:embed="rId3"/>
          <a:stretch>
            <a:fillRect/>
          </a:stretch>
        </p:blipFill>
        <p:spPr>
          <a:xfrm>
            <a:off x="1577975" y="1951990"/>
            <a:ext cx="9036685" cy="4288790"/>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259080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线性卷积</a:t>
            </a:r>
            <a:endParaRPr lang="zh-CN" sz="3200" b="1" dirty="0" smtClean="0">
              <a:solidFill>
                <a:schemeClr val="bg1"/>
              </a:solidFill>
              <a:latin typeface="微软雅黑" panose="020B0503020204020204" charset="-122"/>
              <a:ea typeface="微软雅黑" panose="020B0503020204020204" charset="-122"/>
              <a:sym typeface="+mn-ea"/>
            </a:endParaRPr>
          </a:p>
        </p:txBody>
      </p:sp>
      <mc:AlternateContent xmlns:mc="http://schemas.openxmlformats.org/markup-compatibility/2006">
        <mc:Choice xmlns:a14="http://schemas.microsoft.com/office/drawing/2010/main" Requires="a14">
          <p:sp>
            <p:nvSpPr>
              <p:cNvPr id="12" name="文本框 11"/>
              <p:cNvSpPr txBox="1"/>
              <p:nvPr/>
            </p:nvSpPr>
            <p:spPr>
              <a:xfrm>
                <a:off x="2883471" y="2143379"/>
                <a:ext cx="4806315" cy="67437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𝐼</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𝐾</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 =</m:t>
                      </m:r>
                      <m:nary>
                        <m:naryPr>
                          <m:chr m:val="∑"/>
                          <m:limLoc m:val="undOvr"/>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𝑚</m:t>
                          </m:r>
                        </m:sub>
                        <m:sup/>
                        <m:e>
                          <m:nary>
                            <m:naryPr>
                              <m:chr m:val="∑"/>
                              <m:limLoc m:val="undOvr"/>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𝑛</m:t>
                              </m:r>
                            </m:sub>
                            <m:sup/>
                            <m:e>
                              <m:r>
                                <a:rPr lang="en-US" altLang="zh-CN" i="1">
                                  <a:latin typeface="Cambria Math" panose="02040503050406030204" charset="0"/>
                                  <a:cs typeface="Cambria Math" panose="02040503050406030204" charset="0"/>
                                </a:rPr>
                                <m:t>𝐼</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𝐾</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e>
                          </m:nary>
                        </m:e>
                      </m:nary>
                      <m:r>
                        <a:rPr lang="en-US" altLang="zh-CN" i="1">
                          <a:latin typeface="Cambria Math" panose="02040503050406030204" charset="0"/>
                          <a:cs typeface="Cambria Math" panose="02040503050406030204" charset="0"/>
                        </a:rPr>
                        <m:t> </m:t>
                      </m:r>
                    </m:oMath>
                  </m:oMathPara>
                </a14:m>
                <a:endParaRPr lang="en-US" altLang="zh-CN"/>
              </a:p>
            </p:txBody>
          </p:sp>
        </mc:Choice>
        <mc:Fallback>
          <p:sp>
            <p:nvSpPr>
              <p:cNvPr id="12" name="文本框 11"/>
              <p:cNvSpPr txBox="1">
                <a:spLocks noRot="1" noChangeAspect="1" noMove="1" noResize="1" noEditPoints="1" noAdjustHandles="1" noChangeArrowheads="1" noChangeShapeType="1" noTextEdit="1"/>
              </p:cNvSpPr>
              <p:nvPr/>
            </p:nvSpPr>
            <p:spPr>
              <a:xfrm>
                <a:off x="2883471" y="2143379"/>
                <a:ext cx="4806315" cy="674370"/>
              </a:xfrm>
              <a:prstGeom prst="rect">
                <a:avLst/>
              </a:prstGeom>
              <a:blipFill rotWithShape="1">
                <a:blip r:embed="rId3"/>
                <a:stretch>
                  <a:fillRect l="-12" t="-38" r="12" b="38"/>
                </a:stretch>
              </a:blipFill>
            </p:spPr>
            <p:txBody>
              <a:bodyPr/>
              <a:lstStyle/>
              <a:p>
                <a:r>
                  <a:rPr lang="zh-CN" altLang="en-US">
                    <a:noFill/>
                  </a:rPr>
                  <a:t> </a:t>
                </a:r>
              </a:p>
            </p:txBody>
          </p:sp>
        </mc:Fallback>
      </mc:AlternateContent>
      <p:sp>
        <p:nvSpPr>
          <p:cNvPr id="13" name="文本框 12"/>
          <p:cNvSpPr txBox="1"/>
          <p:nvPr/>
        </p:nvSpPr>
        <p:spPr>
          <a:xfrm>
            <a:off x="8220075" y="2273935"/>
            <a:ext cx="3223260" cy="337185"/>
          </a:xfrm>
          <a:prstGeom prst="rect">
            <a:avLst/>
          </a:prstGeom>
        </p:spPr>
        <p:txBody>
          <a:bodyPr wrap="square">
            <a:spAutoFit/>
          </a:bodyPr>
          <a:p>
            <a:pPr marL="0" indent="0"/>
            <a:r>
              <a:rPr lang="zh-CN" altLang="en-US" sz="1600" b="0" i="0">
                <a:solidFill>
                  <a:srgbClr val="2E2B29"/>
                </a:solidFill>
                <a:latin typeface="微软雅黑" panose="020B0503020204020204" charset="-122"/>
                <a:ea typeface="微软雅黑" panose="020B0503020204020204" charset="-122"/>
                <a:cs typeface="微软雅黑" panose="020B0503020204020204" charset="-122"/>
              </a:rPr>
              <a:t>其中</a:t>
            </a:r>
            <a:r>
              <a:rPr lang="en-US" altLang="zh-CN" sz="1600" b="0" i="0">
                <a:solidFill>
                  <a:srgbClr val="2E2B29"/>
                </a:solidFill>
                <a:latin typeface="微软雅黑" panose="020B0503020204020204" charset="-122"/>
                <a:ea typeface="微软雅黑" panose="020B0503020204020204" charset="-122"/>
                <a:cs typeface="微软雅黑" panose="020B0503020204020204" charset="-122"/>
              </a:rPr>
              <a:t> I </a:t>
            </a:r>
            <a:r>
              <a:rPr lang="zh-CN" altLang="en-US" sz="1600" b="0" i="0">
                <a:solidFill>
                  <a:srgbClr val="2E2B29"/>
                </a:solidFill>
                <a:latin typeface="微软雅黑" panose="020B0503020204020204" charset="-122"/>
                <a:ea typeface="微软雅黑" panose="020B0503020204020204" charset="-122"/>
                <a:cs typeface="微软雅黑" panose="020B0503020204020204" charset="-122"/>
              </a:rPr>
              <a:t>是输入图像，</a:t>
            </a:r>
            <a:r>
              <a:rPr lang="en-US" altLang="zh-CN" sz="1600" b="0" i="0">
                <a:solidFill>
                  <a:srgbClr val="2E2B29"/>
                </a:solidFill>
                <a:latin typeface="微软雅黑" panose="020B0503020204020204" charset="-122"/>
                <a:ea typeface="微软雅黑" panose="020B0503020204020204" charset="-122"/>
                <a:cs typeface="微软雅黑" panose="020B0503020204020204" charset="-122"/>
              </a:rPr>
              <a:t>K </a:t>
            </a:r>
            <a:r>
              <a:rPr lang="zh-CN" altLang="en-US" sz="1600" b="0" i="0">
                <a:solidFill>
                  <a:srgbClr val="2E2B29"/>
                </a:solidFill>
                <a:latin typeface="微软雅黑" panose="020B0503020204020204" charset="-122"/>
                <a:ea typeface="微软雅黑" panose="020B0503020204020204" charset="-122"/>
                <a:cs typeface="微软雅黑" panose="020B0503020204020204" charset="-122"/>
              </a:rPr>
              <a:t>是卷积核。</a:t>
            </a:r>
            <a:endParaRPr lang="zh-CN" altLang="en-US" sz="1600" b="0" i="0">
              <a:solidFill>
                <a:srgbClr val="2E2B29"/>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696595" y="2273935"/>
            <a:ext cx="2073910" cy="368300"/>
          </a:xfrm>
          <a:prstGeom prst="rect">
            <a:avLst/>
          </a:prstGeom>
          <a:noFill/>
        </p:spPr>
        <p:txBody>
          <a:bodyPr wrap="square" rtlCol="0">
            <a:spAutoFit/>
          </a:bodyPr>
          <a:p>
            <a:r>
              <a:rPr lang="zh-CN" altLang="en-US"/>
              <a:t>二维离散卷积</a:t>
            </a:r>
            <a:r>
              <a:rPr lang="en-US" altLang="zh-CN"/>
              <a:t>:</a:t>
            </a:r>
            <a:endParaRPr lang="en-US" altLang="zh-CN"/>
          </a:p>
        </p:txBody>
      </p:sp>
      <p:sp>
        <p:nvSpPr>
          <p:cNvPr id="11" name="文本框 10"/>
          <p:cNvSpPr txBox="1"/>
          <p:nvPr/>
        </p:nvSpPr>
        <p:spPr>
          <a:xfrm>
            <a:off x="724535" y="3208020"/>
            <a:ext cx="2900045" cy="368300"/>
          </a:xfrm>
          <a:prstGeom prst="rect">
            <a:avLst/>
          </a:prstGeom>
          <a:noFill/>
        </p:spPr>
        <p:txBody>
          <a:bodyPr wrap="square" rtlCol="0">
            <a:spAutoFit/>
          </a:bodyPr>
          <a:p>
            <a:r>
              <a:rPr lang="zh-CN" altLang="en-US"/>
              <a:t>而以</a:t>
            </a:r>
            <a:r>
              <a:rPr lang="en-US" altLang="zh-CN"/>
              <a:t>x</a:t>
            </a:r>
            <a:r>
              <a:rPr lang="zh-CN" altLang="en-US"/>
              <a:t>方向梯度计算为例</a:t>
            </a:r>
            <a:r>
              <a:rPr lang="en-US" altLang="zh-CN"/>
              <a:t>, </a:t>
            </a:r>
            <a:endParaRPr lang="en-US" altLang="zh-CN"/>
          </a:p>
        </p:txBody>
      </p:sp>
      <mc:AlternateContent xmlns:mc="http://schemas.openxmlformats.org/markup-compatibility/2006">
        <mc:Choice xmlns:a14="http://schemas.microsoft.com/office/drawing/2010/main" Requires="a14">
          <p:sp>
            <p:nvSpPr>
              <p:cNvPr id="15" name="文本框 14"/>
              <p:cNvSpPr txBox="1"/>
              <p:nvPr/>
            </p:nvSpPr>
            <p:spPr>
              <a:xfrm>
                <a:off x="3222625" y="3085465"/>
                <a:ext cx="4212590" cy="612775"/>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𝐼</m:t>
                          </m:r>
                        </m:num>
                        <m:den>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den>
                      </m:f>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𝐼</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𝐼</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  </m:t>
                      </m:r>
                    </m:oMath>
                  </m:oMathPara>
                </a14:m>
                <a:endParaRPr lang="en-US" altLang="zh-CN" i="1">
                  <a:latin typeface="Cambria Math" panose="02040503050406030204" charset="0"/>
                  <a:cs typeface="Cambria Math" panose="02040503050406030204" charset="0"/>
                </a:endParaRPr>
              </a:p>
            </p:txBody>
          </p:sp>
        </mc:Choice>
        <mc:Fallback>
          <p:sp>
            <p:nvSpPr>
              <p:cNvPr id="15" name="文本框 14"/>
              <p:cNvSpPr txBox="1">
                <a:spLocks noRot="1" noChangeAspect="1" noMove="1" noResize="1" noEditPoints="1" noAdjustHandles="1" noChangeArrowheads="1" noChangeShapeType="1" noTextEdit="1"/>
              </p:cNvSpPr>
              <p:nvPr/>
            </p:nvSpPr>
            <p:spPr>
              <a:xfrm>
                <a:off x="3222625" y="3085465"/>
                <a:ext cx="4212590" cy="612775"/>
              </a:xfrm>
              <a:prstGeom prst="rect">
                <a:avLst/>
              </a:prstGeom>
              <a:blipFill rotWithShape="1">
                <a:blip r:embed="rId4"/>
                <a:stretch>
                  <a:fillRect/>
                </a:stretch>
              </a:blipFill>
            </p:spPr>
            <p:txBody>
              <a:bodyPr/>
              <a:lstStyle/>
              <a:p>
                <a:r>
                  <a:rPr lang="zh-CN" altLang="en-US">
                    <a:noFill/>
                  </a:rPr>
                  <a:t> </a:t>
                </a:r>
              </a:p>
            </p:txBody>
          </p:sp>
        </mc:Fallback>
      </mc:AlternateContent>
      <p:sp>
        <p:nvSpPr>
          <p:cNvPr id="16" name="文本框 15"/>
          <p:cNvSpPr txBox="1"/>
          <p:nvPr/>
        </p:nvSpPr>
        <p:spPr>
          <a:xfrm>
            <a:off x="696595" y="4045268"/>
            <a:ext cx="5080000" cy="368300"/>
          </a:xfrm>
          <a:prstGeom prst="rect">
            <a:avLst/>
          </a:prstGeom>
        </p:spPr>
        <p:txBody>
          <a:bodyPr>
            <a:spAutoFit/>
          </a:bodyPr>
          <a:p>
            <a:pPr marL="0" indent="0"/>
            <a:r>
              <a:rPr lang="zh-CN" altLang="en-US" sz="1800" b="0" i="0"/>
              <a:t>其恰好可以表示为与一个小核</a:t>
            </a:r>
            <a:r>
              <a:rPr lang="en-US" altLang="zh-CN" sz="1800" b="0" i="0"/>
              <a:t>K [-1, 1]</a:t>
            </a:r>
            <a:r>
              <a:rPr lang="zh-CN" altLang="en-US" sz="1800" b="0" i="0"/>
              <a:t>的卷积</a:t>
            </a:r>
            <a:endParaRPr lang="zh-CN" altLang="en-US" sz="1800" b="0" i="0"/>
          </a:p>
        </p:txBody>
      </p:sp>
      <p:sp>
        <p:nvSpPr>
          <p:cNvPr id="17" name="文本框 16"/>
          <p:cNvSpPr txBox="1"/>
          <p:nvPr/>
        </p:nvSpPr>
        <p:spPr>
          <a:xfrm>
            <a:off x="1024255" y="5069205"/>
            <a:ext cx="7740650" cy="840105"/>
          </a:xfrm>
          <a:prstGeom prst="rect">
            <a:avLst/>
          </a:prstGeom>
        </p:spPr>
        <p:txBody>
          <a:bodyPr wrap="square">
            <a:spAutoFit/>
          </a:bodyPr>
          <a:p>
            <a:pPr marL="0" indent="0">
              <a:spcBef>
                <a:spcPts val="1600"/>
              </a:spcBef>
              <a:spcAft>
                <a:spcPts val="400"/>
              </a:spcAft>
            </a:pPr>
            <a:r>
              <a:rPr lang="en-US" altLang="zh-CN" sz="1600" b="0" i="0">
                <a:solidFill>
                  <a:srgbClr val="252523"/>
                </a:solidFill>
                <a:latin typeface="monaSans"/>
                <a:ea typeface="monaSans"/>
              </a:rPr>
              <a:t>---&gt; </a:t>
            </a:r>
            <a:r>
              <a:rPr lang="zh-CN" altLang="en-US" sz="1600" b="0" i="0">
                <a:solidFill>
                  <a:srgbClr val="252523"/>
                </a:solidFill>
                <a:latin typeface="monaSans"/>
                <a:ea typeface="monaSans"/>
              </a:rPr>
              <a:t>卷积核天然表达</a:t>
            </a:r>
            <a:r>
              <a:rPr lang="en-US" altLang="zh-CN" sz="1600" b="0" i="0">
                <a:solidFill>
                  <a:srgbClr val="252523"/>
                </a:solidFill>
                <a:latin typeface="monaSans"/>
                <a:ea typeface="monaSans"/>
              </a:rPr>
              <a:t>"</a:t>
            </a:r>
            <a:r>
              <a:rPr lang="zh-CN" altLang="en-US" sz="1600" b="0" i="0">
                <a:solidFill>
                  <a:srgbClr val="252523"/>
                </a:solidFill>
                <a:latin typeface="monaSans"/>
                <a:ea typeface="monaSans"/>
              </a:rPr>
              <a:t>局部加权求和</a:t>
            </a:r>
            <a:r>
              <a:rPr lang="en-US" altLang="zh-CN" sz="1600" b="0" i="0">
                <a:solidFill>
                  <a:srgbClr val="252523"/>
                </a:solidFill>
                <a:latin typeface="monaSans"/>
                <a:ea typeface="monaSans"/>
              </a:rPr>
              <a:t>", </a:t>
            </a:r>
            <a:endParaRPr lang="en-US" altLang="zh-CN" sz="1600" b="0" i="0">
              <a:solidFill>
                <a:srgbClr val="252523"/>
              </a:solidFill>
              <a:latin typeface="monaSans"/>
              <a:ea typeface="monaSans"/>
            </a:endParaRPr>
          </a:p>
          <a:p>
            <a:pPr marL="0" indent="0">
              <a:spcBef>
                <a:spcPts val="1600"/>
              </a:spcBef>
              <a:spcAft>
                <a:spcPts val="400"/>
              </a:spcAft>
            </a:pPr>
            <a:r>
              <a:rPr lang="zh-CN" altLang="en-US" sz="1600" b="0" i="0">
                <a:solidFill>
                  <a:srgbClr val="252523"/>
                </a:solidFill>
                <a:latin typeface="monaSans"/>
                <a:ea typeface="宋体" panose="02010600030101010101" pitchFamily="2" charset="-122"/>
              </a:rPr>
              <a:t>同时结合了平滑去噪，能够表达为梯度计算</a:t>
            </a:r>
            <a:endParaRPr lang="zh-CN" altLang="en-US" sz="1600" b="0" i="0">
              <a:solidFill>
                <a:srgbClr val="252523"/>
              </a:solidFill>
              <a:latin typeface="monaSans"/>
              <a:ea typeface="宋体" panose="02010600030101010101" pitchFamily="2" charset="-122"/>
            </a:endParaRPr>
          </a:p>
        </p:txBody>
      </p:sp>
      <p:sp>
        <p:nvSpPr>
          <p:cNvPr id="19" name="文本框 18"/>
          <p:cNvSpPr txBox="1"/>
          <p:nvPr/>
        </p:nvSpPr>
        <p:spPr>
          <a:xfrm>
            <a:off x="6722745" y="4773295"/>
            <a:ext cx="5080000" cy="1568450"/>
          </a:xfrm>
          <a:prstGeom prst="rect">
            <a:avLst/>
          </a:prstGeom>
        </p:spPr>
        <p:txBody>
          <a:bodyPr>
            <a:spAutoFit/>
          </a:bodyPr>
          <a:p>
            <a:pPr marL="0" indent="0"/>
            <a:r>
              <a:rPr lang="zh-CN" altLang="en-US" sz="1600" b="0" i="1">
                <a:solidFill>
                  <a:srgbClr val="67625B"/>
                </a:solidFill>
                <a:latin typeface="Inter"/>
                <a:ea typeface="Inter"/>
              </a:rPr>
              <a:t>线性卷积是一种对信号</a:t>
            </a:r>
            <a:r>
              <a:rPr lang="en-US" altLang="zh-CN" sz="1600" b="0" i="1">
                <a:solidFill>
                  <a:srgbClr val="67625B"/>
                </a:solidFill>
                <a:latin typeface="Inter"/>
                <a:ea typeface="Inter"/>
              </a:rPr>
              <a:t>/</a:t>
            </a:r>
            <a:r>
              <a:rPr lang="zh-CN" altLang="en-US" sz="1600" b="0" i="1">
                <a:solidFill>
                  <a:srgbClr val="67625B"/>
                </a:solidFill>
                <a:latin typeface="Inter"/>
                <a:ea typeface="Inter"/>
              </a:rPr>
              <a:t>图像做局部加权求和的线性平移不变运算。边缘检测的梯度计算本质上就是离散微分（差分），它天然是线性且平移不变的，因此必然可以用卷积来实现。用卷积的形式不仅数学上自然，而且在工程上带来了统一框架、高效计算、可组合（如高斯平滑</a:t>
            </a:r>
            <a:r>
              <a:rPr lang="en-US" altLang="zh-CN" sz="1600" b="0" i="1">
                <a:solidFill>
                  <a:srgbClr val="67625B"/>
                </a:solidFill>
                <a:latin typeface="Inter"/>
                <a:ea typeface="Inter"/>
              </a:rPr>
              <a:t>+</a:t>
            </a:r>
            <a:r>
              <a:rPr lang="zh-CN" altLang="en-US" sz="1600" b="0" i="1">
                <a:solidFill>
                  <a:srgbClr val="67625B"/>
                </a:solidFill>
                <a:latin typeface="Inter"/>
                <a:ea typeface="Inter"/>
              </a:rPr>
              <a:t>求导合并为一个核）等诸多优势。</a:t>
            </a:r>
            <a:endParaRPr lang="zh-CN" altLang="en-US" sz="1600" b="0" i="1">
              <a:solidFill>
                <a:srgbClr val="67625B"/>
              </a:solidFill>
              <a:latin typeface="Inter"/>
              <a:ea typeface="Inter"/>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330200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边缘检测举例</a:t>
            </a:r>
            <a:endParaRPr lang="zh-CN" sz="3200" b="1" dirty="0" smtClean="0">
              <a:solidFill>
                <a:schemeClr val="bg1"/>
              </a:solidFill>
              <a:latin typeface="微软雅黑" panose="020B0503020204020204" charset="-122"/>
              <a:ea typeface="微软雅黑" panose="020B0503020204020204" charset="-122"/>
              <a:sym typeface="+mn-ea"/>
            </a:endParaRPr>
          </a:p>
        </p:txBody>
      </p:sp>
      <p:sp>
        <p:nvSpPr>
          <p:cNvPr id="5" name="文本框 4"/>
          <p:cNvSpPr txBox="1"/>
          <p:nvPr/>
        </p:nvSpPr>
        <p:spPr>
          <a:xfrm>
            <a:off x="724535" y="2007870"/>
            <a:ext cx="6705600" cy="368300"/>
          </a:xfrm>
          <a:prstGeom prst="rect">
            <a:avLst/>
          </a:prstGeom>
          <a:noFill/>
        </p:spPr>
        <p:txBody>
          <a:bodyPr wrap="square" rtlCol="0">
            <a:spAutoFit/>
          </a:bodyPr>
          <a:p>
            <a:r>
              <a:rPr lang="zh-CN" altLang="en-US"/>
              <a:t>一阶导数算子</a:t>
            </a:r>
            <a:r>
              <a:rPr lang="en-US" altLang="zh-CN"/>
              <a:t>:  Sobel</a:t>
            </a:r>
            <a:endParaRPr lang="en-US" altLang="zh-CN"/>
          </a:p>
        </p:txBody>
      </p:sp>
      <mc:AlternateContent xmlns:mc="http://schemas.openxmlformats.org/markup-compatibility/2006">
        <mc:Choice xmlns:a14="http://schemas.microsoft.com/office/drawing/2010/main" Requires="a14">
          <p:sp>
            <p:nvSpPr>
              <p:cNvPr id="6" name="文本框 5"/>
              <p:cNvSpPr txBox="1"/>
              <p:nvPr/>
            </p:nvSpPr>
            <p:spPr>
              <a:xfrm>
                <a:off x="1546860" y="2609850"/>
                <a:ext cx="6045200" cy="819150"/>
              </a:xfrm>
              <a:prstGeom prst="rect">
                <a:avLst/>
              </a:prstGeom>
              <a:noFill/>
            </p:spPr>
            <p:txBody>
              <a:bodyPr wrap="square" rtlCol="0">
                <a:spAutoFit/>
              </a:bodyPr>
              <a:p>
                <a:r>
                  <a:rPr lang="zh-CN" altLang="en-US"/>
                  <a:t>水平方向</a:t>
                </a:r>
                <a:r>
                  <a:rPr lang="en-US" altLang="zh-CN"/>
                  <a:t>Gx (</a:t>
                </a:r>
                <a:r>
                  <a:rPr lang="zh-CN" altLang="en-US"/>
                  <a:t>检测竖直边缘</a:t>
                </a:r>
                <a:r>
                  <a:rPr lang="en-US" altLang="zh-CN"/>
                  <a:t>): </a:t>
                </a:r>
                <a14:m>
                  <m:oMath xmlns:m="http://schemas.openxmlformats.org/officeDocument/2006/math">
                    <m:r>
                      <a:rPr lang="en-US" altLang="zh-CN">
                        <a:latin typeface="Cambria Math" panose="02040503050406030204" charset="0"/>
                      </a:rPr>
                      <m:t>       </m:t>
                    </m:r>
                    <m:r>
                      <m:rPr>
                        <m:sty m:val="p"/>
                      </m:rPr>
                      <a:rPr lang="en-US" altLang="zh-CN">
                        <a:latin typeface="Cambria Math" panose="02040503050406030204" charset="0"/>
                      </a:rPr>
                      <m:t>Gx</m:t>
                    </m:r>
                    <m:r>
                      <a:rPr lang="en-US" altLang="zh-CN">
                        <a:latin typeface="Cambria Math" panose="02040503050406030204" charset="0"/>
                      </a:rPr>
                      <m:t> =</m:t>
                    </m:r>
                    <m:r>
                      <a:rPr lang="en-US" altLang="zh-CN">
                        <a:latin typeface="Cambria Math" panose="02040503050406030204" charset="0"/>
                      </a:rPr>
                      <m:t> </m:t>
                    </m:r>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2</m:t>
                          </m:r>
                        </m:e>
                      </m:m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𝐼</m:t>
                    </m:r>
                  </m:oMath>
                </a14:m>
                <a:endParaRPr lang="en-US" altLang="zh-CN"/>
              </a:p>
            </p:txBody>
          </p:sp>
        </mc:Choice>
        <mc:Fallback>
          <p:sp>
            <p:nvSpPr>
              <p:cNvPr id="6" name="文本框 5"/>
              <p:cNvSpPr txBox="1">
                <a:spLocks noRot="1" noChangeAspect="1" noMove="1" noResize="1" noEditPoints="1" noAdjustHandles="1" noChangeArrowheads="1" noChangeShapeType="1" noTextEdit="1"/>
              </p:cNvSpPr>
              <p:nvPr/>
            </p:nvSpPr>
            <p:spPr>
              <a:xfrm>
                <a:off x="1546860" y="2609850"/>
                <a:ext cx="6045200" cy="81915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1459865" y="3575685"/>
                <a:ext cx="6096000" cy="817245"/>
              </a:xfrm>
              <a:prstGeom prst="rect">
                <a:avLst/>
              </a:prstGeom>
              <a:noFill/>
            </p:spPr>
            <p:txBody>
              <a:bodyPr wrap="square" rtlCol="0" anchor="t">
                <a:spAutoFit/>
              </a:bodyPr>
              <a:p>
                <a:r>
                  <a:rPr lang="zh-CN" altLang="en-US">
                    <a:sym typeface="+mn-ea"/>
                  </a:rPr>
                  <a:t>竖直方向</a:t>
                </a:r>
                <a:r>
                  <a:rPr lang="en-US" altLang="zh-CN">
                    <a:sym typeface="+mn-ea"/>
                  </a:rPr>
                  <a:t>Gy (</a:t>
                </a:r>
                <a:r>
                  <a:rPr lang="zh-CN" altLang="en-US">
                    <a:sym typeface="+mn-ea"/>
                  </a:rPr>
                  <a:t>检测水平边缘</a:t>
                </a:r>
                <a:r>
                  <a:rPr lang="en-US" altLang="zh-CN">
                    <a:sym typeface="+mn-ea"/>
                  </a:rPr>
                  <a:t>): </a:t>
                </a:r>
                <a14:m>
                  <m:oMath xmlns:m="http://schemas.openxmlformats.org/officeDocument/2006/math">
                    <m:r>
                      <a:rPr lang="en-US" altLang="zh-CN">
                        <a:latin typeface="Cambria Math" panose="02040503050406030204" charset="0"/>
                      </a:rPr>
                      <m:t>       </m:t>
                    </m:r>
                    <m:r>
                      <m:rPr>
                        <m:sty m:val="p"/>
                      </m:rPr>
                      <a:rPr lang="en-US" altLang="zh-CN">
                        <a:latin typeface="Cambria Math" panose="02040503050406030204" charset="0"/>
                      </a:rPr>
                      <m:t>Gy</m:t>
                    </m:r>
                    <m:r>
                      <a:rPr lang="en-US" altLang="zh-CN">
                        <a:latin typeface="Cambria Math" panose="02040503050406030204" charset="0"/>
                      </a:rPr>
                      <m:t> = </m:t>
                    </m:r>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2</m:t>
                          </m:r>
                        </m:e>
                        <m:e>
                          <m:r>
                            <a:rPr lang="en-US" altLang="zh-CN" i="1">
                              <a:latin typeface="Cambria Math" panose="02040503050406030204" charset="0"/>
                              <a:cs typeface="Cambria Math" panose="02040503050406030204" charset="0"/>
                            </a:rPr>
                            <m:t>1</m:t>
                          </m:r>
                        </m:e>
                      </m:mr>
                    </m:m>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𝐼</m:t>
                    </m:r>
                  </m:oMath>
                </a14:m>
                <a:endParaRPr lang="en-US" altLang="zh-CN" i="1">
                  <a:latin typeface="Cambria Math" panose="02040503050406030204" charset="0"/>
                  <a:cs typeface="Cambria Math" panose="02040503050406030204"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1459865" y="3575685"/>
                <a:ext cx="6096000" cy="81724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416560" y="4650740"/>
                <a:ext cx="8418830" cy="67373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 梯度幅值: </m:t>
                      </m:r>
                      <m:r>
                        <a:rPr lang="en-US" altLang="zh-CN" i="1">
                          <a:latin typeface="Cambria Math" panose="02040503050406030204" charset="0"/>
                          <a:cs typeface="Cambria Math" panose="02040503050406030204" charset="0"/>
                        </a:rPr>
                        <m:t>𝐺</m:t>
                      </m:r>
                      <m:r>
                        <a:rPr lang="en-US" altLang="zh-CN" i="1">
                          <a:latin typeface="Cambria Math" panose="02040503050406030204" charset="0"/>
                          <a:cs typeface="Cambria Math" panose="02040503050406030204" charset="0"/>
                        </a:rPr>
                        <m:t> = </m:t>
                      </m:r>
                      <m:rad>
                        <m:radPr>
                          <m:degHide m:val="on"/>
                          <m:ctrlPr>
                            <a:rPr lang="en-US" altLang="zh-CN" i="1">
                              <a:latin typeface="Cambria Math" panose="02040503050406030204" charset="0"/>
                              <a:cs typeface="Cambria Math" panose="02040503050406030204" charset="0"/>
                            </a:rPr>
                          </m:ctrlPr>
                        </m:radPr>
                        <m:deg/>
                        <m:e>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𝑥</m:t>
                              </m:r>
                            </m:sub>
                            <m:sup>
                              <m:r>
                                <a:rPr lang="en-US" altLang="zh-CN" i="1">
                                  <a:latin typeface="Cambria Math" panose="02040503050406030204" charset="0"/>
                                  <a:cs typeface="Cambria Math" panose="02040503050406030204" charset="0"/>
                                </a:rPr>
                                <m:t>2</m:t>
                              </m:r>
                            </m:sup>
                          </m:sSubSup>
                          <m:r>
                            <a:rPr lang="en-US" altLang="zh-CN" i="1">
                              <a:latin typeface="Cambria Math" panose="02040503050406030204" charset="0"/>
                              <a:cs typeface="Cambria Math" panose="02040503050406030204" charset="0"/>
                            </a:rPr>
                            <m:t> + </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𝑦</m:t>
                              </m:r>
                            </m:sub>
                            <m:sup>
                              <m:r>
                                <a:rPr lang="en-US" altLang="zh-CN" i="1">
                                  <a:latin typeface="Cambria Math" panose="02040503050406030204" charset="0"/>
                                  <a:cs typeface="Cambria Math" panose="02040503050406030204" charset="0"/>
                                </a:rPr>
                                <m:t>2</m:t>
                              </m:r>
                            </m:sup>
                          </m:sSubSup>
                        </m:e>
                      </m:rad>
                      <m:r>
                        <a:rPr lang="en-US" altLang="zh-CN" i="1">
                          <a:latin typeface="Cambria Math" panose="02040503050406030204" charset="0"/>
                          <a:cs typeface="Cambria Math" panose="02040503050406030204" charset="0"/>
                        </a:rPr>
                        <m:t>， 方向</m:t>
                      </m:r>
                      <m:r>
                        <a:rPr lang="en-US" altLang="zh-CN" i="1">
                          <a:latin typeface="Cambria Math" panose="02040503050406030204" charset="0"/>
                          <a:cs typeface="Cambria Math" panose="02040503050406030204" charset="0"/>
                        </a:rPr>
                        <m:t>𝜃</m:t>
                      </m:r>
                      <m:r>
                        <a:rPr lang="en-US" altLang="zh-CN" i="1">
                          <a:latin typeface="Cambria Math" panose="02040503050406030204" charset="0"/>
                          <a:cs typeface="Cambria Math" panose="02040503050406030204" charset="0"/>
                        </a:rPr>
                        <m:t> = </m:t>
                      </m:r>
                      <m:func>
                        <m:funcPr>
                          <m:ctrlPr>
                            <a:rPr lang="en-US" altLang="zh-CN" i="1">
                              <a:latin typeface="Cambria Math" panose="02040503050406030204" charset="0"/>
                              <a:cs typeface="Cambria Math" panose="02040503050406030204" charset="0"/>
                            </a:rPr>
                          </m:ctrlPr>
                        </m:funcPr>
                        <m:fName>
                          <m:sSup>
                            <m:sSupPr>
                              <m:ctrlPr>
                                <a:rPr lang="en-US" altLang="zh-CN">
                                  <a:latin typeface="Cambria Math" panose="02040503050406030204" charset="0"/>
                                  <a:cs typeface="Cambria Math" panose="02040503050406030204" charset="0"/>
                                </a:rPr>
                              </m:ctrlPr>
                            </m:sSupPr>
                            <m:e>
                              <m:r>
                                <m:rPr>
                                  <m:sty m:val="p"/>
                                </m:rPr>
                                <a:rPr lang="en-US" altLang="zh-CN">
                                  <a:latin typeface="Cambria Math" panose="02040503050406030204" charset="0"/>
                                  <a:cs typeface="Cambria Math" panose="02040503050406030204" charset="0"/>
                                </a:rPr>
                                <m:t>tan</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p>
                          </m:sSup>
                        </m:fName>
                        <m:e>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𝑦</m:t>
                                  </m:r>
                                </m:sub>
                              </m:sSub>
                            </m:num>
                            <m:den>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𝑥</m:t>
                                  </m:r>
                                </m:sub>
                              </m:sSub>
                            </m:den>
                          </m:f>
                          <m:r>
                            <a:rPr lang="en-US" altLang="zh-CN" i="1">
                              <a:latin typeface="Cambria Math" panose="02040503050406030204" charset="0"/>
                              <a:cs typeface="Cambria Math" panose="02040503050406030204" charset="0"/>
                            </a:rPr>
                            <m:t>）</m:t>
                          </m:r>
                        </m:e>
                      </m:func>
                    </m:oMath>
                  </m:oMathPara>
                </a14:m>
                <a:endParaRPr lang="zh-CN" altLang="en-US"/>
              </a:p>
            </p:txBody>
          </p:sp>
        </mc:Choice>
        <mc:Fallback>
          <p:sp>
            <p:nvSpPr>
              <p:cNvPr id="14" name="文本框 13"/>
              <p:cNvSpPr txBox="1">
                <a:spLocks noRot="1" noChangeAspect="1" noMove="1" noResize="1" noEditPoints="1" noAdjustHandles="1" noChangeArrowheads="1" noChangeShapeType="1" noTextEdit="1"/>
              </p:cNvSpPr>
              <p:nvPr/>
            </p:nvSpPr>
            <p:spPr>
              <a:xfrm>
                <a:off x="416560" y="4650740"/>
                <a:ext cx="8418830" cy="673735"/>
              </a:xfrm>
              <a:prstGeom prst="rect">
                <a:avLst/>
              </a:prstGeom>
              <a:blipFill rotWithShape="1">
                <a:blip r:embed="rId5"/>
                <a:stretch>
                  <a:fillRect/>
                </a:stretch>
              </a:blipFill>
            </p:spPr>
            <p:txBody>
              <a:bodyPr/>
              <a:lstStyle/>
              <a:p>
                <a:r>
                  <a:rPr lang="zh-CN" altLang="en-US">
                    <a:noFill/>
                  </a:rPr>
                  <a:t> </a:t>
                </a:r>
              </a:p>
            </p:txBody>
          </p:sp>
        </mc:Fallback>
      </mc:AlternateContent>
      <p:sp>
        <p:nvSpPr>
          <p:cNvPr id="18" name="文本框 17"/>
          <p:cNvSpPr txBox="1"/>
          <p:nvPr/>
        </p:nvSpPr>
        <p:spPr>
          <a:xfrm>
            <a:off x="1390015" y="5847080"/>
            <a:ext cx="9494520" cy="645160"/>
          </a:xfrm>
          <a:prstGeom prst="rect">
            <a:avLst/>
          </a:prstGeom>
          <a:noFill/>
        </p:spPr>
        <p:txBody>
          <a:bodyPr wrap="square" rtlCol="0">
            <a:spAutoFit/>
          </a:bodyPr>
          <a:p>
            <a:r>
              <a:rPr lang="zh-CN" altLang="en-US">
                <a:sym typeface="+mn-ea"/>
              </a:rPr>
              <a:t>根据综合梯度幅值图，再进行一次阈值处理得到边缘提取后的图像</a:t>
            </a:r>
            <a:endParaRPr lang="zh-CN" altLang="en-US"/>
          </a:p>
          <a:p>
            <a:endParaRPr lang="zh-CN" alt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330200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en-US" altLang="zh-CN" sz="3200" b="1" dirty="0" smtClean="0">
                <a:solidFill>
                  <a:schemeClr val="bg1"/>
                </a:solidFill>
                <a:latin typeface="微软雅黑" panose="020B0503020204020204" charset="-122"/>
                <a:ea typeface="微软雅黑" panose="020B0503020204020204" charset="-122"/>
                <a:sym typeface="+mn-ea"/>
              </a:rPr>
              <a:t>Sobel</a:t>
            </a:r>
            <a:r>
              <a:rPr lang="zh-CN" sz="3200" b="1" dirty="0" smtClean="0">
                <a:solidFill>
                  <a:schemeClr val="bg1"/>
                </a:solidFill>
                <a:latin typeface="微软雅黑" panose="020B0503020204020204" charset="-122"/>
                <a:ea typeface="微软雅黑" panose="020B0503020204020204" charset="-122"/>
                <a:sym typeface="+mn-ea"/>
              </a:rPr>
              <a:t>边缘检测</a:t>
            </a:r>
            <a:endParaRPr lang="zh-CN" sz="3200" b="1" dirty="0" smtClean="0">
              <a:solidFill>
                <a:schemeClr val="bg1"/>
              </a:solidFill>
              <a:latin typeface="微软雅黑" panose="020B0503020204020204" charset="-122"/>
              <a:ea typeface="微软雅黑" panose="020B0503020204020204" charset="-122"/>
              <a:sym typeface="+mn-ea"/>
            </a:endParaRPr>
          </a:p>
        </p:txBody>
      </p:sp>
      <p:sp>
        <p:nvSpPr>
          <p:cNvPr id="5" name="文本框 4"/>
          <p:cNvSpPr txBox="1"/>
          <p:nvPr/>
        </p:nvSpPr>
        <p:spPr>
          <a:xfrm>
            <a:off x="724535" y="2007870"/>
            <a:ext cx="6705600" cy="368300"/>
          </a:xfrm>
          <a:prstGeom prst="rect">
            <a:avLst/>
          </a:prstGeom>
          <a:noFill/>
        </p:spPr>
        <p:txBody>
          <a:bodyPr wrap="square" rtlCol="0">
            <a:spAutoFit/>
          </a:bodyPr>
          <a:p>
            <a:r>
              <a:rPr lang="zh-CN" altLang="en-US"/>
              <a:t>一阶导数算子</a:t>
            </a:r>
            <a:r>
              <a:rPr lang="en-US" altLang="zh-CN"/>
              <a:t>:  Sobel</a:t>
            </a:r>
            <a:endParaRPr lang="en-US" altLang="zh-CN"/>
          </a:p>
        </p:txBody>
      </p:sp>
      <mc:AlternateContent xmlns:mc="http://schemas.openxmlformats.org/markup-compatibility/2006">
        <mc:Choice xmlns:a14="http://schemas.microsoft.com/office/drawing/2010/main" Requires="a14">
          <p:sp>
            <p:nvSpPr>
              <p:cNvPr id="6" name="文本框 5"/>
              <p:cNvSpPr txBox="1"/>
              <p:nvPr/>
            </p:nvSpPr>
            <p:spPr>
              <a:xfrm>
                <a:off x="4645660" y="799465"/>
                <a:ext cx="6045200" cy="819150"/>
              </a:xfrm>
              <a:prstGeom prst="rect">
                <a:avLst/>
              </a:prstGeom>
              <a:noFill/>
            </p:spPr>
            <p:txBody>
              <a:bodyPr wrap="square" rtlCol="0">
                <a:spAutoFit/>
              </a:bodyPr>
              <a:p>
                <a:r>
                  <a:rPr lang="zh-CN" altLang="en-US"/>
                  <a:t>水平方向</a:t>
                </a:r>
                <a:r>
                  <a:rPr lang="en-US" altLang="zh-CN"/>
                  <a:t>Gx (</a:t>
                </a:r>
                <a:r>
                  <a:rPr lang="zh-CN" altLang="en-US"/>
                  <a:t>检测竖直边缘</a:t>
                </a:r>
                <a:r>
                  <a:rPr lang="en-US" altLang="zh-CN"/>
                  <a:t>): </a:t>
                </a:r>
                <a14:m>
                  <m:oMath xmlns:m="http://schemas.openxmlformats.org/officeDocument/2006/math">
                    <m:r>
                      <a:rPr lang="en-US" altLang="zh-CN">
                        <a:latin typeface="Cambria Math" panose="02040503050406030204" charset="0"/>
                      </a:rPr>
                      <m:t>       </m:t>
                    </m:r>
                    <m:r>
                      <m:rPr>
                        <m:sty m:val="p"/>
                      </m:rPr>
                      <a:rPr lang="en-US" altLang="zh-CN">
                        <a:latin typeface="Cambria Math" panose="02040503050406030204" charset="0"/>
                      </a:rPr>
                      <m:t>Gx</m:t>
                    </m:r>
                    <m:r>
                      <a:rPr lang="en-US" altLang="zh-CN">
                        <a:latin typeface="Cambria Math" panose="02040503050406030204" charset="0"/>
                      </a:rPr>
                      <m:t> =</m:t>
                    </m:r>
                    <m:r>
                      <a:rPr lang="en-US" altLang="zh-CN">
                        <a:latin typeface="Cambria Math" panose="02040503050406030204" charset="0"/>
                      </a:rPr>
                      <m:t> </m:t>
                    </m:r>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2</m:t>
                          </m:r>
                        </m:e>
                      </m:m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𝐼</m:t>
                    </m:r>
                  </m:oMath>
                </a14:m>
                <a:endParaRPr lang="en-US" altLang="zh-CN"/>
              </a:p>
            </p:txBody>
          </p:sp>
        </mc:Choice>
        <mc:Fallback>
          <p:sp>
            <p:nvSpPr>
              <p:cNvPr id="6" name="文本框 5"/>
              <p:cNvSpPr txBox="1">
                <a:spLocks noRot="1" noChangeAspect="1" noMove="1" noResize="1" noEditPoints="1" noAdjustHandles="1" noChangeArrowheads="1" noChangeShapeType="1" noTextEdit="1"/>
              </p:cNvSpPr>
              <p:nvPr/>
            </p:nvSpPr>
            <p:spPr>
              <a:xfrm>
                <a:off x="4645660" y="799465"/>
                <a:ext cx="6045200" cy="81915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4594860" y="1783715"/>
                <a:ext cx="6096000" cy="817245"/>
              </a:xfrm>
              <a:prstGeom prst="rect">
                <a:avLst/>
              </a:prstGeom>
              <a:noFill/>
            </p:spPr>
            <p:txBody>
              <a:bodyPr wrap="square" rtlCol="0" anchor="t">
                <a:spAutoFit/>
              </a:bodyPr>
              <a:p>
                <a:r>
                  <a:rPr lang="zh-CN" altLang="en-US">
                    <a:sym typeface="+mn-ea"/>
                  </a:rPr>
                  <a:t>竖直方向</a:t>
                </a:r>
                <a:r>
                  <a:rPr lang="en-US" altLang="zh-CN">
                    <a:sym typeface="+mn-ea"/>
                  </a:rPr>
                  <a:t>Gy (</a:t>
                </a:r>
                <a:r>
                  <a:rPr lang="zh-CN" altLang="en-US">
                    <a:sym typeface="+mn-ea"/>
                  </a:rPr>
                  <a:t>检测水平边缘</a:t>
                </a:r>
                <a:r>
                  <a:rPr lang="en-US" altLang="zh-CN">
                    <a:sym typeface="+mn-ea"/>
                  </a:rPr>
                  <a:t>): </a:t>
                </a:r>
                <a14:m>
                  <m:oMath xmlns:m="http://schemas.openxmlformats.org/officeDocument/2006/math">
                    <m:r>
                      <a:rPr lang="en-US" altLang="zh-CN">
                        <a:latin typeface="Cambria Math" panose="02040503050406030204" charset="0"/>
                      </a:rPr>
                      <m:t>       </m:t>
                    </m:r>
                    <m:r>
                      <m:rPr>
                        <m:sty m:val="p"/>
                      </m:rPr>
                      <a:rPr lang="en-US" altLang="zh-CN">
                        <a:latin typeface="Cambria Math" panose="02040503050406030204" charset="0"/>
                      </a:rPr>
                      <m:t>Gy</m:t>
                    </m:r>
                    <m:r>
                      <a:rPr lang="en-US" altLang="zh-CN">
                        <a:latin typeface="Cambria Math" panose="02040503050406030204" charset="0"/>
                      </a:rPr>
                      <m:t> = </m:t>
                    </m:r>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2</m:t>
                          </m:r>
                        </m:e>
                        <m:e>
                          <m:r>
                            <a:rPr lang="en-US" altLang="zh-CN" i="1">
                              <a:latin typeface="Cambria Math" panose="02040503050406030204" charset="0"/>
                              <a:cs typeface="Cambria Math" panose="02040503050406030204" charset="0"/>
                            </a:rPr>
                            <m:t>1</m:t>
                          </m:r>
                        </m:e>
                      </m:mr>
                    </m:m>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𝐼</m:t>
                    </m:r>
                  </m:oMath>
                </a14:m>
                <a:endParaRPr lang="en-US" altLang="zh-CN" i="1">
                  <a:latin typeface="Cambria Math" panose="02040503050406030204" charset="0"/>
                  <a:cs typeface="Cambria Math" panose="02040503050406030204"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4594860" y="1783715"/>
                <a:ext cx="6096000" cy="81724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3538855" y="2918460"/>
                <a:ext cx="8418830" cy="67373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 梯度幅值: </m:t>
                      </m:r>
                      <m:r>
                        <a:rPr lang="en-US" altLang="zh-CN" i="1">
                          <a:latin typeface="Cambria Math" panose="02040503050406030204" charset="0"/>
                          <a:cs typeface="Cambria Math" panose="02040503050406030204" charset="0"/>
                        </a:rPr>
                        <m:t>𝐺</m:t>
                      </m:r>
                      <m:r>
                        <a:rPr lang="en-US" altLang="zh-CN" i="1">
                          <a:latin typeface="Cambria Math" panose="02040503050406030204" charset="0"/>
                          <a:cs typeface="Cambria Math" panose="02040503050406030204" charset="0"/>
                        </a:rPr>
                        <m:t> = </m:t>
                      </m:r>
                      <m:rad>
                        <m:radPr>
                          <m:degHide m:val="on"/>
                          <m:ctrlPr>
                            <a:rPr lang="en-US" altLang="zh-CN" i="1">
                              <a:latin typeface="Cambria Math" panose="02040503050406030204" charset="0"/>
                              <a:cs typeface="Cambria Math" panose="02040503050406030204" charset="0"/>
                            </a:rPr>
                          </m:ctrlPr>
                        </m:radPr>
                        <m:deg/>
                        <m:e>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𝑥</m:t>
                              </m:r>
                            </m:sub>
                            <m:sup>
                              <m:r>
                                <a:rPr lang="en-US" altLang="zh-CN" i="1">
                                  <a:latin typeface="Cambria Math" panose="02040503050406030204" charset="0"/>
                                  <a:cs typeface="Cambria Math" panose="02040503050406030204" charset="0"/>
                                </a:rPr>
                                <m:t>2</m:t>
                              </m:r>
                            </m:sup>
                          </m:sSubSup>
                          <m:r>
                            <a:rPr lang="en-US" altLang="zh-CN" i="1">
                              <a:latin typeface="Cambria Math" panose="02040503050406030204" charset="0"/>
                              <a:cs typeface="Cambria Math" panose="02040503050406030204" charset="0"/>
                            </a:rPr>
                            <m:t> + </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𝑦</m:t>
                              </m:r>
                            </m:sub>
                            <m:sup>
                              <m:r>
                                <a:rPr lang="en-US" altLang="zh-CN" i="1">
                                  <a:latin typeface="Cambria Math" panose="02040503050406030204" charset="0"/>
                                  <a:cs typeface="Cambria Math" panose="02040503050406030204" charset="0"/>
                                </a:rPr>
                                <m:t>2</m:t>
                              </m:r>
                            </m:sup>
                          </m:sSubSup>
                        </m:e>
                      </m:rad>
                      <m:r>
                        <a:rPr lang="en-US" altLang="zh-CN" i="1">
                          <a:latin typeface="Cambria Math" panose="02040503050406030204" charset="0"/>
                          <a:cs typeface="Cambria Math" panose="02040503050406030204" charset="0"/>
                        </a:rPr>
                        <m:t>， 方向</m:t>
                      </m:r>
                      <m:r>
                        <a:rPr lang="en-US" altLang="zh-CN" i="1">
                          <a:latin typeface="Cambria Math" panose="02040503050406030204" charset="0"/>
                          <a:cs typeface="Cambria Math" panose="02040503050406030204" charset="0"/>
                        </a:rPr>
                        <m:t>𝜃</m:t>
                      </m:r>
                      <m:r>
                        <a:rPr lang="en-US" altLang="zh-CN" i="1">
                          <a:latin typeface="Cambria Math" panose="02040503050406030204" charset="0"/>
                          <a:cs typeface="Cambria Math" panose="02040503050406030204" charset="0"/>
                        </a:rPr>
                        <m:t> = </m:t>
                      </m:r>
                      <m:func>
                        <m:funcPr>
                          <m:ctrlPr>
                            <a:rPr lang="en-US" altLang="zh-CN" i="1">
                              <a:latin typeface="Cambria Math" panose="02040503050406030204" charset="0"/>
                              <a:cs typeface="Cambria Math" panose="02040503050406030204" charset="0"/>
                            </a:rPr>
                          </m:ctrlPr>
                        </m:funcPr>
                        <m:fName>
                          <m:sSup>
                            <m:sSupPr>
                              <m:ctrlPr>
                                <a:rPr lang="en-US" altLang="zh-CN">
                                  <a:latin typeface="Cambria Math" panose="02040503050406030204" charset="0"/>
                                  <a:cs typeface="Cambria Math" panose="02040503050406030204" charset="0"/>
                                </a:rPr>
                              </m:ctrlPr>
                            </m:sSupPr>
                            <m:e>
                              <m:r>
                                <m:rPr>
                                  <m:sty m:val="p"/>
                                </m:rPr>
                                <a:rPr lang="en-US" altLang="zh-CN">
                                  <a:latin typeface="Cambria Math" panose="02040503050406030204" charset="0"/>
                                  <a:cs typeface="Cambria Math" panose="02040503050406030204" charset="0"/>
                                </a:rPr>
                                <m:t>tan</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p>
                          </m:sSup>
                        </m:fName>
                        <m:e>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𝑦</m:t>
                                  </m:r>
                                </m:sub>
                              </m:sSub>
                            </m:num>
                            <m:den>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𝑥</m:t>
                                  </m:r>
                                </m:sub>
                              </m:sSub>
                            </m:den>
                          </m:f>
                          <m:r>
                            <a:rPr lang="en-US" altLang="zh-CN" i="1">
                              <a:latin typeface="Cambria Math" panose="02040503050406030204" charset="0"/>
                              <a:cs typeface="Cambria Math" panose="02040503050406030204" charset="0"/>
                            </a:rPr>
                            <m:t>）</m:t>
                          </m:r>
                        </m:e>
                      </m:func>
                    </m:oMath>
                  </m:oMathPara>
                </a14:m>
                <a:endParaRPr lang="zh-CN" altLang="en-US"/>
              </a:p>
            </p:txBody>
          </p:sp>
        </mc:Choice>
        <mc:Fallback>
          <p:sp>
            <p:nvSpPr>
              <p:cNvPr id="14" name="文本框 13"/>
              <p:cNvSpPr txBox="1">
                <a:spLocks noRot="1" noChangeAspect="1" noMove="1" noResize="1" noEditPoints="1" noAdjustHandles="1" noChangeArrowheads="1" noChangeShapeType="1" noTextEdit="1"/>
              </p:cNvSpPr>
              <p:nvPr/>
            </p:nvSpPr>
            <p:spPr>
              <a:xfrm>
                <a:off x="3538855" y="2918460"/>
                <a:ext cx="8418830" cy="673735"/>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800100" y="4743450"/>
                <a:ext cx="6839585" cy="1885950"/>
              </a:xfrm>
              <a:prstGeom prst="rect">
                <a:avLst/>
              </a:prstGeom>
              <a:noFill/>
            </p:spPr>
            <p:txBody>
              <a:bodyPr wrap="square" rtlCol="0">
                <a:spAutoFit/>
              </a:bodyPr>
              <a:p>
                <a:r>
                  <a:rPr lang="zh-CN" altLang="en-US" b="1"/>
                  <a:t>请使用互相关方式计算对于图像</a:t>
                </a:r>
                <a14:m>
                  <m:oMath xmlns:m="http://schemas.openxmlformats.org/officeDocument/2006/math">
                    <m:d>
                      <m:dPr>
                        <m:begChr m:val="["/>
                        <m:endChr m:val="]"/>
                        <m:ctrlPr>
                          <a:rPr lang="en-US" altLang="zh-CN" b="1">
                            <a:latin typeface="Cambria Math" panose="02040503050406030204" charset="0"/>
                            <a:cs typeface="Cambria Math" panose="02040503050406030204" charset="0"/>
                          </a:rPr>
                        </m:ctrlPr>
                      </m:dPr>
                      <m:e>
                        <m:m>
                          <m:mPr>
                            <m:mcs>
                              <m:mc>
                                <m:mcPr>
                                  <m:count m:val="2"/>
                                  <m:mcJc m:val="center"/>
                                </m:mcPr>
                              </m:mc>
                            </m:mcs>
                            <m:ctrlPr>
                              <a:rPr lang="en-US" altLang="zh-CN" b="1">
                                <a:latin typeface="Cambria Math" panose="02040503050406030204" charset="0"/>
                                <a:cs typeface="Cambria Math" panose="02040503050406030204" charset="0"/>
                              </a:rPr>
                            </m:ctrlPr>
                          </m:mPr>
                          <m:mr>
                            <m:e>
                              <m:m>
                                <m:mPr>
                                  <m:mcs>
                                    <m:mc>
                                      <m:mcPr>
                                        <m:count m:val="2"/>
                                        <m:mcJc m:val="center"/>
                                      </m:mcPr>
                                    </m:mc>
                                  </m:mcs>
                                  <m:ctrlPr>
                                    <a:rPr lang="en-US" altLang="zh-CN" b="1">
                                      <a:latin typeface="Cambria Math" panose="02040503050406030204" charset="0"/>
                                      <a:cs typeface="Cambria Math" panose="02040503050406030204" charset="0"/>
                                    </a:rPr>
                                  </m:ctrlPr>
                                </m:mPr>
                                <m:mr>
                                  <m:e>
                                    <m:r>
                                      <a:rPr lang="en-US" altLang="zh-CN" b="1">
                                        <a:latin typeface="Cambria Math" panose="02040503050406030204" charset="0"/>
                                        <a:cs typeface="Cambria Math" panose="02040503050406030204" charset="0"/>
                                      </a:rPr>
                                      <m:t>𝟐𝟎𝟎</m:t>
                                    </m:r>
                                  </m:e>
                                  <m:e>
                                    <m:r>
                                      <a:rPr lang="en-US" altLang="zh-CN" b="1">
                                        <a:latin typeface="Cambria Math" panose="02040503050406030204" charset="0"/>
                                        <a:cs typeface="Cambria Math" panose="02040503050406030204" charset="0"/>
                                      </a:rPr>
                                      <m:t>𝟏𝟎𝟎</m:t>
                                    </m:r>
                                  </m:e>
                                </m:mr>
                                <m:mr>
                                  <m:e>
                                    <m:r>
                                      <a:rPr lang="en-US" altLang="zh-CN" b="1">
                                        <a:latin typeface="Cambria Math" panose="02040503050406030204" charset="0"/>
                                        <a:cs typeface="Cambria Math" panose="02040503050406030204" charset="0"/>
                                      </a:rPr>
                                      <m:t>𝟐𝟎𝟎</m:t>
                                    </m:r>
                                  </m:e>
                                  <m:e>
                                    <m:r>
                                      <a:rPr lang="en-US" altLang="zh-CN" b="1">
                                        <a:latin typeface="Cambria Math" panose="02040503050406030204" charset="0"/>
                                        <a:cs typeface="Cambria Math" panose="02040503050406030204" charset="0"/>
                                      </a:rPr>
                                      <m:t>𝟏𝟓𝟎</m:t>
                                    </m:r>
                                  </m:e>
                                </m:mr>
                              </m:m>
                            </m:e>
                            <m:e>
                              <m:m>
                                <m:mPr>
                                  <m:mcs>
                                    <m:mc>
                                      <m:mcPr>
                                        <m:count m:val="2"/>
                                        <m:mcJc m:val="center"/>
                                      </m:mcPr>
                                    </m:mc>
                                  </m:mcs>
                                  <m:ctrlPr>
                                    <a:rPr lang="en-US" altLang="zh-CN" b="1">
                                      <a:latin typeface="Cambria Math" panose="02040503050406030204" charset="0"/>
                                      <a:cs typeface="Cambria Math" panose="02040503050406030204" charset="0"/>
                                    </a:rPr>
                                  </m:ctrlPr>
                                </m:mPr>
                                <m:mr>
                                  <m:e>
                                    <m:r>
                                      <a:rPr lang="en-US" altLang="zh-CN" b="1">
                                        <a:latin typeface="Cambria Math" panose="02040503050406030204" charset="0"/>
                                        <a:cs typeface="Cambria Math" panose="02040503050406030204" charset="0"/>
                                      </a:rPr>
                                      <m:t>𝟓𝟎</m:t>
                                    </m:r>
                                  </m:e>
                                  <m:e>
                                    <m:r>
                                      <a:rPr lang="en-US" altLang="zh-CN" b="1">
                                        <a:latin typeface="Cambria Math" panose="02040503050406030204" charset="0"/>
                                        <a:cs typeface="Cambria Math" panose="02040503050406030204" charset="0"/>
                                      </a:rPr>
                                      <m:t>𝟏𝟎𝟎</m:t>
                                    </m:r>
                                  </m:e>
                                </m:mr>
                                <m:mr>
                                  <m:e>
                                    <m:r>
                                      <a:rPr lang="en-US" altLang="zh-CN" b="1">
                                        <a:latin typeface="Cambria Math" panose="02040503050406030204" charset="0"/>
                                        <a:cs typeface="Cambria Math" panose="02040503050406030204" charset="0"/>
                                      </a:rPr>
                                      <m:t>𝟓𝟎</m:t>
                                    </m:r>
                                  </m:e>
                                  <m:e>
                                    <m:r>
                                      <a:rPr lang="en-US" altLang="zh-CN" b="1">
                                        <a:latin typeface="Cambria Math" panose="02040503050406030204" charset="0"/>
                                        <a:cs typeface="Cambria Math" panose="02040503050406030204" charset="0"/>
                                      </a:rPr>
                                      <m:t>𝟏𝟐𝟎</m:t>
                                    </m:r>
                                  </m:e>
                                </m:mr>
                              </m:m>
                            </m:e>
                          </m:mr>
                          <m:mr>
                            <m:e>
                              <m:m>
                                <m:mPr>
                                  <m:mcs>
                                    <m:mc>
                                      <m:mcPr>
                                        <m:count m:val="2"/>
                                        <m:mcJc m:val="center"/>
                                      </m:mcPr>
                                    </m:mc>
                                  </m:mcs>
                                  <m:ctrlPr>
                                    <a:rPr lang="en-US" altLang="zh-CN" b="1">
                                      <a:latin typeface="Cambria Math" panose="02040503050406030204" charset="0"/>
                                      <a:cs typeface="Cambria Math" panose="02040503050406030204" charset="0"/>
                                    </a:rPr>
                                  </m:ctrlPr>
                                </m:mPr>
                                <m:mr>
                                  <m:e>
                                    <m:r>
                                      <a:rPr lang="en-US" altLang="zh-CN" b="1">
                                        <a:latin typeface="Cambria Math" panose="02040503050406030204" charset="0"/>
                                        <a:cs typeface="Cambria Math" panose="02040503050406030204" charset="0"/>
                                      </a:rPr>
                                      <m:t>𝟏𝟗𝟎</m:t>
                                    </m:r>
                                  </m:e>
                                  <m:e>
                                    <m:r>
                                      <a:rPr lang="en-US" altLang="zh-CN" b="1">
                                        <a:latin typeface="Cambria Math" panose="02040503050406030204" charset="0"/>
                                        <a:cs typeface="Cambria Math" panose="02040503050406030204" charset="0"/>
                                      </a:rPr>
                                      <m:t>𝟏𝟏𝟎</m:t>
                                    </m:r>
                                  </m:e>
                                </m:mr>
                                <m:mr>
                                  <m:e>
                                    <m:r>
                                      <a:rPr lang="en-US" altLang="zh-CN" b="1">
                                        <a:latin typeface="Cambria Math" panose="02040503050406030204" charset="0"/>
                                        <a:cs typeface="Cambria Math" panose="02040503050406030204" charset="0"/>
                                      </a:rPr>
                                      <m:t>𝟎</m:t>
                                    </m:r>
                                  </m:e>
                                  <m:e>
                                    <m:r>
                                      <a:rPr lang="en-US" altLang="zh-CN" b="1">
                                        <a:latin typeface="Cambria Math" panose="02040503050406030204" charset="0"/>
                                        <a:cs typeface="Cambria Math" panose="02040503050406030204" charset="0"/>
                                      </a:rPr>
                                      <m:t>𝟏𝟗𝟗</m:t>
                                    </m:r>
                                  </m:e>
                                </m:mr>
                              </m:m>
                            </m:e>
                            <m:e>
                              <m:m>
                                <m:mPr>
                                  <m:mcs>
                                    <m:mc>
                                      <m:mcPr>
                                        <m:count m:val="2"/>
                                        <m:mcJc m:val="center"/>
                                      </m:mcPr>
                                    </m:mc>
                                  </m:mcs>
                                  <m:ctrlPr>
                                    <a:rPr lang="en-US" altLang="zh-CN" b="1">
                                      <a:latin typeface="Cambria Math" panose="02040503050406030204" charset="0"/>
                                      <a:cs typeface="Cambria Math" panose="02040503050406030204" charset="0"/>
                                    </a:rPr>
                                  </m:ctrlPr>
                                </m:mPr>
                                <m:mr>
                                  <m:e>
                                    <m:r>
                                      <a:rPr lang="en-US" altLang="zh-CN" b="1">
                                        <a:latin typeface="Cambria Math" panose="02040503050406030204" charset="0"/>
                                        <a:cs typeface="Cambria Math" panose="02040503050406030204" charset="0"/>
                                      </a:rPr>
                                      <m:t>𝟏𝟎</m:t>
                                    </m:r>
                                  </m:e>
                                  <m:e>
                                    <m:r>
                                      <a:rPr lang="en-US" altLang="zh-CN" b="1">
                                        <a:latin typeface="Cambria Math" panose="02040503050406030204" charset="0"/>
                                        <a:cs typeface="Cambria Math" panose="02040503050406030204" charset="0"/>
                                      </a:rPr>
                                      <m:t>𝟏𝟒𝟎</m:t>
                                    </m:r>
                                  </m:e>
                                </m:mr>
                                <m:mr>
                                  <m:e>
                                    <m:r>
                                      <a:rPr lang="en-US" altLang="zh-CN" b="1">
                                        <a:latin typeface="Cambria Math" panose="02040503050406030204" charset="0"/>
                                        <a:cs typeface="Cambria Math" panose="02040503050406030204" charset="0"/>
                                      </a:rPr>
                                      <m:t>𝟑𝟎</m:t>
                                    </m:r>
                                  </m:e>
                                  <m:e>
                                    <m:r>
                                      <a:rPr lang="en-US" altLang="zh-CN" b="1">
                                        <a:latin typeface="Cambria Math" panose="02040503050406030204" charset="0"/>
                                        <a:cs typeface="Cambria Math" panose="02040503050406030204" charset="0"/>
                                      </a:rPr>
                                      <m:t>𝟑𝟎</m:t>
                                    </m:r>
                                  </m:e>
                                </m:mr>
                              </m:m>
                            </m:e>
                          </m:mr>
                        </m:m>
                      </m:e>
                    </m:d>
                  </m:oMath>
                </a14:m>
                <a:r>
                  <a:rPr lang="zh-CN" altLang="en-US" b="1">
                    <a:latin typeface="Cambria Math" panose="02040503050406030204" charset="0"/>
                    <a:cs typeface="Cambria Math" panose="02040503050406030204" charset="0"/>
                  </a:rPr>
                  <a:t>的</a:t>
                </a:r>
                <a:r>
                  <a:rPr lang="en-US" altLang="zh-CN" b="1">
                    <a:latin typeface="Cambria Math" panose="02040503050406030204" charset="0"/>
                    <a:cs typeface="Cambria Math" panose="02040503050406030204" charset="0"/>
                  </a:rPr>
                  <a:t>Gx, Gy, G</a:t>
                </a:r>
                <a:r>
                  <a:rPr lang="zh-CN" altLang="en-US" b="1">
                    <a:latin typeface="Cambria Math" panose="02040503050406030204" charset="0"/>
                    <a:cs typeface="Cambria Math" panose="02040503050406030204" charset="0"/>
                  </a:rPr>
                  <a:t>。</a:t>
                </a:r>
                <a:endParaRPr lang="zh-CN" altLang="en-US" b="1">
                  <a:latin typeface="Cambria Math" panose="02040503050406030204" charset="0"/>
                  <a:cs typeface="Cambria Math" panose="02040503050406030204" charset="0"/>
                </a:endParaRPr>
              </a:p>
              <a:p>
                <a:endParaRPr lang="zh-CN" altLang="en-US" b="1">
                  <a:latin typeface="Cambria Math" panose="02040503050406030204" charset="0"/>
                  <a:cs typeface="Cambria Math" panose="02040503050406030204" charset="0"/>
                </a:endParaRPr>
              </a:p>
              <a:p>
                <a:r>
                  <a:rPr lang="zh-CN" altLang="en-US" b="1">
                    <a:latin typeface="Cambria Math" panose="02040503050406030204" charset="0"/>
                    <a:cs typeface="Cambria Math" panose="02040503050406030204" charset="0"/>
                  </a:rPr>
                  <a:t>将</a:t>
                </a:r>
                <a:r>
                  <a:rPr lang="en-US" altLang="zh-CN" b="1">
                    <a:latin typeface="Cambria Math" panose="02040503050406030204" charset="0"/>
                    <a:cs typeface="Cambria Math" panose="02040503050406030204" charset="0"/>
                  </a:rPr>
                  <a:t>G min-max</a:t>
                </a:r>
                <a:r>
                  <a:rPr lang="zh-CN" altLang="en-US" b="1">
                    <a:latin typeface="Cambria Math" panose="02040503050406030204" charset="0"/>
                    <a:cs typeface="Cambria Math" panose="02040503050406030204" charset="0"/>
                  </a:rPr>
                  <a:t>归一化后，取单阈值</a:t>
                </a:r>
                <a:r>
                  <a:rPr lang="en-US" altLang="zh-CN" b="1">
                    <a:latin typeface="Cambria Math" panose="02040503050406030204" charset="0"/>
                    <a:cs typeface="Cambria Math" panose="02040503050406030204" charset="0"/>
                  </a:rPr>
                  <a:t>128</a:t>
                </a:r>
                <a:r>
                  <a:rPr lang="zh-CN" altLang="en-US" b="1">
                    <a:latin typeface="Cambria Math" panose="02040503050406030204" charset="0"/>
                    <a:cs typeface="Cambria Math" panose="02040503050406030204" charset="0"/>
                  </a:rPr>
                  <a:t>进行阈值切割，求解最终的二值图。</a:t>
                </a:r>
                <a:endParaRPr lang="zh-CN" altLang="en-US" b="1">
                  <a:latin typeface="Cambria Math" panose="02040503050406030204" charset="0"/>
                  <a:cs typeface="Cambria Math" panose="02040503050406030204"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800100" y="4743450"/>
                <a:ext cx="6839585" cy="1885950"/>
              </a:xfrm>
              <a:prstGeom prst="rect">
                <a:avLst/>
              </a:prstGeom>
              <a:blipFill rotWithShape="1">
                <a:blip r:embed="rId6"/>
                <a:stretch>
                  <a:fillRect r="-15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5384800" y="3691255"/>
                <a:ext cx="3681730" cy="65341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𝑛𝑜𝑟𝑚</m:t>
                          </m:r>
                        </m:sub>
                      </m:sSub>
                      <m:r>
                        <a:rPr lang="en-US" altLang="zh-CN" i="1">
                          <a:latin typeface="Cambria Math" panose="02040503050406030204" charset="0"/>
                          <a:cs typeface="Cambria Math" panose="02040503050406030204" charset="0"/>
                        </a:rPr>
                        <m:t> =</m:t>
                      </m:r>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𝐺</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 </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𝑚𝑖𝑛</m:t>
                              </m:r>
                            </m:sub>
                          </m:sSub>
                        </m:num>
                        <m:den>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𝑚𝑎𝑥</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𝑚𝑖𝑛</m:t>
                              </m:r>
                            </m:sub>
                          </m:sSub>
                        </m:den>
                      </m:f>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255</m:t>
                      </m:r>
                    </m:oMath>
                  </m:oMathPara>
                </a14:m>
                <a:endParaRPr lang="zh-CN" altLang="en-US"/>
              </a:p>
            </p:txBody>
          </p:sp>
        </mc:Choice>
        <mc:Fallback>
          <p:sp>
            <p:nvSpPr>
              <p:cNvPr id="12" name="文本框 11"/>
              <p:cNvSpPr txBox="1">
                <a:spLocks noRot="1" noChangeAspect="1" noMove="1" noResize="1" noEditPoints="1" noAdjustHandles="1" noChangeArrowheads="1" noChangeShapeType="1" noTextEdit="1"/>
              </p:cNvSpPr>
              <p:nvPr/>
            </p:nvSpPr>
            <p:spPr>
              <a:xfrm>
                <a:off x="5384800" y="3691255"/>
                <a:ext cx="3681730" cy="653415"/>
              </a:xfrm>
              <a:prstGeom prst="rect">
                <a:avLst/>
              </a:prstGeom>
              <a:blipFill rotWithShape="1">
                <a:blip r:embed="rId7"/>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330200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en-US" altLang="zh-CN" sz="3200" b="1" dirty="0" smtClean="0">
                <a:solidFill>
                  <a:schemeClr val="bg1"/>
                </a:solidFill>
                <a:latin typeface="微软雅黑" panose="020B0503020204020204" charset="-122"/>
                <a:ea typeface="微软雅黑" panose="020B0503020204020204" charset="-122"/>
                <a:sym typeface="+mn-ea"/>
              </a:rPr>
              <a:t>Sobel</a:t>
            </a:r>
            <a:r>
              <a:rPr lang="zh-CN" sz="3200" b="1" dirty="0" smtClean="0">
                <a:solidFill>
                  <a:schemeClr val="bg1"/>
                </a:solidFill>
                <a:latin typeface="微软雅黑" panose="020B0503020204020204" charset="-122"/>
                <a:ea typeface="微软雅黑" panose="020B0503020204020204" charset="-122"/>
                <a:sym typeface="+mn-ea"/>
              </a:rPr>
              <a:t>边缘检测</a:t>
            </a:r>
            <a:endParaRPr lang="zh-CN" sz="3200" b="1" dirty="0" smtClean="0">
              <a:solidFill>
                <a:schemeClr val="bg1"/>
              </a:solidFill>
              <a:latin typeface="微软雅黑" panose="020B0503020204020204" charset="-122"/>
              <a:ea typeface="微软雅黑" panose="020B0503020204020204" charset="-122"/>
              <a:sym typeface="+mn-ea"/>
            </a:endParaRPr>
          </a:p>
        </p:txBody>
      </p:sp>
      <mc:AlternateContent xmlns:mc="http://schemas.openxmlformats.org/markup-compatibility/2006">
        <mc:Choice xmlns:a14="http://schemas.microsoft.com/office/drawing/2010/main" Requires="a14">
          <p:sp>
            <p:nvSpPr>
              <p:cNvPr id="3" name="文本框 2"/>
              <p:cNvSpPr txBox="1"/>
              <p:nvPr/>
            </p:nvSpPr>
            <p:spPr>
              <a:xfrm>
                <a:off x="4237355" y="462280"/>
                <a:ext cx="6839585" cy="1885950"/>
              </a:xfrm>
              <a:prstGeom prst="rect">
                <a:avLst/>
              </a:prstGeom>
              <a:noFill/>
            </p:spPr>
            <p:txBody>
              <a:bodyPr wrap="square" rtlCol="0">
                <a:spAutoFit/>
              </a:bodyPr>
              <a:p>
                <a:r>
                  <a:rPr lang="zh-CN" altLang="en-US" b="1"/>
                  <a:t>请使用互相关方式计算对于图像</a:t>
                </a:r>
                <a14:m>
                  <m:oMath xmlns:m="http://schemas.openxmlformats.org/officeDocument/2006/math">
                    <m:d>
                      <m:dPr>
                        <m:begChr m:val="["/>
                        <m:endChr m:val="]"/>
                        <m:ctrlPr>
                          <a:rPr lang="en-US" altLang="zh-CN" b="1">
                            <a:latin typeface="Cambria Math" panose="02040503050406030204" charset="0"/>
                            <a:cs typeface="Cambria Math" panose="02040503050406030204" charset="0"/>
                          </a:rPr>
                        </m:ctrlPr>
                      </m:dPr>
                      <m:e>
                        <m:m>
                          <m:mPr>
                            <m:mcs>
                              <m:mc>
                                <m:mcPr>
                                  <m:count m:val="2"/>
                                  <m:mcJc m:val="center"/>
                                </m:mcPr>
                              </m:mc>
                            </m:mcs>
                            <m:ctrlPr>
                              <a:rPr lang="en-US" altLang="zh-CN" b="1">
                                <a:latin typeface="Cambria Math" panose="02040503050406030204" charset="0"/>
                                <a:cs typeface="Cambria Math" panose="02040503050406030204" charset="0"/>
                              </a:rPr>
                            </m:ctrlPr>
                          </m:mPr>
                          <m:mr>
                            <m:e>
                              <m:m>
                                <m:mPr>
                                  <m:mcs>
                                    <m:mc>
                                      <m:mcPr>
                                        <m:count m:val="2"/>
                                        <m:mcJc m:val="center"/>
                                      </m:mcPr>
                                    </m:mc>
                                  </m:mcs>
                                  <m:ctrlPr>
                                    <a:rPr lang="en-US" altLang="zh-CN" b="1">
                                      <a:latin typeface="Cambria Math" panose="02040503050406030204" charset="0"/>
                                      <a:cs typeface="Cambria Math" panose="02040503050406030204" charset="0"/>
                                    </a:rPr>
                                  </m:ctrlPr>
                                </m:mPr>
                                <m:mr>
                                  <m:e>
                                    <m:r>
                                      <a:rPr lang="en-US" altLang="zh-CN" b="1">
                                        <a:latin typeface="Cambria Math" panose="02040503050406030204" charset="0"/>
                                        <a:cs typeface="Cambria Math" panose="02040503050406030204" charset="0"/>
                                      </a:rPr>
                                      <m:t>𝟐𝟎𝟎</m:t>
                                    </m:r>
                                  </m:e>
                                  <m:e>
                                    <m:r>
                                      <a:rPr lang="en-US" altLang="zh-CN" b="1">
                                        <a:latin typeface="Cambria Math" panose="02040503050406030204" charset="0"/>
                                        <a:cs typeface="Cambria Math" panose="02040503050406030204" charset="0"/>
                                      </a:rPr>
                                      <m:t>𝟏𝟎𝟎</m:t>
                                    </m:r>
                                  </m:e>
                                </m:mr>
                                <m:mr>
                                  <m:e>
                                    <m:r>
                                      <a:rPr lang="en-US" altLang="zh-CN" b="1">
                                        <a:latin typeface="Cambria Math" panose="02040503050406030204" charset="0"/>
                                        <a:cs typeface="Cambria Math" panose="02040503050406030204" charset="0"/>
                                      </a:rPr>
                                      <m:t>𝟐𝟎𝟎</m:t>
                                    </m:r>
                                  </m:e>
                                  <m:e>
                                    <m:r>
                                      <a:rPr lang="en-US" altLang="zh-CN" b="1">
                                        <a:latin typeface="Cambria Math" panose="02040503050406030204" charset="0"/>
                                        <a:cs typeface="Cambria Math" panose="02040503050406030204" charset="0"/>
                                      </a:rPr>
                                      <m:t>𝟏𝟓𝟎</m:t>
                                    </m:r>
                                  </m:e>
                                </m:mr>
                              </m:m>
                            </m:e>
                            <m:e>
                              <m:m>
                                <m:mPr>
                                  <m:mcs>
                                    <m:mc>
                                      <m:mcPr>
                                        <m:count m:val="2"/>
                                        <m:mcJc m:val="center"/>
                                      </m:mcPr>
                                    </m:mc>
                                  </m:mcs>
                                  <m:ctrlPr>
                                    <a:rPr lang="en-US" altLang="zh-CN" b="1">
                                      <a:latin typeface="Cambria Math" panose="02040503050406030204" charset="0"/>
                                      <a:cs typeface="Cambria Math" panose="02040503050406030204" charset="0"/>
                                    </a:rPr>
                                  </m:ctrlPr>
                                </m:mPr>
                                <m:mr>
                                  <m:e>
                                    <m:r>
                                      <a:rPr lang="en-US" altLang="zh-CN" b="1">
                                        <a:latin typeface="Cambria Math" panose="02040503050406030204" charset="0"/>
                                        <a:cs typeface="Cambria Math" panose="02040503050406030204" charset="0"/>
                                      </a:rPr>
                                      <m:t>𝟓𝟎</m:t>
                                    </m:r>
                                  </m:e>
                                  <m:e>
                                    <m:r>
                                      <a:rPr lang="en-US" altLang="zh-CN" b="1">
                                        <a:latin typeface="Cambria Math" panose="02040503050406030204" charset="0"/>
                                        <a:cs typeface="Cambria Math" panose="02040503050406030204" charset="0"/>
                                      </a:rPr>
                                      <m:t>𝟏𝟎𝟎</m:t>
                                    </m:r>
                                  </m:e>
                                </m:mr>
                                <m:mr>
                                  <m:e>
                                    <m:r>
                                      <a:rPr lang="en-US" altLang="zh-CN" b="1">
                                        <a:latin typeface="Cambria Math" panose="02040503050406030204" charset="0"/>
                                        <a:cs typeface="Cambria Math" panose="02040503050406030204" charset="0"/>
                                      </a:rPr>
                                      <m:t>𝟓𝟎</m:t>
                                    </m:r>
                                  </m:e>
                                  <m:e>
                                    <m:r>
                                      <a:rPr lang="en-US" altLang="zh-CN" b="1">
                                        <a:latin typeface="Cambria Math" panose="02040503050406030204" charset="0"/>
                                        <a:cs typeface="Cambria Math" panose="02040503050406030204" charset="0"/>
                                      </a:rPr>
                                      <m:t>𝟏𝟐𝟎</m:t>
                                    </m:r>
                                  </m:e>
                                </m:mr>
                              </m:m>
                            </m:e>
                          </m:mr>
                          <m:mr>
                            <m:e>
                              <m:m>
                                <m:mPr>
                                  <m:mcs>
                                    <m:mc>
                                      <m:mcPr>
                                        <m:count m:val="2"/>
                                        <m:mcJc m:val="center"/>
                                      </m:mcPr>
                                    </m:mc>
                                  </m:mcs>
                                  <m:ctrlPr>
                                    <a:rPr lang="en-US" altLang="zh-CN" b="1">
                                      <a:latin typeface="Cambria Math" panose="02040503050406030204" charset="0"/>
                                      <a:cs typeface="Cambria Math" panose="02040503050406030204" charset="0"/>
                                    </a:rPr>
                                  </m:ctrlPr>
                                </m:mPr>
                                <m:mr>
                                  <m:e>
                                    <m:r>
                                      <a:rPr lang="en-US" altLang="zh-CN" b="1">
                                        <a:latin typeface="Cambria Math" panose="02040503050406030204" charset="0"/>
                                        <a:cs typeface="Cambria Math" panose="02040503050406030204" charset="0"/>
                                      </a:rPr>
                                      <m:t>𝟏𝟗𝟎</m:t>
                                    </m:r>
                                  </m:e>
                                  <m:e>
                                    <m:r>
                                      <a:rPr lang="en-US" altLang="zh-CN" b="1">
                                        <a:latin typeface="Cambria Math" panose="02040503050406030204" charset="0"/>
                                        <a:cs typeface="Cambria Math" panose="02040503050406030204" charset="0"/>
                                      </a:rPr>
                                      <m:t>𝟏𝟏𝟎</m:t>
                                    </m:r>
                                  </m:e>
                                </m:mr>
                                <m:mr>
                                  <m:e>
                                    <m:r>
                                      <a:rPr lang="en-US" altLang="zh-CN" b="1">
                                        <a:latin typeface="Cambria Math" panose="02040503050406030204" charset="0"/>
                                        <a:cs typeface="Cambria Math" panose="02040503050406030204" charset="0"/>
                                      </a:rPr>
                                      <m:t>𝟎</m:t>
                                    </m:r>
                                  </m:e>
                                  <m:e>
                                    <m:r>
                                      <a:rPr lang="en-US" altLang="zh-CN" b="1">
                                        <a:latin typeface="Cambria Math" panose="02040503050406030204" charset="0"/>
                                        <a:cs typeface="Cambria Math" panose="02040503050406030204" charset="0"/>
                                      </a:rPr>
                                      <m:t>𝟏𝟗𝟗</m:t>
                                    </m:r>
                                  </m:e>
                                </m:mr>
                              </m:m>
                            </m:e>
                            <m:e>
                              <m:m>
                                <m:mPr>
                                  <m:mcs>
                                    <m:mc>
                                      <m:mcPr>
                                        <m:count m:val="2"/>
                                        <m:mcJc m:val="center"/>
                                      </m:mcPr>
                                    </m:mc>
                                  </m:mcs>
                                  <m:ctrlPr>
                                    <a:rPr lang="en-US" altLang="zh-CN" b="1">
                                      <a:latin typeface="Cambria Math" panose="02040503050406030204" charset="0"/>
                                      <a:cs typeface="Cambria Math" panose="02040503050406030204" charset="0"/>
                                    </a:rPr>
                                  </m:ctrlPr>
                                </m:mPr>
                                <m:mr>
                                  <m:e>
                                    <m:r>
                                      <a:rPr lang="en-US" altLang="zh-CN" b="1">
                                        <a:latin typeface="Cambria Math" panose="02040503050406030204" charset="0"/>
                                        <a:cs typeface="Cambria Math" panose="02040503050406030204" charset="0"/>
                                      </a:rPr>
                                      <m:t>𝟏𝟎</m:t>
                                    </m:r>
                                  </m:e>
                                  <m:e>
                                    <m:r>
                                      <a:rPr lang="en-US" altLang="zh-CN" b="1">
                                        <a:latin typeface="Cambria Math" panose="02040503050406030204" charset="0"/>
                                        <a:cs typeface="Cambria Math" panose="02040503050406030204" charset="0"/>
                                      </a:rPr>
                                      <m:t>𝟏𝟒𝟎</m:t>
                                    </m:r>
                                  </m:e>
                                </m:mr>
                                <m:mr>
                                  <m:e>
                                    <m:r>
                                      <a:rPr lang="en-US" altLang="zh-CN" b="1">
                                        <a:latin typeface="Cambria Math" panose="02040503050406030204" charset="0"/>
                                        <a:cs typeface="Cambria Math" panose="02040503050406030204" charset="0"/>
                                      </a:rPr>
                                      <m:t>𝟑𝟎</m:t>
                                    </m:r>
                                  </m:e>
                                  <m:e>
                                    <m:r>
                                      <a:rPr lang="en-US" altLang="zh-CN" b="1">
                                        <a:latin typeface="Cambria Math" panose="02040503050406030204" charset="0"/>
                                        <a:cs typeface="Cambria Math" panose="02040503050406030204" charset="0"/>
                                      </a:rPr>
                                      <m:t>𝟑𝟎</m:t>
                                    </m:r>
                                  </m:e>
                                </m:mr>
                              </m:m>
                            </m:e>
                          </m:mr>
                        </m:m>
                      </m:e>
                    </m:d>
                  </m:oMath>
                </a14:m>
                <a:r>
                  <a:rPr lang="zh-CN" altLang="en-US" b="1">
                    <a:latin typeface="Cambria Math" panose="02040503050406030204" charset="0"/>
                    <a:cs typeface="Cambria Math" panose="02040503050406030204" charset="0"/>
                  </a:rPr>
                  <a:t>的</a:t>
                </a:r>
                <a:r>
                  <a:rPr lang="en-US" altLang="zh-CN" b="1">
                    <a:latin typeface="Cambria Math" panose="02040503050406030204" charset="0"/>
                    <a:cs typeface="Cambria Math" panose="02040503050406030204" charset="0"/>
                  </a:rPr>
                  <a:t>Gx, Gy, G</a:t>
                </a:r>
                <a:r>
                  <a:rPr lang="zh-CN" altLang="en-US" b="1">
                    <a:latin typeface="Cambria Math" panose="02040503050406030204" charset="0"/>
                    <a:cs typeface="Cambria Math" panose="02040503050406030204" charset="0"/>
                  </a:rPr>
                  <a:t>。</a:t>
                </a:r>
                <a:endParaRPr lang="zh-CN" altLang="en-US" b="1">
                  <a:latin typeface="Cambria Math" panose="02040503050406030204" charset="0"/>
                  <a:cs typeface="Cambria Math" panose="02040503050406030204" charset="0"/>
                </a:endParaRPr>
              </a:p>
              <a:p>
                <a:endParaRPr lang="zh-CN" altLang="en-US" b="1">
                  <a:latin typeface="Cambria Math" panose="02040503050406030204" charset="0"/>
                  <a:cs typeface="Cambria Math" panose="02040503050406030204" charset="0"/>
                </a:endParaRPr>
              </a:p>
              <a:p>
                <a:r>
                  <a:rPr lang="zh-CN" altLang="en-US" b="1">
                    <a:latin typeface="Cambria Math" panose="02040503050406030204" charset="0"/>
                    <a:cs typeface="Cambria Math" panose="02040503050406030204" charset="0"/>
                  </a:rPr>
                  <a:t>将</a:t>
                </a:r>
                <a:r>
                  <a:rPr lang="en-US" altLang="zh-CN" b="1">
                    <a:latin typeface="Cambria Math" panose="02040503050406030204" charset="0"/>
                    <a:cs typeface="Cambria Math" panose="02040503050406030204" charset="0"/>
                  </a:rPr>
                  <a:t>G min-max</a:t>
                </a:r>
                <a:r>
                  <a:rPr lang="zh-CN" altLang="en-US" b="1">
                    <a:latin typeface="Cambria Math" panose="02040503050406030204" charset="0"/>
                    <a:cs typeface="Cambria Math" panose="02040503050406030204" charset="0"/>
                  </a:rPr>
                  <a:t>归一化后，取单阈值</a:t>
                </a:r>
                <a:r>
                  <a:rPr lang="en-US" altLang="zh-CN" b="1">
                    <a:latin typeface="Cambria Math" panose="02040503050406030204" charset="0"/>
                    <a:cs typeface="Cambria Math" panose="02040503050406030204" charset="0"/>
                  </a:rPr>
                  <a:t>128</a:t>
                </a:r>
                <a:r>
                  <a:rPr lang="zh-CN" altLang="en-US" b="1">
                    <a:latin typeface="Cambria Math" panose="02040503050406030204" charset="0"/>
                    <a:cs typeface="Cambria Math" panose="02040503050406030204" charset="0"/>
                  </a:rPr>
                  <a:t>进行阈值切割，求解最终的二值图。</a:t>
                </a:r>
                <a:endParaRPr lang="zh-CN" altLang="en-US" b="1">
                  <a:latin typeface="Cambria Math" panose="02040503050406030204" charset="0"/>
                  <a:cs typeface="Cambria Math" panose="02040503050406030204"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4237355" y="462280"/>
                <a:ext cx="6839585" cy="1885950"/>
              </a:xfrm>
              <a:prstGeom prst="rect">
                <a:avLst/>
              </a:prstGeom>
              <a:blipFill rotWithShape="1">
                <a:blip r:embed="rId3"/>
                <a:stretch>
                  <a:fillRect r="-15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925830" y="2570480"/>
                <a:ext cx="10876915" cy="3199765"/>
              </a:xfrm>
              <a:prstGeom prst="rect">
                <a:avLst/>
              </a:prstGeom>
              <a:noFill/>
            </p:spPr>
            <p:txBody>
              <a:bodyPr wrap="square" rtlCol="0">
                <a:noAutofit/>
              </a:bodyPr>
              <a:p>
                <a:r>
                  <a:rPr lang="zh-CN" altLang="en-US"/>
                  <a:t>像素</a:t>
                </a:r>
                <a:r>
                  <a:rPr lang="en-US" altLang="zh-CN"/>
                  <a:t>(1,1):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𝑥</m:t>
                        </m:r>
                      </m:sub>
                    </m:sSub>
                    <m:r>
                      <a:rPr lang="en-US" altLang="zh-CN">
                        <a:latin typeface="Cambria Math" panose="02040503050406030204" charset="0"/>
                      </a:rPr>
                      <m:t> =</m:t>
                    </m:r>
                    <m:r>
                      <a:rPr lang="en-US" altLang="zh-CN">
                        <a:latin typeface="Cambria Math" panose="02040503050406030204" charset="0"/>
                      </a:rPr>
                      <m:t> </m:t>
                    </m:r>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2</m:t>
                          </m:r>
                        </m:e>
                      </m:m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1</m:t>
                          </m:r>
                        </m:e>
                      </m:mr>
                    </m:m>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  </m:t>
                    </m:r>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200</m:t>
                          </m:r>
                        </m:e>
                        <m:e>
                          <m:r>
                            <a:rPr lang="en-US" altLang="zh-CN" i="1">
                              <a:latin typeface="Cambria Math" panose="02040503050406030204" charset="0"/>
                              <a:cs typeface="Cambria Math" panose="02040503050406030204" charset="0"/>
                            </a:rPr>
                            <m:t>100</m:t>
                          </m:r>
                        </m:e>
                        <m:e>
                          <m:r>
                            <a:rPr lang="en-US" altLang="zh-CN" i="1">
                              <a:latin typeface="Cambria Math" panose="02040503050406030204" charset="0"/>
                              <a:cs typeface="Cambria Math" panose="02040503050406030204" charset="0"/>
                            </a:rPr>
                            <m:t>50</m:t>
                          </m:r>
                        </m:e>
                      </m:mr>
                      <m:mr>
                        <m:e>
                          <m:r>
                            <a:rPr lang="en-US" altLang="zh-CN" i="1">
                              <a:latin typeface="Cambria Math" panose="02040503050406030204" charset="0"/>
                              <a:cs typeface="Cambria Math" panose="02040503050406030204" charset="0"/>
                            </a:rPr>
                            <m:t>200</m:t>
                          </m:r>
                        </m:e>
                        <m:e>
                          <m:r>
                            <a:rPr lang="en-US" altLang="zh-CN" i="1">
                              <a:latin typeface="Cambria Math" panose="02040503050406030204" charset="0"/>
                              <a:cs typeface="Cambria Math" panose="02040503050406030204" charset="0"/>
                            </a:rPr>
                            <m:t>150</m:t>
                          </m:r>
                        </m:e>
                        <m:e>
                          <m:r>
                            <a:rPr lang="en-US" altLang="zh-CN" i="1">
                              <a:latin typeface="Cambria Math" panose="02040503050406030204" charset="0"/>
                              <a:cs typeface="Cambria Math" panose="02040503050406030204" charset="0"/>
                            </a:rPr>
                            <m:t>50</m:t>
                          </m:r>
                        </m:e>
                      </m:mr>
                      <m:mr>
                        <m:e>
                          <m:r>
                            <a:rPr lang="en-US" altLang="zh-CN" i="1">
                              <a:latin typeface="Cambria Math" panose="02040503050406030204" charset="0"/>
                              <a:cs typeface="Cambria Math" panose="02040503050406030204" charset="0"/>
                            </a:rPr>
                            <m:t>190</m:t>
                          </m:r>
                        </m:e>
                        <m:e>
                          <m:r>
                            <a:rPr lang="en-US" altLang="zh-CN" i="1">
                              <a:latin typeface="Cambria Math" panose="02040503050406030204" charset="0"/>
                              <a:cs typeface="Cambria Math" panose="02040503050406030204" charset="0"/>
                            </a:rPr>
                            <m:t>110</m:t>
                          </m:r>
                        </m:e>
                        <m:e>
                          <m:r>
                            <a:rPr lang="en-US" altLang="zh-CN" i="1">
                              <a:latin typeface="Cambria Math" panose="02040503050406030204" charset="0"/>
                              <a:cs typeface="Cambria Math" panose="02040503050406030204" charset="0"/>
                            </a:rPr>
                            <m:t>10</m:t>
                          </m:r>
                        </m:e>
                      </m:mr>
                    </m:m>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630</m:t>
                    </m:r>
                    <m:r>
                      <a:rPr lang="en-US" altLang="zh-CN" i="1">
                        <a:latin typeface="Cambria Math" panose="02040503050406030204" charset="0"/>
                        <a:cs typeface="Cambria Math" panose="02040503050406030204" charset="0"/>
                      </a:rPr>
                      <m:t> </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 </m:t>
                        </m:r>
                      </m:sub>
                    </m:sSub>
                    <m:r>
                      <a:rPr lang="en-US" altLang="zh-CN" i="1">
                        <a:latin typeface="Cambria Math" panose="02040503050406030204" charset="0"/>
                        <a:cs typeface="Cambria Math" panose="02040503050406030204" charset="0"/>
                      </a:rPr>
                      <m:t>= </m:t>
                    </m:r>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e>
                      </m:mr>
                      <m:m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2</m:t>
                          </m:r>
                        </m:e>
                        <m:e>
                          <m:r>
                            <a:rPr lang="en-US" altLang="zh-CN" i="1">
                              <a:latin typeface="Cambria Math" panose="02040503050406030204" charset="0"/>
                              <a:cs typeface="Cambria Math" panose="02040503050406030204" charset="0"/>
                            </a:rPr>
                            <m:t>1</m:t>
                          </m:r>
                        </m:e>
                      </m:mr>
                    </m:m>
                    <m:r>
                      <a:rPr lang="en-US" altLang="zh-CN" i="1">
                        <a:latin typeface="Cambria Math" panose="02040503050406030204" charset="0"/>
                        <a:cs typeface="Cambria Math" panose="02040503050406030204" charset="0"/>
                      </a:rPr>
                      <m:t>∗  </m:t>
                    </m:r>
                    <m:m>
                      <m:mPr>
                        <m:mcs>
                          <m:mc>
                            <m:mcPr>
                              <m:count m:val="3"/>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200</m:t>
                          </m:r>
                        </m:e>
                        <m:e>
                          <m:r>
                            <a:rPr lang="en-US" altLang="zh-CN" i="1">
                              <a:latin typeface="Cambria Math" panose="02040503050406030204" charset="0"/>
                              <a:cs typeface="Cambria Math" panose="02040503050406030204" charset="0"/>
                            </a:rPr>
                            <m:t>100</m:t>
                          </m:r>
                        </m:e>
                        <m:e>
                          <m:r>
                            <a:rPr lang="en-US" altLang="zh-CN" i="1">
                              <a:latin typeface="Cambria Math" panose="02040503050406030204" charset="0"/>
                              <a:cs typeface="Cambria Math" panose="02040503050406030204" charset="0"/>
                            </a:rPr>
                            <m:t>50</m:t>
                          </m:r>
                        </m:e>
                      </m:mr>
                      <m:mr>
                        <m:e>
                          <m:r>
                            <a:rPr lang="en-US" altLang="zh-CN" i="1">
                              <a:latin typeface="Cambria Math" panose="02040503050406030204" charset="0"/>
                              <a:cs typeface="Cambria Math" panose="02040503050406030204" charset="0"/>
                            </a:rPr>
                            <m:t>200</m:t>
                          </m:r>
                        </m:e>
                        <m:e>
                          <m:r>
                            <a:rPr lang="en-US" altLang="zh-CN" i="1">
                              <a:latin typeface="Cambria Math" panose="02040503050406030204" charset="0"/>
                              <a:cs typeface="Cambria Math" panose="02040503050406030204" charset="0"/>
                            </a:rPr>
                            <m:t>150</m:t>
                          </m:r>
                        </m:e>
                        <m:e>
                          <m:r>
                            <a:rPr lang="en-US" altLang="zh-CN" i="1">
                              <a:latin typeface="Cambria Math" panose="02040503050406030204" charset="0"/>
                              <a:cs typeface="Cambria Math" panose="02040503050406030204" charset="0"/>
                            </a:rPr>
                            <m:t>50</m:t>
                          </m:r>
                        </m:e>
                      </m:mr>
                      <m:mr>
                        <m:e>
                          <m:r>
                            <a:rPr lang="en-US" altLang="zh-CN" i="1">
                              <a:latin typeface="Cambria Math" panose="02040503050406030204" charset="0"/>
                              <a:cs typeface="Cambria Math" panose="02040503050406030204" charset="0"/>
                            </a:rPr>
                            <m:t>190</m:t>
                          </m:r>
                        </m:e>
                        <m:e>
                          <m:r>
                            <a:rPr lang="en-US" altLang="zh-CN" i="1">
                              <a:latin typeface="Cambria Math" panose="02040503050406030204" charset="0"/>
                              <a:cs typeface="Cambria Math" panose="02040503050406030204" charset="0"/>
                            </a:rPr>
                            <m:t>110</m:t>
                          </m:r>
                        </m:e>
                        <m:e>
                          <m:r>
                            <a:rPr lang="en-US" altLang="zh-CN" i="1">
                              <a:latin typeface="Cambria Math" panose="02040503050406030204" charset="0"/>
                              <a:cs typeface="Cambria Math" panose="02040503050406030204" charset="0"/>
                            </a:rPr>
                            <m:t>10</m:t>
                          </m:r>
                        </m:e>
                      </m:mr>
                    </m:m>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30</m:t>
                    </m:r>
                  </m:oMath>
                </a14:m>
                <a:endParaRPr lang="en-US" altLang="zh-CN"/>
              </a:p>
              <a:p>
                <a:endParaRPr lang="en-US" altLang="zh-CN"/>
              </a:p>
            </p:txBody>
          </p:sp>
        </mc:Choice>
        <mc:Fallback>
          <p:sp>
            <p:nvSpPr>
              <p:cNvPr id="9" name="文本框 8"/>
              <p:cNvSpPr txBox="1">
                <a:spLocks noRot="1" noChangeAspect="1" noMove="1" noResize="1" noEditPoints="1" noAdjustHandles="1" noChangeArrowheads="1" noChangeShapeType="1" noTextEdit="1"/>
              </p:cNvSpPr>
              <p:nvPr/>
            </p:nvSpPr>
            <p:spPr>
              <a:xfrm>
                <a:off x="925830" y="2570480"/>
                <a:ext cx="10876915" cy="319976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1199515" y="3750945"/>
                <a:ext cx="9992360" cy="548005"/>
              </a:xfrm>
              <a:prstGeom prst="rect">
                <a:avLst/>
              </a:prstGeom>
              <a:noFill/>
            </p:spPr>
            <p:txBody>
              <a:bodyPr wrap="square" rtlCol="0">
                <a:spAutoFit/>
              </a:bodyPr>
              <a:p>
                <a:r>
                  <a:rPr lang="zh-CN" altLang="en-US"/>
                  <a:t>依次类推，</a:t>
                </a:r>
                <a:r>
                  <a:rPr lang="en-US" altLang="zh-CN"/>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𝑥</m:t>
                        </m:r>
                      </m:sub>
                    </m:sSub>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630</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30</m:t>
                              </m:r>
                            </m:e>
                          </m:m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480</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139</m:t>
                              </m:r>
                            </m:e>
                          </m:mr>
                        </m:m>
                      </m:e>
                    </m:d>
                    <m:r>
                      <a:rPr lang="en-US" altLang="zh-CN" i="1">
                        <a:latin typeface="Cambria Math" panose="02040503050406030204" charset="0"/>
                        <a:cs typeface="Cambria Math" panose="02040503050406030204" charset="0"/>
                      </a:rPr>
                      <m:t>, </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𝑦</m:t>
                        </m:r>
                      </m:sub>
                    </m:sSub>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30</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30</m:t>
                              </m:r>
                            </m:e>
                          </m:mr>
                          <m:m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122</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81</m:t>
                              </m:r>
                            </m:e>
                          </m:mr>
                        </m:m>
                      </m:e>
                    </m:d>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𝐺</m:t>
                    </m:r>
                    <m:r>
                      <a:rPr lang="en-US" altLang="zh-CN" i="1">
                        <a:latin typeface="Cambria Math" panose="02040503050406030204" charset="0"/>
                        <a:cs typeface="Cambria Math" panose="02040503050406030204" charset="0"/>
                      </a:rPr>
                      <m:t>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630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7</m:t>
                              </m:r>
                            </m:e>
                            <m:e>
                              <m:r>
                                <a:rPr lang="en-US" altLang="zh-CN" i="1">
                                  <a:latin typeface="Cambria Math" panose="02040503050406030204" charset="0"/>
                                  <a:cs typeface="Cambria Math" panose="02040503050406030204" charset="0"/>
                                </a:rPr>
                                <m:t>42</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4</m:t>
                              </m:r>
                            </m:e>
                          </m:mr>
                          <m:mr>
                            <m:e>
                              <m:r>
                                <a:rPr lang="en-US" altLang="zh-CN" i="1">
                                  <a:latin typeface="Cambria Math" panose="02040503050406030204" charset="0"/>
                                  <a:cs typeface="Cambria Math" panose="02040503050406030204" charset="0"/>
                                </a:rPr>
                                <m:t>495</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3</m:t>
                              </m:r>
                            </m:e>
                            <m:e>
                              <m:r>
                                <a:rPr lang="en-US" altLang="zh-CN" i="1">
                                  <a:latin typeface="Cambria Math" panose="02040503050406030204" charset="0"/>
                                  <a:cs typeface="Cambria Math" panose="02040503050406030204" charset="0"/>
                                </a:rPr>
                                <m:t>160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9</m:t>
                              </m:r>
                            </m:e>
                          </m:mr>
                        </m:m>
                      </m:e>
                    </m:d>
                    <m:r>
                      <a:rPr lang="en-US" altLang="zh-CN" i="1">
                        <a:latin typeface="Cambria Math" panose="02040503050406030204" charset="0"/>
                        <a:cs typeface="Cambria Math" panose="02040503050406030204" charset="0"/>
                      </a:rPr>
                      <m:t> </m:t>
                    </m:r>
                  </m:oMath>
                </a14:m>
                <a:endParaRPr lang="en-US" altLang="zh-CN"/>
              </a:p>
            </p:txBody>
          </p:sp>
        </mc:Choice>
        <mc:Fallback>
          <p:sp>
            <p:nvSpPr>
              <p:cNvPr id="11" name="文本框 10"/>
              <p:cNvSpPr txBox="1">
                <a:spLocks noRot="1" noChangeAspect="1" noMove="1" noResize="1" noEditPoints="1" noAdjustHandles="1" noChangeArrowheads="1" noChangeShapeType="1" noTextEdit="1"/>
              </p:cNvSpPr>
              <p:nvPr/>
            </p:nvSpPr>
            <p:spPr>
              <a:xfrm>
                <a:off x="1199515" y="3750945"/>
                <a:ext cx="9992360" cy="548005"/>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1436370" y="4572635"/>
                <a:ext cx="6734175" cy="65341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𝑛𝑜𝑟𝑚</m:t>
                          </m:r>
                        </m:sub>
                      </m:sSub>
                      <m:r>
                        <a:rPr lang="en-US" altLang="zh-CN" i="1">
                          <a:latin typeface="Cambria Math" panose="02040503050406030204" charset="0"/>
                          <a:cs typeface="Cambria Math" panose="02040503050406030204" charset="0"/>
                        </a:rPr>
                        <m:t> =</m:t>
                      </m:r>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𝐺</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 </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𝑚𝑖𝑛</m:t>
                              </m:r>
                            </m:sub>
                          </m:sSub>
                        </m:num>
                        <m:den>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𝑚𝑎𝑥</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𝑚𝑖𝑛</m:t>
                              </m:r>
                            </m:sub>
                          </m:sSub>
                        </m:den>
                      </m:f>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255</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255</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196</m:t>
                                </m:r>
                              </m:e>
                              <m:e>
                                <m:r>
                                  <a:rPr lang="en-US" altLang="zh-CN" i="1">
                                    <a:latin typeface="Cambria Math" panose="02040503050406030204" charset="0"/>
                                    <a:cs typeface="Cambria Math" panose="02040503050406030204" charset="0"/>
                                  </a:rPr>
                                  <m:t>51</m:t>
                                </m:r>
                              </m:e>
                            </m:mr>
                          </m:m>
                        </m:e>
                      </m:d>
                    </m:oMath>
                  </m:oMathPara>
                </a14:m>
                <a:endParaRPr lang="zh-CN" altLang="en-US"/>
              </a:p>
            </p:txBody>
          </p:sp>
        </mc:Choice>
        <mc:Fallback>
          <p:sp>
            <p:nvSpPr>
              <p:cNvPr id="12" name="文本框 11"/>
              <p:cNvSpPr txBox="1">
                <a:spLocks noRot="1" noChangeAspect="1" noMove="1" noResize="1" noEditPoints="1" noAdjustHandles="1" noChangeArrowheads="1" noChangeShapeType="1" noTextEdit="1"/>
              </p:cNvSpPr>
              <p:nvPr/>
            </p:nvSpPr>
            <p:spPr>
              <a:xfrm>
                <a:off x="1436370" y="4572635"/>
                <a:ext cx="6734175" cy="653415"/>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3312096" y="5683504"/>
                <a:ext cx="2007235" cy="54800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𝑡ℎ𝑟𝑒𝑠ℎ</m:t>
                          </m:r>
                        </m:sub>
                      </m:sSub>
                      <m:r>
                        <a:rPr lang="en-US" altLang="zh-CN" i="1">
                          <a:latin typeface="Cambria Math" panose="02040503050406030204" charset="0"/>
                          <a:cs typeface="Cambria Math" panose="02040503050406030204" charset="0"/>
                        </a:rPr>
                        <m:t> = </m:t>
                      </m:r>
                      <m:d>
                        <m:dPr>
                          <m:begChr m:val="["/>
                          <m:endChr m:val="]"/>
                          <m:ctrlPr>
                            <a:rPr lang="en-US" altLang="zh-CN" i="1">
                              <a:latin typeface="Cambria Math" panose="02040503050406030204" charset="0"/>
                              <a:cs typeface="Cambria Math" panose="02040503050406030204" charset="0"/>
                            </a:rPr>
                          </m:ctrlPr>
                        </m:dPr>
                        <m:e>
                          <m:m>
                            <m:mPr>
                              <m:mcs>
                                <m:mc>
                                  <m:mcPr>
                                    <m:count m:val="2"/>
                                    <m:mcJc m:val="center"/>
                                  </m:mcPr>
                                </m:mc>
                              </m:mcs>
                              <m:ctrlPr>
                                <a:rPr lang="en-US" altLang="zh-CN" i="1">
                                  <a:latin typeface="Cambria Math" panose="02040503050406030204" charset="0"/>
                                  <a:cs typeface="Cambria Math" panose="02040503050406030204" charset="0"/>
                                </a:rPr>
                              </m:ctrlPr>
                            </m:mP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r>
                              <m:e>
                                <m:r>
                                  <a:rPr lang="en-US" altLang="zh-CN" i="1">
                                    <a:latin typeface="Cambria Math" panose="02040503050406030204" charset="0"/>
                                    <a:cs typeface="Cambria Math" panose="02040503050406030204" charset="0"/>
                                  </a:rPr>
                                  <m:t>1</m:t>
                                </m:r>
                              </m:e>
                              <m:e>
                                <m:r>
                                  <a:rPr lang="en-US" altLang="zh-CN" i="1">
                                    <a:latin typeface="Cambria Math" panose="02040503050406030204" charset="0"/>
                                    <a:cs typeface="Cambria Math" panose="02040503050406030204" charset="0"/>
                                  </a:rPr>
                                  <m:t>0</m:t>
                                </m:r>
                              </m:e>
                            </m:mr>
                          </m:m>
                        </m:e>
                      </m:d>
                    </m:oMath>
                  </m:oMathPara>
                </a14:m>
                <a:endParaRPr lang="zh-CN" altLang="en-US"/>
              </a:p>
            </p:txBody>
          </p:sp>
        </mc:Choice>
        <mc:Fallback>
          <p:sp>
            <p:nvSpPr>
              <p:cNvPr id="13" name="文本框 12"/>
              <p:cNvSpPr txBox="1">
                <a:spLocks noRot="1" noChangeAspect="1" noMove="1" noResize="1" noEditPoints="1" noAdjustHandles="1" noChangeArrowheads="1" noChangeShapeType="1" noTextEdit="1"/>
              </p:cNvSpPr>
              <p:nvPr/>
            </p:nvSpPr>
            <p:spPr>
              <a:xfrm>
                <a:off x="3312096" y="5683504"/>
                <a:ext cx="2007235" cy="548005"/>
              </a:xfrm>
              <a:prstGeom prst="rect">
                <a:avLst/>
              </a:prstGeom>
              <a:blipFill rotWithShape="1">
                <a:blip r:embed="rId7"/>
                <a:stretch>
                  <a:fillRect l="-28" t="-46" r="28" b="46"/>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205803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滤波算子</a:t>
            </a:r>
            <a:endParaRPr lang="zh-CN" sz="3200" b="1" dirty="0" smtClean="0">
              <a:solidFill>
                <a:schemeClr val="bg1"/>
              </a:solidFill>
              <a:latin typeface="微软雅黑" panose="020B0503020204020204" charset="-122"/>
              <a:ea typeface="微软雅黑" panose="020B0503020204020204" charset="-122"/>
              <a:sym typeface="+mn-ea"/>
            </a:endParaRPr>
          </a:p>
        </p:txBody>
      </p:sp>
      <p:sp>
        <p:nvSpPr>
          <p:cNvPr id="5" name="文本框 4"/>
          <p:cNvSpPr txBox="1"/>
          <p:nvPr/>
        </p:nvSpPr>
        <p:spPr>
          <a:xfrm>
            <a:off x="2140585" y="2086610"/>
            <a:ext cx="6999605" cy="922020"/>
          </a:xfrm>
          <a:prstGeom prst="rect">
            <a:avLst/>
          </a:prstGeom>
          <a:noFill/>
        </p:spPr>
        <p:txBody>
          <a:bodyPr wrap="square" rtlCol="0">
            <a:spAutoFit/>
          </a:bodyPr>
          <a:p>
            <a:r>
              <a:rPr lang="zh-CN" altLang="en-US"/>
              <a:t>线性卷积除去边缘检测后，还可作为滤波对于图像进行平滑。</a:t>
            </a:r>
            <a:endParaRPr lang="zh-CN" altLang="en-US"/>
          </a:p>
          <a:p>
            <a:endParaRPr lang="zh-CN" altLang="en-US"/>
          </a:p>
          <a:p>
            <a:r>
              <a:rPr lang="zh-CN" altLang="en-US"/>
              <a:t>事实上，部分边缘检测算子（如</a:t>
            </a:r>
            <a:r>
              <a:rPr lang="en-US" altLang="zh-CN"/>
              <a:t>Canny</a:t>
            </a:r>
            <a:r>
              <a:rPr lang="zh-CN" altLang="en-US"/>
              <a:t>）就融合了平滑卷积核</a:t>
            </a:r>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636905" y="3105785"/>
                <a:ext cx="8280400" cy="829945"/>
              </a:xfrm>
              <a:prstGeom prst="rect">
                <a:avLst/>
              </a:prstGeom>
              <a:noFill/>
            </p:spPr>
            <p:txBody>
              <a:bodyPr wrap="square" rtlCol="0">
                <a:spAutoFit/>
              </a:bodyPr>
              <a:p>
                <a:r>
                  <a:rPr lang="zh-CN" altLang="en-US" sz="2400" b="1"/>
                  <a:t>均值滤波</a:t>
                </a:r>
                <a:r>
                  <a:rPr lang="en-US" altLang="zh-CN" sz="2400" b="1"/>
                  <a:t>: </a:t>
                </a:r>
                <a:endParaRPr lang="en-US" altLang="zh-CN" sz="2400" b="1"/>
              </a:p>
              <a:p>
                <a:r>
                  <a:rPr lang="zh-CN" altLang="en-US" sz="2400">
                    <a:latin typeface="Cambria Math" panose="02040503050406030204" charset="0"/>
                    <a:cs typeface="Cambria Math" panose="02040503050406030204" charset="0"/>
                  </a:rPr>
                  <a:t>滤波后每个像素值等于原图周围</a:t>
                </a:r>
                <a14:m>
                  <m:oMath xmlns:m="http://schemas.openxmlformats.org/officeDocument/2006/math">
                    <m:r>
                      <a:rPr lang="en-US" altLang="zh-CN" sz="2400" b="1" i="1">
                        <a:latin typeface="Cambria Math" panose="02040503050406030204" charset="0"/>
                        <a:cs typeface="Cambria Math" panose="02040503050406030204" charset="0"/>
                      </a:rPr>
                      <m:t>𝒏</m:t>
                    </m:r>
                    <m:r>
                      <a:rPr lang="en-US" altLang="zh-CN" sz="2400" b="1" i="1">
                        <a:latin typeface="Cambria Math" panose="02040503050406030204" charset="0"/>
                        <a:cs typeface="Cambria Math" panose="02040503050406030204" charset="0"/>
                      </a:rPr>
                      <m:t>∗</m:t>
                    </m:r>
                    <m:r>
                      <a:rPr lang="en-US" altLang="zh-CN" sz="2400" b="1" i="1">
                        <a:latin typeface="Cambria Math" panose="02040503050406030204" charset="0"/>
                        <a:cs typeface="Cambria Math" panose="02040503050406030204" charset="0"/>
                      </a:rPr>
                      <m:t>𝒏</m:t>
                    </m:r>
                  </m:oMath>
                </a14:m>
                <a:r>
                  <a:rPr lang="zh-CN" altLang="en-US" sz="2400">
                    <a:latin typeface="Cambria Math" panose="02040503050406030204" charset="0"/>
                    <a:cs typeface="Cambria Math" panose="02040503050406030204" charset="0"/>
                  </a:rPr>
                  <a:t>的均值</a:t>
                </a:r>
                <a:r>
                  <a:rPr lang="en-US" altLang="zh-CN" sz="2400" b="1"/>
                  <a:t> </a:t>
                </a:r>
                <a:endParaRPr lang="en-US" altLang="zh-CN" sz="2400" b="1"/>
              </a:p>
            </p:txBody>
          </p:sp>
        </mc:Choice>
        <mc:Fallback>
          <p:sp>
            <p:nvSpPr>
              <p:cNvPr id="6" name="文本框 5"/>
              <p:cNvSpPr txBox="1">
                <a:spLocks noRot="1" noChangeAspect="1" noMove="1" noResize="1" noEditPoints="1" noAdjustHandles="1" noChangeArrowheads="1" noChangeShapeType="1" noTextEdit="1"/>
              </p:cNvSpPr>
              <p:nvPr/>
            </p:nvSpPr>
            <p:spPr>
              <a:xfrm>
                <a:off x="636905" y="3105785"/>
                <a:ext cx="8280400" cy="82994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4532566" y="4600829"/>
                <a:ext cx="1664970" cy="124777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m>
                        <m:mPr>
                          <m:mcs>
                            <m:mc>
                              <m:mcPr>
                                <m:count m:val="3"/>
                                <m:mcJc m:val="center"/>
                              </m:mcPr>
                            </m:mc>
                          </m:mcs>
                          <m:ctrlPr>
                            <a:rPr lang="en-US" altLang="zh-CN" i="1">
                              <a:latin typeface="Cambria Math" panose="02040503050406030204" charset="0"/>
                              <a:cs typeface="Cambria Math" panose="02040503050406030204" charset="0"/>
                            </a:rPr>
                          </m:ctrlPr>
                        </m:mPr>
                        <m:mr>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9</m:t>
                                </m:r>
                              </m:den>
                            </m:f>
                          </m:e>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9</m:t>
                                </m:r>
                              </m:den>
                            </m:f>
                          </m:e>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9</m:t>
                                </m:r>
                              </m:den>
                            </m:f>
                          </m:e>
                        </m:mr>
                        <m:mr>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9</m:t>
                                </m:r>
                              </m:den>
                            </m:f>
                          </m:e>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9</m:t>
                                </m:r>
                              </m:den>
                            </m:f>
                          </m:e>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9</m:t>
                                </m:r>
                              </m:den>
                            </m:f>
                          </m:e>
                        </m:mr>
                        <m:mr>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9</m:t>
                                </m:r>
                              </m:den>
                            </m:f>
                          </m:e>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9</m:t>
                                </m:r>
                              </m:den>
                            </m:f>
                          </m:e>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9</m:t>
                                </m:r>
                              </m:den>
                            </m:f>
                          </m:e>
                        </m:mr>
                      </m:m>
                    </m:oMath>
                  </m:oMathPara>
                </a14:m>
                <a:endParaRPr lang="zh-CN" altLang="en-US"/>
              </a:p>
            </p:txBody>
          </p:sp>
        </mc:Choice>
        <mc:Fallback>
          <p:sp>
            <p:nvSpPr>
              <p:cNvPr id="10" name="文本框 9"/>
              <p:cNvSpPr txBox="1">
                <a:spLocks noRot="1" noChangeAspect="1" noMove="1" noResize="1" noEditPoints="1" noAdjustHandles="1" noChangeArrowheads="1" noChangeShapeType="1" noTextEdit="1"/>
              </p:cNvSpPr>
              <p:nvPr/>
            </p:nvSpPr>
            <p:spPr>
              <a:xfrm>
                <a:off x="4532566" y="4600829"/>
                <a:ext cx="1664970" cy="1247775"/>
              </a:xfrm>
              <a:prstGeom prst="rect">
                <a:avLst/>
              </a:prstGeom>
              <a:blipFill rotWithShape="1">
                <a:blip r:embed="rId4"/>
                <a:stretch>
                  <a:fillRect l="-34" t="-20" r="34" b="20"/>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205803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高斯滤波</a:t>
            </a:r>
            <a:endParaRPr lang="zh-CN" sz="3200" b="1" dirty="0" smtClean="0">
              <a:solidFill>
                <a:schemeClr val="bg1"/>
              </a:solidFill>
              <a:latin typeface="微软雅黑" panose="020B0503020204020204" charset="-122"/>
              <a:ea typeface="微软雅黑" panose="020B0503020204020204" charset="-122"/>
              <a:sym typeface="+mn-ea"/>
            </a:endParaRPr>
          </a:p>
        </p:txBody>
      </p:sp>
      <p:graphicFrame>
        <p:nvGraphicFramePr>
          <p:cNvPr id="9" name="Object 6"/>
          <p:cNvGraphicFramePr>
            <a:graphicFrameLocks noChangeAspect="1"/>
          </p:cNvGraphicFramePr>
          <p:nvPr/>
        </p:nvGraphicFramePr>
        <p:xfrm>
          <a:off x="5094124" y="1085364"/>
          <a:ext cx="5284787" cy="915988"/>
        </p:xfrm>
        <a:graphic>
          <a:graphicData uri="http://schemas.openxmlformats.org/presentationml/2006/ole">
            <mc:AlternateContent xmlns:mc="http://schemas.openxmlformats.org/markup-compatibility/2006">
              <mc:Choice xmlns:v="urn:schemas-microsoft-com:vml" Requires="v">
                <p:oleObj spid="_x0000_s59464" name="Equation" r:id="rId3" imgW="2489200" imgH="431800" progId="Equation.DSMT4">
                  <p:embed/>
                </p:oleObj>
              </mc:Choice>
              <mc:Fallback>
                <p:oleObj name="Equation" r:id="rId3" imgW="2489200" imgH="431800" progId="Equation.DSMT4">
                  <p:embed/>
                  <p:pic>
                    <p:nvPicPr>
                      <p:cNvPr id="0" name="图片 594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4124" y="1085364"/>
                        <a:ext cx="5284787" cy="915988"/>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文本框 2"/>
          <p:cNvSpPr txBox="1"/>
          <p:nvPr/>
        </p:nvSpPr>
        <p:spPr>
          <a:xfrm>
            <a:off x="3157081" y="1358657"/>
            <a:ext cx="4680520" cy="368300"/>
          </a:xfrm>
          <a:prstGeom prst="rect">
            <a:avLst/>
          </a:prstGeom>
          <a:noFill/>
        </p:spPr>
        <p:txBody>
          <a:bodyPr wrap="square" rtlCol="0">
            <a:spAutoFit/>
          </a:bodyPr>
          <a:lstStyle/>
          <a:p>
            <a:r>
              <a:rPr lang="zh-CN" altLang="en-US"/>
              <a:t>二维高斯函数：</a:t>
            </a:r>
            <a:endParaRPr lang="zh-CN" altLang="en-US" dirty="0">
              <a:latin typeface="黑体" panose="02010609060101010101" pitchFamily="49" charset="-122"/>
              <a:ea typeface="黑体" panose="02010609060101010101" pitchFamily="49" charset="-122"/>
            </a:endParaRPr>
          </a:p>
        </p:txBody>
      </p:sp>
      <p:sp>
        <p:nvSpPr>
          <p:cNvPr id="11" name="文本框 10"/>
          <p:cNvSpPr txBox="1"/>
          <p:nvPr/>
        </p:nvSpPr>
        <p:spPr>
          <a:xfrm>
            <a:off x="1210945" y="2129790"/>
            <a:ext cx="4250690" cy="922020"/>
          </a:xfrm>
          <a:prstGeom prst="rect">
            <a:avLst/>
          </a:prstGeom>
          <a:noFill/>
        </p:spPr>
        <p:txBody>
          <a:bodyPr wrap="square" rtlCol="0">
            <a:spAutoFit/>
          </a:bodyPr>
          <a:p>
            <a:pPr algn="l">
              <a:buClrTx/>
              <a:buSzTx/>
              <a:buFontTx/>
            </a:pPr>
            <a:r>
              <a:rPr lang="zh-CN" altLang="en-US"/>
              <a:t>由于高斯滤波器的二维可分性，可在两个方向上分别计算并根方平均，例如</a:t>
            </a:r>
            <a:r>
              <a:rPr lang="zh-CN" altLang="en-US"/>
              <a:t>X方向:</a:t>
            </a:r>
            <a:endParaRPr lang="zh-CN" altLang="en-US"/>
          </a:p>
        </p:txBody>
      </p:sp>
      <p:graphicFrame>
        <p:nvGraphicFramePr>
          <p:cNvPr id="12" name="Object 6"/>
          <p:cNvGraphicFramePr>
            <a:graphicFrameLocks noChangeAspect="1"/>
          </p:cNvGraphicFramePr>
          <p:nvPr/>
        </p:nvGraphicFramePr>
        <p:xfrm>
          <a:off x="5711850" y="2086743"/>
          <a:ext cx="4232275" cy="1023937"/>
        </p:xfrm>
        <a:graphic>
          <a:graphicData uri="http://schemas.openxmlformats.org/presentationml/2006/ole">
            <mc:AlternateContent xmlns:mc="http://schemas.openxmlformats.org/markup-compatibility/2006">
              <mc:Choice xmlns:v="urn:schemas-microsoft-com:vml" Requires="v">
                <p:oleObj spid="_x0000_s59465" name="Equation" r:id="rId5" imgW="47853600" imgH="11582400" progId="Equation.DSMT4">
                  <p:embed/>
                </p:oleObj>
              </mc:Choice>
              <mc:Fallback>
                <p:oleObj name="Equation" r:id="rId5" imgW="47853600" imgH="11582400" progId="Equation.DSMT4">
                  <p:embed/>
                  <p:pic>
                    <p:nvPicPr>
                      <p:cNvPr id="0" name="图片 59464"/>
                      <p:cNvPicPr>
                        <a:picLocks noChangeAspect="1" noChangeArrowheads="1"/>
                      </p:cNvPicPr>
                      <p:nvPr/>
                    </p:nvPicPr>
                    <p:blipFill>
                      <a:blip r:embed="rId6"/>
                      <a:srcRect/>
                      <a:stretch>
                        <a:fillRect/>
                      </a:stretch>
                    </p:blipFill>
                    <p:spPr bwMode="auto">
                      <a:xfrm>
                        <a:off x="5711850" y="2086743"/>
                        <a:ext cx="4232275" cy="1023937"/>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文本框 14"/>
          <p:cNvSpPr txBox="1"/>
          <p:nvPr/>
        </p:nvSpPr>
        <p:spPr>
          <a:xfrm>
            <a:off x="1106805" y="3470275"/>
            <a:ext cx="9036050" cy="922020"/>
          </a:xfrm>
          <a:prstGeom prst="rect">
            <a:avLst/>
          </a:prstGeom>
          <a:noFill/>
        </p:spPr>
        <p:txBody>
          <a:bodyPr wrap="square" rtlCol="0" anchor="t">
            <a:spAutoFit/>
          </a:bodyPr>
          <a:p>
            <a:pPr algn="l">
              <a:buClrTx/>
              <a:buSzTx/>
              <a:buFontTx/>
            </a:pPr>
            <a:r>
              <a:rPr lang="zh-CN" altLang="en-US">
                <a:sym typeface="+mn-ea"/>
              </a:rPr>
              <a:t>使用模板卷积实现高斯平滑时，</a:t>
            </a:r>
            <a:endParaRPr lang="zh-CN" altLang="en-US"/>
          </a:p>
          <a:p>
            <a:pPr algn="l">
              <a:buClrTx/>
              <a:buSzTx/>
              <a:buFontTx/>
            </a:pPr>
            <a:endParaRPr lang="zh-CN" altLang="en-US"/>
          </a:p>
          <a:p>
            <a:pPr algn="l">
              <a:buClrTx/>
              <a:buSzTx/>
              <a:buFontTx/>
            </a:pPr>
            <a:r>
              <a:rPr lang="zh-CN" altLang="en-US">
                <a:sym typeface="+mn-ea"/>
              </a:rPr>
              <a:t>可以直接用二维高斯模板卷积，也可以用两个方向上的一维高斯模板先后卷积</a:t>
            </a:r>
            <a:endParaRPr lang="zh-CN" altLang="en-US">
              <a:sym typeface="+mn-ea"/>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205803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高斯滤波</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54278" name="Picture 3" descr="00"/>
          <p:cNvPicPr>
            <a:picLocks noChangeAspect="1" noChangeArrowheads="1"/>
          </p:cNvPicPr>
          <p:nvPr/>
        </p:nvPicPr>
        <p:blipFill>
          <a:blip r:embed="rId3">
            <a:extLst>
              <a:ext uri="{28A0092B-C50C-407E-A947-70E740481C1C}">
                <a14:useLocalDpi xmlns:a14="http://schemas.microsoft.com/office/drawing/2010/main" val="0"/>
              </a:ext>
            </a:extLst>
          </a:blip>
          <a:srcRect b="11875"/>
          <a:stretch>
            <a:fillRect/>
          </a:stretch>
        </p:blipFill>
        <p:spPr bwMode="auto">
          <a:xfrm>
            <a:off x="3268345" y="692785"/>
            <a:ext cx="8856980" cy="2417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5" name="Picture 4" descr="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498" y="3164205"/>
            <a:ext cx="5256212"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6" name="Picture 5" descr="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5205413"/>
            <a:ext cx="4537075" cy="106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p:cNvPicPr>
          <p:nvPr/>
        </p:nvPicPr>
        <p:blipFill>
          <a:blip r:embed="rId6"/>
          <a:stretch>
            <a:fillRect/>
          </a:stretch>
        </p:blipFill>
        <p:spPr>
          <a:xfrm>
            <a:off x="8483631" y="3428948"/>
            <a:ext cx="2779250" cy="2555577"/>
          </a:xfrm>
          <a:prstGeom prst="rect">
            <a:avLst/>
          </a:prstGeom>
        </p:spPr>
      </p:pic>
      <p:sp>
        <p:nvSpPr>
          <p:cNvPr id="6" name="文本框 5"/>
          <p:cNvSpPr txBox="1"/>
          <p:nvPr/>
        </p:nvSpPr>
        <p:spPr>
          <a:xfrm>
            <a:off x="6410325" y="5902325"/>
            <a:ext cx="6096000" cy="368300"/>
          </a:xfrm>
          <a:prstGeom prst="rect">
            <a:avLst/>
          </a:prstGeom>
          <a:noFill/>
        </p:spPr>
        <p:txBody>
          <a:bodyPr wrap="square" rtlCol="0" anchor="t">
            <a:spAutoFit/>
          </a:bodyPr>
          <a:p>
            <a:r>
              <a:rPr lang="zh-CN" altLang="en-US" i="1" dirty="0">
                <a:ea typeface="黑体" panose="02010609060101010101" pitchFamily="49" charset="-122"/>
                <a:sym typeface="+mn-ea"/>
              </a:rPr>
              <a:t>复杂度就从O(M*N*n*m)降低到O(M*N*n)+O(M*N*m)</a:t>
            </a:r>
            <a:endParaRPr lang="zh-CN" altLang="en-US" i="1" dirty="0">
              <a:ea typeface="黑体" panose="02010609060101010101" pitchFamily="49" charset="-122"/>
              <a:sym typeface="+mn-ea"/>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1585"/>
            <a:ext cx="205803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高斯滤波</a:t>
            </a:r>
            <a:endParaRPr lang="zh-CN" sz="3200" b="1" dirty="0" smtClean="0">
              <a:solidFill>
                <a:schemeClr val="bg1"/>
              </a:solidFill>
              <a:latin typeface="微软雅黑" panose="020B0503020204020204" charset="-122"/>
              <a:ea typeface="微软雅黑" panose="020B0503020204020204" charset="-122"/>
              <a:sym typeface="+mn-ea"/>
            </a:endParaRPr>
          </a:p>
        </p:txBody>
      </p:sp>
      <mc:AlternateContent xmlns:mc="http://schemas.openxmlformats.org/markup-compatibility/2006">
        <mc:Choice xmlns:a14="http://schemas.microsoft.com/office/drawing/2010/main" Requires="a14">
          <p:sp>
            <p:nvSpPr>
              <p:cNvPr id="5" name="文本框 4"/>
              <p:cNvSpPr txBox="1"/>
              <p:nvPr/>
            </p:nvSpPr>
            <p:spPr>
              <a:xfrm>
                <a:off x="1617980" y="1768475"/>
                <a:ext cx="9217025" cy="1247775"/>
              </a:xfrm>
              <a:prstGeom prst="rect">
                <a:avLst/>
              </a:prstGeom>
              <a:noFill/>
            </p:spPr>
            <p:txBody>
              <a:bodyPr wrap="square" rtlCol="0">
                <a:spAutoFit/>
              </a:bodyPr>
              <a:p>
                <a:r>
                  <a:rPr lang="zh-CN" altLang="en-US"/>
                  <a:t>举个例子，一个经典的</a:t>
                </a:r>
                <a14:m>
                  <m:oMath xmlns:m="http://schemas.openxmlformats.org/officeDocument/2006/math">
                    <m:r>
                      <a:rPr lang="en-US" altLang="zh-CN" i="1">
                        <a:latin typeface="Cambria Math" panose="02040503050406030204" charset="0"/>
                        <a:cs typeface="Cambria Math" panose="02040503050406030204" charset="0"/>
                      </a:rPr>
                      <m:t>3</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3</m:t>
                    </m:r>
                    <m:r>
                      <a:rPr lang="en-US" altLang="zh-CN" i="1">
                        <a:latin typeface="Cambria Math" panose="02040503050406030204" charset="0"/>
                        <a:cs typeface="Cambria Math" panose="02040503050406030204" charset="0"/>
                      </a:rPr>
                      <m:t> 高斯卷积核: </m:t>
                    </m:r>
                    <m:m>
                      <m:mPr>
                        <m:mcs>
                          <m:mc>
                            <m:mcPr>
                              <m:count m:val="3"/>
                              <m:mcJc m:val="center"/>
                            </m:mcPr>
                          </m:mc>
                        </m:mcs>
                        <m:ctrlPr>
                          <a:rPr lang="en-US" altLang="zh-CN" i="1">
                            <a:latin typeface="Cambria Math" panose="02040503050406030204" charset="0"/>
                            <a:cs typeface="Cambria Math" panose="02040503050406030204" charset="0"/>
                          </a:rPr>
                        </m:ctrlPr>
                      </m:mPr>
                      <m:mr>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16</m:t>
                              </m:r>
                            </m:den>
                          </m:f>
                        </m:e>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2</m:t>
                              </m:r>
                            </m:num>
                            <m:den>
                              <m:r>
                                <a:rPr lang="en-US" altLang="zh-CN" i="1">
                                  <a:latin typeface="Cambria Math" panose="02040503050406030204" charset="0"/>
                                  <a:cs typeface="Cambria Math" panose="02040503050406030204" charset="0"/>
                                </a:rPr>
                                <m:t>16</m:t>
                              </m:r>
                            </m:den>
                          </m:f>
                        </m:e>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16</m:t>
                              </m:r>
                            </m:den>
                          </m:f>
                        </m:e>
                      </m:mr>
                      <m:mr>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2</m:t>
                              </m:r>
                            </m:num>
                            <m:den>
                              <m:r>
                                <a:rPr lang="en-US" altLang="zh-CN" i="1">
                                  <a:latin typeface="Cambria Math" panose="02040503050406030204" charset="0"/>
                                  <a:cs typeface="Cambria Math" panose="02040503050406030204" charset="0"/>
                                </a:rPr>
                                <m:t>16</m:t>
                              </m:r>
                            </m:den>
                          </m:f>
                        </m:e>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4</m:t>
                              </m:r>
                            </m:num>
                            <m:den>
                              <m:r>
                                <a:rPr lang="en-US" altLang="zh-CN" i="1">
                                  <a:latin typeface="Cambria Math" panose="02040503050406030204" charset="0"/>
                                  <a:cs typeface="Cambria Math" panose="02040503050406030204" charset="0"/>
                                </a:rPr>
                                <m:t>16</m:t>
                              </m:r>
                            </m:den>
                          </m:f>
                        </m:e>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2</m:t>
                              </m:r>
                            </m:num>
                            <m:den>
                              <m:r>
                                <a:rPr lang="en-US" altLang="zh-CN" i="1">
                                  <a:latin typeface="Cambria Math" panose="02040503050406030204" charset="0"/>
                                  <a:cs typeface="Cambria Math" panose="02040503050406030204" charset="0"/>
                                </a:rPr>
                                <m:t>16</m:t>
                              </m:r>
                            </m:den>
                          </m:f>
                        </m:e>
                      </m:mr>
                      <m:mr>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16</m:t>
                              </m:r>
                            </m:den>
                          </m:f>
                        </m:e>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2</m:t>
                              </m:r>
                            </m:num>
                            <m:den>
                              <m:r>
                                <a:rPr lang="en-US" altLang="zh-CN" i="1">
                                  <a:latin typeface="Cambria Math" panose="02040503050406030204" charset="0"/>
                                  <a:cs typeface="Cambria Math" panose="02040503050406030204" charset="0"/>
                                </a:rPr>
                                <m:t>16</m:t>
                              </m:r>
                            </m:den>
                          </m:f>
                        </m:e>
                        <m:e>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16</m:t>
                              </m:r>
                            </m:den>
                          </m:f>
                        </m:e>
                      </m:mr>
                    </m:m>
                    <m:r>
                      <a:rPr lang="en-US" altLang="zh-CN" i="1">
                        <a:latin typeface="Cambria Math" panose="02040503050406030204" charset="0"/>
                        <a:cs typeface="Cambria Math" panose="02040503050406030204" charset="0"/>
                      </a:rPr>
                      <m:t>, 仔细观察，它有三个特征:</m:t>
                    </m:r>
                  </m:oMath>
                </a14:m>
                <a:endParaRPr lang="zh-CN" altLang="en-US"/>
              </a:p>
            </p:txBody>
          </p:sp>
        </mc:Choice>
        <mc:Fallback>
          <p:sp>
            <p:nvSpPr>
              <p:cNvPr id="5" name="文本框 4"/>
              <p:cNvSpPr txBox="1">
                <a:spLocks noRot="1" noChangeAspect="1" noMove="1" noResize="1" noEditPoints="1" noAdjustHandles="1" noChangeArrowheads="1" noChangeShapeType="1" noTextEdit="1"/>
              </p:cNvSpPr>
              <p:nvPr/>
            </p:nvSpPr>
            <p:spPr>
              <a:xfrm>
                <a:off x="1617980" y="1768475"/>
                <a:ext cx="9217025" cy="124777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1617980" y="3587115"/>
                <a:ext cx="9495790" cy="1591310"/>
              </a:xfrm>
              <a:prstGeom prst="rect">
                <a:avLst/>
              </a:prstGeom>
              <a:noFill/>
            </p:spPr>
            <p:txBody>
              <a:bodyPr wrap="square" rtlCol="0" anchor="t">
                <a:spAutoFit/>
              </a:bodyPr>
              <a:p>
                <a:r>
                  <a:rPr lang="zh-CN" altLang="en-US" b="1"/>
                  <a:t>全都是正数</a:t>
                </a:r>
                <a:r>
                  <a:rPr lang="zh-CN" altLang="en-US"/>
                  <a:t>：</a:t>
                </a:r>
                <a:r>
                  <a:rPr lang="en-US" altLang="zh-CN"/>
                  <a:t> </a:t>
                </a:r>
                <a:r>
                  <a:rPr lang="zh-CN" altLang="en-US"/>
                  <a:t>它是在做</a:t>
                </a:r>
                <a:r>
                  <a:rPr lang="en-US" altLang="zh-CN"/>
                  <a:t>“</a:t>
                </a:r>
                <a:r>
                  <a:rPr lang="zh-CN" altLang="en-US"/>
                  <a:t>融合</a:t>
                </a:r>
                <a:r>
                  <a:rPr lang="en-US" altLang="zh-CN"/>
                  <a:t>/</a:t>
                </a:r>
                <a:r>
                  <a:rPr lang="zh-CN" altLang="en-US"/>
                  <a:t>平均</a:t>
                </a:r>
                <a:r>
                  <a:rPr lang="en-US" altLang="zh-CN"/>
                  <a:t>”</a:t>
                </a:r>
                <a:r>
                  <a:rPr lang="zh-CN" altLang="en-US"/>
                  <a:t>，而不是像</a:t>
                </a:r>
                <a:r>
                  <a:rPr lang="en-US" altLang="zh-CN"/>
                  <a:t> Sobel </a:t>
                </a:r>
                <a:r>
                  <a:rPr lang="zh-CN" altLang="en-US"/>
                  <a:t>那样做</a:t>
                </a:r>
                <a:r>
                  <a:rPr lang="en-US" altLang="zh-CN"/>
                  <a:t>“</a:t>
                </a:r>
                <a:r>
                  <a:rPr lang="zh-CN" altLang="en-US"/>
                  <a:t>相减</a:t>
                </a:r>
                <a:r>
                  <a:rPr lang="en-US" altLang="zh-CN"/>
                  <a:t>/</a:t>
                </a:r>
                <a:r>
                  <a:rPr lang="zh-CN" altLang="en-US"/>
                  <a:t>找差异</a:t>
                </a:r>
                <a:r>
                  <a:rPr lang="en-US" altLang="zh-CN"/>
                  <a:t>”</a:t>
                </a:r>
                <a:r>
                  <a:rPr lang="zh-CN" altLang="en-US"/>
                  <a:t>。</a:t>
                </a:r>
                <a:endParaRPr lang="zh-CN" altLang="en-US"/>
              </a:p>
              <a:p>
                <a:endParaRPr lang="zh-CN" altLang="en-US"/>
              </a:p>
              <a:p>
                <a:r>
                  <a:rPr lang="zh-CN" altLang="en-US" b="1"/>
                  <a:t>中间大，四周小</a:t>
                </a:r>
                <a:r>
                  <a:rPr lang="zh-CN" altLang="en-US"/>
                  <a:t>：</a:t>
                </a:r>
                <a:r>
                  <a:rPr lang="en-US" altLang="zh-CN"/>
                  <a:t> </a:t>
                </a:r>
                <a:r>
                  <a:rPr lang="zh-CN" altLang="en-US"/>
                  <a:t>中心像素权重是</a:t>
                </a:r>
                <a:r>
                  <a:rPr lang="en-US" altLang="zh-CN"/>
                  <a:t> </a:t>
                </a:r>
                <a14:m>
                  <m:oMath xmlns:m="http://schemas.openxmlformats.org/officeDocument/2006/math">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4</m:t>
                        </m:r>
                      </m:num>
                      <m:den>
                        <m:r>
                          <a:rPr lang="en-US" altLang="zh-CN" i="1">
                            <a:latin typeface="Cambria Math" panose="02040503050406030204" charset="0"/>
                            <a:cs typeface="Cambria Math" panose="02040503050406030204" charset="0"/>
                          </a:rPr>
                          <m:t>16</m:t>
                        </m:r>
                      </m:den>
                    </m:f>
                  </m:oMath>
                </a14:m>
                <a:r>
                  <a:rPr lang="zh-CN" altLang="en-US"/>
                  <a:t>，角落是</a:t>
                </a:r>
                <a:r>
                  <a:rPr lang="en-US" altLang="zh-CN"/>
                  <a:t> </a:t>
                </a:r>
                <a14:m>
                  <m:oMath xmlns:m="http://schemas.openxmlformats.org/officeDocument/2006/math">
                    <m:f>
                      <m:fPr>
                        <m:type m:val="skw"/>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16</m:t>
                        </m:r>
                      </m:den>
                    </m:f>
                  </m:oMath>
                </a14:m>
                <a:r>
                  <a:rPr lang="zh-CN" altLang="en-US"/>
                  <a:t>。这</a:t>
                </a:r>
                <a:r>
                  <a:rPr lang="zh-CN" altLang="en-US">
                    <a:sym typeface="+mn-ea"/>
                  </a:rPr>
                  <a:t>体现</a:t>
                </a:r>
                <a:r>
                  <a:rPr lang="zh-CN" altLang="en-US"/>
                  <a:t>二维正态分布。</a:t>
                </a:r>
                <a:endParaRPr lang="zh-CN" altLang="en-US"/>
              </a:p>
              <a:p>
                <a:endParaRPr lang="zh-CN" altLang="en-US"/>
              </a:p>
              <a:p>
                <a:r>
                  <a:rPr lang="zh-CN" altLang="en-US" b="1"/>
                  <a:t>权重总和必须等于</a:t>
                </a:r>
                <a:r>
                  <a:rPr lang="en-US" altLang="zh-CN" b="1"/>
                  <a:t> 1</a:t>
                </a:r>
                <a:r>
                  <a:rPr lang="zh-CN" altLang="en-US"/>
                  <a:t>：</a:t>
                </a:r>
                <a:r>
                  <a:rPr lang="en-US" altLang="zh-CN"/>
                  <a:t> </a:t>
                </a:r>
                <a:r>
                  <a:rPr lang="zh-CN" altLang="en-US"/>
                  <a:t>保持整体亮度（曝光度）不变</a:t>
                </a:r>
                <a:endParaRPr lang="zh-CN" altLang="en-US"/>
              </a:p>
            </p:txBody>
          </p:sp>
        </mc:Choice>
        <mc:Fallback>
          <p:sp>
            <p:nvSpPr>
              <p:cNvPr id="10" name="文本框 9"/>
              <p:cNvSpPr txBox="1">
                <a:spLocks noRot="1" noChangeAspect="1" noMove="1" noResize="1" noEditPoints="1" noAdjustHandles="1" noChangeArrowheads="1" noChangeShapeType="1" noTextEdit="1"/>
              </p:cNvSpPr>
              <p:nvPr/>
            </p:nvSpPr>
            <p:spPr>
              <a:xfrm>
                <a:off x="1617980" y="3587115"/>
                <a:ext cx="9495790" cy="1591310"/>
              </a:xfrm>
              <a:prstGeom prst="rect">
                <a:avLst/>
              </a:prstGeom>
              <a:blipFill rotWithShape="1">
                <a:blip r:embed="rId4"/>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2220"/>
            <a:ext cx="5429250"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滤波和边缘检测：频域视角</a:t>
            </a:r>
            <a:endParaRPr lang="zh-CN" sz="3200" b="1" dirty="0" smtClean="0">
              <a:solidFill>
                <a:schemeClr val="bg1"/>
              </a:solidFill>
              <a:latin typeface="微软雅黑" panose="020B0503020204020204" charset="-122"/>
              <a:ea typeface="微软雅黑" panose="020B0503020204020204" charset="-122"/>
              <a:sym typeface="+mn-ea"/>
            </a:endParaRPr>
          </a:p>
        </p:txBody>
      </p:sp>
      <p:sp>
        <p:nvSpPr>
          <p:cNvPr id="3" name="文本框 2"/>
          <p:cNvSpPr txBox="1"/>
          <p:nvPr/>
        </p:nvSpPr>
        <p:spPr>
          <a:xfrm>
            <a:off x="1515745" y="4417060"/>
            <a:ext cx="7517765" cy="1476375"/>
          </a:xfrm>
          <a:prstGeom prst="rect">
            <a:avLst/>
          </a:prstGeom>
          <a:noFill/>
        </p:spPr>
        <p:txBody>
          <a:bodyPr wrap="square" rtlCol="0">
            <a:spAutoFit/>
          </a:bodyPr>
          <a:p>
            <a:r>
              <a:rPr lang="zh-CN" altLang="en-US"/>
              <a:t>使用二维傅里叶变化，将图像空域变换为频域，可以发现：</a:t>
            </a:r>
            <a:endParaRPr lang="zh-CN" altLang="en-US"/>
          </a:p>
          <a:p>
            <a:endParaRPr lang="zh-CN" altLang="en-US"/>
          </a:p>
          <a:p>
            <a:r>
              <a:rPr lang="zh-CN" altLang="en-US"/>
              <a:t>低频是平滑区，中频是边缘，高频是噪声。</a:t>
            </a:r>
            <a:endParaRPr lang="zh-CN" altLang="en-US"/>
          </a:p>
          <a:p>
            <a:endParaRPr lang="en-US" altLang="zh-CN"/>
          </a:p>
          <a:p>
            <a:r>
              <a:rPr lang="zh-CN" altLang="en-US"/>
              <a:t>平滑是低通滤波，边缘检测一般是带通或高通，锐化一般是高通</a:t>
            </a:r>
            <a:endParaRPr lang="zh-CN" altLang="en-US"/>
          </a:p>
        </p:txBody>
      </p:sp>
      <mc:AlternateContent xmlns:mc="http://schemas.openxmlformats.org/markup-compatibility/2006">
        <mc:Choice xmlns:a14="http://schemas.microsoft.com/office/drawing/2010/main" Requires="a14">
          <p:sp>
            <p:nvSpPr>
              <p:cNvPr id="6" name="Rectangle 3"/>
              <p:cNvSpPr txBox="1">
                <a:spLocks noChangeArrowheads="1"/>
              </p:cNvSpPr>
              <p:nvPr/>
            </p:nvSpPr>
            <p:spPr bwMode="auto">
              <a:xfrm>
                <a:off x="1242695" y="1835529"/>
                <a:ext cx="8064574" cy="2253484"/>
              </a:xfrm>
              <a:prstGeom prst="rect">
                <a:avLst/>
              </a:prstGeom>
              <a:noFill/>
              <a:extLst>
                <a:ext uri="{909E8E84-426E-40DD-AFC4-6F175D3DCCD1}">
                  <a14:hiddenFill xmlns:a14="http://schemas.microsoft.com/office/drawing/2010/main">
                    <a:solidFill>
                      <a:srgbClr val="3366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eaLnBrk="1" hangingPunct="1">
                  <a:lnSpc>
                    <a:spcPct val="120000"/>
                  </a:lnSpc>
                  <a:spcBef>
                    <a:spcPct val="0"/>
                  </a:spcBef>
                  <a:buNone/>
                </a:pPr>
                <a:r>
                  <a:rPr lang="zh-CN" altLang="en-US" sz="2400" b="1" kern="0" dirty="0">
                    <a:solidFill>
                      <a:srgbClr val="000000"/>
                    </a:solidFill>
                    <a:latin typeface="微软雅黑" panose="020B0503020204020204" charset="-122"/>
                    <a:ea typeface="微软雅黑" panose="020B0503020204020204" charset="-122"/>
                  </a:rPr>
                  <a:t>二维离散傅立叶变换：对于</a:t>
                </a:r>
                <a14:m>
                  <m:oMath xmlns:m="http://schemas.openxmlformats.org/officeDocument/2006/math">
                    <m:r>
                      <a:rPr lang="en-US" altLang="zh-CN" sz="2400" b="1" i="1" kern="0" smtClean="0">
                        <a:solidFill>
                          <a:srgbClr val="000000"/>
                        </a:solidFill>
                        <a:latin typeface="Cambria Math" panose="02040503050406030204" charset="0"/>
                        <a:ea typeface="微软雅黑" panose="020B0503020204020204" charset="-122"/>
                      </a:rPr>
                      <m:t>𝑵</m:t>
                    </m:r>
                    <m:r>
                      <a:rPr lang="en-US" altLang="zh-CN" sz="2400" b="1" i="1" kern="0" smtClean="0">
                        <a:solidFill>
                          <a:srgbClr val="000000"/>
                        </a:solidFill>
                        <a:latin typeface="Cambria Math" panose="02040503050406030204" charset="0"/>
                        <a:ea typeface="Cambria Math" panose="02040503050406030204" charset="0"/>
                      </a:rPr>
                      <m:t>×</m:t>
                    </m:r>
                    <m:r>
                      <a:rPr lang="en-US" altLang="zh-CN" sz="2400" b="1" i="1" kern="0" smtClean="0">
                        <a:solidFill>
                          <a:srgbClr val="000000"/>
                        </a:solidFill>
                        <a:latin typeface="Cambria Math" panose="02040503050406030204" charset="0"/>
                        <a:ea typeface="Cambria Math" panose="02040503050406030204" charset="0"/>
                      </a:rPr>
                      <m:t>𝑵</m:t>
                    </m:r>
                    <m:r>
                      <m:rPr>
                        <m:nor/>
                      </m:rPr>
                      <a:rPr lang="zh-CN" altLang="en-US" sz="2400" b="1" kern="0" dirty="0">
                        <a:solidFill>
                          <a:srgbClr val="000000"/>
                        </a:solidFill>
                        <a:latin typeface="微软雅黑" panose="020B0503020204020204" charset="-122"/>
                        <a:ea typeface="微软雅黑" panose="020B0503020204020204" charset="-122"/>
                      </a:rPr>
                      <m:t>图像</m:t>
                    </m:r>
                  </m:oMath>
                </a14:m>
                <a:endParaRPr lang="en-US" altLang="zh-CN" sz="2400" b="1" i="1" kern="0" dirty="0">
                  <a:solidFill>
                    <a:srgbClr val="000000"/>
                  </a:solidFill>
                  <a:latin typeface="Cambria Math" panose="02040503050406030204" charset="0"/>
                  <a:ea typeface="Cambria Math" panose="02040503050406030204" charset="0"/>
                </a:endParaRPr>
              </a:p>
              <a:p>
                <a:pPr marL="0" indent="0" eaLnBrk="1" hangingPunct="1">
                  <a:lnSpc>
                    <a:spcPct val="120000"/>
                  </a:lnSpc>
                  <a:spcBef>
                    <a:spcPct val="0"/>
                  </a:spcBef>
                  <a:buFontTx/>
                  <a:buNone/>
                </a:pPr>
                <a14:m>
                  <m:oMathPara xmlns:m="http://schemas.openxmlformats.org/officeDocument/2006/math">
                    <m:oMathParaPr>
                      <m:jc m:val="centerGroup"/>
                    </m:oMathParaPr>
                    <m:oMath xmlns:m="http://schemas.openxmlformats.org/officeDocument/2006/math">
                      <m:r>
                        <a:rPr lang="en-US" altLang="zh-CN" sz="2400" b="1" i="1" kern="0" smtClean="0">
                          <a:solidFill>
                            <a:srgbClr val="000000"/>
                          </a:solidFill>
                          <a:latin typeface="Cambria Math" panose="02040503050406030204" charset="0"/>
                          <a:ea typeface="微软雅黑" panose="020B0503020204020204" charset="-122"/>
                        </a:rPr>
                        <m:t>𝑭</m:t>
                      </m:r>
                      <m:d>
                        <m:dPr>
                          <m:ctrlPr>
                            <a:rPr lang="en-US" altLang="zh-CN" sz="2400" b="1" i="1" kern="0">
                              <a:solidFill>
                                <a:srgbClr val="000000"/>
                              </a:solidFill>
                              <a:latin typeface="Cambria Math" panose="02040503050406030204" charset="0"/>
                              <a:ea typeface="微软雅黑" panose="020B0503020204020204" charset="-122"/>
                            </a:rPr>
                          </m:ctrlPr>
                        </m:dPr>
                        <m:e>
                          <m:r>
                            <a:rPr lang="en-US" altLang="zh-CN" sz="2400" b="1" i="1" kern="0" smtClean="0">
                              <a:solidFill>
                                <a:srgbClr val="000000"/>
                              </a:solidFill>
                              <a:latin typeface="Cambria Math" panose="02040503050406030204" charset="0"/>
                              <a:ea typeface="微软雅黑" panose="020B0503020204020204" charset="-122"/>
                            </a:rPr>
                            <m:t>𝒖</m:t>
                          </m:r>
                          <m:r>
                            <a:rPr lang="en-US" altLang="zh-CN" sz="2400" b="1" i="1" kern="0" smtClean="0">
                              <a:solidFill>
                                <a:srgbClr val="000000"/>
                              </a:solidFill>
                              <a:latin typeface="Cambria Math" panose="02040503050406030204" charset="0"/>
                              <a:ea typeface="微软雅黑" panose="020B0503020204020204" charset="-122"/>
                            </a:rPr>
                            <m:t>,</m:t>
                          </m:r>
                          <m:r>
                            <a:rPr lang="en-US" altLang="zh-CN" sz="2400" b="1" i="1" kern="0" smtClean="0">
                              <a:solidFill>
                                <a:srgbClr val="000000"/>
                              </a:solidFill>
                              <a:latin typeface="Cambria Math" panose="02040503050406030204" charset="0"/>
                              <a:ea typeface="微软雅黑" panose="020B0503020204020204" charset="-122"/>
                            </a:rPr>
                            <m:t>𝒗</m:t>
                          </m:r>
                        </m:e>
                      </m:d>
                      <m:r>
                        <a:rPr lang="en-US" altLang="zh-CN" sz="2400" b="1" i="1" kern="0">
                          <a:solidFill>
                            <a:srgbClr val="000000"/>
                          </a:solidFill>
                          <a:latin typeface="Cambria Math" panose="02040503050406030204" charset="0"/>
                          <a:ea typeface="微软雅黑" panose="020B0503020204020204" charset="-122"/>
                        </a:rPr>
                        <m:t>=</m:t>
                      </m:r>
                      <m:f>
                        <m:fPr>
                          <m:ctrlPr>
                            <a:rPr lang="en-US" altLang="zh-CN" sz="2400" b="1" i="1" kern="0" smtClean="0">
                              <a:solidFill>
                                <a:srgbClr val="000000"/>
                              </a:solidFill>
                              <a:latin typeface="Cambria Math" panose="02040503050406030204" charset="0"/>
                              <a:ea typeface="微软雅黑" panose="020B0503020204020204" charset="-122"/>
                            </a:rPr>
                          </m:ctrlPr>
                        </m:fPr>
                        <m:num>
                          <m:r>
                            <a:rPr lang="en-US" altLang="zh-CN" sz="2400" b="1" i="1" kern="0" smtClean="0">
                              <a:solidFill>
                                <a:srgbClr val="000000"/>
                              </a:solidFill>
                              <a:latin typeface="Cambria Math" panose="02040503050406030204" charset="0"/>
                              <a:ea typeface="微软雅黑" panose="020B0503020204020204" charset="-122"/>
                            </a:rPr>
                            <m:t>𝟏</m:t>
                          </m:r>
                        </m:num>
                        <m:den>
                          <m:r>
                            <a:rPr lang="en-US" altLang="zh-CN" sz="2400" b="1" i="1" kern="0" smtClean="0">
                              <a:solidFill>
                                <a:srgbClr val="000000"/>
                              </a:solidFill>
                              <a:latin typeface="Cambria Math" panose="02040503050406030204" charset="0"/>
                              <a:ea typeface="微软雅黑" panose="020B0503020204020204" charset="-122"/>
                            </a:rPr>
                            <m:t>𝑵𝑵</m:t>
                          </m:r>
                        </m:den>
                      </m:f>
                      <m:nary>
                        <m:naryPr>
                          <m:chr m:val="∑"/>
                          <m:ctrlPr>
                            <a:rPr lang="en-US" altLang="zh-CN" sz="2400" b="1" i="1" kern="0" smtClean="0">
                              <a:solidFill>
                                <a:srgbClr val="000000"/>
                              </a:solidFill>
                              <a:latin typeface="Cambria Math" panose="02040503050406030204" charset="0"/>
                              <a:ea typeface="微软雅黑" panose="020B0503020204020204" charset="-122"/>
                            </a:rPr>
                          </m:ctrlPr>
                        </m:naryPr>
                        <m:sub>
                          <m:r>
                            <m:rPr>
                              <m:brk m:alnAt="23"/>
                            </m:rPr>
                            <a:rPr lang="en-US" altLang="zh-CN" sz="2400" b="1" i="1" kern="0" smtClean="0">
                              <a:solidFill>
                                <a:srgbClr val="000000"/>
                              </a:solidFill>
                              <a:latin typeface="Cambria Math" panose="02040503050406030204" charset="0"/>
                              <a:ea typeface="微软雅黑" panose="020B0503020204020204" charset="-122"/>
                            </a:rPr>
                            <m:t>𝒙</m:t>
                          </m:r>
                          <m:r>
                            <a:rPr lang="en-US" altLang="zh-CN" sz="2400" b="1" i="1" kern="0" smtClean="0">
                              <a:solidFill>
                                <a:srgbClr val="000000"/>
                              </a:solidFill>
                              <a:latin typeface="Cambria Math" panose="02040503050406030204" charset="0"/>
                              <a:ea typeface="微软雅黑" panose="020B0503020204020204" charset="-122"/>
                            </a:rPr>
                            <m:t>=</m:t>
                          </m:r>
                          <m:r>
                            <a:rPr lang="en-US" altLang="zh-CN" sz="2400" b="1" i="1" kern="0" smtClean="0">
                              <a:solidFill>
                                <a:srgbClr val="000000"/>
                              </a:solidFill>
                              <a:latin typeface="Cambria Math" panose="02040503050406030204" charset="0"/>
                              <a:ea typeface="微软雅黑" panose="020B0503020204020204" charset="-122"/>
                            </a:rPr>
                            <m:t>𝟎</m:t>
                          </m:r>
                        </m:sub>
                        <m:sup>
                          <m:r>
                            <a:rPr lang="en-US" altLang="zh-CN" sz="2400" b="1" i="1" kern="0" smtClean="0">
                              <a:solidFill>
                                <a:srgbClr val="000000"/>
                              </a:solidFill>
                              <a:latin typeface="Cambria Math" panose="02040503050406030204" charset="0"/>
                              <a:ea typeface="微软雅黑" panose="020B0503020204020204" charset="-122"/>
                            </a:rPr>
                            <m:t>𝑵</m:t>
                          </m:r>
                          <m:r>
                            <a:rPr lang="en-US" altLang="zh-CN" sz="2400" b="1" i="1" kern="0" smtClean="0">
                              <a:solidFill>
                                <a:srgbClr val="000000"/>
                              </a:solidFill>
                              <a:latin typeface="Cambria Math" panose="02040503050406030204" charset="0"/>
                              <a:ea typeface="微软雅黑" panose="020B0503020204020204" charset="-122"/>
                            </a:rPr>
                            <m:t>−</m:t>
                          </m:r>
                          <m:r>
                            <a:rPr lang="en-US" altLang="zh-CN" sz="2400" b="1" i="1" kern="0" smtClean="0">
                              <a:solidFill>
                                <a:srgbClr val="000000"/>
                              </a:solidFill>
                              <a:latin typeface="Cambria Math" panose="02040503050406030204" charset="0"/>
                              <a:ea typeface="微软雅黑" panose="020B0503020204020204" charset="-122"/>
                            </a:rPr>
                            <m:t>𝟏</m:t>
                          </m:r>
                        </m:sup>
                        <m:e>
                          <m:nary>
                            <m:naryPr>
                              <m:chr m:val="∑"/>
                              <m:ctrlPr>
                                <a:rPr lang="en-US" altLang="zh-CN" sz="2400" b="1" i="1" kern="0">
                                  <a:solidFill>
                                    <a:srgbClr val="000000"/>
                                  </a:solidFill>
                                  <a:latin typeface="Cambria Math" panose="02040503050406030204" charset="0"/>
                                  <a:ea typeface="微软雅黑" panose="020B0503020204020204" charset="-122"/>
                                </a:rPr>
                              </m:ctrlPr>
                            </m:naryPr>
                            <m:sub>
                              <m:r>
                                <a:rPr lang="en-US" altLang="zh-CN" sz="2400" b="1" i="1" kern="0" smtClean="0">
                                  <a:solidFill>
                                    <a:srgbClr val="000000"/>
                                  </a:solidFill>
                                  <a:latin typeface="Cambria Math" panose="02040503050406030204" charset="0"/>
                                  <a:ea typeface="微软雅黑" panose="020B0503020204020204" charset="-122"/>
                                </a:rPr>
                                <m:t>𝒚</m:t>
                              </m:r>
                              <m:r>
                                <a:rPr lang="en-US" altLang="zh-CN" sz="2400" b="1" i="1" kern="0">
                                  <a:solidFill>
                                    <a:srgbClr val="000000"/>
                                  </a:solidFill>
                                  <a:latin typeface="Cambria Math" panose="02040503050406030204" charset="0"/>
                                  <a:ea typeface="微软雅黑" panose="020B0503020204020204" charset="-122"/>
                                </a:rPr>
                                <m:t>=</m:t>
                              </m:r>
                              <m:r>
                                <a:rPr lang="en-US" altLang="zh-CN" sz="2400" b="1" i="1" kern="0">
                                  <a:solidFill>
                                    <a:srgbClr val="000000"/>
                                  </a:solidFill>
                                  <a:latin typeface="Cambria Math" panose="02040503050406030204" charset="0"/>
                                  <a:ea typeface="微软雅黑" panose="020B0503020204020204" charset="-122"/>
                                </a:rPr>
                                <m:t>𝟎</m:t>
                              </m:r>
                            </m:sub>
                            <m:sup>
                              <m:r>
                                <a:rPr lang="en-US" altLang="zh-CN" sz="2400" b="1" i="1" kern="0" smtClean="0">
                                  <a:solidFill>
                                    <a:srgbClr val="000000"/>
                                  </a:solidFill>
                                  <a:latin typeface="Cambria Math" panose="02040503050406030204" charset="0"/>
                                  <a:ea typeface="微软雅黑" panose="020B0503020204020204" charset="-122"/>
                                </a:rPr>
                                <m:t>𝑵</m:t>
                              </m:r>
                              <m:r>
                                <a:rPr lang="en-US" altLang="zh-CN" sz="2400" b="1" i="1" kern="0">
                                  <a:solidFill>
                                    <a:srgbClr val="000000"/>
                                  </a:solidFill>
                                  <a:latin typeface="Cambria Math" panose="02040503050406030204" charset="0"/>
                                  <a:ea typeface="微软雅黑" panose="020B0503020204020204" charset="-122"/>
                                </a:rPr>
                                <m:t>−</m:t>
                              </m:r>
                              <m:r>
                                <a:rPr lang="en-US" altLang="zh-CN" sz="2400" b="1" i="1" kern="0">
                                  <a:solidFill>
                                    <a:srgbClr val="000000"/>
                                  </a:solidFill>
                                  <a:latin typeface="Cambria Math" panose="02040503050406030204" charset="0"/>
                                  <a:ea typeface="微软雅黑" panose="020B0503020204020204" charset="-122"/>
                                </a:rPr>
                                <m:t>𝟏</m:t>
                              </m:r>
                            </m:sup>
                            <m:e>
                              <m:r>
                                <a:rPr lang="en-US" altLang="zh-CN" sz="2400" b="1" i="1" kern="0" smtClean="0">
                                  <a:solidFill>
                                    <a:srgbClr val="000000"/>
                                  </a:solidFill>
                                  <a:latin typeface="Cambria Math" panose="02040503050406030204" charset="0"/>
                                  <a:ea typeface="微软雅黑" panose="020B0503020204020204" charset="-122"/>
                                </a:rPr>
                                <m:t>𝒇</m:t>
                              </m:r>
                              <m:d>
                                <m:dPr>
                                  <m:ctrlPr>
                                    <a:rPr lang="en-US" altLang="zh-CN" sz="2400" b="1" i="1" kern="0">
                                      <a:solidFill>
                                        <a:srgbClr val="000000"/>
                                      </a:solidFill>
                                      <a:latin typeface="Cambria Math" panose="02040503050406030204" charset="0"/>
                                      <a:ea typeface="微软雅黑" panose="020B0503020204020204" charset="-122"/>
                                    </a:rPr>
                                  </m:ctrlPr>
                                </m:dPr>
                                <m:e>
                                  <m:r>
                                    <a:rPr lang="en-US" altLang="zh-CN" sz="2400" b="1" i="1" kern="0" smtClean="0">
                                      <a:solidFill>
                                        <a:srgbClr val="000000"/>
                                      </a:solidFill>
                                      <a:latin typeface="Cambria Math" panose="02040503050406030204" charset="0"/>
                                      <a:ea typeface="微软雅黑" panose="020B0503020204020204" charset="-122"/>
                                    </a:rPr>
                                    <m:t>𝒙</m:t>
                                  </m:r>
                                  <m:r>
                                    <a:rPr lang="en-US" altLang="zh-CN" sz="2400" b="1" i="1" kern="0" smtClean="0">
                                      <a:solidFill>
                                        <a:srgbClr val="000000"/>
                                      </a:solidFill>
                                      <a:latin typeface="Cambria Math" panose="02040503050406030204" charset="0"/>
                                      <a:ea typeface="微软雅黑" panose="020B0503020204020204" charset="-122"/>
                                    </a:rPr>
                                    <m:t>,</m:t>
                                  </m:r>
                                  <m:r>
                                    <a:rPr lang="en-US" altLang="zh-CN" sz="2400" b="1" i="1" kern="0" smtClean="0">
                                      <a:solidFill>
                                        <a:srgbClr val="000000"/>
                                      </a:solidFill>
                                      <a:latin typeface="Cambria Math" panose="02040503050406030204" charset="0"/>
                                      <a:ea typeface="微软雅黑" panose="020B0503020204020204" charset="-122"/>
                                    </a:rPr>
                                    <m:t>𝒚</m:t>
                                  </m:r>
                                </m:e>
                              </m:d>
                              <m:r>
                                <a:rPr lang="en-US" altLang="zh-CN" sz="2400" b="1" i="1" kern="0">
                                  <a:solidFill>
                                    <a:srgbClr val="000000"/>
                                  </a:solidFill>
                                  <a:latin typeface="Cambria Math" panose="02040503050406030204" charset="0"/>
                                  <a:ea typeface="微软雅黑" panose="020B0503020204020204" charset="-122"/>
                                </a:rPr>
                                <m:t>𝒆𝒙𝒑</m:t>
                              </m:r>
                              <m:d>
                                <m:dPr>
                                  <m:ctrlPr>
                                    <a:rPr lang="en-US" altLang="zh-CN" sz="2400" b="1" i="1" kern="0">
                                      <a:solidFill>
                                        <a:srgbClr val="000000"/>
                                      </a:solidFill>
                                      <a:latin typeface="Cambria Math" panose="02040503050406030204" charset="0"/>
                                      <a:ea typeface="微软雅黑" panose="020B0503020204020204" charset="-122"/>
                                    </a:rPr>
                                  </m:ctrlPr>
                                </m:dPr>
                                <m:e>
                                  <m:r>
                                    <a:rPr lang="en-US" altLang="zh-CN" sz="2400" b="1" i="1" kern="0" smtClean="0">
                                      <a:solidFill>
                                        <a:srgbClr val="000000"/>
                                      </a:solidFill>
                                      <a:latin typeface="Cambria Math" panose="02040503050406030204" charset="0"/>
                                      <a:ea typeface="微软雅黑" panose="020B0503020204020204" charset="-122"/>
                                    </a:rPr>
                                    <m:t>−</m:t>
                                  </m:r>
                                  <m:r>
                                    <a:rPr lang="en-US" altLang="zh-CN" sz="2400" b="1" i="1" kern="0">
                                      <a:solidFill>
                                        <a:srgbClr val="000000"/>
                                      </a:solidFill>
                                      <a:latin typeface="Cambria Math" panose="02040503050406030204" charset="0"/>
                                      <a:ea typeface="微软雅黑" panose="020B0503020204020204" charset="-122"/>
                                    </a:rPr>
                                    <m:t>𝒋</m:t>
                                  </m:r>
                                  <m:r>
                                    <a:rPr lang="en-US" altLang="zh-CN" sz="2400" b="1" i="1" kern="0">
                                      <a:solidFill>
                                        <a:srgbClr val="000000"/>
                                      </a:solidFill>
                                      <a:latin typeface="Cambria Math" panose="02040503050406030204" charset="0"/>
                                      <a:ea typeface="微软雅黑" panose="020B0503020204020204" charset="-122"/>
                                    </a:rPr>
                                    <m:t>𝟐</m:t>
                                  </m:r>
                                  <m:r>
                                    <a:rPr lang="zh-CN" altLang="en-US" sz="2400" b="1" i="1" kern="0">
                                      <a:solidFill>
                                        <a:srgbClr val="000000"/>
                                      </a:solidFill>
                                      <a:latin typeface="Cambria Math" panose="02040503050406030204" charset="0"/>
                                      <a:ea typeface="微软雅黑" panose="020B0503020204020204" charset="-122"/>
                                    </a:rPr>
                                    <m:t>𝝅</m:t>
                                  </m:r>
                                  <m:d>
                                    <m:dPr>
                                      <m:ctrlPr>
                                        <a:rPr lang="en-US" altLang="zh-CN" sz="2400" b="1" i="1" kern="0" smtClean="0">
                                          <a:solidFill>
                                            <a:srgbClr val="000000"/>
                                          </a:solidFill>
                                          <a:latin typeface="Cambria Math" panose="02040503050406030204" charset="0"/>
                                          <a:ea typeface="微软雅黑" panose="020B0503020204020204" charset="-122"/>
                                        </a:rPr>
                                      </m:ctrlPr>
                                    </m:dPr>
                                    <m:e>
                                      <m:f>
                                        <m:fPr>
                                          <m:ctrlPr>
                                            <a:rPr lang="en-US" altLang="zh-CN" sz="2400" b="1" i="1" kern="0" smtClean="0">
                                              <a:solidFill>
                                                <a:srgbClr val="000000"/>
                                              </a:solidFill>
                                              <a:latin typeface="Cambria Math" panose="02040503050406030204" charset="0"/>
                                              <a:ea typeface="微软雅黑" panose="020B0503020204020204" charset="-122"/>
                                            </a:rPr>
                                          </m:ctrlPr>
                                        </m:fPr>
                                        <m:num>
                                          <m:r>
                                            <a:rPr lang="en-US" altLang="zh-CN" sz="2400" b="1" i="1" kern="0" smtClean="0">
                                              <a:solidFill>
                                                <a:srgbClr val="000000"/>
                                              </a:solidFill>
                                              <a:latin typeface="Cambria Math" panose="02040503050406030204" charset="0"/>
                                              <a:ea typeface="微软雅黑" panose="020B0503020204020204" charset="-122"/>
                                            </a:rPr>
                                            <m:t>𝒖𝒙</m:t>
                                          </m:r>
                                        </m:num>
                                        <m:den>
                                          <m:r>
                                            <a:rPr lang="en-US" altLang="zh-CN" sz="2400" b="1" i="1" kern="0" smtClean="0">
                                              <a:solidFill>
                                                <a:srgbClr val="000000"/>
                                              </a:solidFill>
                                              <a:latin typeface="Cambria Math" panose="02040503050406030204" charset="0"/>
                                              <a:ea typeface="微软雅黑" panose="020B0503020204020204" charset="-122"/>
                                            </a:rPr>
                                            <m:t>𝑵</m:t>
                                          </m:r>
                                        </m:den>
                                      </m:f>
                                      <m:r>
                                        <a:rPr lang="en-US" altLang="zh-CN" sz="2400" b="1" i="1" kern="0" smtClean="0">
                                          <a:solidFill>
                                            <a:srgbClr val="000000"/>
                                          </a:solidFill>
                                          <a:latin typeface="Cambria Math" panose="02040503050406030204" charset="0"/>
                                          <a:ea typeface="微软雅黑" panose="020B0503020204020204" charset="-122"/>
                                        </a:rPr>
                                        <m:t>+</m:t>
                                      </m:r>
                                      <m:f>
                                        <m:fPr>
                                          <m:ctrlPr>
                                            <a:rPr lang="en-US" altLang="zh-CN" sz="2400" b="1" i="1" kern="0">
                                              <a:solidFill>
                                                <a:srgbClr val="000000"/>
                                              </a:solidFill>
                                              <a:latin typeface="Cambria Math" panose="02040503050406030204" charset="0"/>
                                              <a:ea typeface="微软雅黑" panose="020B0503020204020204" charset="-122"/>
                                            </a:rPr>
                                          </m:ctrlPr>
                                        </m:fPr>
                                        <m:num>
                                          <m:r>
                                            <a:rPr lang="en-US" altLang="zh-CN" sz="2400" b="1" i="1" kern="0" smtClean="0">
                                              <a:solidFill>
                                                <a:srgbClr val="000000"/>
                                              </a:solidFill>
                                              <a:latin typeface="Cambria Math" panose="02040503050406030204" charset="0"/>
                                              <a:ea typeface="微软雅黑" panose="020B0503020204020204" charset="-122"/>
                                            </a:rPr>
                                            <m:t>𝒗𝒚</m:t>
                                          </m:r>
                                        </m:num>
                                        <m:den>
                                          <m:r>
                                            <a:rPr lang="en-US" altLang="zh-CN" sz="2400" b="1" i="1" kern="0" smtClean="0">
                                              <a:solidFill>
                                                <a:srgbClr val="000000"/>
                                              </a:solidFill>
                                              <a:latin typeface="Cambria Math" panose="02040503050406030204" charset="0"/>
                                              <a:ea typeface="微软雅黑" panose="020B0503020204020204" charset="-122"/>
                                            </a:rPr>
                                            <m:t>𝑵</m:t>
                                          </m:r>
                                        </m:den>
                                      </m:f>
                                    </m:e>
                                  </m:d>
                                </m:e>
                              </m:d>
                            </m:e>
                          </m:nary>
                        </m:e>
                      </m:nary>
                    </m:oMath>
                  </m:oMathPara>
                </a14:m>
                <a:endParaRPr lang="en-US" altLang="zh-CN" sz="2400" kern="0" dirty="0">
                  <a:solidFill>
                    <a:srgbClr val="000000"/>
                  </a:solidFill>
                </a:endParaRPr>
              </a:p>
              <a:p>
                <a:pPr marL="0" indent="0" eaLnBrk="1" hangingPunct="1">
                  <a:lnSpc>
                    <a:spcPct val="120000"/>
                  </a:lnSpc>
                  <a:spcBef>
                    <a:spcPct val="0"/>
                  </a:spcBef>
                  <a:buFontTx/>
                  <a:buNone/>
                </a:pPr>
                <a:endParaRPr lang="zh-CN" altLang="en-US" sz="2400" kern="0" dirty="0">
                  <a:solidFill>
                    <a:srgbClr val="000000"/>
                  </a:solidFill>
                </a:endParaRPr>
              </a:p>
              <a:p>
                <a:pPr marL="0" indent="0" eaLnBrk="1" hangingPunct="1">
                  <a:lnSpc>
                    <a:spcPct val="80000"/>
                  </a:lnSpc>
                </a:pPr>
                <a:endParaRPr lang="en-US" altLang="zh-CN" sz="1000" kern="0" dirty="0">
                  <a:solidFill>
                    <a:srgbClr val="000000"/>
                  </a:solidFill>
                </a:endParaRPr>
              </a:p>
            </p:txBody>
          </p:sp>
        </mc:Choice>
        <mc:Fallback>
          <p:sp>
            <p:nvSpPr>
              <p:cNvPr id="6" name="Rectangle 3"/>
              <p:cNvSpPr txBox="1">
                <a:spLocks noRot="1" noChangeAspect="1" noMove="1" noResize="1" noEditPoints="1" noAdjustHandles="1" noChangeArrowheads="1" noChangeShapeType="1" noTextEdit="1"/>
              </p:cNvSpPr>
              <p:nvPr/>
            </p:nvSpPr>
            <p:spPr bwMode="auto">
              <a:xfrm>
                <a:off x="1242695" y="1835529"/>
                <a:ext cx="8064574" cy="2253484"/>
              </a:xfrm>
              <a:prstGeom prst="rect">
                <a:avLst/>
              </a:prstGeom>
              <a:blipFill rotWithShape="1">
                <a:blip r:embed="rId3"/>
                <a:stretch>
                  <a:fillRect t="-17" r="1" b="-6611"/>
                </a:stretch>
              </a:blipFill>
              <a:extLst>
                <a:ext uri="{909E8E84-426E-40DD-AFC4-6F175D3DCCD1}">
                  <a14:hiddenFill xmlns:a14="http://schemas.microsoft.com/office/drawing/2010/main">
                    <a:solidFill>
                      <a:srgbClr val="3366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pic>
        <p:nvPicPr>
          <p:cNvPr id="9" name="图片 8"/>
          <p:cNvPicPr>
            <a:picLocks noChangeAspect="1"/>
          </p:cNvPicPr>
          <p:nvPr/>
        </p:nvPicPr>
        <p:blipFill rotWithShape="1">
          <a:blip r:embed="rId4">
            <a:extLst>
              <a:ext uri="{28A0092B-C50C-407E-A947-70E740481C1C}">
                <a14:useLocalDpi xmlns:a14="http://schemas.microsoft.com/office/drawing/2010/main" val="0"/>
              </a:ext>
            </a:extLst>
          </a:blip>
          <a:srcRect r="50065"/>
          <a:stretch>
            <a:fillRect/>
          </a:stretch>
        </p:blipFill>
        <p:spPr>
          <a:xfrm>
            <a:off x="9904095" y="1577975"/>
            <a:ext cx="1679575" cy="1687195"/>
          </a:xfrm>
          <a:prstGeom prst="rect">
            <a:avLst/>
          </a:prstGeom>
        </p:spPr>
      </p:pic>
      <p:pic>
        <p:nvPicPr>
          <p:cNvPr id="11" name="图片 10"/>
          <p:cNvPicPr>
            <a:picLocks noChangeAspect="1"/>
          </p:cNvPicPr>
          <p:nvPr/>
        </p:nvPicPr>
        <p:blipFill rotWithShape="1">
          <a:blip r:embed="rId4">
            <a:extLst>
              <a:ext uri="{28A0092B-C50C-407E-A947-70E740481C1C}">
                <a14:useLocalDpi xmlns:a14="http://schemas.microsoft.com/office/drawing/2010/main" val="0"/>
              </a:ext>
            </a:extLst>
          </a:blip>
          <a:srcRect l="49999"/>
          <a:stretch>
            <a:fillRect/>
          </a:stretch>
        </p:blipFill>
        <p:spPr>
          <a:xfrm>
            <a:off x="9904095" y="3587115"/>
            <a:ext cx="1723390" cy="172910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2220"/>
            <a:ext cx="493331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从卷积到卷积神经网络</a:t>
            </a:r>
            <a:endParaRPr lang="zh-CN" sz="3200" b="1" dirty="0" smtClean="0">
              <a:solidFill>
                <a:schemeClr val="bg1"/>
              </a:solidFill>
              <a:latin typeface="微软雅黑" panose="020B0503020204020204" charset="-122"/>
              <a:ea typeface="微软雅黑" panose="020B0503020204020204" charset="-122"/>
              <a:sym typeface="+mn-ea"/>
            </a:endParaRPr>
          </a:p>
        </p:txBody>
      </p:sp>
      <mc:AlternateContent xmlns:mc="http://schemas.openxmlformats.org/markup-compatibility/2006">
        <mc:Choice xmlns:a14="http://schemas.microsoft.com/office/drawing/2010/main" Requires="a14">
          <p:sp>
            <p:nvSpPr>
              <p:cNvPr id="5" name="文本框 4"/>
              <p:cNvSpPr txBox="1"/>
              <p:nvPr/>
            </p:nvSpPr>
            <p:spPr>
              <a:xfrm>
                <a:off x="1266190" y="2273935"/>
                <a:ext cx="7934960" cy="739775"/>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卷积(互相关)计算梯度/滤波：</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sub>
                      </m:sSub>
                      <m:r>
                        <a:rPr lang="en-US" altLang="zh-CN" i="1">
                          <a:latin typeface="Cambria Math" panose="02040503050406030204" charset="0"/>
                          <a:cs typeface="Cambria Math" panose="02040503050406030204" charset="0"/>
                        </a:rPr>
                        <m:t>=</m:t>
                      </m:r>
                      <m:nary>
                        <m:naryPr>
                          <m:chr m:val="∑"/>
                          <m:limLoc m:val="undOvr"/>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sub>
                        <m:sup/>
                        <m:e>
                          <m:nary>
                            <m:naryPr>
                              <m:chr m:val="∑"/>
                              <m:limLoc m:val="undOvr"/>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sub>
                            <m:sup/>
                            <m:e>
                              <m:r>
                                <a:rPr lang="en-US" altLang="zh-CN" i="1">
                                  <a:latin typeface="Cambria Math" panose="02040503050406030204" charset="0"/>
                                  <a:cs typeface="Cambria Math" panose="02040503050406030204" charset="0"/>
                                </a:rPr>
                                <m:t>𝐼</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𝐾</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e>
                          </m:nary>
                        </m:e>
                      </m:nary>
                    </m:oMath>
                  </m:oMathPara>
                </a14:m>
                <a:endParaRPr lang="en-US" altLang="zh-CN" i="1">
                  <a:latin typeface="Cambria Math" panose="02040503050406030204" charset="0"/>
                  <a:cs typeface="Cambria Math" panose="02040503050406030204"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1266190" y="2273935"/>
                <a:ext cx="7934960" cy="73977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1863725" y="3013710"/>
                <a:ext cx="8634730" cy="763270"/>
              </a:xfrm>
              <a:prstGeom prst="rect">
                <a:avLst/>
              </a:prstGeom>
              <a:noFill/>
            </p:spPr>
            <p:txBody>
              <a:bodyPr wrap="square" rtlCol="0" anchor="t">
                <a:spAutoFit/>
              </a:bodyPr>
              <a:p>
                <a:r>
                  <a:rPr lang="en-US" altLang="zh-CN">
                    <a:latin typeface="Cambria Math" panose="02040503050406030204" charset="0"/>
                    <a:cs typeface="Cambria Math" panose="02040503050406030204" charset="0"/>
                  </a:rPr>
                  <a:t>CNN</a:t>
                </a:r>
                <a14:m>
                  <m:oMath xmlns:m="http://schemas.openxmlformats.org/officeDocument/2006/math">
                    <m:r>
                      <a:rPr lang="en-US" altLang="zh-CN" i="1">
                        <a:latin typeface="Cambria Math" panose="02040503050406030204" charset="0"/>
                        <a:cs typeface="Cambria Math" panose="02040503050406030204" charset="0"/>
                      </a:rPr>
                      <m:t>卷积层： </m:t>
                    </m:r>
                    <m:r>
                      <a:rPr lang="en-US" altLang="zh-CN" i="1">
                        <a:latin typeface="Cambria Math" panose="02040503050406030204" charset="0"/>
                        <a:cs typeface="Cambria Math" panose="02040503050406030204" charset="0"/>
                      </a:rPr>
                      <m:t>𝜎</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𝑂</m:t>
                        </m:r>
                      </m:e>
                      <m:sub>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nary>
                      <m:naryPr>
                        <m:chr m:val="∑"/>
                        <m:limLoc m:val="undOvr"/>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sub>
                      <m:sup/>
                      <m:e>
                        <m:nary>
                          <m:naryPr>
                            <m:chr m:val="∑"/>
                            <m:limLoc m:val="undOvr"/>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sub>
                          <m:sup/>
                          <m:e>
                            <m:r>
                              <a:rPr lang="en-US" altLang="zh-CN" i="1">
                                <a:latin typeface="Cambria Math" panose="02040503050406030204" charset="0"/>
                                <a:cs typeface="Cambria Math" panose="02040503050406030204" charset="0"/>
                              </a:rPr>
                              <m:t>𝐼</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𝑊</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 + </m:t>
                            </m:r>
                            <m:r>
                              <a:rPr lang="en-US" altLang="zh-CN" i="1">
                                <a:latin typeface="Cambria Math" panose="02040503050406030204" charset="0"/>
                                <a:cs typeface="Cambria Math" panose="02040503050406030204" charset="0"/>
                              </a:rPr>
                              <m:t>𝑏</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𝜎</m:t>
                            </m:r>
                            <m:r>
                              <a:rPr lang="en-US" altLang="zh-CN" i="1">
                                <a:latin typeface="Cambria Math" panose="02040503050406030204" charset="0"/>
                                <a:cs typeface="Cambria Math" panose="02040503050406030204" charset="0"/>
                              </a:rPr>
                              <m:t>为激活函数</m:t>
                            </m:r>
                          </m:e>
                        </m:nary>
                      </m:e>
                    </m:nary>
                  </m:oMath>
                </a14:m>
                <a:endParaRPr lang="en-US" altLang="zh-CN" i="1">
                  <a:latin typeface="Cambria Math" panose="02040503050406030204" charset="0"/>
                  <a:cs typeface="Cambria Math" panose="02040503050406030204" charset="0"/>
                </a:endParaRPr>
              </a:p>
              <a:p>
                <a:endParaRPr lang="en-US" altLang="zh-CN" i="1">
                  <a:latin typeface="Cambria Math" panose="02040503050406030204" charset="0"/>
                  <a:cs typeface="Cambria Math" panose="02040503050406030204"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1863725" y="3013710"/>
                <a:ext cx="8634730" cy="763270"/>
              </a:xfrm>
              <a:prstGeom prst="rect">
                <a:avLst/>
              </a:prstGeom>
              <a:blipFill rotWithShape="1">
                <a:blip r:embed="rId4"/>
                <a:stretch>
                  <a:fillRect/>
                </a:stretch>
              </a:blipFill>
            </p:spPr>
            <p:txBody>
              <a:bodyPr/>
              <a:lstStyle/>
              <a:p>
                <a:r>
                  <a:rPr lang="zh-CN" altLang="en-US">
                    <a:noFill/>
                  </a:rPr>
                  <a:t> </a:t>
                </a:r>
              </a:p>
            </p:txBody>
          </p:sp>
        </mc:Fallback>
      </mc:AlternateContent>
      <p:sp>
        <p:nvSpPr>
          <p:cNvPr id="12" name="文本框 11"/>
          <p:cNvSpPr txBox="1"/>
          <p:nvPr/>
        </p:nvSpPr>
        <p:spPr>
          <a:xfrm>
            <a:off x="1723390" y="3850005"/>
            <a:ext cx="8798560" cy="645160"/>
          </a:xfrm>
          <a:prstGeom prst="rect">
            <a:avLst/>
          </a:prstGeom>
          <a:noFill/>
        </p:spPr>
        <p:txBody>
          <a:bodyPr wrap="square" rtlCol="0">
            <a:spAutoFit/>
          </a:bodyPr>
          <a:p>
            <a:r>
              <a:rPr lang="zh-CN" altLang="en-US"/>
              <a:t>深度学习中的卷积核在做几乎和边缘检测、滤波中一样的事，但是是通过梯度下降法和反向传播，自学习得到权重</a:t>
            </a:r>
            <a:r>
              <a:rPr lang="en-US" altLang="zh-CN"/>
              <a:t>W</a:t>
            </a:r>
            <a:r>
              <a:rPr lang="zh-CN" altLang="en-US"/>
              <a:t>和偏置</a:t>
            </a:r>
            <a:r>
              <a:rPr lang="en-US" altLang="zh-CN"/>
              <a:t>b</a:t>
            </a:r>
            <a:r>
              <a:rPr lang="zh-CN" altLang="en-US"/>
              <a:t>，再通过一个非线性的激活函数</a:t>
            </a:r>
            <a:r>
              <a:rPr lang="en-US" altLang="zh-CN"/>
              <a:t>!</a:t>
            </a:r>
            <a:endParaRPr lang="en-US" altLang="zh-CN"/>
          </a:p>
        </p:txBody>
      </p:sp>
      <p:sp>
        <p:nvSpPr>
          <p:cNvPr id="13" name="文本框 12"/>
          <p:cNvSpPr txBox="1"/>
          <p:nvPr/>
        </p:nvSpPr>
        <p:spPr>
          <a:xfrm>
            <a:off x="1723390" y="5053965"/>
            <a:ext cx="9170670" cy="368300"/>
          </a:xfrm>
          <a:prstGeom prst="rect">
            <a:avLst/>
          </a:prstGeom>
          <a:noFill/>
        </p:spPr>
        <p:txBody>
          <a:bodyPr wrap="square" rtlCol="0">
            <a:spAutoFit/>
          </a:bodyPr>
          <a:p>
            <a:r>
              <a:rPr lang="zh-CN" altLang="en-US"/>
              <a:t>不同于手工设计的卷积核</a:t>
            </a:r>
            <a:r>
              <a:rPr lang="en-US" altLang="zh-CN"/>
              <a:t>K</a:t>
            </a:r>
            <a:r>
              <a:rPr lang="zh-CN" altLang="en-US"/>
              <a:t>，机器自行学习出了一种权重卷积核</a:t>
            </a:r>
            <a:r>
              <a:rPr lang="en-US" altLang="zh-CN"/>
              <a:t>W</a:t>
            </a:r>
            <a:r>
              <a:rPr lang="zh-CN" altLang="en-US"/>
              <a:t>，可以</a:t>
            </a:r>
            <a:r>
              <a:rPr lang="en-US" altLang="zh-CN"/>
              <a:t>“</a:t>
            </a:r>
            <a:r>
              <a:rPr lang="zh-CN" altLang="en-US"/>
              <a:t>扮演</a:t>
            </a:r>
            <a:r>
              <a:rPr lang="en-US" altLang="zh-CN"/>
              <a:t>”</a:t>
            </a:r>
            <a:r>
              <a:rPr lang="zh-CN" altLang="en-US"/>
              <a:t>各种滤波器。</a:t>
            </a:r>
            <a:endParaRPr lang="zh-CN" alt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2220"/>
            <a:ext cx="493331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卷积神经网络：简介</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3" name="内容占位符 2"/>
          <p:cNvPicPr>
            <a:picLocks noChangeAspect="1"/>
          </p:cNvPicPr>
          <p:nvPr>
            <p:ph idx="1"/>
          </p:nvPr>
        </p:nvPicPr>
        <p:blipFill>
          <a:blip r:embed="rId3"/>
          <a:stretch>
            <a:fillRect/>
          </a:stretch>
        </p:blipFill>
        <p:spPr>
          <a:xfrm>
            <a:off x="868045" y="2087880"/>
            <a:ext cx="10300335" cy="4351655"/>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2220"/>
            <a:ext cx="493331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卷积神经网络：结构</a:t>
            </a:r>
            <a:endParaRPr lang="zh-CN" sz="3200" b="1" dirty="0" smtClean="0">
              <a:solidFill>
                <a:schemeClr val="bg1"/>
              </a:solidFill>
              <a:latin typeface="微软雅黑" panose="020B0503020204020204" charset="-122"/>
              <a:ea typeface="微软雅黑" panose="020B0503020204020204" charset="-122"/>
              <a:sym typeface="+mn-ea"/>
            </a:endParaRPr>
          </a:p>
        </p:txBody>
      </p:sp>
      <p:pic>
        <p:nvPicPr>
          <p:cNvPr id="6" name="内容占位符 5"/>
          <p:cNvPicPr>
            <a:picLocks noChangeAspect="1"/>
          </p:cNvPicPr>
          <p:nvPr>
            <p:ph idx="1"/>
          </p:nvPr>
        </p:nvPicPr>
        <p:blipFill>
          <a:blip r:embed="rId3"/>
          <a:stretch>
            <a:fillRect/>
          </a:stretch>
        </p:blipFill>
        <p:spPr>
          <a:xfrm>
            <a:off x="1310005" y="2391410"/>
            <a:ext cx="10492740" cy="3642360"/>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2220"/>
            <a:ext cx="493331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手工设计</a:t>
            </a:r>
            <a:r>
              <a:rPr lang="en-US" altLang="zh-CN" sz="3200" b="1" dirty="0" smtClean="0">
                <a:solidFill>
                  <a:schemeClr val="bg1"/>
                </a:solidFill>
                <a:latin typeface="微软雅黑" panose="020B0503020204020204" charset="-122"/>
                <a:ea typeface="微软雅黑" panose="020B0503020204020204" charset="-122"/>
                <a:sym typeface="+mn-ea"/>
              </a:rPr>
              <a:t> v.s. </a:t>
            </a:r>
            <a:r>
              <a:rPr lang="zh-CN" altLang="en-US" sz="3200" b="1" dirty="0" smtClean="0">
                <a:solidFill>
                  <a:schemeClr val="bg1"/>
                </a:solidFill>
                <a:latin typeface="微软雅黑" panose="020B0503020204020204" charset="-122"/>
                <a:ea typeface="微软雅黑" panose="020B0503020204020204" charset="-122"/>
                <a:sym typeface="+mn-ea"/>
              </a:rPr>
              <a:t>深度学习</a:t>
            </a:r>
            <a:endParaRPr lang="zh-CN" altLang="en-US" sz="3200" b="1" dirty="0" smtClean="0">
              <a:solidFill>
                <a:schemeClr val="bg1"/>
              </a:solidFill>
              <a:latin typeface="微软雅黑" panose="020B0503020204020204" charset="-122"/>
              <a:ea typeface="微软雅黑" panose="020B0503020204020204" charset="-122"/>
              <a:sym typeface="+mn-ea"/>
            </a:endParaRPr>
          </a:p>
        </p:txBody>
      </p:sp>
      <p:pic>
        <p:nvPicPr>
          <p:cNvPr id="5" name="图片 4"/>
          <p:cNvPicPr>
            <a:picLocks noChangeAspect="1"/>
          </p:cNvPicPr>
          <p:nvPr/>
        </p:nvPicPr>
        <p:blipFill>
          <a:blip r:embed="rId3"/>
          <a:stretch>
            <a:fillRect/>
          </a:stretch>
        </p:blipFill>
        <p:spPr>
          <a:xfrm>
            <a:off x="5425440" y="2312670"/>
            <a:ext cx="6595110" cy="3394710"/>
          </a:xfrm>
          <a:prstGeom prst="rect">
            <a:avLst/>
          </a:prstGeom>
        </p:spPr>
      </p:pic>
      <p:sp>
        <p:nvSpPr>
          <p:cNvPr id="9" name="文本框 8"/>
          <p:cNvSpPr txBox="1"/>
          <p:nvPr/>
        </p:nvSpPr>
        <p:spPr>
          <a:xfrm>
            <a:off x="465455" y="2312670"/>
            <a:ext cx="4279265" cy="1198880"/>
          </a:xfrm>
          <a:prstGeom prst="rect">
            <a:avLst/>
          </a:prstGeom>
          <a:noFill/>
        </p:spPr>
        <p:txBody>
          <a:bodyPr wrap="square" rtlCol="0">
            <a:spAutoFit/>
          </a:bodyPr>
          <a:p>
            <a:r>
              <a:rPr lang="zh-CN" altLang="en-US" b="1">
                <a:solidFill>
                  <a:schemeClr val="tx1"/>
                </a:solidFill>
                <a:effectLst/>
              </a:rPr>
              <a:t>手工设计</a:t>
            </a:r>
            <a:r>
              <a:rPr lang="en-US" altLang="zh-CN" b="1">
                <a:solidFill>
                  <a:schemeClr val="tx1"/>
                </a:solidFill>
                <a:effectLst/>
              </a:rPr>
              <a:t> </a:t>
            </a:r>
            <a:endParaRPr lang="en-US" altLang="zh-CN" b="1">
              <a:solidFill>
                <a:schemeClr val="tx1"/>
              </a:solidFill>
              <a:effectLst/>
            </a:endParaRPr>
          </a:p>
          <a:p>
            <a:r>
              <a:rPr lang="zh-CN" altLang="en-US"/>
              <a:t>一般适用于目标明确，特征显著的情况。例如圆形特征（霍夫圆），色彩特征（阈值分割），形状特征（多边形拟合）</a:t>
            </a:r>
            <a:endParaRPr lang="zh-CN" altLang="en-US"/>
          </a:p>
        </p:txBody>
      </p:sp>
      <p:sp>
        <p:nvSpPr>
          <p:cNvPr id="10" name="文本框 9"/>
          <p:cNvSpPr txBox="1"/>
          <p:nvPr/>
        </p:nvSpPr>
        <p:spPr>
          <a:xfrm>
            <a:off x="465455" y="4246245"/>
            <a:ext cx="4573905" cy="922020"/>
          </a:xfrm>
          <a:prstGeom prst="rect">
            <a:avLst/>
          </a:prstGeom>
          <a:noFill/>
        </p:spPr>
        <p:txBody>
          <a:bodyPr wrap="square" rtlCol="0">
            <a:spAutoFit/>
          </a:bodyPr>
          <a:p>
            <a:r>
              <a:rPr lang="zh-CN" altLang="en-US" b="1"/>
              <a:t>深度学习：</a:t>
            </a:r>
            <a:endParaRPr lang="zh-CN" altLang="en-US" b="1"/>
          </a:p>
          <a:p>
            <a:r>
              <a:rPr lang="zh-CN" altLang="en-US"/>
              <a:t>一般适用于不好手工设计的情况，使用数据驱动，令机器自行学习到特征的提取方式。</a:t>
            </a:r>
            <a:endParaRPr lang="zh-CN" altLang="en-US"/>
          </a:p>
        </p:txBody>
      </p:sp>
      <p:sp>
        <p:nvSpPr>
          <p:cNvPr id="11" name="文本框 10"/>
          <p:cNvSpPr txBox="1"/>
          <p:nvPr/>
        </p:nvSpPr>
        <p:spPr>
          <a:xfrm>
            <a:off x="537210" y="5737225"/>
            <a:ext cx="6056630" cy="645160"/>
          </a:xfrm>
          <a:prstGeom prst="rect">
            <a:avLst/>
          </a:prstGeom>
          <a:noFill/>
        </p:spPr>
        <p:txBody>
          <a:bodyPr wrap="square" rtlCol="0">
            <a:spAutoFit/>
          </a:bodyPr>
          <a:p>
            <a:r>
              <a:rPr lang="zh-CN" altLang="en-US"/>
              <a:t>两者根据实际情况进行选择，也可以结合起来。一般而言，拟合的好的深度学习模型鲁棒性要显著更优。</a:t>
            </a:r>
            <a:endParaRPr lang="zh-CN" alt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pic>
        <p:nvPicPr>
          <p:cNvPr id="8" name="图片 7" descr="资源 5"/>
          <p:cNvPicPr>
            <a:picLocks noChangeAspect="1"/>
          </p:cNvPicPr>
          <p:nvPr/>
        </p:nvPicPr>
        <p:blipFill>
          <a:blip r:embed="rId2"/>
          <a:stretch>
            <a:fillRect/>
          </a:stretch>
        </p:blipFill>
        <p:spPr>
          <a:xfrm>
            <a:off x="344170" y="333375"/>
            <a:ext cx="2924175" cy="666750"/>
          </a:xfrm>
          <a:prstGeom prst="rect">
            <a:avLst/>
          </a:prstGeom>
        </p:spPr>
      </p:pic>
      <p:sp>
        <p:nvSpPr>
          <p:cNvPr id="4" name="矩形 3"/>
          <p:cNvSpPr/>
          <p:nvPr/>
        </p:nvSpPr>
        <p:spPr>
          <a:xfrm>
            <a:off x="537210" y="1252220"/>
            <a:ext cx="4933315" cy="583565"/>
          </a:xfrm>
          <a:prstGeom prst="rect">
            <a:avLst/>
          </a:prstGeom>
          <a:solidFill>
            <a:srgbClr val="065980"/>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00000"/>
              </a:lnSpc>
              <a:spcBef>
                <a:spcPts val="0"/>
              </a:spcBef>
              <a:spcAft>
                <a:spcPts val="0"/>
              </a:spcAft>
              <a:defRPr/>
            </a:pPr>
            <a:r>
              <a:rPr lang="zh-CN" sz="3200" b="1" dirty="0" smtClean="0">
                <a:solidFill>
                  <a:schemeClr val="bg1"/>
                </a:solidFill>
                <a:latin typeface="微软雅黑" panose="020B0503020204020204" charset="-122"/>
                <a:ea typeface="微软雅黑" panose="020B0503020204020204" charset="-122"/>
                <a:sym typeface="+mn-ea"/>
              </a:rPr>
              <a:t>竞赛中的视觉技术方案</a:t>
            </a:r>
            <a:endParaRPr lang="zh-CN" sz="3200" b="1" dirty="0" smtClean="0">
              <a:solidFill>
                <a:schemeClr val="bg1"/>
              </a:solidFill>
              <a:latin typeface="微软雅黑" panose="020B0503020204020204" charset="-122"/>
              <a:ea typeface="微软雅黑" panose="020B0503020204020204" charset="-122"/>
              <a:sym typeface="+mn-ea"/>
            </a:endParaRPr>
          </a:p>
        </p:txBody>
      </p:sp>
      <p:sp>
        <p:nvSpPr>
          <p:cNvPr id="3" name="文本框 2"/>
          <p:cNvSpPr txBox="1"/>
          <p:nvPr/>
        </p:nvSpPr>
        <p:spPr>
          <a:xfrm>
            <a:off x="842010" y="1835785"/>
            <a:ext cx="10071735" cy="1198880"/>
          </a:xfrm>
          <a:prstGeom prst="rect">
            <a:avLst/>
          </a:prstGeom>
          <a:noFill/>
        </p:spPr>
        <p:txBody>
          <a:bodyPr wrap="square" rtlCol="0">
            <a:spAutoFit/>
          </a:bodyPr>
          <a:p>
            <a:r>
              <a:rPr lang="en-US" altLang="zh-CN" b="1"/>
              <a:t>CRAIC</a:t>
            </a:r>
            <a:r>
              <a:rPr lang="en-US" altLang="zh-CN"/>
              <a:t>: 100</a:t>
            </a:r>
            <a:r>
              <a:rPr lang="zh-CN" altLang="en-US"/>
              <a:t>个类，</a:t>
            </a:r>
            <a:r>
              <a:rPr lang="en-US" altLang="zh-CN"/>
              <a:t>60000</a:t>
            </a:r>
            <a:r>
              <a:rPr lang="zh-CN" altLang="en-US"/>
              <a:t>张候选靶标图，决赛赛场上赛事方决不会让你先看到要用的靶标是什么；除此之外有穿环</a:t>
            </a:r>
            <a:endParaRPr lang="zh-CN" altLang="en-US"/>
          </a:p>
          <a:p>
            <a:r>
              <a:rPr lang="en-US" altLang="zh-CN"/>
              <a:t> </a:t>
            </a:r>
            <a:endParaRPr lang="en-US" altLang="zh-CN"/>
          </a:p>
          <a:p>
            <a:r>
              <a:rPr lang="en-US" altLang="zh-CN"/>
              <a:t>=&gt; </a:t>
            </a:r>
            <a:r>
              <a:rPr lang="zh-CN" altLang="en-US"/>
              <a:t>深度学习，极度考验模型的鲁棒性，你必须在事先搞定模型训练；穿环用视觉比较简单</a:t>
            </a:r>
            <a:endParaRPr lang="zh-CN" altLang="en-US"/>
          </a:p>
        </p:txBody>
      </p:sp>
      <p:sp>
        <p:nvSpPr>
          <p:cNvPr id="6" name="文本框 5"/>
          <p:cNvSpPr txBox="1"/>
          <p:nvPr/>
        </p:nvSpPr>
        <p:spPr>
          <a:xfrm>
            <a:off x="807085" y="3104515"/>
            <a:ext cx="9030970" cy="645160"/>
          </a:xfrm>
          <a:prstGeom prst="rect">
            <a:avLst/>
          </a:prstGeom>
          <a:noFill/>
        </p:spPr>
        <p:txBody>
          <a:bodyPr wrap="square" rtlCol="0">
            <a:spAutoFit/>
          </a:bodyPr>
          <a:p>
            <a:r>
              <a:rPr lang="zh-CN" altLang="en-US" b="1"/>
              <a:t>睿抗：</a:t>
            </a:r>
            <a:r>
              <a:rPr lang="en-US" altLang="zh-CN"/>
              <a:t> </a:t>
            </a:r>
            <a:r>
              <a:rPr lang="zh-CN" altLang="en-US"/>
              <a:t>简单字母识别</a:t>
            </a:r>
            <a:r>
              <a:rPr lang="en-US" altLang="zh-CN"/>
              <a:t> (A,B,C)</a:t>
            </a:r>
            <a:endParaRPr lang="en-US" altLang="zh-CN"/>
          </a:p>
          <a:p>
            <a:r>
              <a:rPr lang="en-US" altLang="zh-CN"/>
              <a:t>=&gt; </a:t>
            </a:r>
            <a:r>
              <a:rPr lang="zh-CN" altLang="en-US"/>
              <a:t>可以手工设计，可以自行训练</a:t>
            </a:r>
            <a:r>
              <a:rPr lang="en-US" altLang="zh-CN"/>
              <a:t>,  </a:t>
            </a:r>
            <a:r>
              <a:rPr lang="zh-CN" altLang="en-US"/>
              <a:t>建议使用</a:t>
            </a:r>
            <a:r>
              <a:rPr lang="en-US" altLang="zh-CN"/>
              <a:t>OCR</a:t>
            </a:r>
            <a:r>
              <a:rPr lang="zh-CN" altLang="en-US"/>
              <a:t>识别</a:t>
            </a:r>
            <a:endParaRPr lang="zh-CN" altLang="en-US"/>
          </a:p>
        </p:txBody>
      </p:sp>
      <p:sp>
        <p:nvSpPr>
          <p:cNvPr id="12" name="文本框 11"/>
          <p:cNvSpPr txBox="1"/>
          <p:nvPr/>
        </p:nvSpPr>
        <p:spPr>
          <a:xfrm>
            <a:off x="842010" y="3773805"/>
            <a:ext cx="10289540" cy="645160"/>
          </a:xfrm>
          <a:prstGeom prst="rect">
            <a:avLst/>
          </a:prstGeom>
          <a:noFill/>
        </p:spPr>
        <p:txBody>
          <a:bodyPr wrap="square" rtlCol="0">
            <a:spAutoFit/>
          </a:bodyPr>
          <a:p>
            <a:r>
              <a:rPr lang="zh-CN" altLang="en-US" b="1"/>
              <a:t>国机赛投货：</a:t>
            </a:r>
            <a:endParaRPr lang="zh-CN" altLang="en-US"/>
          </a:p>
          <a:p>
            <a:r>
              <a:rPr lang="zh-CN" altLang="en-US"/>
              <a:t>深度学习为主，手工设计为辅</a:t>
            </a:r>
            <a:endParaRPr lang="zh-CN" altLang="en-US"/>
          </a:p>
        </p:txBody>
      </p:sp>
      <p:sp>
        <p:nvSpPr>
          <p:cNvPr id="13" name="文本框 12"/>
          <p:cNvSpPr txBox="1"/>
          <p:nvPr/>
        </p:nvSpPr>
        <p:spPr>
          <a:xfrm>
            <a:off x="842010" y="4580255"/>
            <a:ext cx="6313170" cy="645160"/>
          </a:xfrm>
          <a:prstGeom prst="rect">
            <a:avLst/>
          </a:prstGeom>
          <a:noFill/>
        </p:spPr>
        <p:txBody>
          <a:bodyPr wrap="square" rtlCol="0">
            <a:spAutoFit/>
          </a:bodyPr>
          <a:p>
            <a:r>
              <a:rPr lang="zh-CN" altLang="en-US" b="1"/>
              <a:t>国机赛穿环</a:t>
            </a:r>
            <a:r>
              <a:rPr lang="en-US" altLang="zh-CN" b="1"/>
              <a:t>:</a:t>
            </a:r>
            <a:endParaRPr lang="en-US" altLang="zh-CN" b="1"/>
          </a:p>
          <a:p>
            <a:r>
              <a:rPr lang="zh-CN" altLang="en-US"/>
              <a:t>如果你想挑战视觉穿环，请一定要注意使用大视场角相机。</a:t>
            </a:r>
            <a:endParaRPr lang="zh-CN" altLang="en-US"/>
          </a:p>
        </p:txBody>
      </p:sp>
      <p:sp>
        <p:nvSpPr>
          <p:cNvPr id="14" name="文本框 13"/>
          <p:cNvSpPr txBox="1"/>
          <p:nvPr/>
        </p:nvSpPr>
        <p:spPr>
          <a:xfrm>
            <a:off x="807085" y="6141085"/>
            <a:ext cx="9722485" cy="368300"/>
          </a:xfrm>
          <a:prstGeom prst="rect">
            <a:avLst/>
          </a:prstGeom>
          <a:noFill/>
        </p:spPr>
        <p:txBody>
          <a:bodyPr wrap="square" rtlCol="0">
            <a:spAutoFit/>
          </a:bodyPr>
          <a:p>
            <a:r>
              <a:rPr lang="zh-CN" altLang="en-US" b="1"/>
              <a:t>小米杯：</a:t>
            </a:r>
            <a:r>
              <a:rPr lang="en-US" altLang="zh-CN"/>
              <a:t> </a:t>
            </a:r>
            <a:r>
              <a:rPr lang="zh-CN" altLang="en-US"/>
              <a:t>赛程没出，可能会整花活，比如视觉巡线等等</a:t>
            </a:r>
            <a:endParaRPr lang="zh-CN" altLang="en-US"/>
          </a:p>
        </p:txBody>
      </p:sp>
      <p:sp>
        <p:nvSpPr>
          <p:cNvPr id="15" name="文本框 14"/>
          <p:cNvSpPr txBox="1"/>
          <p:nvPr/>
        </p:nvSpPr>
        <p:spPr>
          <a:xfrm>
            <a:off x="842010" y="5356860"/>
            <a:ext cx="6096000" cy="645160"/>
          </a:xfrm>
          <a:prstGeom prst="rect">
            <a:avLst/>
          </a:prstGeom>
          <a:noFill/>
        </p:spPr>
        <p:txBody>
          <a:bodyPr wrap="square" rtlCol="0" anchor="t">
            <a:spAutoFit/>
          </a:bodyPr>
          <a:p>
            <a:r>
              <a:rPr lang="zh-CN" altLang="en-US" b="1">
                <a:sym typeface="+mn-ea"/>
              </a:rPr>
              <a:t>智能赛</a:t>
            </a:r>
            <a:r>
              <a:rPr lang="zh-CN" altLang="en-US">
                <a:sym typeface="+mn-ea"/>
              </a:rPr>
              <a:t>：</a:t>
            </a:r>
            <a:r>
              <a:rPr lang="en-US" altLang="zh-CN">
                <a:sym typeface="+mn-ea"/>
              </a:rPr>
              <a:t> </a:t>
            </a:r>
            <a:r>
              <a:rPr lang="zh-CN" altLang="en-US">
                <a:sym typeface="+mn-ea"/>
              </a:rPr>
              <a:t>不要识别浪费时间，技术低下纯纯定点和运气大赛，使用的无人机比较拉胯</a:t>
            </a:r>
            <a:endParaRPr lang="zh-CN" altLang="en-US">
              <a:sym typeface="+mn-ea"/>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01-03应用规范-已拓展-12"/>
          <p:cNvPicPr>
            <a:picLocks noChangeAspect="1"/>
          </p:cNvPicPr>
          <p:nvPr/>
        </p:nvPicPr>
        <p:blipFill>
          <a:blip r:embed="rId1"/>
          <a:stretch>
            <a:fillRect/>
          </a:stretch>
        </p:blipFill>
        <p:spPr>
          <a:xfrm>
            <a:off x="0" y="0"/>
            <a:ext cx="12192000" cy="6849110"/>
          </a:xfrm>
          <a:prstGeom prst="rect">
            <a:avLst/>
          </a:prstGeom>
        </p:spPr>
      </p:pic>
      <p:sp>
        <p:nvSpPr>
          <p:cNvPr id="6" name="文本框 5"/>
          <p:cNvSpPr txBox="1"/>
          <p:nvPr/>
        </p:nvSpPr>
        <p:spPr>
          <a:xfrm>
            <a:off x="719665" y="2921168"/>
            <a:ext cx="6925733" cy="1015663"/>
          </a:xfrm>
          <a:prstGeom prst="rect">
            <a:avLst/>
          </a:prstGeom>
          <a:noFill/>
        </p:spPr>
        <p:txBody>
          <a:bodyPr wrap="square" rtlCol="0">
            <a:spAutoFit/>
          </a:bodyPr>
          <a:lstStyle/>
          <a:p>
            <a:pPr algn="r"/>
            <a:r>
              <a:rPr kumimoji="1" lang="zh-CN" altLang="en-US" sz="6000" dirty="0" smtClean="0">
                <a:solidFill>
                  <a:srgbClr val="244B61"/>
                </a:solidFill>
                <a:latin typeface="微软雅黑" panose="020B0503020204020204" charset="-122"/>
                <a:ea typeface="微软雅黑" panose="020B0503020204020204" charset="-122"/>
                <a:cs typeface="微软雅黑" panose="020B0503020204020204" charset="-122"/>
              </a:rPr>
              <a:t>谢谢观看</a:t>
            </a:r>
            <a:endParaRPr kumimoji="1" lang="zh-CN" altLang="en-US" sz="6000" dirty="0">
              <a:solidFill>
                <a:srgbClr val="244B61"/>
              </a:solidFill>
              <a:latin typeface="微软雅黑" panose="020B0503020204020204" charset="-122"/>
              <a:ea typeface="微软雅黑" panose="020B0503020204020204" charset="-122"/>
              <a:cs typeface="微软雅黑" panose="020B0503020204020204" charset="-122"/>
            </a:endParaRPr>
          </a:p>
        </p:txBody>
      </p:sp>
      <p:sp>
        <p:nvSpPr>
          <p:cNvPr id="7" name="矩形 6"/>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DIAGRAM_VIRTUALLY_FRAME" val="{&quot;height&quot;:354.42496062992126,&quot;left&quot;:44.5,&quot;top&quot;:129.07503937007874,&quot;width&quot;:872.7250393700788}"/>
</p:tagLst>
</file>

<file path=ppt/tags/tag2.xml><?xml version="1.0" encoding="utf-8"?>
<p:tagLst xmlns:p="http://schemas.openxmlformats.org/presentationml/2006/main">
  <p:tag name="KSO_WM_DIAGRAM_VIRTUALLY_FRAME" val="{&quot;height&quot;:354.42496062992126,&quot;left&quot;:44.5,&quot;top&quot;:129.07503937007874,&quot;width&quot;:872.7250393700788}"/>
</p:tagLst>
</file>

<file path=ppt/tags/tag3.xml><?xml version="1.0" encoding="utf-8"?>
<p:tagLst xmlns:p="http://schemas.openxmlformats.org/presentationml/2006/main">
  <p:tag name="KSO_WM_DIAGRAM_VIRTUALLY_FRAME" val="{&quot;height&quot;:354.42496062992126,&quot;left&quot;:44.5,&quot;top&quot;:129.07503937007874,&quot;width&quot;:872.7250393700788}"/>
</p:tagLst>
</file>

<file path=ppt/tags/tag4.xml><?xml version="1.0" encoding="utf-8"?>
<p:tagLst xmlns:p="http://schemas.openxmlformats.org/presentationml/2006/main">
  <p:tag name="KSO_WM_DIAGRAM_VIRTUALLY_FRAME" val="{&quot;height&quot;:354.42496062992126,&quot;left&quot;:44.5,&quot;top&quot;:129.07503937007874,&quot;width&quot;:872.7250393700788}"/>
</p:tagLst>
</file>

<file path=ppt/tags/tag5.xml><?xml version="1.0" encoding="utf-8"?>
<p:tagLst xmlns:p="http://schemas.openxmlformats.org/presentationml/2006/main">
  <p:tag name="KSO_WM_DIAGRAM_VIRTUALLY_FRAME" val="{&quot;height&quot;:354.42496062992126,&quot;left&quot;:44.5,&quot;top&quot;:129.07503937007874,&quot;width&quot;:872.7250393700788}"/>
</p:tagLst>
</file>

<file path=ppt/tags/tag6.xml><?xml version="1.0" encoding="utf-8"?>
<p:tagLst xmlns:p="http://schemas.openxmlformats.org/presentationml/2006/main">
  <p:tag name="KSO_WM_DIAGRAM_VIRTUALLY_FRAME" val="{&quot;height&quot;:354.42496062992126,&quot;left&quot;:44.5,&quot;top&quot;:129.07503937007874,&quot;width&quot;:872.7250393700788}"/>
</p:tagLst>
</file>

<file path=ppt/tags/tag7.xml><?xml version="1.0" encoding="utf-8"?>
<p:tagLst xmlns:p="http://schemas.openxmlformats.org/presentationml/2006/main">
  <p:tag name="KSO_WM_DIAGRAM_VIRTUALLY_FRAME" val="{&quot;height&quot;:354.42496062992126,&quot;left&quot;:44.5,&quot;top&quot;:129.07503937007874,&quot;width&quot;:872.7250393700788}"/>
</p:tagLst>
</file>

<file path=ppt/tags/tag8.xml><?xml version="1.0" encoding="utf-8"?>
<p:tagLst xmlns:p="http://schemas.openxmlformats.org/presentationml/2006/main">
  <p:tag name="KSO_WM_DIAGRAM_VIRTUALLY_FRAME" val="{&quot;height&quot;:354.42496062992126,&quot;left&quot;:44.5,&quot;top&quot;:129.07503937007874,&quot;width&quot;:872.7250393700788}"/>
</p:tagLst>
</file>

<file path=ppt/tags/tag9.xml><?xml version="1.0" encoding="utf-8"?>
<p:tagLst xmlns:p="http://schemas.openxmlformats.org/presentationml/2006/main">
  <p:tag name="KSO_WM_DIAGRAM_VIRTUALLY_FRAME" val="{&quot;height&quot;:354.42496062992126,&quot;left&quot;:44.5,&quot;top&quot;:129.07503937007874,&quot;width&quot;:872.7250393700788}"/>
</p:tagLst>
</file>

<file path=ppt/tags/tag10.xml><?xml version="1.0" encoding="utf-8"?>
<p:tagLst xmlns:p="http://schemas.openxmlformats.org/presentationml/2006/main">
  <p:tag name="KSO_WM_DIAGRAM_VIRTUALLY_FRAME" val="{&quot;height&quot;:354.42496062992126,&quot;left&quot;:44.5,&quot;top&quot;:129.07503937007874,&quot;width&quot;:872.7250393700788}"/>
</p:tagLst>
</file>

<file path=ppt/tags/tag11.xml><?xml version="1.0" encoding="utf-8"?>
<p:tagLst xmlns:p="http://schemas.openxmlformats.org/presentationml/2006/main">
  <p:tag name="KSO_WM_DIAGRAM_VIRTUALLY_FRAME" val="{&quot;height&quot;:354.42496062992126,&quot;left&quot;:44.5,&quot;top&quot;:129.07503937007874,&quot;width&quot;:872.7250393700788}"/>
</p:tagLst>
</file>

<file path=ppt/tags/tag12.xml><?xml version="1.0" encoding="utf-8"?>
<p:tagLst xmlns:p="http://schemas.openxmlformats.org/presentationml/2006/main">
  <p:tag name="KSO_WM_DIAGRAM_VIRTUALLY_FRAME" val="{&quot;height&quot;:354.42496062992126,&quot;left&quot;:44.5,&quot;top&quot;:129.07503937007874,&quot;width&quot;:872.7250393700788}"/>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6759</Words>
  <Application>WPS 演示</Application>
  <PresentationFormat>宽屏</PresentationFormat>
  <Paragraphs>445</Paragraphs>
  <Slides>43</Slides>
  <Notes>0</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8</vt:i4>
      </vt:variant>
      <vt:variant>
        <vt:lpstr>幻灯片标题</vt:lpstr>
      </vt:variant>
      <vt:variant>
        <vt:i4>43</vt:i4>
      </vt:variant>
    </vt:vector>
  </HeadingPairs>
  <TitlesOfParts>
    <vt:vector size="72" baseType="lpstr">
      <vt:lpstr>Arial</vt:lpstr>
      <vt:lpstr>宋体</vt:lpstr>
      <vt:lpstr>Wingdings</vt:lpstr>
      <vt:lpstr>微软雅黑</vt:lpstr>
      <vt:lpstr>Cambria Math</vt:lpstr>
      <vt:lpstr>幼圆</vt:lpstr>
      <vt:lpstr>黑体</vt:lpstr>
      <vt:lpstr>Gungsuh</vt:lpstr>
      <vt:lpstr>Malgun Gothic</vt:lpstr>
      <vt:lpstr>Calibri</vt:lpstr>
      <vt:lpstr>Arial Unicode MS</vt:lpstr>
      <vt:lpstr>Times New Roman</vt:lpstr>
      <vt:lpstr>Inter</vt:lpstr>
      <vt:lpstr>Segoe Print</vt:lpstr>
      <vt:lpstr>Arial</vt:lpstr>
      <vt:lpstr>KaTeX_Math</vt:lpstr>
      <vt:lpstr>KaTeX_Main</vt:lpstr>
      <vt:lpstr>-apple-system</vt:lpstr>
      <vt:lpstr>Monaspace Neon</vt:lpstr>
      <vt:lpstr>monaSans</vt:lpstr>
      <vt:lpstr>WPS</vt:lpstr>
      <vt:lpstr>Equation.DSMT4</vt:lpstr>
      <vt:lpstr>Equation.3</vt:lpstr>
      <vt:lpstr>Equation.3</vt:lpstr>
      <vt:lpstr>Equation.3</vt:lpstr>
      <vt:lpstr>Equation.3</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zyt</dc:creator>
  <cp:lastModifiedBy>WPS_1694943563</cp:lastModifiedBy>
  <cp:revision>189</cp:revision>
  <dcterms:created xsi:type="dcterms:W3CDTF">2023-08-09T12:44:00Z</dcterms:created>
  <dcterms:modified xsi:type="dcterms:W3CDTF">2026-03-15T08:43:47Z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F9DAA9A21E134F518D3CD4115831BB09_12</vt:lpwstr>
  </property>
</Properties>
</file>